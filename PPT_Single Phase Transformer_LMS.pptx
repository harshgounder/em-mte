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handoutMasterIdLst>
    <p:handoutMasterId r:id="rId51"/>
  </p:handoutMasterIdLst>
  <p:sldIdLst>
    <p:sldId id="256" r:id="rId2"/>
    <p:sldId id="261" r:id="rId3"/>
    <p:sldId id="264" r:id="rId4"/>
    <p:sldId id="265" r:id="rId5"/>
    <p:sldId id="266" r:id="rId6"/>
    <p:sldId id="267" r:id="rId7"/>
    <p:sldId id="268" r:id="rId8"/>
    <p:sldId id="269" r:id="rId9"/>
    <p:sldId id="270" r:id="rId10"/>
    <p:sldId id="271" r:id="rId11"/>
    <p:sldId id="272" r:id="rId12"/>
    <p:sldId id="273" r:id="rId13"/>
    <p:sldId id="321" r:id="rId14"/>
    <p:sldId id="274" r:id="rId15"/>
    <p:sldId id="275" r:id="rId16"/>
    <p:sldId id="280" r:id="rId17"/>
    <p:sldId id="279" r:id="rId18"/>
    <p:sldId id="278" r:id="rId19"/>
    <p:sldId id="277" r:id="rId20"/>
    <p:sldId id="276"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301" r:id="rId37"/>
    <p:sldId id="300" r:id="rId38"/>
    <p:sldId id="297" r:id="rId39"/>
    <p:sldId id="302" r:id="rId40"/>
    <p:sldId id="316" r:id="rId41"/>
    <p:sldId id="314" r:id="rId42"/>
    <p:sldId id="315" r:id="rId43"/>
    <p:sldId id="317" r:id="rId44"/>
    <p:sldId id="318" r:id="rId45"/>
    <p:sldId id="311" r:id="rId46"/>
    <p:sldId id="313" r:id="rId47"/>
    <p:sldId id="322" r:id="rId48"/>
    <p:sldId id="32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115EE0-4A1D-5A96-B077-F22C8871A7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1613F4D-5C6E-2B68-6339-643679A18C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594462-75B1-44C8-A601-DF603758CB8A}" type="datetimeFigureOut">
              <a:rPr lang="en-US" smtClean="0"/>
              <a:t>8/13/2026</a:t>
            </a:fld>
            <a:endParaRPr lang="en-US"/>
          </a:p>
        </p:txBody>
      </p:sp>
      <p:sp>
        <p:nvSpPr>
          <p:cNvPr id="4" name="Footer Placeholder 3">
            <a:extLst>
              <a:ext uri="{FF2B5EF4-FFF2-40B4-BE49-F238E27FC236}">
                <a16:creationId xmlns:a16="http://schemas.microsoft.com/office/drawing/2014/main" id="{66C67C39-55F4-B5B9-391F-98FD2A71FBE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CBEAC3-B027-8CF8-DE4F-6C4361F0960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A82EF6-3896-4524-A506-FAC6A669967C}" type="slidenum">
              <a:rPr lang="en-US" smtClean="0"/>
              <a:t>‹#›</a:t>
            </a:fld>
            <a:endParaRPr lang="en-US"/>
          </a:p>
        </p:txBody>
      </p:sp>
    </p:spTree>
    <p:extLst>
      <p:ext uri="{BB962C8B-B14F-4D97-AF65-F5344CB8AC3E}">
        <p14:creationId xmlns:p14="http://schemas.microsoft.com/office/powerpoint/2010/main" val="32322138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1A3DE-9003-4A22-9DD6-37AD7365FE9E}"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EE6586-99FC-472A-99D6-89BE5F94D309}" type="slidenum">
              <a:rPr lang="en-US" smtClean="0"/>
              <a:t>‹#›</a:t>
            </a:fld>
            <a:endParaRPr lang="en-US"/>
          </a:p>
        </p:txBody>
      </p:sp>
    </p:spTree>
    <p:extLst>
      <p:ext uri="{BB962C8B-B14F-4D97-AF65-F5344CB8AC3E}">
        <p14:creationId xmlns:p14="http://schemas.microsoft.com/office/powerpoint/2010/main" val="8106143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AF1FAD-C26D-4B63-93D7-0F4FF6868F7D}" type="slidenum">
              <a:rPr lang="en-IN" smtClean="0"/>
              <a:t>19</a:t>
            </a:fld>
            <a:endParaRPr lang="en-IN"/>
          </a:p>
        </p:txBody>
      </p:sp>
    </p:spTree>
    <p:extLst>
      <p:ext uri="{BB962C8B-B14F-4D97-AF65-F5344CB8AC3E}">
        <p14:creationId xmlns:p14="http://schemas.microsoft.com/office/powerpoint/2010/main" val="773893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3AF1FAD-C26D-4B63-93D7-0F4FF6868F7D}" type="slidenum">
              <a:rPr lang="en-IN" smtClean="0"/>
              <a:t>36</a:t>
            </a:fld>
            <a:endParaRPr lang="en-IN"/>
          </a:p>
        </p:txBody>
      </p:sp>
    </p:spTree>
    <p:extLst>
      <p:ext uri="{BB962C8B-B14F-4D97-AF65-F5344CB8AC3E}">
        <p14:creationId xmlns:p14="http://schemas.microsoft.com/office/powerpoint/2010/main" val="16947950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7FFC9-793B-3F13-0589-31890013BC80}"/>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10201-7E1C-0763-328F-291E5BFA33C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DAF629-04B6-BE85-B720-46BC5DB8558E}"/>
              </a:ext>
            </a:extLst>
          </p:cNvPr>
          <p:cNvSpPr>
            <a:spLocks noGrp="1"/>
          </p:cNvSpPr>
          <p:nvPr>
            <p:ph type="dt" sz="half" idx="10"/>
          </p:nvPr>
        </p:nvSpPr>
        <p:spPr/>
        <p:txBody>
          <a:bodyPr/>
          <a:lstStyle/>
          <a:p>
            <a:fld id="{325B6676-6B8D-41AE-9731-411042636E71}" type="datetime1">
              <a:rPr lang="en-US" smtClean="0"/>
              <a:t>8/13/2026</a:t>
            </a:fld>
            <a:endParaRPr lang="en-US"/>
          </a:p>
        </p:txBody>
      </p:sp>
      <p:sp>
        <p:nvSpPr>
          <p:cNvPr id="5" name="Footer Placeholder 4">
            <a:extLst>
              <a:ext uri="{FF2B5EF4-FFF2-40B4-BE49-F238E27FC236}">
                <a16:creationId xmlns:a16="http://schemas.microsoft.com/office/drawing/2014/main" id="{EBC0CF84-DFC5-688A-73CB-7EAADAA773B6}"/>
              </a:ext>
            </a:extLst>
          </p:cNvPr>
          <p:cNvSpPr>
            <a:spLocks noGrp="1"/>
          </p:cNvSpPr>
          <p:nvPr>
            <p:ph type="ftr" sz="quarter" idx="11"/>
          </p:nvPr>
        </p:nvSpPr>
        <p:spPr/>
        <p:txBody>
          <a:bodyPr/>
          <a:lstStyle/>
          <a:p>
            <a:r>
              <a:rPr lang="en-US"/>
              <a:t>Course Code</a:t>
            </a:r>
          </a:p>
        </p:txBody>
      </p:sp>
      <p:sp>
        <p:nvSpPr>
          <p:cNvPr id="6" name="Slide Number Placeholder 5">
            <a:extLst>
              <a:ext uri="{FF2B5EF4-FFF2-40B4-BE49-F238E27FC236}">
                <a16:creationId xmlns:a16="http://schemas.microsoft.com/office/drawing/2014/main" id="{F274EA29-C8CB-7E59-52B6-7BB1C1EB1445}"/>
              </a:ext>
            </a:extLst>
          </p:cNvPr>
          <p:cNvSpPr>
            <a:spLocks noGrp="1"/>
          </p:cNvSpPr>
          <p:nvPr>
            <p:ph type="sldNum" sz="quarter" idx="12"/>
          </p:nvPr>
        </p:nvSpPr>
        <p:spPr/>
        <p:txBody>
          <a:bodyPr/>
          <a:lstStyle/>
          <a:p>
            <a:fld id="{2DFB1CBB-BAB9-4807-BFB8-A8A25F8F198A}" type="slidenum">
              <a:rPr lang="en-US" smtClean="0"/>
              <a:t>‹#›</a:t>
            </a:fld>
            <a:endParaRPr lang="en-US"/>
          </a:p>
        </p:txBody>
      </p:sp>
      <p:pic>
        <p:nvPicPr>
          <p:cNvPr id="7" name="Picture 6">
            <a:extLst>
              <a:ext uri="{FF2B5EF4-FFF2-40B4-BE49-F238E27FC236}">
                <a16:creationId xmlns:a16="http://schemas.microsoft.com/office/drawing/2014/main" id="{1DC15F42-153B-BFEF-2901-D3DE189C858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901" y="48903"/>
            <a:ext cx="2570197" cy="607782"/>
          </a:xfrm>
          <a:prstGeom prst="rect">
            <a:avLst/>
          </a:prstGeom>
        </p:spPr>
      </p:pic>
      <p:sp>
        <p:nvSpPr>
          <p:cNvPr id="8" name="Rectangle 7">
            <a:extLst>
              <a:ext uri="{FF2B5EF4-FFF2-40B4-BE49-F238E27FC236}">
                <a16:creationId xmlns:a16="http://schemas.microsoft.com/office/drawing/2014/main" id="{32F20779-1BC0-EA17-B06D-1A5BD036E955}"/>
              </a:ext>
            </a:extLst>
          </p:cNvPr>
          <p:cNvSpPr/>
          <p:nvPr userDrawn="1"/>
        </p:nvSpPr>
        <p:spPr>
          <a:xfrm>
            <a:off x="0" y="694350"/>
            <a:ext cx="12192000" cy="9207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Logo&#10;&#10;Description automatically generated">
            <a:extLst>
              <a:ext uri="{FF2B5EF4-FFF2-40B4-BE49-F238E27FC236}">
                <a16:creationId xmlns:a16="http://schemas.microsoft.com/office/drawing/2014/main" id="{D1136D55-3842-562F-06E3-29751D88BCF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0340" b="20162"/>
          <a:stretch/>
        </p:blipFill>
        <p:spPr>
          <a:xfrm>
            <a:off x="10460904" y="11237"/>
            <a:ext cx="1167013" cy="694350"/>
          </a:xfrm>
          <a:prstGeom prst="rect">
            <a:avLst/>
          </a:prstGeom>
        </p:spPr>
      </p:pic>
    </p:spTree>
    <p:extLst>
      <p:ext uri="{BB962C8B-B14F-4D97-AF65-F5344CB8AC3E}">
        <p14:creationId xmlns:p14="http://schemas.microsoft.com/office/powerpoint/2010/main" val="15709309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3B402E9-9286-41DF-C6BA-03C18A4020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F08574-D638-4A51-8811-3E76E4CBC5C7}" type="datetime1">
              <a:rPr lang="en-US" smtClean="0"/>
              <a:t>8/13/2026</a:t>
            </a:fld>
            <a:endParaRPr lang="en-US"/>
          </a:p>
        </p:txBody>
      </p:sp>
      <p:sp>
        <p:nvSpPr>
          <p:cNvPr id="5" name="Footer Placeholder 4">
            <a:extLst>
              <a:ext uri="{FF2B5EF4-FFF2-40B4-BE49-F238E27FC236}">
                <a16:creationId xmlns:a16="http://schemas.microsoft.com/office/drawing/2014/main" id="{CFFC99A3-E133-AAFF-8948-D877DD35C6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Course Code</a:t>
            </a:r>
          </a:p>
        </p:txBody>
      </p:sp>
      <p:sp>
        <p:nvSpPr>
          <p:cNvPr id="6" name="Slide Number Placeholder 5">
            <a:extLst>
              <a:ext uri="{FF2B5EF4-FFF2-40B4-BE49-F238E27FC236}">
                <a16:creationId xmlns:a16="http://schemas.microsoft.com/office/drawing/2014/main" id="{344333E6-C173-5370-E96C-1CD870002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FB1CBB-BAB9-4807-BFB8-A8A25F8F198A}" type="slidenum">
              <a:rPr lang="en-US" smtClean="0"/>
              <a:t>‹#›</a:t>
            </a:fld>
            <a:endParaRPr lang="en-US"/>
          </a:p>
        </p:txBody>
      </p:sp>
      <p:sp>
        <p:nvSpPr>
          <p:cNvPr id="7" name="Rectangle 6">
            <a:extLst>
              <a:ext uri="{FF2B5EF4-FFF2-40B4-BE49-F238E27FC236}">
                <a16:creationId xmlns:a16="http://schemas.microsoft.com/office/drawing/2014/main" id="{44C26D48-8915-A9C4-BB4B-172B453DEA09}"/>
              </a:ext>
            </a:extLst>
          </p:cNvPr>
          <p:cNvSpPr/>
          <p:nvPr userDrawn="1"/>
        </p:nvSpPr>
        <p:spPr>
          <a:xfrm>
            <a:off x="0" y="694350"/>
            <a:ext cx="12192000" cy="92075"/>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5DFA9CA5-0602-AD5E-8743-4CDC059C75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8901" y="48903"/>
            <a:ext cx="2570197" cy="607782"/>
          </a:xfrm>
          <a:prstGeom prst="rect">
            <a:avLst/>
          </a:prstGeom>
        </p:spPr>
      </p:pic>
      <p:pic>
        <p:nvPicPr>
          <p:cNvPr id="9" name="Picture 8" descr="Logo&#10;&#10;Description automatically generated">
            <a:extLst>
              <a:ext uri="{FF2B5EF4-FFF2-40B4-BE49-F238E27FC236}">
                <a16:creationId xmlns:a16="http://schemas.microsoft.com/office/drawing/2014/main" id="{0B7FAD6B-7286-3118-AB2F-BDAF899BB35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0340" b="20162"/>
          <a:stretch/>
        </p:blipFill>
        <p:spPr>
          <a:xfrm>
            <a:off x="10460904" y="11237"/>
            <a:ext cx="1167013" cy="694350"/>
          </a:xfrm>
          <a:prstGeom prst="rect">
            <a:avLst/>
          </a:prstGeom>
        </p:spPr>
      </p:pic>
    </p:spTree>
    <p:extLst>
      <p:ext uri="{BB962C8B-B14F-4D97-AF65-F5344CB8AC3E}">
        <p14:creationId xmlns:p14="http://schemas.microsoft.com/office/powerpoint/2010/main" val="2519291796"/>
      </p:ext>
    </p:extLst>
  </p:cSld>
  <p:clrMap bg1="lt1" tx1="dk1" bg2="lt2" tx2="dk2" accent1="accent1" accent2="accent2" accent3="accent3" accent4="accent4" accent5="accent5" accent6="accent6" hlink="hlink" folHlink="folHlink"/>
  <p:sldLayoutIdLst>
    <p:sldLayoutId id="214748364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KAI4yJBASbc&amp;list=PLp6ek2hDcoNCANsWM2mw3qi0387BhfLyV&amp;index=7" TargetMode="External"/><Relationship Id="rId2" Type="http://schemas.openxmlformats.org/officeDocument/2006/relationships/hyperlink" Target="https://www.youtube.com/watch?v=xvL4rYUM4kA&amp;list=PLp6ek2hDcoNCANsWM2mw3qi0387BhfLyV&amp;index=6" TargetMode="External"/><Relationship Id="rId1" Type="http://schemas.openxmlformats.org/officeDocument/2006/relationships/slideLayout" Target="../slideLayouts/slideLayout1.xml"/><Relationship Id="rId6" Type="http://schemas.openxmlformats.org/officeDocument/2006/relationships/hyperlink" Target="https://www.youtube.com/watch?v=K_S1e06FAKc&amp;list=PLp6ek2hDcoNCANsWM2mw3qi0387BhfLyV&amp;index=10" TargetMode="External"/><Relationship Id="rId5" Type="http://schemas.openxmlformats.org/officeDocument/2006/relationships/hyperlink" Target="https://www.youtube.com/watch?v=xT89C6CvqX8&amp;list=PLp6ek2hDcoNCANsWM2mw3qi0387BhfLyV&amp;index=9" TargetMode="External"/><Relationship Id="rId4" Type="http://schemas.openxmlformats.org/officeDocument/2006/relationships/hyperlink" Target="https://www.youtube.com/watch?v=VdiocL2RAMc&amp;list=PLp6ek2hDcoNCANsWM2mw3qi0387BhfLyV&amp;index=8"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hyperlink" Target="https://www.electrical4u.com/emf-equation-of-transformer-turns-voltage-transformation-ratio-of-transformer/" TargetMode="External"/><Relationship Id="rId2" Type="http://schemas.openxmlformats.org/officeDocument/2006/relationships/hyperlink" Target="https://www.electrical4u.com/electrical-power-transformer-definition-and-types-of-transformer/" TargetMode="Externa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8.jpeg"/><Relationship Id="rId7" Type="http://schemas.openxmlformats.org/officeDocument/2006/relationships/image" Target="../media/image80.jpeg"/><Relationship Id="rId2" Type="http://schemas.openxmlformats.org/officeDocument/2006/relationships/hyperlink" Target="https://circuitglobe.com/wp-content/uploads/2015/11/parallel-operation-of-single-phase-transformer-eq1-compressor.jpg" TargetMode="External"/><Relationship Id="rId1" Type="http://schemas.openxmlformats.org/officeDocument/2006/relationships/slideLayout" Target="../slideLayouts/slideLayout1.xml"/><Relationship Id="rId6" Type="http://schemas.openxmlformats.org/officeDocument/2006/relationships/hyperlink" Target="https://circuitglobe.com/wp-content/uploads/2015/11/parallel-operation-of-single-phase-transformer-eq3-compressor.jpg" TargetMode="External"/><Relationship Id="rId5" Type="http://schemas.openxmlformats.org/officeDocument/2006/relationships/image" Target="../media/image79.jpeg"/><Relationship Id="rId4" Type="http://schemas.openxmlformats.org/officeDocument/2006/relationships/hyperlink" Target="https://circuitglobe.com/wp-content/uploads/2015/11/parallel-operation-of-single-phase-transformer-eq2-compressor.jpg"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hyperlink" Target="https://circuitglobe.com/wp-content/uploads/2015/11/parallel-operation-of-single-phase-transformer-eq4-compressor.jpg"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hyperlink" Target="https://circuitglobe.com/wp-content/uploads/2015/11/parallel-operation-of-single-phase-transformer-eq5-compressor.png" TargetMode="External"/><Relationship Id="rId1" Type="http://schemas.openxmlformats.org/officeDocument/2006/relationships/slideLayout" Target="../slideLayouts/slideLayout1.xml"/><Relationship Id="rId5" Type="http://schemas.openxmlformats.org/officeDocument/2006/relationships/image" Target="../media/image84.jpeg"/><Relationship Id="rId4" Type="http://schemas.openxmlformats.org/officeDocument/2006/relationships/hyperlink" Target="https://circuitglobe.com/wp-content/uploads/2015/11/parallel-operation-of-single-phase-transformer-eq6-compressor.jpg"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circuitglobe.com/wp-content/uploads/2015/11/parallel-operation-of-single-phase-transformer-eq10-compressor.jpg" TargetMode="External"/><Relationship Id="rId3" Type="http://schemas.openxmlformats.org/officeDocument/2006/relationships/image" Target="../media/image85.jpeg"/><Relationship Id="rId7" Type="http://schemas.openxmlformats.org/officeDocument/2006/relationships/image" Target="../media/image87.jpeg"/><Relationship Id="rId2" Type="http://schemas.openxmlformats.org/officeDocument/2006/relationships/hyperlink" Target="https://circuitglobe.com/wp-content/uploads/2015/11/parallel-operation-of-single-phase-transformer-eq8-compressor.jpg" TargetMode="External"/><Relationship Id="rId1" Type="http://schemas.openxmlformats.org/officeDocument/2006/relationships/slideLayout" Target="../slideLayouts/slideLayout1.xml"/><Relationship Id="rId6" Type="http://schemas.openxmlformats.org/officeDocument/2006/relationships/hyperlink" Target="https://circuitglobe.com/wp-content/uploads/2015/11/parallel-operation-of-single-phase-transformer-eq-missing-compressor.jpg" TargetMode="External"/><Relationship Id="rId11" Type="http://schemas.openxmlformats.org/officeDocument/2006/relationships/image" Target="../media/image89.jpeg"/><Relationship Id="rId5" Type="http://schemas.openxmlformats.org/officeDocument/2006/relationships/image" Target="../media/image86.jpeg"/><Relationship Id="rId10" Type="http://schemas.openxmlformats.org/officeDocument/2006/relationships/hyperlink" Target="https://circuitglobe.com/wp-content/uploads/2015/11/parallel-operation-of-single-phase-transformer-eq11-compressor.jpg" TargetMode="External"/><Relationship Id="rId4" Type="http://schemas.openxmlformats.org/officeDocument/2006/relationships/hyperlink" Target="https://circuitglobe.com/wp-content/uploads/2015/11/parallel-operation-of-single-phase-transformer-eq9-compressor.jpg" TargetMode="External"/><Relationship Id="rId9" Type="http://schemas.openxmlformats.org/officeDocument/2006/relationships/image" Target="../media/image88.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C5179-AFAE-55D7-9C5D-3D067DE17D22}"/>
              </a:ext>
            </a:extLst>
          </p:cNvPr>
          <p:cNvSpPr>
            <a:spLocks noGrp="1"/>
          </p:cNvSpPr>
          <p:nvPr>
            <p:ph type="ctrTitle"/>
          </p:nvPr>
        </p:nvSpPr>
        <p:spPr/>
        <p:txBody>
          <a:bodyPr/>
          <a:lstStyle/>
          <a:p>
            <a:r>
              <a:rPr lang="en-US" dirty="0"/>
              <a:t>Single Phase Transformer</a:t>
            </a:r>
          </a:p>
        </p:txBody>
      </p:sp>
      <p:sp>
        <p:nvSpPr>
          <p:cNvPr id="3" name="Subtitle 2">
            <a:extLst>
              <a:ext uri="{FF2B5EF4-FFF2-40B4-BE49-F238E27FC236}">
                <a16:creationId xmlns:a16="http://schemas.microsoft.com/office/drawing/2014/main" id="{3B6C72A2-0F97-A244-EE58-6754ED64DFD3}"/>
              </a:ext>
            </a:extLst>
          </p:cNvPr>
          <p:cNvSpPr>
            <a:spLocks noGrp="1"/>
          </p:cNvSpPr>
          <p:nvPr>
            <p:ph type="subTitle" idx="1"/>
          </p:nvPr>
        </p:nvSpPr>
        <p:spPr/>
        <p:txBody>
          <a:bodyPr/>
          <a:lstStyle/>
          <a:p>
            <a:r>
              <a:rPr lang="en-US" dirty="0"/>
              <a:t>Electrical machines– ELC2104</a:t>
            </a:r>
          </a:p>
        </p:txBody>
      </p:sp>
    </p:spTree>
    <p:extLst>
      <p:ext uri="{BB962C8B-B14F-4D97-AF65-F5344CB8AC3E}">
        <p14:creationId xmlns:p14="http://schemas.microsoft.com/office/powerpoint/2010/main" val="1040673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32867C-BC96-4F3D-83A6-614B77D119A3}"/>
              </a:ext>
            </a:extLst>
          </p:cNvPr>
          <p:cNvSpPr/>
          <p:nvPr/>
        </p:nvSpPr>
        <p:spPr>
          <a:xfrm>
            <a:off x="661737" y="1188613"/>
            <a:ext cx="8082289" cy="1325619"/>
          </a:xfrm>
          <a:prstGeom prst="rect">
            <a:avLst/>
          </a:prstGeom>
        </p:spPr>
        <p:txBody>
          <a:bodyPr wrap="square">
            <a:spAutoFit/>
          </a:bodyPr>
          <a:lstStyle/>
          <a:p>
            <a:pPr lvl="0">
              <a:lnSpc>
                <a:spcPct val="107000"/>
              </a:lnSpc>
              <a:spcAft>
                <a:spcPts val="0"/>
              </a:spcAft>
              <a:tabLst>
                <a:tab pos="647700" algn="l"/>
              </a:tabLst>
            </a:pPr>
            <a:r>
              <a:rPr lang="en-IN" b="1" dirty="0">
                <a:latin typeface="Calibri" panose="020F0502020204030204" pitchFamily="34" charset="0"/>
                <a:ea typeface="Calibri" panose="020F0502020204030204" pitchFamily="34" charset="0"/>
                <a:cs typeface="Calibri" panose="020F0502020204030204" pitchFamily="34"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REFERENCE BOOK</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990600" indent="-342900" algn="just">
              <a:lnSpc>
                <a:spcPct val="115000"/>
              </a:lnSpc>
              <a:spcAft>
                <a:spcPts val="0"/>
              </a:spcAft>
              <a:buAutoNum type="arabicPeriod"/>
            </a:pPr>
            <a:r>
              <a:rPr lang="en-IN" dirty="0">
                <a:latin typeface="Times New Roman" panose="02020603050405020304" pitchFamily="18" charset="0"/>
                <a:ea typeface="Calibri" panose="020F0502020204030204" pitchFamily="34" charset="0"/>
                <a:cs typeface="Times New Roman" panose="02020603050405020304" pitchFamily="18" charset="0"/>
              </a:rPr>
              <a:t>M. G. Say, </a:t>
            </a:r>
            <a:r>
              <a:rPr lang="en-IN" i="1" dirty="0">
                <a:latin typeface="Times New Roman" panose="02020603050405020304" pitchFamily="18" charset="0"/>
                <a:ea typeface="Calibri" panose="020F0502020204030204" pitchFamily="34" charset="0"/>
                <a:cs typeface="Times New Roman" panose="02020603050405020304" pitchFamily="18" charset="0"/>
              </a:rPr>
              <a:t>Alternating Current Machines </a:t>
            </a:r>
            <a:r>
              <a:rPr lang="en-IN" dirty="0">
                <a:latin typeface="Times New Roman" panose="02020603050405020304" pitchFamily="18" charset="0"/>
                <a:ea typeface="Calibri" panose="020F0502020204030204" pitchFamily="34" charset="0"/>
                <a:cs typeface="Times New Roman" panose="02020603050405020304" pitchFamily="18" charset="0"/>
              </a:rPr>
              <a:t>(5e)</a:t>
            </a:r>
            <a:r>
              <a:rPr lang="en-IN" i="1" dirty="0">
                <a:latin typeface="Times New Roman" panose="02020603050405020304" pitchFamily="18" charset="0"/>
                <a:ea typeface="Calibri" panose="020F0502020204030204" pitchFamily="34" charset="0"/>
                <a:cs typeface="Times New Roman" panose="02020603050405020304" pitchFamily="18" charset="0"/>
              </a:rPr>
              <a:t>,</a:t>
            </a:r>
            <a:r>
              <a:rPr lang="en-IN" dirty="0">
                <a:latin typeface="Times New Roman" panose="02020603050405020304" pitchFamily="18" charset="0"/>
                <a:ea typeface="Calibri" panose="020F0502020204030204" pitchFamily="34" charset="0"/>
                <a:cs typeface="Times New Roman" panose="02020603050405020304" pitchFamily="18" charset="0"/>
              </a:rPr>
              <a:t> ELBS.</a:t>
            </a:r>
          </a:p>
          <a:p>
            <a:pPr marL="990600" indent="-342900" algn="just">
              <a:lnSpc>
                <a:spcPct val="115000"/>
              </a:lnSpc>
              <a:spcAft>
                <a:spcPts val="0"/>
              </a:spcAft>
              <a:buAutoNum type="arabicPeriod"/>
            </a:pPr>
            <a:r>
              <a:rPr lang="en-IN" dirty="0">
                <a:latin typeface="Times New Roman" panose="02020603050405020304" pitchFamily="18" charset="0"/>
                <a:ea typeface="Calibri" panose="020F0502020204030204" pitchFamily="34" charset="0"/>
                <a:cs typeface="Times New Roman" panose="02020603050405020304" pitchFamily="18" charset="0"/>
              </a:rPr>
              <a:t>2. E. H. </a:t>
            </a:r>
            <a:r>
              <a:rPr lang="en-IN" dirty="0" err="1">
                <a:latin typeface="Times New Roman" panose="02020603050405020304" pitchFamily="18" charset="0"/>
                <a:ea typeface="Calibri" panose="020F0502020204030204" pitchFamily="34" charset="0"/>
                <a:cs typeface="Times New Roman" panose="02020603050405020304" pitchFamily="18" charset="0"/>
              </a:rPr>
              <a:t>Langsdorf</a:t>
            </a:r>
            <a:r>
              <a:rPr lang="en-IN" dirty="0">
                <a:latin typeface="Times New Roman" panose="02020603050405020304" pitchFamily="18" charset="0"/>
                <a:ea typeface="Calibri" panose="020F0502020204030204" pitchFamily="34" charset="0"/>
                <a:cs typeface="Times New Roman" panose="02020603050405020304" pitchFamily="18" charset="0"/>
              </a:rPr>
              <a:t>, </a:t>
            </a:r>
            <a:r>
              <a:rPr lang="en-IN" i="1" dirty="0">
                <a:latin typeface="Times New Roman" panose="02020603050405020304" pitchFamily="18" charset="0"/>
                <a:ea typeface="Calibri" panose="020F0502020204030204" pitchFamily="34" charset="0"/>
                <a:cs typeface="Times New Roman" panose="02020603050405020304" pitchFamily="18" charset="0"/>
              </a:rPr>
              <a:t>Theory of Alternating Current Machine </a:t>
            </a:r>
            <a:r>
              <a:rPr lang="en-IN" dirty="0">
                <a:latin typeface="Times New Roman" panose="02020603050405020304" pitchFamily="18" charset="0"/>
                <a:ea typeface="Calibri" panose="020F0502020204030204" pitchFamily="34" charset="0"/>
                <a:cs typeface="Times New Roman" panose="02020603050405020304" pitchFamily="18" charset="0"/>
              </a:rPr>
              <a:t>(2e), TMH. </a:t>
            </a:r>
          </a:p>
          <a:p>
            <a:pPr marL="647700" algn="just">
              <a:lnSpc>
                <a:spcPct val="115000"/>
              </a:lnSpc>
              <a:spcAft>
                <a:spcPts val="800"/>
              </a:spcAft>
            </a:pPr>
            <a:r>
              <a:rPr lang="en-IN" dirty="0">
                <a:latin typeface="Times New Roman" panose="02020603050405020304" pitchFamily="18" charset="0"/>
                <a:ea typeface="Calibri" panose="020F0502020204030204" pitchFamily="34" charset="0"/>
                <a:cs typeface="Times New Roman" panose="02020603050405020304" pitchFamily="18" charset="0"/>
              </a:rPr>
              <a:t>3. A. E. Clayton</a:t>
            </a:r>
            <a:r>
              <a:rPr lang="en-IN" i="1" dirty="0">
                <a:latin typeface="Times New Roman" panose="02020603050405020304" pitchFamily="18" charset="0"/>
                <a:ea typeface="Calibri" panose="020F0502020204030204" pitchFamily="34" charset="0"/>
                <a:cs typeface="Times New Roman" panose="02020603050405020304" pitchFamily="18" charset="0"/>
              </a:rPr>
              <a:t>, Performance and Design of DC Machines </a:t>
            </a:r>
            <a:r>
              <a:rPr lang="en-IN" dirty="0">
                <a:latin typeface="Times New Roman" panose="02020603050405020304" pitchFamily="18" charset="0"/>
                <a:ea typeface="Calibri" panose="020F0502020204030204" pitchFamily="34" charset="0"/>
                <a:cs typeface="Times New Roman" panose="02020603050405020304" pitchFamily="18" charset="0"/>
              </a:rPr>
              <a:t>(3e), O&amp; IBH,</a:t>
            </a:r>
          </a:p>
        </p:txBody>
      </p:sp>
      <p:sp>
        <p:nvSpPr>
          <p:cNvPr id="9" name="Rectangle 8">
            <a:extLst>
              <a:ext uri="{FF2B5EF4-FFF2-40B4-BE49-F238E27FC236}">
                <a16:creationId xmlns:a16="http://schemas.microsoft.com/office/drawing/2014/main" id="{91CC5333-3D76-410A-90DA-C29F9556A102}"/>
              </a:ext>
            </a:extLst>
          </p:cNvPr>
          <p:cNvSpPr/>
          <p:nvPr/>
        </p:nvSpPr>
        <p:spPr>
          <a:xfrm>
            <a:off x="670836" y="2389109"/>
            <a:ext cx="11530263" cy="1656800"/>
          </a:xfrm>
          <a:prstGeom prst="rect">
            <a:avLst/>
          </a:prstGeom>
        </p:spPr>
        <p:txBody>
          <a:bodyPr wrap="square">
            <a:spAutoFit/>
          </a:bodyPr>
          <a:lstStyle/>
          <a:p>
            <a:pPr lvl="0">
              <a:lnSpc>
                <a:spcPct val="107000"/>
              </a:lnSpc>
              <a:spcAft>
                <a:spcPts val="800"/>
              </a:spcAft>
              <a:tabLst>
                <a:tab pos="647700" algn="l"/>
              </a:tabLst>
            </a:pPr>
            <a:r>
              <a:rPr lang="en-IN" b="1" dirty="0">
                <a:latin typeface="Calibri" panose="020F0502020204030204" pitchFamily="34" charset="0"/>
                <a:ea typeface="Calibri" panose="020F0502020204030204" pitchFamily="34" charset="0"/>
                <a:cs typeface="Calibri" panose="020F0502020204030204" pitchFamily="34" charset="0"/>
              </a:rPr>
              <a:t>  </a:t>
            </a:r>
            <a:r>
              <a:rPr lang="en-IN" b="1" dirty="0">
                <a:latin typeface="Times New Roman" panose="02020603050405020304" pitchFamily="18" charset="0"/>
                <a:ea typeface="Calibri" panose="020F0502020204030204" pitchFamily="34" charset="0"/>
                <a:cs typeface="Times New Roman" panose="02020603050405020304" pitchFamily="18" charset="0"/>
              </a:rPr>
              <a:t>TEXT BOOKS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marL="190500">
              <a:lnSpc>
                <a:spcPct val="107000"/>
              </a:lnSpc>
              <a:spcAft>
                <a:spcPts val="0"/>
              </a:spcAft>
              <a:tabLst>
                <a:tab pos="647700" algn="l"/>
              </a:tabLst>
            </a:pPr>
            <a:r>
              <a:rPr lang="en-IN" dirty="0">
                <a:latin typeface="Calibri" panose="020F0502020204030204" pitchFamily="34" charset="0"/>
                <a:ea typeface="Calibri" panose="020F0502020204030204" pitchFamily="34" charset="0"/>
                <a:cs typeface="Calibri" panose="020F0502020204030204" pitchFamily="34" charset="0"/>
              </a:rPr>
              <a:t>	 1. </a:t>
            </a:r>
            <a:r>
              <a:rPr lang="en-IN" dirty="0">
                <a:latin typeface="Times New Roman" panose="02020603050405020304" pitchFamily="18" charset="0"/>
                <a:ea typeface="Calibri" panose="020F0502020204030204" pitchFamily="34" charset="0"/>
                <a:cs typeface="Times New Roman" panose="02020603050405020304" pitchFamily="18" charset="0"/>
              </a:rPr>
              <a:t>P. S. </a:t>
            </a:r>
            <a:r>
              <a:rPr lang="en-IN" dirty="0" err="1">
                <a:latin typeface="Times New Roman" panose="02020603050405020304" pitchFamily="18" charset="0"/>
                <a:ea typeface="Calibri" panose="020F0502020204030204" pitchFamily="34" charset="0"/>
                <a:cs typeface="Times New Roman" panose="02020603050405020304" pitchFamily="18" charset="0"/>
              </a:rPr>
              <a:t>Bhimbra</a:t>
            </a:r>
            <a:r>
              <a:rPr lang="en-IN" dirty="0">
                <a:latin typeface="Times New Roman" panose="02020603050405020304" pitchFamily="18" charset="0"/>
                <a:ea typeface="Calibri" panose="020F0502020204030204" pitchFamily="34" charset="0"/>
                <a:cs typeface="Times New Roman" panose="02020603050405020304" pitchFamily="18" charset="0"/>
              </a:rPr>
              <a:t>, “Electrical Machinery”, Seventh Edition, 1995,Khanna Publishers.</a:t>
            </a:r>
          </a:p>
          <a:p>
            <a:pPr marL="190500">
              <a:lnSpc>
                <a:spcPct val="107000"/>
              </a:lnSpc>
              <a:spcAft>
                <a:spcPts val="0"/>
              </a:spcAft>
              <a:tabLst>
                <a:tab pos="6477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2. I. J. </a:t>
            </a:r>
            <a:r>
              <a:rPr lang="en-IN" dirty="0" err="1">
                <a:latin typeface="Times New Roman" panose="02020603050405020304" pitchFamily="18" charset="0"/>
                <a:ea typeface="Calibri" panose="020F0502020204030204" pitchFamily="34" charset="0"/>
                <a:cs typeface="Times New Roman" panose="02020603050405020304" pitchFamily="18" charset="0"/>
              </a:rPr>
              <a:t>Nagrath</a:t>
            </a:r>
            <a:r>
              <a:rPr lang="en-IN" dirty="0">
                <a:latin typeface="Times New Roman" panose="02020603050405020304" pitchFamily="18" charset="0"/>
                <a:ea typeface="Calibri" panose="020F0502020204030204" pitchFamily="34" charset="0"/>
                <a:cs typeface="Times New Roman" panose="02020603050405020304" pitchFamily="18" charset="0"/>
              </a:rPr>
              <a:t>, , D. </a:t>
            </a:r>
            <a:r>
              <a:rPr lang="en-IN" dirty="0" err="1">
                <a:latin typeface="Times New Roman" panose="02020603050405020304" pitchFamily="18" charset="0"/>
                <a:ea typeface="Calibri" panose="020F0502020204030204" pitchFamily="34" charset="0"/>
                <a:cs typeface="Times New Roman" panose="02020603050405020304" pitchFamily="18" charset="0"/>
              </a:rPr>
              <a:t>P.Kothari</a:t>
            </a:r>
            <a:r>
              <a:rPr lang="en-IN" dirty="0">
                <a:latin typeface="Times New Roman" panose="02020603050405020304" pitchFamily="18" charset="0"/>
                <a:ea typeface="Calibri" panose="020F0502020204030204" pitchFamily="34" charset="0"/>
                <a:cs typeface="Times New Roman" panose="02020603050405020304" pitchFamily="18" charset="0"/>
              </a:rPr>
              <a:t>, “Electric Machines”, Third Edition, Tata McGraw-Hill Publishing Company Ltd. </a:t>
            </a:r>
          </a:p>
          <a:p>
            <a:pPr marL="190500">
              <a:lnSpc>
                <a:spcPct val="107000"/>
              </a:lnSpc>
              <a:spcAft>
                <a:spcPts val="0"/>
              </a:spcAft>
              <a:tabLst>
                <a:tab pos="647700" algn="l"/>
              </a:tabLst>
            </a:pPr>
            <a:r>
              <a:rPr lang="en-IN" dirty="0">
                <a:latin typeface="Times New Roman" panose="02020603050405020304" pitchFamily="18" charset="0"/>
                <a:ea typeface="Calibri" panose="020F0502020204030204" pitchFamily="34" charset="0"/>
                <a:cs typeface="Times New Roman" panose="02020603050405020304" pitchFamily="18" charset="0"/>
              </a:rPr>
              <a:t>	 3. A. </a:t>
            </a:r>
            <a:r>
              <a:rPr lang="en-IN" dirty="0" err="1">
                <a:latin typeface="Times New Roman" panose="02020603050405020304" pitchFamily="18" charset="0"/>
                <a:ea typeface="Calibri" panose="020F0502020204030204" pitchFamily="34" charset="0"/>
                <a:cs typeface="Times New Roman" panose="02020603050405020304" pitchFamily="18" charset="0"/>
              </a:rPr>
              <a:t>E.Fitzgerald</a:t>
            </a:r>
            <a:r>
              <a:rPr lang="en-IN" dirty="0">
                <a:latin typeface="Times New Roman" panose="02020603050405020304" pitchFamily="18" charset="0"/>
                <a:ea typeface="Calibri" panose="020F0502020204030204" pitchFamily="34" charset="0"/>
                <a:cs typeface="Times New Roman" panose="02020603050405020304" pitchFamily="18" charset="0"/>
              </a:rPr>
              <a:t>, Charles Kingsley, Jr. Stephen D. </a:t>
            </a:r>
            <a:r>
              <a:rPr lang="en-IN" dirty="0" err="1">
                <a:latin typeface="Times New Roman" panose="02020603050405020304" pitchFamily="18" charset="0"/>
                <a:ea typeface="Calibri" panose="020F0502020204030204" pitchFamily="34" charset="0"/>
                <a:cs typeface="Times New Roman" panose="02020603050405020304" pitchFamily="18" charset="0"/>
              </a:rPr>
              <a:t>Umans</a:t>
            </a:r>
            <a:r>
              <a:rPr lang="en-IN" dirty="0">
                <a:latin typeface="Times New Roman" panose="02020603050405020304" pitchFamily="18" charset="0"/>
                <a:ea typeface="Calibri" panose="020F0502020204030204" pitchFamily="34" charset="0"/>
                <a:cs typeface="Times New Roman" panose="02020603050405020304" pitchFamily="18" charset="0"/>
              </a:rPr>
              <a:t>, “Electric Machinery”, Fifth Edition, Tata McGraw-Hill.</a:t>
            </a:r>
          </a:p>
          <a:p>
            <a:pPr marL="190500">
              <a:lnSpc>
                <a:spcPct val="107000"/>
              </a:lnSpc>
              <a:spcAft>
                <a:spcPts val="0"/>
              </a:spcAft>
              <a:tabLst>
                <a:tab pos="647700" algn="l"/>
              </a:tabLs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193FF3CD-6FCA-449C-9BDC-78223A0F7E5E}"/>
              </a:ext>
            </a:extLst>
          </p:cNvPr>
          <p:cNvSpPr txBox="1"/>
          <p:nvPr/>
        </p:nvSpPr>
        <p:spPr>
          <a:xfrm>
            <a:off x="781711" y="3804586"/>
            <a:ext cx="11293913" cy="1754326"/>
          </a:xfrm>
          <a:prstGeom prst="rect">
            <a:avLst/>
          </a:prstGeom>
          <a:noFill/>
        </p:spPr>
        <p:txBody>
          <a:bodyPr wrap="square" rtlCol="0">
            <a:spAutoFit/>
          </a:bodyPr>
          <a:lstStyle/>
          <a:p>
            <a:r>
              <a:rPr lang="en-IN" b="1" dirty="0"/>
              <a:t>Video Links: </a:t>
            </a:r>
            <a:r>
              <a:rPr lang="en-IN" dirty="0">
                <a:hlinkClick r:id="rId2"/>
              </a:rPr>
              <a:t>https://www.youtube.com/watch?v=xvL4rYUM4kA&amp;list=PLp6ek2hDcoNCANsWM2mw3qi0387BhfLyV&amp;index=6</a:t>
            </a:r>
            <a:endParaRPr lang="en-IN" dirty="0"/>
          </a:p>
          <a:p>
            <a:r>
              <a:rPr lang="en-IN" dirty="0">
                <a:hlinkClick r:id="rId3"/>
              </a:rPr>
              <a:t>https://www.youtube.com/watch?v=KAI4yJBASbc&amp;list=PLp6ek2hDcoNCANsWM2mw3qi0387BhfLyV&amp;index=7</a:t>
            </a:r>
            <a:endParaRPr lang="en-IN" dirty="0"/>
          </a:p>
          <a:p>
            <a:r>
              <a:rPr lang="en-IN" dirty="0">
                <a:hlinkClick r:id="rId4"/>
              </a:rPr>
              <a:t>https://www.youtube.com/watch?v=VdiocL2RAMc&amp;list=PLp6ek2hDcoNCANsWM2mw3qi0387BhfLyV&amp;index=8</a:t>
            </a:r>
            <a:endParaRPr lang="en-IN" dirty="0"/>
          </a:p>
          <a:p>
            <a:r>
              <a:rPr lang="en-IN" dirty="0">
                <a:hlinkClick r:id="rId5"/>
              </a:rPr>
              <a:t>https://www.youtube.com/watch?v=xT89C6CvqX8&amp;list=PLp6ek2hDcoNCANsWM2mw3qi0387BhfLyV&amp;index=9</a:t>
            </a:r>
            <a:endParaRPr lang="en-IN" dirty="0"/>
          </a:p>
          <a:p>
            <a:r>
              <a:rPr lang="en-IN" dirty="0">
                <a:hlinkClick r:id="rId6"/>
              </a:rPr>
              <a:t>https://www.youtube.com/watch?v=K_S1e06FAKc&amp;list=PLp6ek2hDcoNCANsWM2mw3qi0387BhfLyV&amp;index=10</a:t>
            </a:r>
            <a:endParaRPr lang="en-IN" dirty="0"/>
          </a:p>
        </p:txBody>
      </p:sp>
    </p:spTree>
    <p:extLst>
      <p:ext uri="{BB962C8B-B14F-4D97-AF65-F5344CB8AC3E}">
        <p14:creationId xmlns:p14="http://schemas.microsoft.com/office/powerpoint/2010/main" val="76195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B2B8C0-6C26-446B-A45F-3A6D1AE7DFED}"/>
              </a:ext>
            </a:extLst>
          </p:cNvPr>
          <p:cNvSpPr/>
          <p:nvPr/>
        </p:nvSpPr>
        <p:spPr>
          <a:xfrm>
            <a:off x="1503432" y="1253599"/>
            <a:ext cx="242374" cy="368755"/>
          </a:xfrm>
          <a:prstGeom prst="rect">
            <a:avLst/>
          </a:prstGeom>
        </p:spPr>
        <p:txBody>
          <a:bodyPr wrap="none">
            <a:spAutoFit/>
          </a:bodyPr>
          <a:lstStyle/>
          <a:p>
            <a:pPr lvl="0" algn="just">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 </a:t>
            </a: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4F3F3E2-1E84-4FD5-A223-B2D2B7055F84}"/>
              </a:ext>
            </a:extLst>
          </p:cNvPr>
          <p:cNvSpPr/>
          <p:nvPr/>
        </p:nvSpPr>
        <p:spPr>
          <a:xfrm>
            <a:off x="895736" y="1930483"/>
            <a:ext cx="5786418" cy="1288045"/>
          </a:xfrm>
          <a:prstGeom prst="rect">
            <a:avLst/>
          </a:prstGeom>
        </p:spPr>
        <p:txBody>
          <a:bodyPr wrap="square">
            <a:spAutoFit/>
          </a:bodyPr>
          <a:lstStyle/>
          <a:p>
            <a:pPr>
              <a:lnSpc>
                <a:spcPct val="150000"/>
              </a:lnSpc>
            </a:pPr>
            <a:r>
              <a:rPr lang="en-US" dirty="0"/>
              <a:t>A transformer is a static device that transferred electrical energy from one circuit to another circuit. without changing the frequency.</a:t>
            </a:r>
          </a:p>
        </p:txBody>
      </p:sp>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2349305"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Transformer</a:t>
            </a:r>
          </a:p>
        </p:txBody>
      </p:sp>
      <p:sp>
        <p:nvSpPr>
          <p:cNvPr id="11" name="Rectangle 10">
            <a:extLst>
              <a:ext uri="{FF2B5EF4-FFF2-40B4-BE49-F238E27FC236}">
                <a16:creationId xmlns:a16="http://schemas.microsoft.com/office/drawing/2014/main" id="{F3883635-3155-4CE0-A1E9-62DE1DBD1414}"/>
              </a:ext>
            </a:extLst>
          </p:cNvPr>
          <p:cNvSpPr/>
          <p:nvPr/>
        </p:nvSpPr>
        <p:spPr>
          <a:xfrm>
            <a:off x="895736" y="3684652"/>
            <a:ext cx="6096000" cy="646331"/>
          </a:xfrm>
          <a:prstGeom prst="rect">
            <a:avLst/>
          </a:prstGeom>
        </p:spPr>
        <p:txBody>
          <a:bodyPr>
            <a:spAutoFit/>
          </a:bodyPr>
          <a:lstStyle/>
          <a:p>
            <a:r>
              <a:rPr lang="en-US" dirty="0"/>
              <a:t>They are used to step-up generator voltage to an appropriate voltage level for power transfer.</a:t>
            </a:r>
            <a:endParaRPr lang="en-IN" dirty="0"/>
          </a:p>
        </p:txBody>
      </p:sp>
      <p:sp>
        <p:nvSpPr>
          <p:cNvPr id="13" name="Rectangle 12">
            <a:extLst>
              <a:ext uri="{FF2B5EF4-FFF2-40B4-BE49-F238E27FC236}">
                <a16:creationId xmlns:a16="http://schemas.microsoft.com/office/drawing/2014/main" id="{D9DB6617-427B-4E2D-A82B-C1843B13195C}"/>
              </a:ext>
            </a:extLst>
          </p:cNvPr>
          <p:cNvSpPr/>
          <p:nvPr/>
        </p:nvSpPr>
        <p:spPr>
          <a:xfrm>
            <a:off x="895736" y="4533529"/>
            <a:ext cx="6096000" cy="646331"/>
          </a:xfrm>
          <a:prstGeom prst="rect">
            <a:avLst/>
          </a:prstGeom>
        </p:spPr>
        <p:txBody>
          <a:bodyPr>
            <a:spAutoFit/>
          </a:bodyPr>
          <a:lstStyle/>
          <a:p>
            <a:r>
              <a:rPr lang="en-US" dirty="0"/>
              <a:t>Stepping down the transmission voltage at various levels for distribution and power utilization.</a:t>
            </a:r>
            <a:endParaRPr lang="en-IN" dirty="0"/>
          </a:p>
        </p:txBody>
      </p:sp>
      <p:pic>
        <p:nvPicPr>
          <p:cNvPr id="15" name="Picture 14">
            <a:extLst>
              <a:ext uri="{FF2B5EF4-FFF2-40B4-BE49-F238E27FC236}">
                <a16:creationId xmlns:a16="http://schemas.microsoft.com/office/drawing/2014/main" id="{01308ECD-90C7-417D-B495-B8B555DED3C7}"/>
              </a:ext>
            </a:extLst>
          </p:cNvPr>
          <p:cNvPicPr>
            <a:picLocks noChangeAspect="1"/>
          </p:cNvPicPr>
          <p:nvPr/>
        </p:nvPicPr>
        <p:blipFill>
          <a:blip r:embed="rId2"/>
          <a:stretch>
            <a:fillRect/>
          </a:stretch>
        </p:blipFill>
        <p:spPr>
          <a:xfrm>
            <a:off x="6682154" y="2322377"/>
            <a:ext cx="5178347" cy="1464583"/>
          </a:xfrm>
          <a:prstGeom prst="rect">
            <a:avLst/>
          </a:prstGeom>
        </p:spPr>
      </p:pic>
    </p:spTree>
    <p:extLst>
      <p:ext uri="{BB962C8B-B14F-4D97-AF65-F5344CB8AC3E}">
        <p14:creationId xmlns:p14="http://schemas.microsoft.com/office/powerpoint/2010/main" val="1252639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F3F3E2-1E84-4FD5-A223-B2D2B7055F84}"/>
              </a:ext>
            </a:extLst>
          </p:cNvPr>
          <p:cNvSpPr/>
          <p:nvPr/>
        </p:nvSpPr>
        <p:spPr>
          <a:xfrm>
            <a:off x="895736" y="1762126"/>
            <a:ext cx="11146209" cy="646331"/>
          </a:xfrm>
          <a:prstGeom prst="rect">
            <a:avLst/>
          </a:prstGeom>
        </p:spPr>
        <p:txBody>
          <a:bodyPr wrap="square">
            <a:spAutoFit/>
          </a:bodyPr>
          <a:lstStyle/>
          <a:p>
            <a:r>
              <a:rPr lang="en-US" dirty="0"/>
              <a:t>A transformer in its simplest form will consist of a rectangular laminated magnetic structure on which two coils of different number of turns are wound as shown in Figure </a:t>
            </a:r>
          </a:p>
        </p:txBody>
      </p:sp>
      <p:sp>
        <p:nvSpPr>
          <p:cNvPr id="5" name="TextBox 4">
            <a:extLst>
              <a:ext uri="{FF2B5EF4-FFF2-40B4-BE49-F238E27FC236}">
                <a16:creationId xmlns:a16="http://schemas.microsoft.com/office/drawing/2014/main" id="{9CACA609-2C42-44CF-B96D-05B56043E1A7}"/>
              </a:ext>
            </a:extLst>
          </p:cNvPr>
          <p:cNvSpPr txBox="1"/>
          <p:nvPr/>
        </p:nvSpPr>
        <p:spPr>
          <a:xfrm>
            <a:off x="4698781" y="1051800"/>
            <a:ext cx="343109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Principle of Operation</a:t>
            </a:r>
          </a:p>
        </p:txBody>
      </p:sp>
      <p:sp>
        <p:nvSpPr>
          <p:cNvPr id="11" name="Rectangle 10">
            <a:extLst>
              <a:ext uri="{FF2B5EF4-FFF2-40B4-BE49-F238E27FC236}">
                <a16:creationId xmlns:a16="http://schemas.microsoft.com/office/drawing/2014/main" id="{F3883635-3155-4CE0-A1E9-62DE1DBD1414}"/>
              </a:ext>
            </a:extLst>
          </p:cNvPr>
          <p:cNvSpPr/>
          <p:nvPr/>
        </p:nvSpPr>
        <p:spPr>
          <a:xfrm>
            <a:off x="895736" y="2458311"/>
            <a:ext cx="10704033" cy="646331"/>
          </a:xfrm>
          <a:prstGeom prst="rect">
            <a:avLst/>
          </a:prstGeom>
        </p:spPr>
        <p:txBody>
          <a:bodyPr wrap="square">
            <a:spAutoFit/>
          </a:bodyPr>
          <a:lstStyle/>
          <a:p>
            <a:r>
              <a:rPr lang="en-US" dirty="0"/>
              <a:t>The winding to which AC voltage is impressed is called the primary of the transformer and the winding across which the load is connected is called the secondary of the transformer. </a:t>
            </a:r>
            <a:endParaRPr lang="en-IN" dirty="0"/>
          </a:p>
        </p:txBody>
      </p:sp>
      <p:pic>
        <p:nvPicPr>
          <p:cNvPr id="2" name="Picture 1">
            <a:extLst>
              <a:ext uri="{FF2B5EF4-FFF2-40B4-BE49-F238E27FC236}">
                <a16:creationId xmlns:a16="http://schemas.microsoft.com/office/drawing/2014/main" id="{256E7812-5523-425A-B7D7-5F283CA5B267}"/>
              </a:ext>
            </a:extLst>
          </p:cNvPr>
          <p:cNvPicPr>
            <a:picLocks noChangeAspect="1"/>
          </p:cNvPicPr>
          <p:nvPr/>
        </p:nvPicPr>
        <p:blipFill>
          <a:blip r:embed="rId2"/>
          <a:stretch>
            <a:fillRect/>
          </a:stretch>
        </p:blipFill>
        <p:spPr>
          <a:xfrm>
            <a:off x="2226897" y="3290980"/>
            <a:ext cx="7086600" cy="2362200"/>
          </a:xfrm>
          <a:prstGeom prst="rect">
            <a:avLst/>
          </a:prstGeom>
        </p:spPr>
      </p:pic>
    </p:spTree>
    <p:extLst>
      <p:ext uri="{BB962C8B-B14F-4D97-AF65-F5344CB8AC3E}">
        <p14:creationId xmlns:p14="http://schemas.microsoft.com/office/powerpoint/2010/main" val="3002583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346917" y="1098755"/>
            <a:ext cx="4026286"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Principle of Operation</a:t>
            </a:r>
          </a:p>
        </p:txBody>
      </p:sp>
      <p:sp>
        <p:nvSpPr>
          <p:cNvPr id="2" name="Rectangle 1">
            <a:extLst>
              <a:ext uri="{FF2B5EF4-FFF2-40B4-BE49-F238E27FC236}">
                <a16:creationId xmlns:a16="http://schemas.microsoft.com/office/drawing/2014/main" id="{354A0A6B-0913-4AE3-924C-652241293949}"/>
              </a:ext>
            </a:extLst>
          </p:cNvPr>
          <p:cNvSpPr/>
          <p:nvPr/>
        </p:nvSpPr>
        <p:spPr>
          <a:xfrm>
            <a:off x="989521" y="1956033"/>
            <a:ext cx="6424152" cy="2031325"/>
          </a:xfrm>
          <a:prstGeom prst="rect">
            <a:avLst/>
          </a:prstGeom>
        </p:spPr>
        <p:txBody>
          <a:bodyPr wrap="square">
            <a:spAutoFit/>
          </a:bodyPr>
          <a:lstStyle/>
          <a:p>
            <a:pPr algn="just"/>
            <a:r>
              <a:rPr lang="en-US" dirty="0"/>
              <a:t>Depending upon the number of turns of the primary (N</a:t>
            </a:r>
            <a:r>
              <a:rPr lang="en-US" sz="1200" dirty="0"/>
              <a:t>1</a:t>
            </a:r>
            <a:r>
              <a:rPr lang="en-US" dirty="0"/>
              <a:t>) and secondary (N</a:t>
            </a:r>
            <a:r>
              <a:rPr lang="en-US" sz="1200" dirty="0"/>
              <a:t>2</a:t>
            </a:r>
            <a:r>
              <a:rPr lang="en-US" dirty="0"/>
              <a:t>), an alternating emf (E</a:t>
            </a:r>
            <a:r>
              <a:rPr lang="en-US" sz="1400" dirty="0"/>
              <a:t>2</a:t>
            </a:r>
            <a:r>
              <a:rPr lang="en-US" dirty="0"/>
              <a:t>) is induced in the secondary. This induced emf (E</a:t>
            </a:r>
            <a:r>
              <a:rPr lang="en-US" sz="1200" dirty="0"/>
              <a:t>2</a:t>
            </a:r>
            <a:r>
              <a:rPr lang="en-US" dirty="0"/>
              <a:t>) in the secondary causes a secondary current I</a:t>
            </a:r>
            <a:r>
              <a:rPr lang="en-US" sz="1200" dirty="0"/>
              <a:t>2</a:t>
            </a:r>
            <a:r>
              <a:rPr lang="en-US" dirty="0"/>
              <a:t>. Consequently, terminal voltage V</a:t>
            </a:r>
            <a:r>
              <a:rPr lang="en-US" sz="1400" dirty="0"/>
              <a:t>2</a:t>
            </a:r>
            <a:r>
              <a:rPr lang="en-US" dirty="0"/>
              <a:t> will appear across the load. If V</a:t>
            </a:r>
            <a:r>
              <a:rPr lang="en-US" sz="1200" dirty="0"/>
              <a:t>2</a:t>
            </a:r>
            <a:r>
              <a:rPr lang="en-US" dirty="0"/>
              <a:t> &gt; V</a:t>
            </a:r>
            <a:r>
              <a:rPr lang="en-US" sz="1200" dirty="0"/>
              <a:t>1</a:t>
            </a:r>
            <a:r>
              <a:rPr lang="en-US" dirty="0"/>
              <a:t>, it is called a step up-transformer. On the other hand, if V</a:t>
            </a:r>
            <a:r>
              <a:rPr lang="en-US" sz="1400" dirty="0"/>
              <a:t>2</a:t>
            </a:r>
            <a:r>
              <a:rPr lang="en-US" dirty="0"/>
              <a:t> &lt; V</a:t>
            </a:r>
            <a:r>
              <a:rPr lang="en-US" sz="1400" dirty="0"/>
              <a:t>1</a:t>
            </a:r>
            <a:r>
              <a:rPr lang="en-US" dirty="0"/>
              <a:t>, it is called a step-down transformer. </a:t>
            </a:r>
            <a:endParaRPr lang="en-IN" dirty="0"/>
          </a:p>
        </p:txBody>
      </p:sp>
      <p:sp>
        <p:nvSpPr>
          <p:cNvPr id="6" name="Rectangle 5">
            <a:extLst>
              <a:ext uri="{FF2B5EF4-FFF2-40B4-BE49-F238E27FC236}">
                <a16:creationId xmlns:a16="http://schemas.microsoft.com/office/drawing/2014/main" id="{26E30A59-A122-4593-877F-F1B38248F268}"/>
              </a:ext>
            </a:extLst>
          </p:cNvPr>
          <p:cNvSpPr/>
          <p:nvPr/>
        </p:nvSpPr>
        <p:spPr>
          <a:xfrm>
            <a:off x="973062" y="3987358"/>
            <a:ext cx="6424152" cy="1754326"/>
          </a:xfrm>
          <a:prstGeom prst="rect">
            <a:avLst/>
          </a:prstGeom>
        </p:spPr>
        <p:txBody>
          <a:bodyPr wrap="square">
            <a:spAutoFit/>
          </a:bodyPr>
          <a:lstStyle/>
          <a:p>
            <a:pPr algn="just"/>
            <a:r>
              <a:rPr lang="en-US" dirty="0"/>
              <a:t>When an alternating voltage V</a:t>
            </a:r>
            <a:r>
              <a:rPr lang="en-US" sz="1200" dirty="0"/>
              <a:t>1</a:t>
            </a:r>
            <a:r>
              <a:rPr lang="en-US" dirty="0"/>
              <a:t> is applied to the primary, an alternating flux Φ is set up in the core. This alternating flux links both the windings and induces emfs E</a:t>
            </a:r>
            <a:r>
              <a:rPr lang="en-US" sz="1400" dirty="0"/>
              <a:t>1</a:t>
            </a:r>
            <a:r>
              <a:rPr lang="en-US" dirty="0"/>
              <a:t> and E</a:t>
            </a:r>
            <a:r>
              <a:rPr lang="en-US" sz="1400" dirty="0"/>
              <a:t>2</a:t>
            </a:r>
            <a:r>
              <a:rPr lang="en-US" dirty="0"/>
              <a:t> in them according to Faraday’s laws of electromagnetic induction. The emf E</a:t>
            </a:r>
            <a:r>
              <a:rPr lang="en-US" sz="1400" dirty="0"/>
              <a:t>1</a:t>
            </a:r>
            <a:r>
              <a:rPr lang="en-US" dirty="0"/>
              <a:t> is termed as primary emf and emf E</a:t>
            </a:r>
            <a:r>
              <a:rPr lang="en-US" sz="1400" dirty="0"/>
              <a:t>2 </a:t>
            </a:r>
            <a:r>
              <a:rPr lang="en-US" dirty="0"/>
              <a:t>is termed as Secondary emf. </a:t>
            </a:r>
            <a:endParaRPr lang="en-IN" dirty="0"/>
          </a:p>
        </p:txBody>
      </p:sp>
      <p:pic>
        <p:nvPicPr>
          <p:cNvPr id="7" name="Picture 6">
            <a:extLst>
              <a:ext uri="{FF2B5EF4-FFF2-40B4-BE49-F238E27FC236}">
                <a16:creationId xmlns:a16="http://schemas.microsoft.com/office/drawing/2014/main" id="{367C748F-1EB7-4762-A293-64E44A96752F}"/>
              </a:ext>
            </a:extLst>
          </p:cNvPr>
          <p:cNvPicPr>
            <a:picLocks noChangeAspect="1"/>
          </p:cNvPicPr>
          <p:nvPr/>
        </p:nvPicPr>
        <p:blipFill>
          <a:blip r:embed="rId2"/>
          <a:stretch>
            <a:fillRect/>
          </a:stretch>
        </p:blipFill>
        <p:spPr>
          <a:xfrm>
            <a:off x="7575489" y="2368836"/>
            <a:ext cx="4724360" cy="2120327"/>
          </a:xfrm>
          <a:prstGeom prst="rect">
            <a:avLst/>
          </a:prstGeom>
        </p:spPr>
      </p:pic>
    </p:spTree>
    <p:extLst>
      <p:ext uri="{BB962C8B-B14F-4D97-AF65-F5344CB8AC3E}">
        <p14:creationId xmlns:p14="http://schemas.microsoft.com/office/powerpoint/2010/main" val="2873350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514275" y="1098755"/>
            <a:ext cx="3615596"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Principle of Operation</a:t>
            </a:r>
          </a:p>
        </p:txBody>
      </p:sp>
      <p:pic>
        <p:nvPicPr>
          <p:cNvPr id="2" name="Picture 1">
            <a:extLst>
              <a:ext uri="{FF2B5EF4-FFF2-40B4-BE49-F238E27FC236}">
                <a16:creationId xmlns:a16="http://schemas.microsoft.com/office/drawing/2014/main" id="{6D36A2FB-3246-4896-A86E-1BBB22E0AA77}"/>
              </a:ext>
            </a:extLst>
          </p:cNvPr>
          <p:cNvPicPr>
            <a:picLocks noChangeAspect="1"/>
          </p:cNvPicPr>
          <p:nvPr/>
        </p:nvPicPr>
        <p:blipFill>
          <a:blip r:embed="rId2"/>
          <a:stretch>
            <a:fillRect/>
          </a:stretch>
        </p:blipFill>
        <p:spPr>
          <a:xfrm>
            <a:off x="4420004" y="1493394"/>
            <a:ext cx="2728628" cy="2060624"/>
          </a:xfrm>
          <a:prstGeom prst="rect">
            <a:avLst/>
          </a:prstGeom>
        </p:spPr>
      </p:pic>
      <p:sp>
        <p:nvSpPr>
          <p:cNvPr id="7" name="TextBox 6">
            <a:extLst>
              <a:ext uri="{FF2B5EF4-FFF2-40B4-BE49-F238E27FC236}">
                <a16:creationId xmlns:a16="http://schemas.microsoft.com/office/drawing/2014/main" id="{ED873B1A-6FC0-42D8-8011-2211CF5BE651}"/>
              </a:ext>
            </a:extLst>
          </p:cNvPr>
          <p:cNvSpPr txBox="1"/>
          <p:nvPr/>
        </p:nvSpPr>
        <p:spPr>
          <a:xfrm>
            <a:off x="1271688" y="3476247"/>
            <a:ext cx="9643601" cy="1754326"/>
          </a:xfrm>
          <a:prstGeom prst="rect">
            <a:avLst/>
          </a:prstGeom>
          <a:noFill/>
        </p:spPr>
        <p:txBody>
          <a:bodyPr wrap="square" rtlCol="0">
            <a:spAutoFit/>
          </a:bodyPr>
          <a:lstStyle/>
          <a:p>
            <a:pPr algn="just"/>
            <a:r>
              <a:rPr lang="en-IN" dirty="0"/>
              <a:t>The magnitudes of E</a:t>
            </a:r>
            <a:r>
              <a:rPr lang="en-IN" sz="1200" dirty="0"/>
              <a:t>2</a:t>
            </a:r>
            <a:r>
              <a:rPr lang="en-IN" dirty="0"/>
              <a:t> and E</a:t>
            </a:r>
            <a:r>
              <a:rPr lang="en-IN" sz="1400" dirty="0"/>
              <a:t>1</a:t>
            </a:r>
            <a:r>
              <a:rPr lang="en-IN" dirty="0"/>
              <a:t> depend upon the number of turns on the secondary and primary respectively.. If N</a:t>
            </a:r>
            <a:r>
              <a:rPr lang="en-IN" sz="1200" dirty="0"/>
              <a:t>2</a:t>
            </a:r>
            <a:r>
              <a:rPr lang="en-IN" dirty="0"/>
              <a:t>&gt;N</a:t>
            </a:r>
            <a:r>
              <a:rPr lang="en-IN" sz="1400" dirty="0"/>
              <a:t>1</a:t>
            </a:r>
            <a:r>
              <a:rPr lang="en-IN" dirty="0"/>
              <a:t>, then E</a:t>
            </a:r>
            <a:r>
              <a:rPr lang="en-IN" sz="1400" dirty="0"/>
              <a:t>2</a:t>
            </a:r>
            <a:r>
              <a:rPr lang="en-IN" dirty="0"/>
              <a:t>&gt;E</a:t>
            </a:r>
            <a:r>
              <a:rPr lang="en-IN" sz="1400" dirty="0"/>
              <a:t>1</a:t>
            </a:r>
            <a:r>
              <a:rPr lang="en-IN" dirty="0"/>
              <a:t> (or V</a:t>
            </a:r>
            <a:r>
              <a:rPr lang="en-IN" sz="1400" dirty="0"/>
              <a:t>2</a:t>
            </a:r>
            <a:r>
              <a:rPr lang="en-IN" dirty="0"/>
              <a:t>&gt;V</a:t>
            </a:r>
            <a:r>
              <a:rPr lang="en-IN" sz="1400" dirty="0"/>
              <a:t>1</a:t>
            </a:r>
            <a:r>
              <a:rPr lang="en-IN" dirty="0"/>
              <a:t>) and we get step-up transformer. On the other hand, if N</a:t>
            </a:r>
            <a:r>
              <a:rPr lang="en-IN" sz="1400" dirty="0"/>
              <a:t>2</a:t>
            </a:r>
            <a:r>
              <a:rPr lang="en-IN" dirty="0"/>
              <a:t>&lt;N</a:t>
            </a:r>
            <a:r>
              <a:rPr lang="en-IN" sz="1400" dirty="0"/>
              <a:t>1</a:t>
            </a:r>
            <a:r>
              <a:rPr lang="en-IN" dirty="0"/>
              <a:t>, then E</a:t>
            </a:r>
            <a:r>
              <a:rPr lang="en-IN" sz="1400" dirty="0"/>
              <a:t>2</a:t>
            </a:r>
            <a:r>
              <a:rPr lang="en-IN" dirty="0"/>
              <a:t>&lt;E</a:t>
            </a:r>
            <a:r>
              <a:rPr lang="en-IN" sz="1400" dirty="0"/>
              <a:t>1</a:t>
            </a:r>
            <a:r>
              <a:rPr lang="en-IN" dirty="0"/>
              <a:t>(or V</a:t>
            </a:r>
            <a:r>
              <a:rPr lang="en-IN" sz="1400" dirty="0"/>
              <a:t>2</a:t>
            </a:r>
            <a:r>
              <a:rPr lang="en-IN" dirty="0"/>
              <a:t>&lt;V</a:t>
            </a:r>
            <a:r>
              <a:rPr lang="en-IN" sz="1400" dirty="0"/>
              <a:t>1</a:t>
            </a:r>
            <a:r>
              <a:rPr lang="en-IN" dirty="0"/>
              <a:t>) and we get a step-down transformer. If load is connected across the secondary winding, the secondary </a:t>
            </a:r>
            <a:r>
              <a:rPr lang="en-IN" dirty="0" err="1"/>
              <a:t>e.m.f</a:t>
            </a:r>
            <a:r>
              <a:rPr lang="en-IN" dirty="0"/>
              <a:t> E</a:t>
            </a:r>
            <a:r>
              <a:rPr lang="en-IN" sz="1200" dirty="0"/>
              <a:t>2</a:t>
            </a:r>
            <a:r>
              <a:rPr lang="en-IN" dirty="0"/>
              <a:t> will cause a current I</a:t>
            </a:r>
            <a:r>
              <a:rPr lang="en-IN" sz="1400" dirty="0"/>
              <a:t>2</a:t>
            </a:r>
            <a:r>
              <a:rPr lang="en-IN" dirty="0"/>
              <a:t> to flow through the load. Thus, a transformer enables us to transfer a c power from one circuit to another with a change in voltage level.</a:t>
            </a:r>
          </a:p>
        </p:txBody>
      </p:sp>
    </p:spTree>
    <p:extLst>
      <p:ext uri="{BB962C8B-B14F-4D97-AF65-F5344CB8AC3E}">
        <p14:creationId xmlns:p14="http://schemas.microsoft.com/office/powerpoint/2010/main" val="2755223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2349305"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Transformer</a:t>
            </a:r>
          </a:p>
        </p:txBody>
      </p:sp>
      <p:sp>
        <p:nvSpPr>
          <p:cNvPr id="2" name="Rectangle 1">
            <a:extLst>
              <a:ext uri="{FF2B5EF4-FFF2-40B4-BE49-F238E27FC236}">
                <a16:creationId xmlns:a16="http://schemas.microsoft.com/office/drawing/2014/main" id="{D0D226E1-67DD-49A5-8270-AED56BC44F31}"/>
              </a:ext>
            </a:extLst>
          </p:cNvPr>
          <p:cNvSpPr/>
          <p:nvPr/>
        </p:nvSpPr>
        <p:spPr>
          <a:xfrm>
            <a:off x="1624621" y="1618694"/>
            <a:ext cx="7727761" cy="1477328"/>
          </a:xfrm>
          <a:prstGeom prst="rect">
            <a:avLst/>
          </a:prstGeom>
        </p:spPr>
        <p:txBody>
          <a:bodyPr wrap="square">
            <a:spAutoFit/>
          </a:bodyPr>
          <a:lstStyle/>
          <a:p>
            <a:r>
              <a:rPr lang="en-US" b="1" dirty="0"/>
              <a:t>The following points may be noted carefully: </a:t>
            </a:r>
          </a:p>
          <a:p>
            <a:pPr marL="400050" indent="-400050">
              <a:buAutoNum type="romanLcParenBoth"/>
            </a:pPr>
            <a:r>
              <a:rPr lang="en-US" dirty="0"/>
              <a:t>The transformer action is based on the laws of electromagnetic induction.</a:t>
            </a:r>
          </a:p>
          <a:p>
            <a:pPr marL="400050" indent="-400050">
              <a:buAutoNum type="romanLcParenBoth"/>
            </a:pPr>
            <a:r>
              <a:rPr lang="en-US" dirty="0"/>
              <a:t>There is no electrical connection between the primary and secondary. </a:t>
            </a:r>
          </a:p>
          <a:p>
            <a:pPr marL="400050" indent="-400050">
              <a:buAutoNum type="romanLcParenBoth"/>
            </a:pPr>
            <a:r>
              <a:rPr lang="en-US" dirty="0"/>
              <a:t> There is no change in frequency i.e., output power has the same frequency as the input power. </a:t>
            </a:r>
            <a:endParaRPr lang="en-IN" dirty="0"/>
          </a:p>
        </p:txBody>
      </p:sp>
      <p:sp>
        <p:nvSpPr>
          <p:cNvPr id="6" name="Rectangle 5">
            <a:extLst>
              <a:ext uri="{FF2B5EF4-FFF2-40B4-BE49-F238E27FC236}">
                <a16:creationId xmlns:a16="http://schemas.microsoft.com/office/drawing/2014/main" id="{26DDCC7B-5094-45DE-8732-964454DD7D6F}"/>
              </a:ext>
            </a:extLst>
          </p:cNvPr>
          <p:cNvSpPr/>
          <p:nvPr/>
        </p:nvSpPr>
        <p:spPr>
          <a:xfrm>
            <a:off x="1388103" y="3573076"/>
            <a:ext cx="9626899" cy="1754326"/>
          </a:xfrm>
          <a:prstGeom prst="rect">
            <a:avLst/>
          </a:prstGeom>
        </p:spPr>
        <p:txBody>
          <a:bodyPr wrap="square">
            <a:spAutoFit/>
          </a:bodyPr>
          <a:lstStyle/>
          <a:p>
            <a:r>
              <a:rPr lang="en-US" b="1" dirty="0"/>
              <a:t>Note: </a:t>
            </a:r>
          </a:p>
          <a:p>
            <a:r>
              <a:rPr lang="en-US" dirty="0"/>
              <a:t>The DC supply cannot be used for the transformers. This is because the transformer works on the principle of mutual induction, for which current in one coil must change uniformly. If DC supply is given, the current will not change due to constant supply and transformer will not work There can be saturation of the core due to which transformer draws very large current from the supply when connected to DC. </a:t>
            </a:r>
            <a:endParaRPr lang="en-IN" dirty="0"/>
          </a:p>
        </p:txBody>
      </p:sp>
    </p:spTree>
    <p:extLst>
      <p:ext uri="{BB962C8B-B14F-4D97-AF65-F5344CB8AC3E}">
        <p14:creationId xmlns:p14="http://schemas.microsoft.com/office/powerpoint/2010/main" val="2506829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2349305"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Construction</a:t>
            </a:r>
          </a:p>
        </p:txBody>
      </p:sp>
      <p:sp>
        <p:nvSpPr>
          <p:cNvPr id="2" name="Rectangle 1">
            <a:extLst>
              <a:ext uri="{FF2B5EF4-FFF2-40B4-BE49-F238E27FC236}">
                <a16:creationId xmlns:a16="http://schemas.microsoft.com/office/drawing/2014/main" id="{E69FFCCC-A02D-4A46-A9DC-646283B4811D}"/>
              </a:ext>
            </a:extLst>
          </p:cNvPr>
          <p:cNvSpPr/>
          <p:nvPr/>
        </p:nvSpPr>
        <p:spPr>
          <a:xfrm>
            <a:off x="740993" y="1814504"/>
            <a:ext cx="6349126" cy="3970318"/>
          </a:xfrm>
          <a:prstGeom prst="rect">
            <a:avLst/>
          </a:prstGeom>
        </p:spPr>
        <p:txBody>
          <a:bodyPr wrap="square">
            <a:spAutoFit/>
          </a:bodyPr>
          <a:lstStyle/>
          <a:p>
            <a:pPr algn="just"/>
            <a:r>
              <a:rPr lang="en-US" dirty="0"/>
              <a:t>The following design features are incorporated in power transformer:</a:t>
            </a:r>
          </a:p>
          <a:p>
            <a:pPr algn="just"/>
            <a:endParaRPr lang="en-US" dirty="0"/>
          </a:p>
          <a:p>
            <a:pPr algn="just"/>
            <a:r>
              <a:rPr lang="en-US" dirty="0"/>
              <a:t> (</a:t>
            </a:r>
            <a:r>
              <a:rPr lang="en-US" dirty="0" err="1"/>
              <a:t>i</a:t>
            </a:r>
            <a:r>
              <a:rPr lang="en-US" dirty="0"/>
              <a:t>) The core is made of silicon steel which has low hysteresis loss and high permeability. Further, core is laminated in order to reduce eddy current loss. These features considerably reduce the iron losses and the no-load current. </a:t>
            </a:r>
          </a:p>
          <a:p>
            <a:pPr algn="just"/>
            <a:r>
              <a:rPr lang="en-US" dirty="0"/>
              <a:t>(ii) Instead of placing primary on one limb and secondary on the other, it is a usual practice to wind one-half of each winding on one limb. This ensures tight coupling between the two windings. Consequently, leakage flux is considerably reduced.</a:t>
            </a:r>
          </a:p>
          <a:p>
            <a:pPr algn="just"/>
            <a:r>
              <a:rPr lang="en-US" dirty="0"/>
              <a:t>(iii) The winding resistances are minimized to reduce Copper loss and resulting rise in temperature and to ensure high efficiency. </a:t>
            </a:r>
            <a:endParaRPr lang="en-IN" dirty="0"/>
          </a:p>
        </p:txBody>
      </p:sp>
      <p:pic>
        <p:nvPicPr>
          <p:cNvPr id="6" name="Picture 5">
            <a:extLst>
              <a:ext uri="{FF2B5EF4-FFF2-40B4-BE49-F238E27FC236}">
                <a16:creationId xmlns:a16="http://schemas.microsoft.com/office/drawing/2014/main" id="{208B5A07-D778-4360-B8FF-6173F6F6BF33}"/>
              </a:ext>
            </a:extLst>
          </p:cNvPr>
          <p:cNvPicPr>
            <a:picLocks noChangeAspect="1"/>
          </p:cNvPicPr>
          <p:nvPr/>
        </p:nvPicPr>
        <p:blipFill>
          <a:blip r:embed="rId2"/>
          <a:stretch>
            <a:fillRect/>
          </a:stretch>
        </p:blipFill>
        <p:spPr>
          <a:xfrm>
            <a:off x="7605532" y="2128837"/>
            <a:ext cx="3619500" cy="2600325"/>
          </a:xfrm>
          <a:prstGeom prst="rect">
            <a:avLst/>
          </a:prstGeom>
        </p:spPr>
      </p:pic>
    </p:spTree>
    <p:extLst>
      <p:ext uri="{BB962C8B-B14F-4D97-AF65-F5344CB8AC3E}">
        <p14:creationId xmlns:p14="http://schemas.microsoft.com/office/powerpoint/2010/main" val="1574019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2349305"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Classification</a:t>
            </a:r>
          </a:p>
        </p:txBody>
      </p:sp>
      <p:sp>
        <p:nvSpPr>
          <p:cNvPr id="2" name="Rectangle 1">
            <a:extLst>
              <a:ext uri="{FF2B5EF4-FFF2-40B4-BE49-F238E27FC236}">
                <a16:creationId xmlns:a16="http://schemas.microsoft.com/office/drawing/2014/main" id="{D3DD8575-44B3-4584-8F3C-A7696CF65A9A}"/>
              </a:ext>
            </a:extLst>
          </p:cNvPr>
          <p:cNvSpPr/>
          <p:nvPr/>
        </p:nvSpPr>
        <p:spPr>
          <a:xfrm>
            <a:off x="895736" y="1782357"/>
            <a:ext cx="5561335" cy="3693319"/>
          </a:xfrm>
          <a:prstGeom prst="rect">
            <a:avLst/>
          </a:prstGeom>
        </p:spPr>
        <p:txBody>
          <a:bodyPr wrap="square">
            <a:spAutoFit/>
          </a:bodyPr>
          <a:lstStyle/>
          <a:p>
            <a:pPr algn="just"/>
            <a:r>
              <a:rPr lang="en-US" dirty="0"/>
              <a:t>Transformers are of two types:</a:t>
            </a:r>
          </a:p>
          <a:p>
            <a:pPr algn="just"/>
            <a:r>
              <a:rPr lang="en-US" dirty="0"/>
              <a:t> (</a:t>
            </a:r>
            <a:r>
              <a:rPr lang="en-US" dirty="0" err="1"/>
              <a:t>i</a:t>
            </a:r>
            <a:r>
              <a:rPr lang="en-US" dirty="0"/>
              <a:t>) Core-type transformer and (ii) Shell-type transformer </a:t>
            </a:r>
          </a:p>
          <a:p>
            <a:pPr algn="just"/>
            <a:endParaRPr lang="en-US" dirty="0"/>
          </a:p>
          <a:p>
            <a:pPr algn="just"/>
            <a:r>
              <a:rPr lang="en-US" dirty="0"/>
              <a:t>Core-Type Transformer: In a core-type transformer, half of the primary winding and half of the secondary winding are placed round each limb to reduce the leakage flux. </a:t>
            </a:r>
          </a:p>
          <a:p>
            <a:pPr algn="just"/>
            <a:endParaRPr lang="en-US" dirty="0"/>
          </a:p>
          <a:p>
            <a:pPr algn="just"/>
            <a:r>
              <a:rPr lang="en-US" dirty="0"/>
              <a:t>Shell-Type Transformer: This method of construction involves the use of a double magnetic circuit. Both the windings are placed round the central limb to ensure a low-reluctance flux path</a:t>
            </a:r>
          </a:p>
          <a:p>
            <a:pPr algn="just"/>
            <a:endParaRPr lang="en-IN" dirty="0"/>
          </a:p>
        </p:txBody>
      </p:sp>
      <p:pic>
        <p:nvPicPr>
          <p:cNvPr id="6" name="Picture 5">
            <a:extLst>
              <a:ext uri="{FF2B5EF4-FFF2-40B4-BE49-F238E27FC236}">
                <a16:creationId xmlns:a16="http://schemas.microsoft.com/office/drawing/2014/main" id="{EDFC6AF0-CDDD-46D8-87E9-38C5C3D4492C}"/>
              </a:ext>
            </a:extLst>
          </p:cNvPr>
          <p:cNvPicPr>
            <a:picLocks noChangeAspect="1"/>
          </p:cNvPicPr>
          <p:nvPr/>
        </p:nvPicPr>
        <p:blipFill>
          <a:blip r:embed="rId2"/>
          <a:stretch>
            <a:fillRect/>
          </a:stretch>
        </p:blipFill>
        <p:spPr>
          <a:xfrm>
            <a:off x="6658654" y="1552397"/>
            <a:ext cx="5035232" cy="1723679"/>
          </a:xfrm>
          <a:prstGeom prst="rect">
            <a:avLst/>
          </a:prstGeom>
        </p:spPr>
      </p:pic>
      <p:sp>
        <p:nvSpPr>
          <p:cNvPr id="7" name="TextBox 6">
            <a:extLst>
              <a:ext uri="{FF2B5EF4-FFF2-40B4-BE49-F238E27FC236}">
                <a16:creationId xmlns:a16="http://schemas.microsoft.com/office/drawing/2014/main" id="{2DD456BA-DFEF-48BB-88D8-B29EE121F8CD}"/>
              </a:ext>
            </a:extLst>
          </p:cNvPr>
          <p:cNvSpPr txBox="1"/>
          <p:nvPr/>
        </p:nvSpPr>
        <p:spPr>
          <a:xfrm flipH="1">
            <a:off x="8528971" y="3160974"/>
            <a:ext cx="2233247" cy="369332"/>
          </a:xfrm>
          <a:prstGeom prst="rect">
            <a:avLst/>
          </a:prstGeom>
          <a:noFill/>
        </p:spPr>
        <p:txBody>
          <a:bodyPr wrap="square" rtlCol="0">
            <a:spAutoFit/>
          </a:bodyPr>
          <a:lstStyle/>
          <a:p>
            <a:r>
              <a:rPr lang="en-IN" dirty="0"/>
              <a:t>Core Type</a:t>
            </a:r>
          </a:p>
        </p:txBody>
      </p:sp>
      <p:pic>
        <p:nvPicPr>
          <p:cNvPr id="9" name="Picture 8">
            <a:extLst>
              <a:ext uri="{FF2B5EF4-FFF2-40B4-BE49-F238E27FC236}">
                <a16:creationId xmlns:a16="http://schemas.microsoft.com/office/drawing/2014/main" id="{C70159B2-B78D-423B-9B30-7100DEA2486A}"/>
              </a:ext>
            </a:extLst>
          </p:cNvPr>
          <p:cNvPicPr>
            <a:picLocks noChangeAspect="1"/>
          </p:cNvPicPr>
          <p:nvPr/>
        </p:nvPicPr>
        <p:blipFill>
          <a:blip r:embed="rId3"/>
          <a:stretch>
            <a:fillRect/>
          </a:stretch>
        </p:blipFill>
        <p:spPr>
          <a:xfrm>
            <a:off x="6671612" y="3725188"/>
            <a:ext cx="4686300" cy="1476375"/>
          </a:xfrm>
          <a:prstGeom prst="rect">
            <a:avLst/>
          </a:prstGeom>
        </p:spPr>
      </p:pic>
      <p:sp>
        <p:nvSpPr>
          <p:cNvPr id="16" name="TextBox 15">
            <a:extLst>
              <a:ext uri="{FF2B5EF4-FFF2-40B4-BE49-F238E27FC236}">
                <a16:creationId xmlns:a16="http://schemas.microsoft.com/office/drawing/2014/main" id="{9D025FAB-C115-49AB-BAFC-AD6D5E173A22}"/>
              </a:ext>
            </a:extLst>
          </p:cNvPr>
          <p:cNvSpPr txBox="1"/>
          <p:nvPr/>
        </p:nvSpPr>
        <p:spPr>
          <a:xfrm>
            <a:off x="8705033" y="5291010"/>
            <a:ext cx="1881121" cy="369332"/>
          </a:xfrm>
          <a:prstGeom prst="rect">
            <a:avLst/>
          </a:prstGeom>
          <a:noFill/>
        </p:spPr>
        <p:txBody>
          <a:bodyPr wrap="square" rtlCol="0">
            <a:spAutoFit/>
          </a:bodyPr>
          <a:lstStyle/>
          <a:p>
            <a:r>
              <a:rPr lang="en-IN" dirty="0"/>
              <a:t>Shell Type</a:t>
            </a:r>
          </a:p>
        </p:txBody>
      </p:sp>
    </p:spTree>
    <p:extLst>
      <p:ext uri="{BB962C8B-B14F-4D97-AF65-F5344CB8AC3E}">
        <p14:creationId xmlns:p14="http://schemas.microsoft.com/office/powerpoint/2010/main" val="2403919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3355144" y="1157002"/>
            <a:ext cx="7420707"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Comparison of Core and Shell Type Transforms </a:t>
            </a:r>
            <a:endParaRPr lang="en-IN" sz="2500" b="1" dirty="0">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43C956A2-1441-4C93-AD2B-0C19039490F3}"/>
              </a:ext>
            </a:extLst>
          </p:cNvPr>
          <p:cNvGraphicFramePr>
            <a:graphicFrameLocks noGrp="1"/>
          </p:cNvGraphicFramePr>
          <p:nvPr/>
        </p:nvGraphicFramePr>
        <p:xfrm>
          <a:off x="925438" y="2073741"/>
          <a:ext cx="10815008" cy="2656840"/>
        </p:xfrm>
        <a:graphic>
          <a:graphicData uri="http://schemas.openxmlformats.org/drawingml/2006/table">
            <a:tbl>
              <a:tblPr firstRow="1" bandRow="1">
                <a:tableStyleId>{5C22544A-7EE6-4342-B048-85BDC9FD1C3A}</a:tableStyleId>
              </a:tblPr>
              <a:tblGrid>
                <a:gridCol w="5407504">
                  <a:extLst>
                    <a:ext uri="{9D8B030D-6E8A-4147-A177-3AD203B41FA5}">
                      <a16:colId xmlns:a16="http://schemas.microsoft.com/office/drawing/2014/main" val="1874349941"/>
                    </a:ext>
                  </a:extLst>
                </a:gridCol>
                <a:gridCol w="5407504">
                  <a:extLst>
                    <a:ext uri="{9D8B030D-6E8A-4147-A177-3AD203B41FA5}">
                      <a16:colId xmlns:a16="http://schemas.microsoft.com/office/drawing/2014/main" val="330293069"/>
                    </a:ext>
                  </a:extLst>
                </a:gridCol>
              </a:tblGrid>
              <a:tr h="370840">
                <a:tc>
                  <a:txBody>
                    <a:bodyPr/>
                    <a:lstStyle/>
                    <a:p>
                      <a:r>
                        <a:rPr lang="en-IN" dirty="0"/>
                        <a:t>Core Type</a:t>
                      </a:r>
                    </a:p>
                  </a:txBody>
                  <a:tcPr/>
                </a:tc>
                <a:tc>
                  <a:txBody>
                    <a:bodyPr/>
                    <a:lstStyle/>
                    <a:p>
                      <a:r>
                        <a:rPr lang="en-IN" dirty="0"/>
                        <a:t>Shell Type</a:t>
                      </a:r>
                    </a:p>
                  </a:txBody>
                  <a:tcPr/>
                </a:tc>
                <a:extLst>
                  <a:ext uri="{0D108BD9-81ED-4DB2-BD59-A6C34878D82A}">
                    <a16:rowId xmlns:a16="http://schemas.microsoft.com/office/drawing/2014/main" val="1590838898"/>
                  </a:ext>
                </a:extLst>
              </a:tr>
              <a:tr h="370840">
                <a:tc>
                  <a:txBody>
                    <a:bodyPr/>
                    <a:lstStyle/>
                    <a:p>
                      <a:r>
                        <a:rPr lang="en-US" dirty="0"/>
                        <a:t>1. The winding encircles the core. </a:t>
                      </a:r>
                    </a:p>
                    <a:p>
                      <a:r>
                        <a:rPr lang="en-US" dirty="0"/>
                        <a:t>2. It has single magnetic circuit. </a:t>
                      </a:r>
                    </a:p>
                    <a:p>
                      <a:r>
                        <a:rPr lang="en-US" dirty="0"/>
                        <a:t>3. The core has two limbs .</a:t>
                      </a:r>
                    </a:p>
                    <a:p>
                      <a:r>
                        <a:rPr lang="en-US" dirty="0"/>
                        <a:t>4. The cylindrical coils are used. </a:t>
                      </a:r>
                    </a:p>
                    <a:p>
                      <a:r>
                        <a:rPr lang="en-US" dirty="0"/>
                        <a:t>5. The winding are uniformly distributed on two limbs hence natural cooling is effective. </a:t>
                      </a:r>
                    </a:p>
                    <a:p>
                      <a:r>
                        <a:rPr lang="en-US" dirty="0"/>
                        <a:t>6. Preferred for low voltage transformers.</a:t>
                      </a:r>
                      <a:endParaRPr lang="en-IN" dirty="0"/>
                    </a:p>
                  </a:txBody>
                  <a:tcPr/>
                </a:tc>
                <a:tc>
                  <a:txBody>
                    <a:bodyPr/>
                    <a:lstStyle/>
                    <a:p>
                      <a:r>
                        <a:rPr lang="en-US" dirty="0"/>
                        <a:t>1. The core encircles most part of the winding .</a:t>
                      </a:r>
                    </a:p>
                    <a:p>
                      <a:r>
                        <a:rPr lang="en-US" dirty="0"/>
                        <a:t>2. It has double magnetic circuit. </a:t>
                      </a:r>
                    </a:p>
                    <a:p>
                      <a:r>
                        <a:rPr lang="en-US" dirty="0"/>
                        <a:t>3. The core has three limbs. </a:t>
                      </a:r>
                    </a:p>
                    <a:p>
                      <a:r>
                        <a:rPr lang="en-US" dirty="0"/>
                        <a:t>4. The multilayer disc or sandwich type coils are used. </a:t>
                      </a:r>
                    </a:p>
                    <a:p>
                      <a:r>
                        <a:rPr lang="en-US" dirty="0"/>
                        <a:t>5. The natural cooling does not exist as the windings are surrounded by the core. </a:t>
                      </a:r>
                    </a:p>
                    <a:p>
                      <a:r>
                        <a:rPr lang="en-US" dirty="0"/>
                        <a:t>6. Preferred for high voltage transformers. </a:t>
                      </a:r>
                      <a:endParaRPr lang="en-IN" dirty="0"/>
                    </a:p>
                  </a:txBody>
                  <a:tcPr/>
                </a:tc>
                <a:extLst>
                  <a:ext uri="{0D108BD9-81ED-4DB2-BD59-A6C34878D82A}">
                    <a16:rowId xmlns:a16="http://schemas.microsoft.com/office/drawing/2014/main" val="2429363322"/>
                  </a:ext>
                </a:extLst>
              </a:tr>
            </a:tbl>
          </a:graphicData>
        </a:graphic>
      </p:graphicFrame>
    </p:spTree>
    <p:extLst>
      <p:ext uri="{BB962C8B-B14F-4D97-AF65-F5344CB8AC3E}">
        <p14:creationId xmlns:p14="http://schemas.microsoft.com/office/powerpoint/2010/main" val="425651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3545059" y="1154920"/>
            <a:ext cx="4825218"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EMF Equation of a Transformer</a:t>
            </a:r>
            <a:endParaRPr lang="en-IN" sz="25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74BA4AE-3F37-413A-B004-BA8695E455DA}"/>
              </a:ext>
            </a:extLst>
          </p:cNvPr>
          <p:cNvSpPr/>
          <p:nvPr/>
        </p:nvSpPr>
        <p:spPr>
          <a:xfrm>
            <a:off x="846043" y="1863564"/>
            <a:ext cx="6096000" cy="923330"/>
          </a:xfrm>
          <a:prstGeom prst="rect">
            <a:avLst/>
          </a:prstGeom>
        </p:spPr>
        <p:txBody>
          <a:bodyPr>
            <a:spAutoFit/>
          </a:bodyPr>
          <a:lstStyle/>
          <a:p>
            <a:r>
              <a:rPr lang="en-US" dirty="0"/>
              <a:t>Consider that an alternating voltage V</a:t>
            </a:r>
            <a:r>
              <a:rPr lang="en-US" sz="1400" dirty="0"/>
              <a:t>1</a:t>
            </a:r>
            <a:r>
              <a:rPr lang="en-US" dirty="0"/>
              <a:t> of frequency f is applied to the primary as shown in Fig. The sinusoidal flux Φ produced by the primary can be represented as: </a:t>
            </a:r>
            <a:endParaRPr lang="en-IN" dirty="0"/>
          </a:p>
        </p:txBody>
      </p:sp>
      <p:pic>
        <p:nvPicPr>
          <p:cNvPr id="16" name="Picture 15">
            <a:extLst>
              <a:ext uri="{FF2B5EF4-FFF2-40B4-BE49-F238E27FC236}">
                <a16:creationId xmlns:a16="http://schemas.microsoft.com/office/drawing/2014/main" id="{24DC7CC8-57EB-48EE-A614-361AA9CD902B}"/>
              </a:ext>
            </a:extLst>
          </p:cNvPr>
          <p:cNvPicPr>
            <a:picLocks noChangeAspect="1"/>
          </p:cNvPicPr>
          <p:nvPr/>
        </p:nvPicPr>
        <p:blipFill>
          <a:blip r:embed="rId2"/>
          <a:stretch>
            <a:fillRect/>
          </a:stretch>
        </p:blipFill>
        <p:spPr>
          <a:xfrm>
            <a:off x="7016086" y="1899161"/>
            <a:ext cx="4724360" cy="2120327"/>
          </a:xfrm>
          <a:prstGeom prst="rect">
            <a:avLst/>
          </a:prstGeom>
        </p:spPr>
      </p:pic>
      <p:pic>
        <p:nvPicPr>
          <p:cNvPr id="6" name="Picture 5">
            <a:extLst>
              <a:ext uri="{FF2B5EF4-FFF2-40B4-BE49-F238E27FC236}">
                <a16:creationId xmlns:a16="http://schemas.microsoft.com/office/drawing/2014/main" id="{01CE06A3-B393-49A4-84FD-37DB0F68989C}"/>
              </a:ext>
            </a:extLst>
          </p:cNvPr>
          <p:cNvPicPr>
            <a:picLocks noChangeAspect="1"/>
          </p:cNvPicPr>
          <p:nvPr/>
        </p:nvPicPr>
        <p:blipFill>
          <a:blip r:embed="rId3"/>
          <a:stretch>
            <a:fillRect/>
          </a:stretch>
        </p:blipFill>
        <p:spPr>
          <a:xfrm>
            <a:off x="846043" y="2824055"/>
            <a:ext cx="6170043" cy="2904602"/>
          </a:xfrm>
          <a:prstGeom prst="rect">
            <a:avLst/>
          </a:prstGeom>
        </p:spPr>
      </p:pic>
    </p:spTree>
    <p:extLst>
      <p:ext uri="{BB962C8B-B14F-4D97-AF65-F5344CB8AC3E}">
        <p14:creationId xmlns:p14="http://schemas.microsoft.com/office/powerpoint/2010/main" val="339987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2787781"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E M F Equation</a:t>
            </a:r>
          </a:p>
        </p:txBody>
      </p:sp>
      <p:pic>
        <p:nvPicPr>
          <p:cNvPr id="2" name="Picture 1">
            <a:extLst>
              <a:ext uri="{FF2B5EF4-FFF2-40B4-BE49-F238E27FC236}">
                <a16:creationId xmlns:a16="http://schemas.microsoft.com/office/drawing/2014/main" id="{58831350-968B-4734-ADFC-DA625B353A6E}"/>
              </a:ext>
            </a:extLst>
          </p:cNvPr>
          <p:cNvPicPr>
            <a:picLocks noChangeAspect="1"/>
          </p:cNvPicPr>
          <p:nvPr/>
        </p:nvPicPr>
        <p:blipFill>
          <a:blip r:embed="rId2"/>
          <a:stretch>
            <a:fillRect/>
          </a:stretch>
        </p:blipFill>
        <p:spPr>
          <a:xfrm>
            <a:off x="3663607" y="1751809"/>
            <a:ext cx="4186165" cy="1955831"/>
          </a:xfrm>
          <a:prstGeom prst="rect">
            <a:avLst/>
          </a:prstGeom>
        </p:spPr>
      </p:pic>
      <p:sp>
        <p:nvSpPr>
          <p:cNvPr id="7" name="TextBox 6">
            <a:extLst>
              <a:ext uri="{FF2B5EF4-FFF2-40B4-BE49-F238E27FC236}">
                <a16:creationId xmlns:a16="http://schemas.microsoft.com/office/drawing/2014/main" id="{916A2300-C307-4EB6-9860-D2CD12C65E6C}"/>
              </a:ext>
            </a:extLst>
          </p:cNvPr>
          <p:cNvSpPr txBox="1"/>
          <p:nvPr/>
        </p:nvSpPr>
        <p:spPr>
          <a:xfrm>
            <a:off x="1624622" y="4897381"/>
            <a:ext cx="8406473" cy="646331"/>
          </a:xfrm>
          <a:prstGeom prst="rect">
            <a:avLst/>
          </a:prstGeom>
          <a:noFill/>
        </p:spPr>
        <p:txBody>
          <a:bodyPr wrap="square" rtlCol="0">
            <a:spAutoFit/>
          </a:bodyPr>
          <a:lstStyle/>
          <a:p>
            <a:r>
              <a:rPr lang="en-IN" b="1" dirty="0"/>
              <a:t>Note: </a:t>
            </a:r>
            <a:r>
              <a:rPr lang="en-IN" dirty="0"/>
              <a:t>It I clear from exp. above that e m f E</a:t>
            </a:r>
            <a:r>
              <a:rPr lang="en-IN" sz="1600" dirty="0"/>
              <a:t>1</a:t>
            </a:r>
            <a:r>
              <a:rPr lang="en-IN" dirty="0"/>
              <a:t> induced in the primary lags behind the flux </a:t>
            </a:r>
            <a:r>
              <a:rPr lang="el-GR" dirty="0">
                <a:latin typeface="Times New Roman" panose="02020603050405020304" pitchFamily="18" charset="0"/>
                <a:cs typeface="Times New Roman" panose="02020603050405020304" pitchFamily="18" charset="0"/>
              </a:rPr>
              <a:t>Φ</a:t>
            </a:r>
            <a:r>
              <a:rPr lang="en-IN" dirty="0"/>
              <a:t> by 90</a:t>
            </a:r>
            <a:r>
              <a:rPr lang="en-IN" dirty="0">
                <a:latin typeface="Times New Roman" panose="02020603050405020304" pitchFamily="18" charset="0"/>
                <a:cs typeface="Times New Roman" panose="02020603050405020304" pitchFamily="18" charset="0"/>
              </a:rPr>
              <a:t>°. Like wise, e m f E</a:t>
            </a:r>
            <a:r>
              <a:rPr lang="en-IN" sz="14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induced in the secondary lags behind flux </a:t>
            </a:r>
            <a:r>
              <a:rPr lang="el-GR" dirty="0">
                <a:latin typeface="Times New Roman" panose="02020603050405020304" pitchFamily="18" charset="0"/>
                <a:cs typeface="Times New Roman" panose="02020603050405020304" pitchFamily="18" charset="0"/>
              </a:rPr>
              <a:t>Φ</a:t>
            </a:r>
            <a:r>
              <a:rPr lang="en-IN" dirty="0"/>
              <a:t> by 90</a:t>
            </a:r>
            <a:r>
              <a:rPr lang="en-IN" dirty="0">
                <a:latin typeface="Times New Roman" panose="02020603050405020304" pitchFamily="18" charset="0"/>
                <a:cs typeface="Times New Roman" panose="02020603050405020304" pitchFamily="18" charset="0"/>
              </a:rPr>
              <a:t>°.</a:t>
            </a:r>
            <a:endParaRPr lang="en-IN" dirty="0"/>
          </a:p>
        </p:txBody>
      </p:sp>
      <p:pic>
        <p:nvPicPr>
          <p:cNvPr id="9" name="Picture 8">
            <a:extLst>
              <a:ext uri="{FF2B5EF4-FFF2-40B4-BE49-F238E27FC236}">
                <a16:creationId xmlns:a16="http://schemas.microsoft.com/office/drawing/2014/main" id="{9098CE75-7400-424A-BA49-707518EF73BE}"/>
              </a:ext>
            </a:extLst>
          </p:cNvPr>
          <p:cNvPicPr>
            <a:picLocks noChangeAspect="1"/>
          </p:cNvPicPr>
          <p:nvPr/>
        </p:nvPicPr>
        <p:blipFill>
          <a:blip r:embed="rId3"/>
          <a:stretch>
            <a:fillRect/>
          </a:stretch>
        </p:blipFill>
        <p:spPr>
          <a:xfrm>
            <a:off x="4642338" y="3895009"/>
            <a:ext cx="2005852" cy="646330"/>
          </a:xfrm>
          <a:prstGeom prst="rect">
            <a:avLst/>
          </a:prstGeom>
        </p:spPr>
      </p:pic>
      <p:sp>
        <p:nvSpPr>
          <p:cNvPr id="16" name="TextBox 15">
            <a:extLst>
              <a:ext uri="{FF2B5EF4-FFF2-40B4-BE49-F238E27FC236}">
                <a16:creationId xmlns:a16="http://schemas.microsoft.com/office/drawing/2014/main" id="{8087804E-D383-492E-91C1-04E0776B670A}"/>
              </a:ext>
            </a:extLst>
          </p:cNvPr>
          <p:cNvSpPr txBox="1"/>
          <p:nvPr/>
        </p:nvSpPr>
        <p:spPr>
          <a:xfrm>
            <a:off x="1624622" y="4013789"/>
            <a:ext cx="3017716" cy="369332"/>
          </a:xfrm>
          <a:prstGeom prst="rect">
            <a:avLst/>
          </a:prstGeom>
          <a:noFill/>
        </p:spPr>
        <p:txBody>
          <a:bodyPr wrap="square" rtlCol="0">
            <a:spAutoFit/>
          </a:bodyPr>
          <a:lstStyle/>
          <a:p>
            <a:r>
              <a:rPr lang="en-IN" dirty="0"/>
              <a:t>Voltage Transformation Ratio</a:t>
            </a:r>
          </a:p>
        </p:txBody>
      </p:sp>
    </p:spTree>
    <p:extLst>
      <p:ext uri="{BB962C8B-B14F-4D97-AF65-F5344CB8AC3E}">
        <p14:creationId xmlns:p14="http://schemas.microsoft.com/office/powerpoint/2010/main" val="707362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313055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Ideal Transformer</a:t>
            </a:r>
          </a:p>
        </p:txBody>
      </p:sp>
      <p:sp>
        <p:nvSpPr>
          <p:cNvPr id="2" name="Rectangle 1">
            <a:extLst>
              <a:ext uri="{FF2B5EF4-FFF2-40B4-BE49-F238E27FC236}">
                <a16:creationId xmlns:a16="http://schemas.microsoft.com/office/drawing/2014/main" id="{9D7267BF-92EC-4499-A61A-1D01448C5827}"/>
              </a:ext>
            </a:extLst>
          </p:cNvPr>
          <p:cNvSpPr/>
          <p:nvPr/>
        </p:nvSpPr>
        <p:spPr>
          <a:xfrm>
            <a:off x="1148861" y="1898444"/>
            <a:ext cx="6954129" cy="3139321"/>
          </a:xfrm>
          <a:prstGeom prst="rect">
            <a:avLst/>
          </a:prstGeom>
        </p:spPr>
        <p:txBody>
          <a:bodyPr wrap="square">
            <a:spAutoFit/>
          </a:bodyPr>
          <a:lstStyle/>
          <a:p>
            <a:r>
              <a:rPr lang="en-US" dirty="0"/>
              <a:t>A transformer is said to be ideal if it satisfies following properties:</a:t>
            </a:r>
          </a:p>
          <a:p>
            <a:r>
              <a:rPr lang="en-US" dirty="0"/>
              <a:t> </a:t>
            </a:r>
            <a:r>
              <a:rPr lang="en-US" dirty="0" err="1"/>
              <a:t>i</a:t>
            </a:r>
            <a:r>
              <a:rPr lang="en-US" dirty="0"/>
              <a:t>) It has no losses.</a:t>
            </a:r>
          </a:p>
          <a:p>
            <a:r>
              <a:rPr lang="en-US" dirty="0"/>
              <a:t> ii) Its windings have zero resistance. </a:t>
            </a:r>
          </a:p>
          <a:p>
            <a:r>
              <a:rPr lang="en-US" dirty="0"/>
              <a:t>iii) Leakage flux is zero i.e. 100 % flux produced by primary links with the secondary. </a:t>
            </a:r>
          </a:p>
          <a:p>
            <a:r>
              <a:rPr lang="en-US" dirty="0"/>
              <a:t>iv) Permeability of core is so high that negligible current is required to establish the flux in it.</a:t>
            </a:r>
          </a:p>
          <a:p>
            <a:endParaRPr lang="en-US" dirty="0"/>
          </a:p>
          <a:p>
            <a:endParaRPr lang="en-US" dirty="0"/>
          </a:p>
          <a:p>
            <a:r>
              <a:rPr lang="en-US" b="1" dirty="0"/>
              <a:t> NOTE: </a:t>
            </a:r>
            <a:r>
              <a:rPr lang="en-US" dirty="0"/>
              <a:t>For an ideal transformer, the primary applied voltage V</a:t>
            </a:r>
            <a:r>
              <a:rPr lang="en-US" sz="1400" dirty="0"/>
              <a:t>1</a:t>
            </a:r>
            <a:r>
              <a:rPr lang="en-US" dirty="0"/>
              <a:t> is same as the primary induced emf E</a:t>
            </a:r>
            <a:r>
              <a:rPr lang="en-US" sz="1400" dirty="0"/>
              <a:t>1</a:t>
            </a:r>
            <a:r>
              <a:rPr lang="en-US" dirty="0"/>
              <a:t> as there are no voltage drops. </a:t>
            </a:r>
            <a:endParaRPr lang="en-IN" dirty="0"/>
          </a:p>
        </p:txBody>
      </p:sp>
    </p:spTree>
    <p:extLst>
      <p:ext uri="{BB962C8B-B14F-4D97-AF65-F5344CB8AC3E}">
        <p14:creationId xmlns:p14="http://schemas.microsoft.com/office/powerpoint/2010/main" val="4096364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3234314"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Ideal Transformer</a:t>
            </a:r>
          </a:p>
        </p:txBody>
      </p:sp>
      <p:pic>
        <p:nvPicPr>
          <p:cNvPr id="16" name="Picture 15">
            <a:extLst>
              <a:ext uri="{FF2B5EF4-FFF2-40B4-BE49-F238E27FC236}">
                <a16:creationId xmlns:a16="http://schemas.microsoft.com/office/drawing/2014/main" id="{D7558520-12CA-413C-B1CB-E6FBF50803B6}"/>
              </a:ext>
            </a:extLst>
          </p:cNvPr>
          <p:cNvPicPr>
            <a:picLocks noChangeAspect="1"/>
          </p:cNvPicPr>
          <p:nvPr/>
        </p:nvPicPr>
        <p:blipFill>
          <a:blip r:embed="rId2"/>
          <a:stretch>
            <a:fillRect/>
          </a:stretch>
        </p:blipFill>
        <p:spPr>
          <a:xfrm>
            <a:off x="2240519" y="2337814"/>
            <a:ext cx="6918173" cy="3281127"/>
          </a:xfrm>
          <a:prstGeom prst="rect">
            <a:avLst/>
          </a:prstGeom>
        </p:spPr>
      </p:pic>
      <p:sp>
        <p:nvSpPr>
          <p:cNvPr id="2" name="TextBox 1">
            <a:extLst>
              <a:ext uri="{FF2B5EF4-FFF2-40B4-BE49-F238E27FC236}">
                <a16:creationId xmlns:a16="http://schemas.microsoft.com/office/drawing/2014/main" id="{31FD1A46-F164-421A-A65D-1EE45940A6DC}"/>
              </a:ext>
            </a:extLst>
          </p:cNvPr>
          <p:cNvSpPr txBox="1"/>
          <p:nvPr/>
        </p:nvSpPr>
        <p:spPr>
          <a:xfrm>
            <a:off x="1624621" y="1749050"/>
            <a:ext cx="2518117" cy="369332"/>
          </a:xfrm>
          <a:prstGeom prst="rect">
            <a:avLst/>
          </a:prstGeom>
          <a:noFill/>
        </p:spPr>
        <p:txBody>
          <a:bodyPr wrap="square" rtlCol="0">
            <a:spAutoFit/>
          </a:bodyPr>
          <a:lstStyle/>
          <a:p>
            <a:r>
              <a:rPr lang="en-IN" dirty="0"/>
              <a:t>For ideal transformer</a:t>
            </a:r>
          </a:p>
        </p:txBody>
      </p:sp>
    </p:spTree>
    <p:extLst>
      <p:ext uri="{BB962C8B-B14F-4D97-AF65-F5344CB8AC3E}">
        <p14:creationId xmlns:p14="http://schemas.microsoft.com/office/powerpoint/2010/main" val="704987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231050" y="1123517"/>
            <a:ext cx="4445391"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Ideal Transformer on No-load</a:t>
            </a:r>
          </a:p>
        </p:txBody>
      </p:sp>
      <p:sp>
        <p:nvSpPr>
          <p:cNvPr id="2" name="Rectangle 1">
            <a:extLst>
              <a:ext uri="{FF2B5EF4-FFF2-40B4-BE49-F238E27FC236}">
                <a16:creationId xmlns:a16="http://schemas.microsoft.com/office/drawing/2014/main" id="{66ABE144-ED3A-4545-9C7D-495573465C57}"/>
              </a:ext>
            </a:extLst>
          </p:cNvPr>
          <p:cNvSpPr/>
          <p:nvPr/>
        </p:nvSpPr>
        <p:spPr>
          <a:xfrm>
            <a:off x="895736" y="1927796"/>
            <a:ext cx="6096000" cy="2862322"/>
          </a:xfrm>
          <a:prstGeom prst="rect">
            <a:avLst/>
          </a:prstGeom>
        </p:spPr>
        <p:txBody>
          <a:bodyPr>
            <a:spAutoFit/>
          </a:bodyPr>
          <a:lstStyle/>
          <a:p>
            <a:r>
              <a:rPr lang="en-US" dirty="0"/>
              <a:t>Consider an ideal transformer in Fig. </a:t>
            </a:r>
          </a:p>
          <a:p>
            <a:pPr algn="just"/>
            <a:r>
              <a:rPr lang="en-US" dirty="0"/>
              <a:t>For no load I</a:t>
            </a:r>
            <a:r>
              <a:rPr lang="en-US" sz="1400" dirty="0"/>
              <a:t>2</a:t>
            </a:r>
            <a:r>
              <a:rPr lang="en-US" dirty="0"/>
              <a:t> =0. I</a:t>
            </a:r>
            <a:r>
              <a:rPr lang="en-US" sz="1400" dirty="0"/>
              <a:t>1</a:t>
            </a:r>
            <a:r>
              <a:rPr lang="en-US" dirty="0"/>
              <a:t> is just necessary to produce flux in the core, which is called magnetizing current denoted as </a:t>
            </a:r>
            <a:r>
              <a:rPr lang="en-US" dirty="0" err="1"/>
              <a:t>I</a:t>
            </a:r>
            <a:r>
              <a:rPr lang="en-US" sz="1600" dirty="0" err="1"/>
              <a:t>m</a:t>
            </a:r>
            <a:r>
              <a:rPr lang="en-US" dirty="0"/>
              <a:t>.</a:t>
            </a:r>
          </a:p>
          <a:p>
            <a:r>
              <a:rPr lang="en-US" dirty="0"/>
              <a:t> </a:t>
            </a:r>
            <a:r>
              <a:rPr lang="en-US" dirty="0" err="1"/>
              <a:t>I</a:t>
            </a:r>
            <a:r>
              <a:rPr lang="en-US" sz="1400" dirty="0" err="1"/>
              <a:t>m</a:t>
            </a:r>
            <a:r>
              <a:rPr lang="en-US" dirty="0"/>
              <a:t> is very small and lags  V</a:t>
            </a:r>
            <a:r>
              <a:rPr lang="en-US" sz="1400" dirty="0"/>
              <a:t>1</a:t>
            </a:r>
            <a:r>
              <a:rPr lang="en-US" dirty="0"/>
              <a:t> by 90</a:t>
            </a:r>
            <a:r>
              <a:rPr lang="en-US" dirty="0">
                <a:latin typeface="Times New Roman" panose="02020603050405020304" pitchFamily="18" charset="0"/>
                <a:cs typeface="Times New Roman" panose="02020603050405020304" pitchFamily="18" charset="0"/>
              </a:rPr>
              <a:t>° </a:t>
            </a:r>
            <a:r>
              <a:rPr lang="en-US" dirty="0"/>
              <a:t>as the winding is purely inductive.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t>According to Lenz's law, the induced </a:t>
            </a:r>
            <a:r>
              <a:rPr lang="en-US" dirty="0" err="1"/>
              <a:t>e.m.f.</a:t>
            </a:r>
            <a:r>
              <a:rPr lang="en-US" dirty="0"/>
              <a:t> opposes the cause producing it which is supply voltage V</a:t>
            </a:r>
            <a:r>
              <a:rPr lang="en-US" sz="1400" dirty="0"/>
              <a:t>1</a:t>
            </a:r>
            <a:r>
              <a:rPr lang="en-US" dirty="0"/>
              <a:t>. Hence E</a:t>
            </a:r>
            <a:r>
              <a:rPr lang="en-US" sz="1400" dirty="0"/>
              <a:t>1</a:t>
            </a:r>
            <a:r>
              <a:rPr lang="en-US" dirty="0"/>
              <a:t> and E</a:t>
            </a:r>
            <a:r>
              <a:rPr lang="en-US" sz="1400" dirty="0"/>
              <a:t>2</a:t>
            </a:r>
            <a:r>
              <a:rPr lang="en-US" dirty="0"/>
              <a:t> are in antiphase with V</a:t>
            </a:r>
            <a:r>
              <a:rPr lang="en-US" sz="1400" dirty="0"/>
              <a:t>1</a:t>
            </a:r>
            <a:r>
              <a:rPr lang="en-US" dirty="0"/>
              <a:t> but equal in magnitude and E</a:t>
            </a:r>
            <a:r>
              <a:rPr lang="en-US" sz="1400" dirty="0"/>
              <a:t>1</a:t>
            </a:r>
            <a:r>
              <a:rPr lang="en-US" dirty="0"/>
              <a:t> and E</a:t>
            </a:r>
            <a:r>
              <a:rPr lang="en-US" sz="1400" dirty="0"/>
              <a:t>2 </a:t>
            </a:r>
            <a:r>
              <a:rPr lang="en-US" dirty="0"/>
              <a:t>are in phase.  </a:t>
            </a:r>
            <a:endParaRPr lang="en-IN" dirty="0"/>
          </a:p>
        </p:txBody>
      </p:sp>
      <p:pic>
        <p:nvPicPr>
          <p:cNvPr id="6" name="Picture 5">
            <a:extLst>
              <a:ext uri="{FF2B5EF4-FFF2-40B4-BE49-F238E27FC236}">
                <a16:creationId xmlns:a16="http://schemas.microsoft.com/office/drawing/2014/main" id="{76B70F0A-3B3C-4361-B626-BFA87225C3C6}"/>
              </a:ext>
            </a:extLst>
          </p:cNvPr>
          <p:cNvPicPr>
            <a:picLocks noChangeAspect="1"/>
          </p:cNvPicPr>
          <p:nvPr/>
        </p:nvPicPr>
        <p:blipFill>
          <a:blip r:embed="rId2"/>
          <a:stretch>
            <a:fillRect/>
          </a:stretch>
        </p:blipFill>
        <p:spPr>
          <a:xfrm>
            <a:off x="7732747" y="1533358"/>
            <a:ext cx="3490039" cy="2035856"/>
          </a:xfrm>
          <a:prstGeom prst="rect">
            <a:avLst/>
          </a:prstGeom>
        </p:spPr>
      </p:pic>
      <p:pic>
        <p:nvPicPr>
          <p:cNvPr id="7" name="Picture 6">
            <a:extLst>
              <a:ext uri="{FF2B5EF4-FFF2-40B4-BE49-F238E27FC236}">
                <a16:creationId xmlns:a16="http://schemas.microsoft.com/office/drawing/2014/main" id="{977D85F5-BD98-47DB-BFCA-B5A59914BFD6}"/>
              </a:ext>
            </a:extLst>
          </p:cNvPr>
          <p:cNvPicPr>
            <a:picLocks noChangeAspect="1"/>
          </p:cNvPicPr>
          <p:nvPr/>
        </p:nvPicPr>
        <p:blipFill>
          <a:blip r:embed="rId3"/>
          <a:stretch>
            <a:fillRect/>
          </a:stretch>
        </p:blipFill>
        <p:spPr>
          <a:xfrm>
            <a:off x="8026107" y="3429000"/>
            <a:ext cx="2739761" cy="1947995"/>
          </a:xfrm>
          <a:prstGeom prst="rect">
            <a:avLst/>
          </a:prstGeom>
        </p:spPr>
      </p:pic>
      <p:sp>
        <p:nvSpPr>
          <p:cNvPr id="9" name="TextBox 8">
            <a:extLst>
              <a:ext uri="{FF2B5EF4-FFF2-40B4-BE49-F238E27FC236}">
                <a16:creationId xmlns:a16="http://schemas.microsoft.com/office/drawing/2014/main" id="{66346AA9-2E71-4EB3-A91C-780DE5457C7E}"/>
              </a:ext>
            </a:extLst>
          </p:cNvPr>
          <p:cNvSpPr txBox="1"/>
          <p:nvPr/>
        </p:nvSpPr>
        <p:spPr>
          <a:xfrm>
            <a:off x="8624859" y="5324642"/>
            <a:ext cx="1828800" cy="369332"/>
          </a:xfrm>
          <a:prstGeom prst="rect">
            <a:avLst/>
          </a:prstGeom>
          <a:noFill/>
        </p:spPr>
        <p:txBody>
          <a:bodyPr wrap="square" rtlCol="0">
            <a:spAutoFit/>
          </a:bodyPr>
          <a:lstStyle/>
          <a:p>
            <a:r>
              <a:rPr lang="en-IN" dirty="0"/>
              <a:t>Phasor diagram</a:t>
            </a:r>
          </a:p>
        </p:txBody>
      </p:sp>
    </p:spTree>
    <p:extLst>
      <p:ext uri="{BB962C8B-B14F-4D97-AF65-F5344CB8AC3E}">
        <p14:creationId xmlns:p14="http://schemas.microsoft.com/office/powerpoint/2010/main" val="4221610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516965" y="1098755"/>
            <a:ext cx="4515729"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Ideal Transformer on load</a:t>
            </a:r>
          </a:p>
        </p:txBody>
      </p:sp>
      <p:sp>
        <p:nvSpPr>
          <p:cNvPr id="2" name="Rectangle 1">
            <a:extLst>
              <a:ext uri="{FF2B5EF4-FFF2-40B4-BE49-F238E27FC236}">
                <a16:creationId xmlns:a16="http://schemas.microsoft.com/office/drawing/2014/main" id="{765F5039-9852-4A96-8BD0-2F3325093FC7}"/>
              </a:ext>
            </a:extLst>
          </p:cNvPr>
          <p:cNvSpPr/>
          <p:nvPr/>
        </p:nvSpPr>
        <p:spPr>
          <a:xfrm>
            <a:off x="796350" y="1558014"/>
            <a:ext cx="11293912" cy="646331"/>
          </a:xfrm>
          <a:prstGeom prst="rect">
            <a:avLst/>
          </a:prstGeom>
        </p:spPr>
        <p:txBody>
          <a:bodyPr wrap="square">
            <a:spAutoFit/>
          </a:bodyPr>
          <a:lstStyle/>
          <a:p>
            <a:r>
              <a:rPr lang="en-US" dirty="0"/>
              <a:t>Let us connect a load Z</a:t>
            </a:r>
            <a:r>
              <a:rPr lang="en-US" sz="1400" dirty="0"/>
              <a:t>L</a:t>
            </a:r>
            <a:r>
              <a:rPr lang="en-US" dirty="0"/>
              <a:t> across the secondary of an ideal transformer as shown in Figure below: The secondary emf E</a:t>
            </a:r>
            <a:r>
              <a:rPr lang="en-US" sz="1400" dirty="0"/>
              <a:t>2</a:t>
            </a:r>
            <a:r>
              <a:rPr lang="en-US" dirty="0"/>
              <a:t> will cause a current I</a:t>
            </a:r>
            <a:r>
              <a:rPr lang="en-US" sz="1400" dirty="0"/>
              <a:t>2 </a:t>
            </a:r>
            <a:r>
              <a:rPr lang="en-US" dirty="0"/>
              <a:t>to flow through the load: </a:t>
            </a:r>
            <a:endParaRPr lang="en-IN" dirty="0"/>
          </a:p>
        </p:txBody>
      </p:sp>
      <p:pic>
        <p:nvPicPr>
          <p:cNvPr id="6" name="Picture 5">
            <a:extLst>
              <a:ext uri="{FF2B5EF4-FFF2-40B4-BE49-F238E27FC236}">
                <a16:creationId xmlns:a16="http://schemas.microsoft.com/office/drawing/2014/main" id="{6B3DC018-E8C3-4AD3-85B9-95C546DFFD7B}"/>
              </a:ext>
            </a:extLst>
          </p:cNvPr>
          <p:cNvPicPr>
            <a:picLocks noChangeAspect="1"/>
          </p:cNvPicPr>
          <p:nvPr/>
        </p:nvPicPr>
        <p:blipFill>
          <a:blip r:embed="rId2"/>
          <a:stretch>
            <a:fillRect/>
          </a:stretch>
        </p:blipFill>
        <p:spPr>
          <a:xfrm>
            <a:off x="8501455" y="2140276"/>
            <a:ext cx="2641278" cy="1886627"/>
          </a:xfrm>
          <a:prstGeom prst="rect">
            <a:avLst/>
          </a:prstGeom>
        </p:spPr>
      </p:pic>
      <p:pic>
        <p:nvPicPr>
          <p:cNvPr id="7" name="Picture 6">
            <a:extLst>
              <a:ext uri="{FF2B5EF4-FFF2-40B4-BE49-F238E27FC236}">
                <a16:creationId xmlns:a16="http://schemas.microsoft.com/office/drawing/2014/main" id="{3B54D23F-3D19-4F16-8137-0E1610D823E7}"/>
              </a:ext>
            </a:extLst>
          </p:cNvPr>
          <p:cNvPicPr>
            <a:picLocks noChangeAspect="1"/>
          </p:cNvPicPr>
          <p:nvPr/>
        </p:nvPicPr>
        <p:blipFill>
          <a:blip r:embed="rId3"/>
          <a:stretch>
            <a:fillRect/>
          </a:stretch>
        </p:blipFill>
        <p:spPr>
          <a:xfrm>
            <a:off x="8764113" y="4046999"/>
            <a:ext cx="2175131" cy="1669657"/>
          </a:xfrm>
          <a:prstGeom prst="rect">
            <a:avLst/>
          </a:prstGeom>
        </p:spPr>
      </p:pic>
      <p:pic>
        <p:nvPicPr>
          <p:cNvPr id="9" name="Picture 8">
            <a:extLst>
              <a:ext uri="{FF2B5EF4-FFF2-40B4-BE49-F238E27FC236}">
                <a16:creationId xmlns:a16="http://schemas.microsoft.com/office/drawing/2014/main" id="{3417C8D4-2F7A-4C7A-8A6D-04588C16A6B1}"/>
              </a:ext>
            </a:extLst>
          </p:cNvPr>
          <p:cNvPicPr>
            <a:picLocks noChangeAspect="1"/>
          </p:cNvPicPr>
          <p:nvPr/>
        </p:nvPicPr>
        <p:blipFill>
          <a:blip r:embed="rId4"/>
          <a:stretch>
            <a:fillRect/>
          </a:stretch>
        </p:blipFill>
        <p:spPr>
          <a:xfrm>
            <a:off x="7440807" y="1918435"/>
            <a:ext cx="1591887" cy="646330"/>
          </a:xfrm>
          <a:prstGeom prst="rect">
            <a:avLst/>
          </a:prstGeom>
        </p:spPr>
      </p:pic>
      <p:pic>
        <p:nvPicPr>
          <p:cNvPr id="16" name="Picture 15">
            <a:extLst>
              <a:ext uri="{FF2B5EF4-FFF2-40B4-BE49-F238E27FC236}">
                <a16:creationId xmlns:a16="http://schemas.microsoft.com/office/drawing/2014/main" id="{B3DCD66C-7122-443A-A2F9-F53D67CB46EB}"/>
              </a:ext>
            </a:extLst>
          </p:cNvPr>
          <p:cNvPicPr>
            <a:picLocks noChangeAspect="1"/>
          </p:cNvPicPr>
          <p:nvPr/>
        </p:nvPicPr>
        <p:blipFill>
          <a:blip r:embed="rId5"/>
          <a:stretch>
            <a:fillRect/>
          </a:stretch>
        </p:blipFill>
        <p:spPr>
          <a:xfrm>
            <a:off x="755515" y="2140276"/>
            <a:ext cx="6755842" cy="3718437"/>
          </a:xfrm>
          <a:prstGeom prst="rect">
            <a:avLst/>
          </a:prstGeom>
        </p:spPr>
      </p:pic>
    </p:spTree>
    <p:extLst>
      <p:ext uri="{BB962C8B-B14F-4D97-AF65-F5344CB8AC3E}">
        <p14:creationId xmlns:p14="http://schemas.microsoft.com/office/powerpoint/2010/main" val="2097798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52B4FD-ECAC-4C0D-B9B1-F1E9F1CC1F91}"/>
              </a:ext>
            </a:extLst>
          </p:cNvPr>
          <p:cNvSpPr/>
          <p:nvPr/>
        </p:nvSpPr>
        <p:spPr>
          <a:xfrm>
            <a:off x="965981" y="1743130"/>
            <a:ext cx="6096000" cy="923330"/>
          </a:xfrm>
          <a:prstGeom prst="rect">
            <a:avLst/>
          </a:prstGeom>
        </p:spPr>
        <p:txBody>
          <a:bodyPr>
            <a:spAutoFit/>
          </a:bodyPr>
          <a:lstStyle/>
          <a:p>
            <a:r>
              <a:rPr lang="en-US" dirty="0"/>
              <a:t>The secondary current I2 lags behind V2 (or E2) by Φ. It causes a primary current I1 = KI2 = I2 (for K=1) which is in antiphase with it. </a:t>
            </a:r>
            <a:endParaRPr lang="en-IN" dirty="0"/>
          </a:p>
        </p:txBody>
      </p:sp>
      <p:pic>
        <p:nvPicPr>
          <p:cNvPr id="16" name="Picture 15">
            <a:extLst>
              <a:ext uri="{FF2B5EF4-FFF2-40B4-BE49-F238E27FC236}">
                <a16:creationId xmlns:a16="http://schemas.microsoft.com/office/drawing/2014/main" id="{DBE28865-60CD-4B07-85ED-93DCA2308CA3}"/>
              </a:ext>
            </a:extLst>
          </p:cNvPr>
          <p:cNvPicPr>
            <a:picLocks noChangeAspect="1"/>
          </p:cNvPicPr>
          <p:nvPr/>
        </p:nvPicPr>
        <p:blipFill>
          <a:blip r:embed="rId2"/>
          <a:stretch>
            <a:fillRect/>
          </a:stretch>
        </p:blipFill>
        <p:spPr>
          <a:xfrm>
            <a:off x="8116026" y="1682558"/>
            <a:ext cx="2499662" cy="1918771"/>
          </a:xfrm>
          <a:prstGeom prst="rect">
            <a:avLst/>
          </a:prstGeom>
        </p:spPr>
      </p:pic>
      <p:pic>
        <p:nvPicPr>
          <p:cNvPr id="6" name="Picture 5">
            <a:extLst>
              <a:ext uri="{FF2B5EF4-FFF2-40B4-BE49-F238E27FC236}">
                <a16:creationId xmlns:a16="http://schemas.microsoft.com/office/drawing/2014/main" id="{0DE6CF04-9E29-47D7-A511-E9144851CE00}"/>
              </a:ext>
            </a:extLst>
          </p:cNvPr>
          <p:cNvPicPr>
            <a:picLocks noChangeAspect="1"/>
          </p:cNvPicPr>
          <p:nvPr/>
        </p:nvPicPr>
        <p:blipFill>
          <a:blip r:embed="rId3"/>
          <a:stretch>
            <a:fillRect/>
          </a:stretch>
        </p:blipFill>
        <p:spPr>
          <a:xfrm>
            <a:off x="802762" y="2829596"/>
            <a:ext cx="7539253" cy="2195899"/>
          </a:xfrm>
          <a:prstGeom prst="rect">
            <a:avLst/>
          </a:prstGeom>
        </p:spPr>
      </p:pic>
    </p:spTree>
    <p:extLst>
      <p:ext uri="{BB962C8B-B14F-4D97-AF65-F5344CB8AC3E}">
        <p14:creationId xmlns:p14="http://schemas.microsoft.com/office/powerpoint/2010/main" val="275569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4895557" y="1098755"/>
            <a:ext cx="3432517"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Practical Transformer</a:t>
            </a:r>
          </a:p>
        </p:txBody>
      </p:sp>
      <p:sp>
        <p:nvSpPr>
          <p:cNvPr id="2" name="Rectangle 1">
            <a:extLst>
              <a:ext uri="{FF2B5EF4-FFF2-40B4-BE49-F238E27FC236}">
                <a16:creationId xmlns:a16="http://schemas.microsoft.com/office/drawing/2014/main" id="{BAE5A1A8-49F7-4C19-9081-AD7A540F49AC}"/>
              </a:ext>
            </a:extLst>
          </p:cNvPr>
          <p:cNvSpPr/>
          <p:nvPr/>
        </p:nvSpPr>
        <p:spPr>
          <a:xfrm>
            <a:off x="691761" y="1575809"/>
            <a:ext cx="11181371" cy="923330"/>
          </a:xfrm>
          <a:prstGeom prst="rect">
            <a:avLst/>
          </a:prstGeom>
        </p:spPr>
        <p:txBody>
          <a:bodyPr wrap="square">
            <a:spAutoFit/>
          </a:bodyPr>
          <a:lstStyle/>
          <a:p>
            <a:r>
              <a:rPr lang="en-US" dirty="0"/>
              <a:t>A practical transformer differs from the ideal transformer in many respects. </a:t>
            </a:r>
          </a:p>
          <a:p>
            <a:r>
              <a:rPr lang="en-US" dirty="0"/>
              <a:t>The practical transformer has (</a:t>
            </a:r>
            <a:r>
              <a:rPr lang="en-US" dirty="0" err="1"/>
              <a:t>i</a:t>
            </a:r>
            <a:r>
              <a:rPr lang="en-US" dirty="0"/>
              <a:t>) iron losses (ii) winding resistances and (iii) magnetic leakage, giving rise to leakage reactance. </a:t>
            </a:r>
            <a:endParaRPr lang="en-IN" dirty="0"/>
          </a:p>
        </p:txBody>
      </p:sp>
      <p:pic>
        <p:nvPicPr>
          <p:cNvPr id="6" name="Picture 5">
            <a:extLst>
              <a:ext uri="{FF2B5EF4-FFF2-40B4-BE49-F238E27FC236}">
                <a16:creationId xmlns:a16="http://schemas.microsoft.com/office/drawing/2014/main" id="{5F58FA15-8150-4119-B4F9-C8D211663E93}"/>
              </a:ext>
            </a:extLst>
          </p:cNvPr>
          <p:cNvPicPr>
            <a:picLocks noChangeAspect="1"/>
          </p:cNvPicPr>
          <p:nvPr/>
        </p:nvPicPr>
        <p:blipFill>
          <a:blip r:embed="rId2"/>
          <a:stretch>
            <a:fillRect/>
          </a:stretch>
        </p:blipFill>
        <p:spPr>
          <a:xfrm>
            <a:off x="7720842" y="2263693"/>
            <a:ext cx="4216792" cy="1602381"/>
          </a:xfrm>
          <a:prstGeom prst="rect">
            <a:avLst/>
          </a:prstGeom>
        </p:spPr>
      </p:pic>
      <p:sp>
        <p:nvSpPr>
          <p:cNvPr id="7" name="Rectangle 6">
            <a:extLst>
              <a:ext uri="{FF2B5EF4-FFF2-40B4-BE49-F238E27FC236}">
                <a16:creationId xmlns:a16="http://schemas.microsoft.com/office/drawing/2014/main" id="{703613EF-5E82-464D-8D51-74DC7A54F748}"/>
              </a:ext>
            </a:extLst>
          </p:cNvPr>
          <p:cNvSpPr/>
          <p:nvPr/>
        </p:nvSpPr>
        <p:spPr>
          <a:xfrm>
            <a:off x="691761" y="2268416"/>
            <a:ext cx="7029081" cy="3416320"/>
          </a:xfrm>
          <a:prstGeom prst="rect">
            <a:avLst/>
          </a:prstGeom>
        </p:spPr>
        <p:txBody>
          <a:bodyPr wrap="square">
            <a:spAutoFit/>
          </a:bodyPr>
          <a:lstStyle/>
          <a:p>
            <a:endParaRPr lang="en-US" dirty="0"/>
          </a:p>
          <a:p>
            <a:pPr marL="400050" indent="-400050">
              <a:buAutoNum type="romanLcParenBoth"/>
            </a:pPr>
            <a:r>
              <a:rPr lang="en-US" dirty="0"/>
              <a:t>Iron losses. Since the iron core is subjected to alternating flux, there occurs eddy current and hysteresis loss in it.</a:t>
            </a:r>
          </a:p>
          <a:p>
            <a:pPr marL="400050" indent="-400050">
              <a:buAutoNum type="romanLcParenBoth"/>
            </a:pPr>
            <a:r>
              <a:rPr lang="en-US" dirty="0"/>
              <a:t>Winding resistances. Since the windings consist of copper conductors, it immediately follows that both primary and secondary will have winding resistance. The primary resistance R</a:t>
            </a:r>
            <a:r>
              <a:rPr lang="en-US" sz="1400" dirty="0"/>
              <a:t>1</a:t>
            </a:r>
            <a:r>
              <a:rPr lang="en-US" dirty="0"/>
              <a:t> and secondary resistance R</a:t>
            </a:r>
            <a:r>
              <a:rPr lang="en-US" sz="1600" dirty="0"/>
              <a:t>2 </a:t>
            </a:r>
            <a:r>
              <a:rPr lang="en-US" dirty="0"/>
              <a:t>act in series with the respective windings as shown below:</a:t>
            </a:r>
          </a:p>
          <a:p>
            <a:pPr marL="400050" indent="-400050">
              <a:buAutoNum type="romanLcParenBoth"/>
            </a:pPr>
            <a:r>
              <a:rPr lang="en-US" dirty="0"/>
              <a:t>Leakage reactance. Both primary and secondary currents produce flux. The flux Φ which links both the windings is the useful flux However, primary current would produce some flux Φ which would not link the secondary winding and is called mutual flux. </a:t>
            </a:r>
            <a:endParaRPr lang="en-IN" dirty="0"/>
          </a:p>
        </p:txBody>
      </p:sp>
      <p:pic>
        <p:nvPicPr>
          <p:cNvPr id="9" name="Picture 8">
            <a:extLst>
              <a:ext uri="{FF2B5EF4-FFF2-40B4-BE49-F238E27FC236}">
                <a16:creationId xmlns:a16="http://schemas.microsoft.com/office/drawing/2014/main" id="{9E9B6DE2-679B-48A4-9F94-8014FCB7B750}"/>
              </a:ext>
            </a:extLst>
          </p:cNvPr>
          <p:cNvPicPr>
            <a:picLocks noChangeAspect="1"/>
          </p:cNvPicPr>
          <p:nvPr/>
        </p:nvPicPr>
        <p:blipFill>
          <a:blip r:embed="rId3"/>
          <a:stretch>
            <a:fillRect/>
          </a:stretch>
        </p:blipFill>
        <p:spPr>
          <a:xfrm>
            <a:off x="8415495" y="3656801"/>
            <a:ext cx="3084744" cy="1967083"/>
          </a:xfrm>
          <a:prstGeom prst="rect">
            <a:avLst/>
          </a:prstGeom>
        </p:spPr>
      </p:pic>
    </p:spTree>
    <p:extLst>
      <p:ext uri="{BB962C8B-B14F-4D97-AF65-F5344CB8AC3E}">
        <p14:creationId xmlns:p14="http://schemas.microsoft.com/office/powerpoint/2010/main" val="3131047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ACA609-2C42-44CF-B96D-05B56043E1A7}"/>
              </a:ext>
            </a:extLst>
          </p:cNvPr>
          <p:cNvSpPr txBox="1"/>
          <p:nvPr/>
        </p:nvSpPr>
        <p:spPr>
          <a:xfrm>
            <a:off x="3900455" y="1015072"/>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Practical Transformer on No-load</a:t>
            </a:r>
          </a:p>
        </p:txBody>
      </p:sp>
      <p:sp>
        <p:nvSpPr>
          <p:cNvPr id="2" name="Rectangle 1">
            <a:extLst>
              <a:ext uri="{FF2B5EF4-FFF2-40B4-BE49-F238E27FC236}">
                <a16:creationId xmlns:a16="http://schemas.microsoft.com/office/drawing/2014/main" id="{B990B31F-46FC-461B-A712-C04C02CEE7E0}"/>
              </a:ext>
            </a:extLst>
          </p:cNvPr>
          <p:cNvSpPr/>
          <p:nvPr/>
        </p:nvSpPr>
        <p:spPr>
          <a:xfrm>
            <a:off x="852455" y="1558014"/>
            <a:ext cx="10992542" cy="1200329"/>
          </a:xfrm>
          <a:prstGeom prst="rect">
            <a:avLst/>
          </a:prstGeom>
        </p:spPr>
        <p:txBody>
          <a:bodyPr wrap="square">
            <a:spAutoFit/>
          </a:bodyPr>
          <a:lstStyle/>
          <a:p>
            <a:r>
              <a:rPr lang="en-US" dirty="0"/>
              <a:t>The primary will draw a small current I</a:t>
            </a:r>
            <a:r>
              <a:rPr lang="en-US" sz="1400" dirty="0"/>
              <a:t>0</a:t>
            </a:r>
            <a:r>
              <a:rPr lang="en-US" dirty="0"/>
              <a:t> to supply (</a:t>
            </a:r>
            <a:r>
              <a:rPr lang="en-US" dirty="0" err="1"/>
              <a:t>i</a:t>
            </a:r>
            <a:r>
              <a:rPr lang="en-US" dirty="0"/>
              <a:t>) the iron losses and (ii) a very small amount of copper loss in the primary. Hence the primary no load current I</a:t>
            </a:r>
            <a:r>
              <a:rPr lang="en-US" sz="1400" dirty="0"/>
              <a:t>0</a:t>
            </a:r>
            <a:r>
              <a:rPr lang="en-US" dirty="0"/>
              <a:t> is not 90° behind the applied voltage V</a:t>
            </a:r>
            <a:r>
              <a:rPr lang="en-US" sz="1400" dirty="0"/>
              <a:t>1</a:t>
            </a:r>
            <a:r>
              <a:rPr lang="en-US" dirty="0"/>
              <a:t> but lags it by an angle Φ</a:t>
            </a:r>
            <a:r>
              <a:rPr lang="en-US" sz="1200" dirty="0"/>
              <a:t>0</a:t>
            </a:r>
            <a:r>
              <a:rPr lang="en-US" dirty="0"/>
              <a:t> &lt; 90° as shown in the phasor diagram. The no-load primary current I</a:t>
            </a:r>
            <a:r>
              <a:rPr lang="en-US" sz="1100" dirty="0"/>
              <a:t>0</a:t>
            </a:r>
            <a:r>
              <a:rPr lang="en-US" dirty="0"/>
              <a:t> can be resolved into two rectangular components: </a:t>
            </a:r>
            <a:endParaRPr lang="en-IN" dirty="0"/>
          </a:p>
        </p:txBody>
      </p:sp>
      <p:pic>
        <p:nvPicPr>
          <p:cNvPr id="6" name="Picture 5">
            <a:extLst>
              <a:ext uri="{FF2B5EF4-FFF2-40B4-BE49-F238E27FC236}">
                <a16:creationId xmlns:a16="http://schemas.microsoft.com/office/drawing/2014/main" id="{85644646-0C1F-46A2-981A-0DE8E6B3D537}"/>
              </a:ext>
            </a:extLst>
          </p:cNvPr>
          <p:cNvPicPr>
            <a:picLocks noChangeAspect="1"/>
          </p:cNvPicPr>
          <p:nvPr/>
        </p:nvPicPr>
        <p:blipFill>
          <a:blip r:embed="rId3"/>
          <a:stretch>
            <a:fillRect/>
          </a:stretch>
        </p:blipFill>
        <p:spPr>
          <a:xfrm>
            <a:off x="855534" y="2658828"/>
            <a:ext cx="6761572" cy="1391270"/>
          </a:xfrm>
          <a:prstGeom prst="rect">
            <a:avLst/>
          </a:prstGeom>
        </p:spPr>
      </p:pic>
      <p:pic>
        <p:nvPicPr>
          <p:cNvPr id="9" name="Picture 8">
            <a:extLst>
              <a:ext uri="{FF2B5EF4-FFF2-40B4-BE49-F238E27FC236}">
                <a16:creationId xmlns:a16="http://schemas.microsoft.com/office/drawing/2014/main" id="{77EFA537-BF62-43DB-9A2B-8C14EAF58246}"/>
              </a:ext>
            </a:extLst>
          </p:cNvPr>
          <p:cNvPicPr>
            <a:picLocks noChangeAspect="1"/>
          </p:cNvPicPr>
          <p:nvPr/>
        </p:nvPicPr>
        <p:blipFill>
          <a:blip r:embed="rId4"/>
          <a:stretch>
            <a:fillRect/>
          </a:stretch>
        </p:blipFill>
        <p:spPr>
          <a:xfrm>
            <a:off x="7417142" y="2507198"/>
            <a:ext cx="4177845" cy="2117735"/>
          </a:xfrm>
          <a:prstGeom prst="rect">
            <a:avLst/>
          </a:prstGeom>
        </p:spPr>
      </p:pic>
      <p:pic>
        <p:nvPicPr>
          <p:cNvPr id="16" name="Picture 15">
            <a:extLst>
              <a:ext uri="{FF2B5EF4-FFF2-40B4-BE49-F238E27FC236}">
                <a16:creationId xmlns:a16="http://schemas.microsoft.com/office/drawing/2014/main" id="{41E35807-1D40-4DB9-BBB1-22406240FBBB}"/>
              </a:ext>
            </a:extLst>
          </p:cNvPr>
          <p:cNvPicPr>
            <a:picLocks noChangeAspect="1"/>
          </p:cNvPicPr>
          <p:nvPr/>
        </p:nvPicPr>
        <p:blipFill>
          <a:blip r:embed="rId5"/>
          <a:stretch>
            <a:fillRect/>
          </a:stretch>
        </p:blipFill>
        <p:spPr>
          <a:xfrm>
            <a:off x="4493020" y="3344980"/>
            <a:ext cx="2193034" cy="2220447"/>
          </a:xfrm>
          <a:prstGeom prst="rect">
            <a:avLst/>
          </a:prstGeom>
        </p:spPr>
      </p:pic>
    </p:spTree>
    <p:extLst>
      <p:ext uri="{BB962C8B-B14F-4D97-AF65-F5344CB8AC3E}">
        <p14:creationId xmlns:p14="http://schemas.microsoft.com/office/powerpoint/2010/main" val="1221399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8C4AC36-6567-4517-8787-674028FCEE4C}"/>
              </a:ext>
            </a:extLst>
          </p:cNvPr>
          <p:cNvPicPr>
            <a:picLocks noChangeAspect="1"/>
          </p:cNvPicPr>
          <p:nvPr/>
        </p:nvPicPr>
        <p:blipFill>
          <a:blip r:embed="rId2"/>
          <a:stretch>
            <a:fillRect/>
          </a:stretch>
        </p:blipFill>
        <p:spPr>
          <a:xfrm>
            <a:off x="1029868" y="1679535"/>
            <a:ext cx="6996239" cy="3191735"/>
          </a:xfrm>
          <a:prstGeom prst="rect">
            <a:avLst/>
          </a:prstGeom>
        </p:spPr>
      </p:pic>
      <p:pic>
        <p:nvPicPr>
          <p:cNvPr id="17" name="Picture 16">
            <a:extLst>
              <a:ext uri="{FF2B5EF4-FFF2-40B4-BE49-F238E27FC236}">
                <a16:creationId xmlns:a16="http://schemas.microsoft.com/office/drawing/2014/main" id="{7D9BCC37-3168-4B54-9A8F-60CF8BA2A7AC}"/>
              </a:ext>
            </a:extLst>
          </p:cNvPr>
          <p:cNvPicPr>
            <a:picLocks noChangeAspect="1"/>
          </p:cNvPicPr>
          <p:nvPr/>
        </p:nvPicPr>
        <p:blipFill>
          <a:blip r:embed="rId3"/>
          <a:stretch>
            <a:fillRect/>
          </a:stretch>
        </p:blipFill>
        <p:spPr>
          <a:xfrm>
            <a:off x="8284615" y="1986231"/>
            <a:ext cx="2635891" cy="2668840"/>
          </a:xfrm>
          <a:prstGeom prst="rect">
            <a:avLst/>
          </a:prstGeom>
        </p:spPr>
      </p:pic>
      <p:pic>
        <p:nvPicPr>
          <p:cNvPr id="2" name="Picture 1">
            <a:extLst>
              <a:ext uri="{FF2B5EF4-FFF2-40B4-BE49-F238E27FC236}">
                <a16:creationId xmlns:a16="http://schemas.microsoft.com/office/drawing/2014/main" id="{3A7BC0C3-12B0-4630-85B6-57D073C8C571}"/>
              </a:ext>
            </a:extLst>
          </p:cNvPr>
          <p:cNvPicPr>
            <a:picLocks noChangeAspect="1"/>
          </p:cNvPicPr>
          <p:nvPr/>
        </p:nvPicPr>
        <p:blipFill>
          <a:blip r:embed="rId4"/>
          <a:stretch>
            <a:fillRect/>
          </a:stretch>
        </p:blipFill>
        <p:spPr>
          <a:xfrm>
            <a:off x="895735" y="4932998"/>
            <a:ext cx="6672682" cy="774629"/>
          </a:xfrm>
          <a:prstGeom prst="rect">
            <a:avLst/>
          </a:prstGeom>
        </p:spPr>
      </p:pic>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Practical Transformer on No-load</a:t>
            </a:r>
          </a:p>
        </p:txBody>
      </p:sp>
    </p:spTree>
    <p:extLst>
      <p:ext uri="{BB962C8B-B14F-4D97-AF65-F5344CB8AC3E}">
        <p14:creationId xmlns:p14="http://schemas.microsoft.com/office/powerpoint/2010/main" val="2053514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Practical Transformer on load</a:t>
            </a:r>
          </a:p>
        </p:txBody>
      </p:sp>
      <p:pic>
        <p:nvPicPr>
          <p:cNvPr id="4" name="Picture 3">
            <a:extLst>
              <a:ext uri="{FF2B5EF4-FFF2-40B4-BE49-F238E27FC236}">
                <a16:creationId xmlns:a16="http://schemas.microsoft.com/office/drawing/2014/main" id="{8EA2CF94-BE4E-49DA-9A81-A65328D0C498}"/>
              </a:ext>
            </a:extLst>
          </p:cNvPr>
          <p:cNvPicPr>
            <a:picLocks noChangeAspect="1"/>
          </p:cNvPicPr>
          <p:nvPr/>
        </p:nvPicPr>
        <p:blipFill>
          <a:blip r:embed="rId2"/>
          <a:stretch>
            <a:fillRect/>
          </a:stretch>
        </p:blipFill>
        <p:spPr>
          <a:xfrm>
            <a:off x="895736" y="1679534"/>
            <a:ext cx="6442398" cy="1316883"/>
          </a:xfrm>
          <a:prstGeom prst="rect">
            <a:avLst/>
          </a:prstGeom>
        </p:spPr>
      </p:pic>
      <p:pic>
        <p:nvPicPr>
          <p:cNvPr id="5" name="Picture 4">
            <a:extLst>
              <a:ext uri="{FF2B5EF4-FFF2-40B4-BE49-F238E27FC236}">
                <a16:creationId xmlns:a16="http://schemas.microsoft.com/office/drawing/2014/main" id="{A5E33E3F-9FE8-488D-B176-BA7B5A9356A6}"/>
              </a:ext>
            </a:extLst>
          </p:cNvPr>
          <p:cNvPicPr>
            <a:picLocks noChangeAspect="1"/>
          </p:cNvPicPr>
          <p:nvPr/>
        </p:nvPicPr>
        <p:blipFill>
          <a:blip r:embed="rId3"/>
          <a:stretch>
            <a:fillRect/>
          </a:stretch>
        </p:blipFill>
        <p:spPr>
          <a:xfrm>
            <a:off x="6953045" y="2454392"/>
            <a:ext cx="5110592" cy="3102387"/>
          </a:xfrm>
          <a:prstGeom prst="rect">
            <a:avLst/>
          </a:prstGeom>
        </p:spPr>
      </p:pic>
      <p:pic>
        <p:nvPicPr>
          <p:cNvPr id="6" name="Picture 5">
            <a:extLst>
              <a:ext uri="{FF2B5EF4-FFF2-40B4-BE49-F238E27FC236}">
                <a16:creationId xmlns:a16="http://schemas.microsoft.com/office/drawing/2014/main" id="{72E80214-B846-436D-8FE5-B10577180FA2}"/>
              </a:ext>
            </a:extLst>
          </p:cNvPr>
          <p:cNvPicPr>
            <a:picLocks noChangeAspect="1"/>
          </p:cNvPicPr>
          <p:nvPr/>
        </p:nvPicPr>
        <p:blipFill>
          <a:blip r:embed="rId4"/>
          <a:stretch>
            <a:fillRect/>
          </a:stretch>
        </p:blipFill>
        <p:spPr>
          <a:xfrm>
            <a:off x="2220884" y="2835121"/>
            <a:ext cx="2063052" cy="1082020"/>
          </a:xfrm>
          <a:prstGeom prst="rect">
            <a:avLst/>
          </a:prstGeom>
        </p:spPr>
      </p:pic>
      <p:pic>
        <p:nvPicPr>
          <p:cNvPr id="7" name="Picture 6">
            <a:extLst>
              <a:ext uri="{FF2B5EF4-FFF2-40B4-BE49-F238E27FC236}">
                <a16:creationId xmlns:a16="http://schemas.microsoft.com/office/drawing/2014/main" id="{E60BB35B-2F09-4443-AB25-0838B26E8FCA}"/>
              </a:ext>
            </a:extLst>
          </p:cNvPr>
          <p:cNvPicPr>
            <a:picLocks noChangeAspect="1"/>
          </p:cNvPicPr>
          <p:nvPr/>
        </p:nvPicPr>
        <p:blipFill>
          <a:blip r:embed="rId5"/>
          <a:stretch>
            <a:fillRect/>
          </a:stretch>
        </p:blipFill>
        <p:spPr>
          <a:xfrm>
            <a:off x="1171637" y="3917141"/>
            <a:ext cx="5110592" cy="1790486"/>
          </a:xfrm>
          <a:prstGeom prst="rect">
            <a:avLst/>
          </a:prstGeom>
        </p:spPr>
      </p:pic>
    </p:spTree>
    <p:extLst>
      <p:ext uri="{BB962C8B-B14F-4D97-AF65-F5344CB8AC3E}">
        <p14:creationId xmlns:p14="http://schemas.microsoft.com/office/powerpoint/2010/main" val="717236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Practical Transformer on load</a:t>
            </a:r>
          </a:p>
        </p:txBody>
      </p:sp>
      <p:sp>
        <p:nvSpPr>
          <p:cNvPr id="4" name="Rectangle 3">
            <a:extLst>
              <a:ext uri="{FF2B5EF4-FFF2-40B4-BE49-F238E27FC236}">
                <a16:creationId xmlns:a16="http://schemas.microsoft.com/office/drawing/2014/main" id="{AE0A6457-3232-488D-A0F3-A499216F7090}"/>
              </a:ext>
            </a:extLst>
          </p:cNvPr>
          <p:cNvSpPr/>
          <p:nvPr/>
        </p:nvSpPr>
        <p:spPr>
          <a:xfrm>
            <a:off x="895736" y="1716428"/>
            <a:ext cx="6785224" cy="1754326"/>
          </a:xfrm>
          <a:prstGeom prst="rect">
            <a:avLst/>
          </a:prstGeom>
        </p:spPr>
        <p:txBody>
          <a:bodyPr wrap="square">
            <a:spAutoFit/>
          </a:bodyPr>
          <a:lstStyle/>
          <a:p>
            <a:r>
              <a:rPr lang="en-US" dirty="0"/>
              <a:t>Note that counter emf that opposes the applied voltage V</a:t>
            </a:r>
            <a:r>
              <a:rPr lang="en-US" sz="1600" dirty="0"/>
              <a:t>1</a:t>
            </a:r>
            <a:r>
              <a:rPr lang="en-US" dirty="0"/>
              <a:t> is -E</a:t>
            </a:r>
            <a:r>
              <a:rPr lang="en-US" sz="1400" dirty="0"/>
              <a:t>1</a:t>
            </a:r>
            <a:r>
              <a:rPr lang="en-US" dirty="0"/>
              <a:t>. Therefore, if we add I</a:t>
            </a:r>
            <a:r>
              <a:rPr lang="en-US" sz="1600" dirty="0"/>
              <a:t>1</a:t>
            </a:r>
            <a:r>
              <a:rPr lang="en-US" dirty="0"/>
              <a:t>R</a:t>
            </a:r>
            <a:r>
              <a:rPr lang="en-US" sz="1600" dirty="0"/>
              <a:t>1</a:t>
            </a:r>
            <a:r>
              <a:rPr lang="en-US" dirty="0"/>
              <a:t> (in phase with I1) and I</a:t>
            </a:r>
            <a:r>
              <a:rPr lang="en-US" sz="1400" dirty="0"/>
              <a:t>1 </a:t>
            </a:r>
            <a:r>
              <a:rPr lang="en-US" dirty="0"/>
              <a:t>X</a:t>
            </a:r>
            <a:r>
              <a:rPr lang="en-US" sz="1400" dirty="0"/>
              <a:t>1</a:t>
            </a:r>
            <a:r>
              <a:rPr lang="en-US" dirty="0"/>
              <a:t> (90° ahead of I</a:t>
            </a:r>
            <a:r>
              <a:rPr lang="en-US" sz="1600" dirty="0"/>
              <a:t>1</a:t>
            </a:r>
            <a:r>
              <a:rPr lang="en-US" dirty="0"/>
              <a:t>) to -E</a:t>
            </a:r>
            <a:r>
              <a:rPr lang="en-US" sz="1600" dirty="0"/>
              <a:t>1</a:t>
            </a:r>
            <a:r>
              <a:rPr lang="en-US" dirty="0"/>
              <a:t>, we get the applied primary voltage V</a:t>
            </a:r>
            <a:r>
              <a:rPr lang="en-US" sz="1600" dirty="0"/>
              <a:t>1</a:t>
            </a:r>
            <a:r>
              <a:rPr lang="en-US" dirty="0"/>
              <a:t>. The phasor E</a:t>
            </a:r>
            <a:r>
              <a:rPr lang="en-US" sz="1600" dirty="0"/>
              <a:t>2</a:t>
            </a:r>
            <a:r>
              <a:rPr lang="en-US" dirty="0"/>
              <a:t> represents the induced emf in the secondary by the mutual flux. The secondary terminal voltage V</a:t>
            </a:r>
            <a:r>
              <a:rPr lang="en-US" sz="1400" dirty="0"/>
              <a:t>2</a:t>
            </a:r>
            <a:r>
              <a:rPr lang="en-US" dirty="0"/>
              <a:t> will be what is left over after subtracting I</a:t>
            </a:r>
            <a:r>
              <a:rPr lang="en-US" sz="1400" dirty="0"/>
              <a:t>2</a:t>
            </a:r>
            <a:r>
              <a:rPr lang="en-US" dirty="0"/>
              <a:t>R</a:t>
            </a:r>
            <a:r>
              <a:rPr lang="en-US" sz="1400" dirty="0"/>
              <a:t>2</a:t>
            </a:r>
            <a:r>
              <a:rPr lang="en-US" dirty="0"/>
              <a:t> and I</a:t>
            </a:r>
            <a:r>
              <a:rPr lang="en-US" sz="1400" dirty="0"/>
              <a:t>2</a:t>
            </a:r>
            <a:r>
              <a:rPr lang="en-US" dirty="0"/>
              <a:t>X</a:t>
            </a:r>
            <a:r>
              <a:rPr lang="en-US" sz="1400" dirty="0"/>
              <a:t>2 </a:t>
            </a:r>
            <a:r>
              <a:rPr lang="en-US" dirty="0"/>
              <a:t>from E</a:t>
            </a:r>
            <a:r>
              <a:rPr lang="en-US" sz="1400" dirty="0"/>
              <a:t>2</a:t>
            </a:r>
            <a:r>
              <a:rPr lang="en-US" dirty="0"/>
              <a:t>. </a:t>
            </a:r>
            <a:endParaRPr lang="en-IN" dirty="0"/>
          </a:p>
        </p:txBody>
      </p:sp>
      <p:pic>
        <p:nvPicPr>
          <p:cNvPr id="5" name="Picture 4">
            <a:extLst>
              <a:ext uri="{FF2B5EF4-FFF2-40B4-BE49-F238E27FC236}">
                <a16:creationId xmlns:a16="http://schemas.microsoft.com/office/drawing/2014/main" id="{FE32ED31-54B8-4B1E-86F3-CD6518C0DE58}"/>
              </a:ext>
            </a:extLst>
          </p:cNvPr>
          <p:cNvPicPr>
            <a:picLocks noChangeAspect="1"/>
          </p:cNvPicPr>
          <p:nvPr/>
        </p:nvPicPr>
        <p:blipFill>
          <a:blip r:embed="rId2"/>
          <a:stretch>
            <a:fillRect/>
          </a:stretch>
        </p:blipFill>
        <p:spPr>
          <a:xfrm>
            <a:off x="9182384" y="1316561"/>
            <a:ext cx="2283470" cy="4389007"/>
          </a:xfrm>
          <a:prstGeom prst="rect">
            <a:avLst/>
          </a:prstGeom>
        </p:spPr>
      </p:pic>
      <p:pic>
        <p:nvPicPr>
          <p:cNvPr id="6" name="Picture 5">
            <a:extLst>
              <a:ext uri="{FF2B5EF4-FFF2-40B4-BE49-F238E27FC236}">
                <a16:creationId xmlns:a16="http://schemas.microsoft.com/office/drawing/2014/main" id="{B35C01F3-3418-4039-A43B-54B72AED8B29}"/>
              </a:ext>
            </a:extLst>
          </p:cNvPr>
          <p:cNvPicPr>
            <a:picLocks noChangeAspect="1"/>
          </p:cNvPicPr>
          <p:nvPr/>
        </p:nvPicPr>
        <p:blipFill>
          <a:blip r:embed="rId3"/>
          <a:stretch>
            <a:fillRect/>
          </a:stretch>
        </p:blipFill>
        <p:spPr>
          <a:xfrm>
            <a:off x="2108129" y="3724099"/>
            <a:ext cx="4180893" cy="1206566"/>
          </a:xfrm>
          <a:prstGeom prst="rect">
            <a:avLst/>
          </a:prstGeom>
        </p:spPr>
      </p:pic>
    </p:spTree>
    <p:extLst>
      <p:ext uri="{BB962C8B-B14F-4D97-AF65-F5344CB8AC3E}">
        <p14:creationId xmlns:p14="http://schemas.microsoft.com/office/powerpoint/2010/main" val="368579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978297" y="1214774"/>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Impedance Ratio</a:t>
            </a:r>
          </a:p>
        </p:txBody>
      </p:sp>
      <p:pic>
        <p:nvPicPr>
          <p:cNvPr id="4" name="Picture 3">
            <a:extLst>
              <a:ext uri="{FF2B5EF4-FFF2-40B4-BE49-F238E27FC236}">
                <a16:creationId xmlns:a16="http://schemas.microsoft.com/office/drawing/2014/main" id="{E888DD74-1F52-42FC-BA8D-698B66D04573}"/>
              </a:ext>
            </a:extLst>
          </p:cNvPr>
          <p:cNvPicPr>
            <a:picLocks noChangeAspect="1"/>
          </p:cNvPicPr>
          <p:nvPr/>
        </p:nvPicPr>
        <p:blipFill>
          <a:blip r:embed="rId2"/>
          <a:stretch>
            <a:fillRect/>
          </a:stretch>
        </p:blipFill>
        <p:spPr>
          <a:xfrm>
            <a:off x="6647397" y="2301236"/>
            <a:ext cx="4490103" cy="2415562"/>
          </a:xfrm>
          <a:prstGeom prst="rect">
            <a:avLst/>
          </a:prstGeom>
        </p:spPr>
      </p:pic>
      <p:pic>
        <p:nvPicPr>
          <p:cNvPr id="5" name="Picture 4">
            <a:extLst>
              <a:ext uri="{FF2B5EF4-FFF2-40B4-BE49-F238E27FC236}">
                <a16:creationId xmlns:a16="http://schemas.microsoft.com/office/drawing/2014/main" id="{1631E50C-1C93-4FE2-ABC9-63BE7BDDDD62}"/>
              </a:ext>
            </a:extLst>
          </p:cNvPr>
          <p:cNvPicPr>
            <a:picLocks noChangeAspect="1"/>
          </p:cNvPicPr>
          <p:nvPr/>
        </p:nvPicPr>
        <p:blipFill>
          <a:blip r:embed="rId3"/>
          <a:stretch>
            <a:fillRect/>
          </a:stretch>
        </p:blipFill>
        <p:spPr>
          <a:xfrm>
            <a:off x="2797197" y="2824267"/>
            <a:ext cx="2362200" cy="2066925"/>
          </a:xfrm>
          <a:prstGeom prst="rect">
            <a:avLst/>
          </a:prstGeom>
        </p:spPr>
      </p:pic>
      <p:sp>
        <p:nvSpPr>
          <p:cNvPr id="6" name="Rectangle 5">
            <a:extLst>
              <a:ext uri="{FF2B5EF4-FFF2-40B4-BE49-F238E27FC236}">
                <a16:creationId xmlns:a16="http://schemas.microsoft.com/office/drawing/2014/main" id="{0C2C0C73-9982-4E60-8BA8-F87EA5299A4E}"/>
              </a:ext>
            </a:extLst>
          </p:cNvPr>
          <p:cNvSpPr/>
          <p:nvPr/>
        </p:nvSpPr>
        <p:spPr>
          <a:xfrm>
            <a:off x="1430215" y="1862248"/>
            <a:ext cx="6096000" cy="646331"/>
          </a:xfrm>
          <a:prstGeom prst="rect">
            <a:avLst/>
          </a:prstGeom>
        </p:spPr>
        <p:txBody>
          <a:bodyPr>
            <a:spAutoFit/>
          </a:bodyPr>
          <a:lstStyle/>
          <a:p>
            <a:r>
              <a:rPr lang="en-US" dirty="0"/>
              <a:t>Consider a transformer having impedance Z2 in the secondary as shown in the figure below: </a:t>
            </a:r>
            <a:endParaRPr lang="en-IN" dirty="0"/>
          </a:p>
        </p:txBody>
      </p:sp>
    </p:spTree>
    <p:extLst>
      <p:ext uri="{BB962C8B-B14F-4D97-AF65-F5344CB8AC3E}">
        <p14:creationId xmlns:p14="http://schemas.microsoft.com/office/powerpoint/2010/main" val="2777402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470235" y="1098755"/>
            <a:ext cx="6467434"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Equivalent Circuit diagram of Transformer</a:t>
            </a:r>
          </a:p>
        </p:txBody>
      </p:sp>
      <p:pic>
        <p:nvPicPr>
          <p:cNvPr id="4" name="Picture 3">
            <a:extLst>
              <a:ext uri="{FF2B5EF4-FFF2-40B4-BE49-F238E27FC236}">
                <a16:creationId xmlns:a16="http://schemas.microsoft.com/office/drawing/2014/main" id="{2D084D50-9D57-42D6-B80E-479650BEC236}"/>
              </a:ext>
            </a:extLst>
          </p:cNvPr>
          <p:cNvPicPr>
            <a:picLocks noChangeAspect="1"/>
          </p:cNvPicPr>
          <p:nvPr/>
        </p:nvPicPr>
        <p:blipFill>
          <a:blip r:embed="rId2"/>
          <a:stretch>
            <a:fillRect/>
          </a:stretch>
        </p:blipFill>
        <p:spPr>
          <a:xfrm>
            <a:off x="4925655" y="1743069"/>
            <a:ext cx="6814791" cy="2366814"/>
          </a:xfrm>
          <a:prstGeom prst="rect">
            <a:avLst/>
          </a:prstGeom>
        </p:spPr>
      </p:pic>
      <p:pic>
        <p:nvPicPr>
          <p:cNvPr id="6" name="Picture 5">
            <a:extLst>
              <a:ext uri="{FF2B5EF4-FFF2-40B4-BE49-F238E27FC236}">
                <a16:creationId xmlns:a16="http://schemas.microsoft.com/office/drawing/2014/main" id="{7EF18DF8-8AEF-443D-A726-0FC75D27C47B}"/>
              </a:ext>
            </a:extLst>
          </p:cNvPr>
          <p:cNvPicPr>
            <a:picLocks noChangeAspect="1"/>
          </p:cNvPicPr>
          <p:nvPr/>
        </p:nvPicPr>
        <p:blipFill>
          <a:blip r:embed="rId3"/>
          <a:stretch>
            <a:fillRect/>
          </a:stretch>
        </p:blipFill>
        <p:spPr>
          <a:xfrm>
            <a:off x="1395759" y="1868153"/>
            <a:ext cx="3981450" cy="3400425"/>
          </a:xfrm>
          <a:prstGeom prst="rect">
            <a:avLst/>
          </a:prstGeom>
        </p:spPr>
      </p:pic>
      <p:pic>
        <p:nvPicPr>
          <p:cNvPr id="9" name="Picture 8">
            <a:extLst>
              <a:ext uri="{FF2B5EF4-FFF2-40B4-BE49-F238E27FC236}">
                <a16:creationId xmlns:a16="http://schemas.microsoft.com/office/drawing/2014/main" id="{12163680-5D6A-4FFE-B21F-62DB5F09AF03}"/>
              </a:ext>
            </a:extLst>
          </p:cNvPr>
          <p:cNvPicPr>
            <a:picLocks noChangeAspect="1"/>
          </p:cNvPicPr>
          <p:nvPr/>
        </p:nvPicPr>
        <p:blipFill>
          <a:blip r:embed="rId4"/>
          <a:stretch>
            <a:fillRect/>
          </a:stretch>
        </p:blipFill>
        <p:spPr>
          <a:xfrm>
            <a:off x="7159270" y="4077954"/>
            <a:ext cx="2705100" cy="361950"/>
          </a:xfrm>
          <a:prstGeom prst="rect">
            <a:avLst/>
          </a:prstGeom>
        </p:spPr>
      </p:pic>
      <p:pic>
        <p:nvPicPr>
          <p:cNvPr id="11" name="Picture 10">
            <a:extLst>
              <a:ext uri="{FF2B5EF4-FFF2-40B4-BE49-F238E27FC236}">
                <a16:creationId xmlns:a16="http://schemas.microsoft.com/office/drawing/2014/main" id="{13F00C87-219F-4639-BE11-72952749C001}"/>
              </a:ext>
            </a:extLst>
          </p:cNvPr>
          <p:cNvPicPr>
            <a:picLocks noChangeAspect="1"/>
          </p:cNvPicPr>
          <p:nvPr/>
        </p:nvPicPr>
        <p:blipFill>
          <a:blip r:embed="rId5"/>
          <a:stretch>
            <a:fillRect/>
          </a:stretch>
        </p:blipFill>
        <p:spPr>
          <a:xfrm>
            <a:off x="7159270" y="4635615"/>
            <a:ext cx="2600325" cy="438150"/>
          </a:xfrm>
          <a:prstGeom prst="rect">
            <a:avLst/>
          </a:prstGeom>
        </p:spPr>
      </p:pic>
    </p:spTree>
    <p:extLst>
      <p:ext uri="{BB962C8B-B14F-4D97-AF65-F5344CB8AC3E}">
        <p14:creationId xmlns:p14="http://schemas.microsoft.com/office/powerpoint/2010/main" val="3306784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2676565" y="1121510"/>
            <a:ext cx="7888271"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Simplified Equivalent Circuit of a Loaded Transformer </a:t>
            </a:r>
            <a:endParaRPr lang="en-IN" sz="25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24441C6F-4131-4CEC-BB16-7D5C6BFBB002}"/>
              </a:ext>
            </a:extLst>
          </p:cNvPr>
          <p:cNvSpPr/>
          <p:nvPr/>
        </p:nvSpPr>
        <p:spPr>
          <a:xfrm>
            <a:off x="895736" y="1678017"/>
            <a:ext cx="10175538" cy="923330"/>
          </a:xfrm>
          <a:prstGeom prst="rect">
            <a:avLst/>
          </a:prstGeom>
        </p:spPr>
        <p:txBody>
          <a:bodyPr wrap="square">
            <a:spAutoFit/>
          </a:bodyPr>
          <a:lstStyle/>
          <a:p>
            <a:pPr algn="just"/>
            <a:r>
              <a:rPr lang="en-US" dirty="0"/>
              <a:t>If I</a:t>
            </a:r>
            <a:r>
              <a:rPr lang="en-US" sz="1400" dirty="0"/>
              <a:t>0 </a:t>
            </a:r>
            <a:r>
              <a:rPr lang="en-US" dirty="0"/>
              <a:t>of a transformer is small as compared to the rated primary current I</a:t>
            </a:r>
            <a:r>
              <a:rPr lang="en-US" sz="1400" dirty="0"/>
              <a:t>1</a:t>
            </a:r>
            <a:r>
              <a:rPr lang="en-US" dirty="0"/>
              <a:t>, voltage drops in R</a:t>
            </a:r>
            <a:r>
              <a:rPr lang="en-US" sz="1400" dirty="0"/>
              <a:t>1</a:t>
            </a:r>
            <a:r>
              <a:rPr lang="en-US" dirty="0"/>
              <a:t> and X1 due to I</a:t>
            </a:r>
            <a:r>
              <a:rPr lang="en-US" sz="1200" dirty="0"/>
              <a:t>0</a:t>
            </a:r>
            <a:r>
              <a:rPr lang="en-US" dirty="0"/>
              <a:t> are negligible. Hence, the exact equivalent circuit can be simplified by transferring the shunt circuit R</a:t>
            </a:r>
            <a:r>
              <a:rPr lang="en-US" sz="1400" dirty="0"/>
              <a:t>0</a:t>
            </a:r>
            <a:r>
              <a:rPr lang="en-US" dirty="0"/>
              <a:t> - X</a:t>
            </a:r>
            <a:r>
              <a:rPr lang="en-US" sz="1400" dirty="0"/>
              <a:t>0</a:t>
            </a:r>
            <a:r>
              <a:rPr lang="en-US" dirty="0"/>
              <a:t> to the input terminals as shown below: </a:t>
            </a:r>
            <a:endParaRPr lang="en-IN" dirty="0"/>
          </a:p>
        </p:txBody>
      </p:sp>
      <p:pic>
        <p:nvPicPr>
          <p:cNvPr id="5" name="Picture 4">
            <a:extLst>
              <a:ext uri="{FF2B5EF4-FFF2-40B4-BE49-F238E27FC236}">
                <a16:creationId xmlns:a16="http://schemas.microsoft.com/office/drawing/2014/main" id="{537F3262-694C-46C5-8312-0832DA7BA445}"/>
              </a:ext>
            </a:extLst>
          </p:cNvPr>
          <p:cNvPicPr>
            <a:picLocks noChangeAspect="1"/>
          </p:cNvPicPr>
          <p:nvPr/>
        </p:nvPicPr>
        <p:blipFill>
          <a:blip r:embed="rId2"/>
          <a:stretch>
            <a:fillRect/>
          </a:stretch>
        </p:blipFill>
        <p:spPr>
          <a:xfrm>
            <a:off x="2676565" y="2897877"/>
            <a:ext cx="5842238" cy="2161000"/>
          </a:xfrm>
          <a:prstGeom prst="rect">
            <a:avLst/>
          </a:prstGeom>
        </p:spPr>
      </p:pic>
    </p:spTree>
    <p:extLst>
      <p:ext uri="{BB962C8B-B14F-4D97-AF65-F5344CB8AC3E}">
        <p14:creationId xmlns:p14="http://schemas.microsoft.com/office/powerpoint/2010/main" val="41136600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77BB9CF-0294-4557-BF11-1CAC181768F8}"/>
              </a:ext>
            </a:extLst>
          </p:cNvPr>
          <p:cNvSpPr/>
          <p:nvPr/>
        </p:nvSpPr>
        <p:spPr>
          <a:xfrm>
            <a:off x="1200979" y="1619260"/>
            <a:ext cx="9785019" cy="646331"/>
          </a:xfrm>
          <a:prstGeom prst="rect">
            <a:avLst/>
          </a:prstGeom>
        </p:spPr>
        <p:txBody>
          <a:bodyPr wrap="square">
            <a:spAutoFit/>
          </a:bodyPr>
          <a:lstStyle/>
          <a:p>
            <a:pPr algn="just"/>
            <a:r>
              <a:rPr lang="en-US" dirty="0"/>
              <a:t>If all the </a:t>
            </a:r>
            <a:r>
              <a:rPr lang="en-US" b="1" dirty="0"/>
              <a:t>secondary quantities are referred to the primary</a:t>
            </a:r>
            <a:r>
              <a:rPr lang="en-US" dirty="0"/>
              <a:t>, we can get the simplified equivalent circuit of the transformer referred to the primary as shown below </a:t>
            </a:r>
            <a:endParaRPr lang="en-IN" dirty="0"/>
          </a:p>
        </p:txBody>
      </p:sp>
      <p:sp>
        <p:nvSpPr>
          <p:cNvPr id="13" name="TextBox 12">
            <a:extLst>
              <a:ext uri="{FF2B5EF4-FFF2-40B4-BE49-F238E27FC236}">
                <a16:creationId xmlns:a16="http://schemas.microsoft.com/office/drawing/2014/main" id="{C36176C5-716F-4424-A963-930E51930BBB}"/>
              </a:ext>
            </a:extLst>
          </p:cNvPr>
          <p:cNvSpPr txBox="1"/>
          <p:nvPr/>
        </p:nvSpPr>
        <p:spPr>
          <a:xfrm>
            <a:off x="2676565" y="1121510"/>
            <a:ext cx="7888271"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Simplified Equivalent Circuit of a Loaded Transformer </a:t>
            </a:r>
            <a:endParaRPr lang="en-IN" sz="25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F059687-D888-4C49-991E-CEB735949C3F}"/>
              </a:ext>
            </a:extLst>
          </p:cNvPr>
          <p:cNvPicPr>
            <a:picLocks noChangeAspect="1"/>
          </p:cNvPicPr>
          <p:nvPr/>
        </p:nvPicPr>
        <p:blipFill>
          <a:blip r:embed="rId2"/>
          <a:stretch>
            <a:fillRect/>
          </a:stretch>
        </p:blipFill>
        <p:spPr>
          <a:xfrm>
            <a:off x="5657368" y="2179910"/>
            <a:ext cx="6407775" cy="1701422"/>
          </a:xfrm>
          <a:prstGeom prst="rect">
            <a:avLst/>
          </a:prstGeom>
        </p:spPr>
      </p:pic>
      <p:pic>
        <p:nvPicPr>
          <p:cNvPr id="5" name="Picture 4">
            <a:extLst>
              <a:ext uri="{FF2B5EF4-FFF2-40B4-BE49-F238E27FC236}">
                <a16:creationId xmlns:a16="http://schemas.microsoft.com/office/drawing/2014/main" id="{E1599AA8-C93B-4021-9BBB-3D70D7718582}"/>
              </a:ext>
            </a:extLst>
          </p:cNvPr>
          <p:cNvPicPr>
            <a:picLocks noChangeAspect="1"/>
          </p:cNvPicPr>
          <p:nvPr/>
        </p:nvPicPr>
        <p:blipFill>
          <a:blip r:embed="rId3"/>
          <a:stretch>
            <a:fillRect/>
          </a:stretch>
        </p:blipFill>
        <p:spPr>
          <a:xfrm>
            <a:off x="5811323" y="3860895"/>
            <a:ext cx="6380677" cy="2004969"/>
          </a:xfrm>
          <a:prstGeom prst="rect">
            <a:avLst/>
          </a:prstGeom>
        </p:spPr>
      </p:pic>
      <p:pic>
        <p:nvPicPr>
          <p:cNvPr id="6" name="Picture 5">
            <a:extLst>
              <a:ext uri="{FF2B5EF4-FFF2-40B4-BE49-F238E27FC236}">
                <a16:creationId xmlns:a16="http://schemas.microsoft.com/office/drawing/2014/main" id="{64899D3D-DD93-439D-B5F3-8E522F7CB797}"/>
              </a:ext>
            </a:extLst>
          </p:cNvPr>
          <p:cNvPicPr>
            <a:picLocks noChangeAspect="1"/>
          </p:cNvPicPr>
          <p:nvPr/>
        </p:nvPicPr>
        <p:blipFill>
          <a:blip r:embed="rId4"/>
          <a:stretch>
            <a:fillRect/>
          </a:stretch>
        </p:blipFill>
        <p:spPr>
          <a:xfrm>
            <a:off x="1200979" y="2566150"/>
            <a:ext cx="3905250" cy="561975"/>
          </a:xfrm>
          <a:prstGeom prst="rect">
            <a:avLst/>
          </a:prstGeom>
        </p:spPr>
      </p:pic>
      <p:pic>
        <p:nvPicPr>
          <p:cNvPr id="7" name="Picture 6">
            <a:extLst>
              <a:ext uri="{FF2B5EF4-FFF2-40B4-BE49-F238E27FC236}">
                <a16:creationId xmlns:a16="http://schemas.microsoft.com/office/drawing/2014/main" id="{9C2AA58C-2550-490A-A283-7B36C706943A}"/>
              </a:ext>
            </a:extLst>
          </p:cNvPr>
          <p:cNvPicPr>
            <a:picLocks noChangeAspect="1"/>
          </p:cNvPicPr>
          <p:nvPr/>
        </p:nvPicPr>
        <p:blipFill>
          <a:blip r:embed="rId5"/>
          <a:stretch>
            <a:fillRect/>
          </a:stretch>
        </p:blipFill>
        <p:spPr>
          <a:xfrm>
            <a:off x="2119072" y="3245936"/>
            <a:ext cx="1419225" cy="466725"/>
          </a:xfrm>
          <a:prstGeom prst="rect">
            <a:avLst/>
          </a:prstGeom>
        </p:spPr>
      </p:pic>
      <p:pic>
        <p:nvPicPr>
          <p:cNvPr id="9" name="Picture 8">
            <a:extLst>
              <a:ext uri="{FF2B5EF4-FFF2-40B4-BE49-F238E27FC236}">
                <a16:creationId xmlns:a16="http://schemas.microsoft.com/office/drawing/2014/main" id="{10DC85F4-4D2F-4FFA-BCE9-157B1629538D}"/>
              </a:ext>
            </a:extLst>
          </p:cNvPr>
          <p:cNvPicPr>
            <a:picLocks noChangeAspect="1"/>
          </p:cNvPicPr>
          <p:nvPr/>
        </p:nvPicPr>
        <p:blipFill>
          <a:blip r:embed="rId6"/>
          <a:stretch>
            <a:fillRect/>
          </a:stretch>
        </p:blipFill>
        <p:spPr>
          <a:xfrm>
            <a:off x="1624621" y="3958991"/>
            <a:ext cx="2286000" cy="438150"/>
          </a:xfrm>
          <a:prstGeom prst="rect">
            <a:avLst/>
          </a:prstGeom>
        </p:spPr>
      </p:pic>
    </p:spTree>
    <p:extLst>
      <p:ext uri="{BB962C8B-B14F-4D97-AF65-F5344CB8AC3E}">
        <p14:creationId xmlns:p14="http://schemas.microsoft.com/office/powerpoint/2010/main" val="398098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C3EC4C8-45A3-4BED-A95E-D4AD2D3EDF7F}"/>
              </a:ext>
            </a:extLst>
          </p:cNvPr>
          <p:cNvSpPr txBox="1"/>
          <p:nvPr/>
        </p:nvSpPr>
        <p:spPr>
          <a:xfrm>
            <a:off x="2676565" y="1121510"/>
            <a:ext cx="7888271"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Simplified Equivalent Circuit of a Loaded Transformer </a:t>
            </a:r>
            <a:endParaRPr lang="en-IN" sz="25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156F890-ACE1-4571-9B40-87FA6F35A2C5}"/>
              </a:ext>
            </a:extLst>
          </p:cNvPr>
          <p:cNvPicPr>
            <a:picLocks noChangeAspect="1"/>
          </p:cNvPicPr>
          <p:nvPr/>
        </p:nvPicPr>
        <p:blipFill>
          <a:blip r:embed="rId2"/>
          <a:stretch>
            <a:fillRect/>
          </a:stretch>
        </p:blipFill>
        <p:spPr>
          <a:xfrm>
            <a:off x="6758297" y="2161553"/>
            <a:ext cx="5211623" cy="1491542"/>
          </a:xfrm>
          <a:prstGeom prst="rect">
            <a:avLst/>
          </a:prstGeom>
        </p:spPr>
      </p:pic>
      <p:pic>
        <p:nvPicPr>
          <p:cNvPr id="6" name="Picture 5">
            <a:extLst>
              <a:ext uri="{FF2B5EF4-FFF2-40B4-BE49-F238E27FC236}">
                <a16:creationId xmlns:a16="http://schemas.microsoft.com/office/drawing/2014/main" id="{C1582282-71AA-4D61-AC4D-66A2F6821C11}"/>
              </a:ext>
            </a:extLst>
          </p:cNvPr>
          <p:cNvPicPr>
            <a:picLocks noChangeAspect="1"/>
          </p:cNvPicPr>
          <p:nvPr/>
        </p:nvPicPr>
        <p:blipFill>
          <a:blip r:embed="rId3"/>
          <a:stretch>
            <a:fillRect/>
          </a:stretch>
        </p:blipFill>
        <p:spPr>
          <a:xfrm>
            <a:off x="6895071" y="3749265"/>
            <a:ext cx="5074849" cy="1755341"/>
          </a:xfrm>
          <a:prstGeom prst="rect">
            <a:avLst/>
          </a:prstGeom>
        </p:spPr>
      </p:pic>
      <p:pic>
        <p:nvPicPr>
          <p:cNvPr id="7" name="Picture 6">
            <a:extLst>
              <a:ext uri="{FF2B5EF4-FFF2-40B4-BE49-F238E27FC236}">
                <a16:creationId xmlns:a16="http://schemas.microsoft.com/office/drawing/2014/main" id="{9521BBCC-1E34-4993-B952-1A617515D526}"/>
              </a:ext>
            </a:extLst>
          </p:cNvPr>
          <p:cNvPicPr>
            <a:picLocks noChangeAspect="1"/>
          </p:cNvPicPr>
          <p:nvPr/>
        </p:nvPicPr>
        <p:blipFill>
          <a:blip r:embed="rId4"/>
          <a:stretch>
            <a:fillRect/>
          </a:stretch>
        </p:blipFill>
        <p:spPr>
          <a:xfrm>
            <a:off x="1321732" y="2718592"/>
            <a:ext cx="4111972" cy="643613"/>
          </a:xfrm>
          <a:prstGeom prst="rect">
            <a:avLst/>
          </a:prstGeom>
        </p:spPr>
      </p:pic>
      <p:pic>
        <p:nvPicPr>
          <p:cNvPr id="9" name="Picture 8">
            <a:extLst>
              <a:ext uri="{FF2B5EF4-FFF2-40B4-BE49-F238E27FC236}">
                <a16:creationId xmlns:a16="http://schemas.microsoft.com/office/drawing/2014/main" id="{841554BE-2F8C-4FCD-97CA-1E9258264495}"/>
              </a:ext>
            </a:extLst>
          </p:cNvPr>
          <p:cNvPicPr>
            <a:picLocks noChangeAspect="1"/>
          </p:cNvPicPr>
          <p:nvPr/>
        </p:nvPicPr>
        <p:blipFill>
          <a:blip r:embed="rId5"/>
          <a:stretch>
            <a:fillRect/>
          </a:stretch>
        </p:blipFill>
        <p:spPr>
          <a:xfrm>
            <a:off x="2114356" y="3308521"/>
            <a:ext cx="1724650" cy="440744"/>
          </a:xfrm>
          <a:prstGeom prst="rect">
            <a:avLst/>
          </a:prstGeom>
        </p:spPr>
      </p:pic>
      <p:pic>
        <p:nvPicPr>
          <p:cNvPr id="13" name="Picture 12">
            <a:extLst>
              <a:ext uri="{FF2B5EF4-FFF2-40B4-BE49-F238E27FC236}">
                <a16:creationId xmlns:a16="http://schemas.microsoft.com/office/drawing/2014/main" id="{E4883564-9131-43AA-8564-FAAF4A315FBE}"/>
              </a:ext>
            </a:extLst>
          </p:cNvPr>
          <p:cNvPicPr>
            <a:picLocks noChangeAspect="1"/>
          </p:cNvPicPr>
          <p:nvPr/>
        </p:nvPicPr>
        <p:blipFill>
          <a:blip r:embed="rId6"/>
          <a:stretch>
            <a:fillRect/>
          </a:stretch>
        </p:blipFill>
        <p:spPr>
          <a:xfrm>
            <a:off x="1722886" y="3998426"/>
            <a:ext cx="2785502" cy="440744"/>
          </a:xfrm>
          <a:prstGeom prst="rect">
            <a:avLst/>
          </a:prstGeom>
        </p:spPr>
      </p:pic>
      <p:sp>
        <p:nvSpPr>
          <p:cNvPr id="19" name="Rectangle 18">
            <a:extLst>
              <a:ext uri="{FF2B5EF4-FFF2-40B4-BE49-F238E27FC236}">
                <a16:creationId xmlns:a16="http://schemas.microsoft.com/office/drawing/2014/main" id="{C91BAD04-A28A-4641-87A3-9BAA559C229E}"/>
              </a:ext>
            </a:extLst>
          </p:cNvPr>
          <p:cNvSpPr/>
          <p:nvPr/>
        </p:nvSpPr>
        <p:spPr>
          <a:xfrm>
            <a:off x="1049401" y="1560517"/>
            <a:ext cx="6096000" cy="923330"/>
          </a:xfrm>
          <a:prstGeom prst="rect">
            <a:avLst/>
          </a:prstGeom>
        </p:spPr>
        <p:txBody>
          <a:bodyPr>
            <a:spAutoFit/>
          </a:bodyPr>
          <a:lstStyle/>
          <a:p>
            <a:pPr algn="just"/>
            <a:r>
              <a:rPr lang="en-US" dirty="0"/>
              <a:t>If all the </a:t>
            </a:r>
            <a:r>
              <a:rPr lang="en-US" b="1" dirty="0"/>
              <a:t>primary quantities are referred to the secondary</a:t>
            </a:r>
            <a:r>
              <a:rPr lang="en-US" dirty="0"/>
              <a:t>, we can get the simplified equivalent circuit of the transformer referred to the secondary as shown below</a:t>
            </a:r>
            <a:endParaRPr lang="en-IN" dirty="0"/>
          </a:p>
        </p:txBody>
      </p:sp>
    </p:spTree>
    <p:extLst>
      <p:ext uri="{BB962C8B-B14F-4D97-AF65-F5344CB8AC3E}">
        <p14:creationId xmlns:p14="http://schemas.microsoft.com/office/powerpoint/2010/main" val="250027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2746148" y="1175950"/>
            <a:ext cx="8704954" cy="477054"/>
          </a:xfrm>
          <a:prstGeom prst="rect">
            <a:avLst/>
          </a:prstGeom>
          <a:noFill/>
        </p:spPr>
        <p:txBody>
          <a:bodyPr wrap="square" rtlCol="0">
            <a:spAutoFit/>
          </a:bodyPr>
          <a:lstStyle/>
          <a:p>
            <a:r>
              <a:rPr lang="en-US" sz="2500" b="1" dirty="0">
                <a:latin typeface="Times New Roman" panose="02020603050405020304" pitchFamily="18" charset="0"/>
                <a:cs typeface="Times New Roman" panose="02020603050405020304" pitchFamily="18" charset="0"/>
              </a:rPr>
              <a:t>Approximate Equivalent Circuit of a Loaded Transformer </a:t>
            </a:r>
            <a:endParaRPr lang="en-IN" sz="25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51C72B9-586F-4E52-A831-00F020DB10CA}"/>
              </a:ext>
            </a:extLst>
          </p:cNvPr>
          <p:cNvSpPr/>
          <p:nvPr/>
        </p:nvSpPr>
        <p:spPr>
          <a:xfrm>
            <a:off x="895736" y="1676599"/>
            <a:ext cx="5702012" cy="1200329"/>
          </a:xfrm>
          <a:prstGeom prst="rect">
            <a:avLst/>
          </a:prstGeom>
        </p:spPr>
        <p:txBody>
          <a:bodyPr wrap="square">
            <a:spAutoFit/>
          </a:bodyPr>
          <a:lstStyle/>
          <a:p>
            <a:pPr algn="just"/>
            <a:r>
              <a:rPr lang="en-US" dirty="0"/>
              <a:t>The no-load current I0 in a transformer is only 1-3% of the rated primary current and may be neglected without any serious error. The transformer can then be shown as in the figure below:</a:t>
            </a:r>
            <a:endParaRPr lang="en-IN" dirty="0"/>
          </a:p>
        </p:txBody>
      </p:sp>
      <p:pic>
        <p:nvPicPr>
          <p:cNvPr id="5" name="Picture 4">
            <a:extLst>
              <a:ext uri="{FF2B5EF4-FFF2-40B4-BE49-F238E27FC236}">
                <a16:creationId xmlns:a16="http://schemas.microsoft.com/office/drawing/2014/main" id="{21BBEAC8-D1AC-45EC-BCA7-AE6C61726B95}"/>
              </a:ext>
            </a:extLst>
          </p:cNvPr>
          <p:cNvPicPr>
            <a:picLocks noChangeAspect="1"/>
          </p:cNvPicPr>
          <p:nvPr/>
        </p:nvPicPr>
        <p:blipFill>
          <a:blip r:embed="rId2"/>
          <a:stretch>
            <a:fillRect/>
          </a:stretch>
        </p:blipFill>
        <p:spPr>
          <a:xfrm>
            <a:off x="6963507" y="1598430"/>
            <a:ext cx="4596895" cy="1470178"/>
          </a:xfrm>
          <a:prstGeom prst="rect">
            <a:avLst/>
          </a:prstGeom>
        </p:spPr>
      </p:pic>
      <p:sp>
        <p:nvSpPr>
          <p:cNvPr id="6" name="Rectangle 5">
            <a:extLst>
              <a:ext uri="{FF2B5EF4-FFF2-40B4-BE49-F238E27FC236}">
                <a16:creationId xmlns:a16="http://schemas.microsoft.com/office/drawing/2014/main" id="{FF17BD90-1C89-4EDA-AF2F-D008B3198B3F}"/>
              </a:ext>
            </a:extLst>
          </p:cNvPr>
          <p:cNvSpPr/>
          <p:nvPr/>
        </p:nvSpPr>
        <p:spPr>
          <a:xfrm>
            <a:off x="895736" y="2967335"/>
            <a:ext cx="5702012" cy="923330"/>
          </a:xfrm>
          <a:prstGeom prst="rect">
            <a:avLst/>
          </a:prstGeom>
        </p:spPr>
        <p:txBody>
          <a:bodyPr wrap="square">
            <a:spAutoFit/>
          </a:bodyPr>
          <a:lstStyle/>
          <a:p>
            <a:pPr algn="just"/>
            <a:r>
              <a:rPr lang="en-US" dirty="0"/>
              <a:t>If all the secondary quantities are referred to the primary, we can get the approximate equivalent circuit of the transformer referred to the primary as shown below </a:t>
            </a:r>
            <a:endParaRPr lang="en-IN" dirty="0"/>
          </a:p>
        </p:txBody>
      </p:sp>
      <p:pic>
        <p:nvPicPr>
          <p:cNvPr id="7" name="Picture 6">
            <a:extLst>
              <a:ext uri="{FF2B5EF4-FFF2-40B4-BE49-F238E27FC236}">
                <a16:creationId xmlns:a16="http://schemas.microsoft.com/office/drawing/2014/main" id="{7E359353-9617-48B8-91E9-64BA7A391452}"/>
              </a:ext>
            </a:extLst>
          </p:cNvPr>
          <p:cNvPicPr>
            <a:picLocks noChangeAspect="1"/>
          </p:cNvPicPr>
          <p:nvPr/>
        </p:nvPicPr>
        <p:blipFill>
          <a:blip r:embed="rId3"/>
          <a:stretch>
            <a:fillRect/>
          </a:stretch>
        </p:blipFill>
        <p:spPr>
          <a:xfrm>
            <a:off x="6979651" y="3000708"/>
            <a:ext cx="5050329" cy="1442951"/>
          </a:xfrm>
          <a:prstGeom prst="rect">
            <a:avLst/>
          </a:prstGeom>
        </p:spPr>
      </p:pic>
      <p:sp>
        <p:nvSpPr>
          <p:cNvPr id="9" name="Rectangle 8">
            <a:extLst>
              <a:ext uri="{FF2B5EF4-FFF2-40B4-BE49-F238E27FC236}">
                <a16:creationId xmlns:a16="http://schemas.microsoft.com/office/drawing/2014/main" id="{E3F9CFDF-3474-4CEF-8E2E-00BE36C38410}"/>
              </a:ext>
            </a:extLst>
          </p:cNvPr>
          <p:cNvSpPr/>
          <p:nvPr/>
        </p:nvSpPr>
        <p:spPr>
          <a:xfrm>
            <a:off x="895736" y="4172335"/>
            <a:ext cx="5519132" cy="1200329"/>
          </a:xfrm>
          <a:prstGeom prst="rect">
            <a:avLst/>
          </a:prstGeom>
        </p:spPr>
        <p:txBody>
          <a:bodyPr wrap="square">
            <a:spAutoFit/>
          </a:bodyPr>
          <a:lstStyle/>
          <a:p>
            <a:pPr algn="just"/>
            <a:r>
              <a:rPr lang="en-US" dirty="0"/>
              <a:t>If all the primary quantities are referred to the secondary, we can get the approximate equivalent circuit of the transformer referred to the secondary as shown below </a:t>
            </a:r>
            <a:endParaRPr lang="en-IN" dirty="0"/>
          </a:p>
        </p:txBody>
      </p:sp>
      <p:pic>
        <p:nvPicPr>
          <p:cNvPr id="11" name="Picture 10">
            <a:extLst>
              <a:ext uri="{FF2B5EF4-FFF2-40B4-BE49-F238E27FC236}">
                <a16:creationId xmlns:a16="http://schemas.microsoft.com/office/drawing/2014/main" id="{0B94699F-7532-4127-8415-1BF3D77173C6}"/>
              </a:ext>
            </a:extLst>
          </p:cNvPr>
          <p:cNvPicPr>
            <a:picLocks noChangeAspect="1"/>
          </p:cNvPicPr>
          <p:nvPr/>
        </p:nvPicPr>
        <p:blipFill>
          <a:blip r:embed="rId4"/>
          <a:stretch>
            <a:fillRect/>
          </a:stretch>
        </p:blipFill>
        <p:spPr>
          <a:xfrm>
            <a:off x="6976268" y="4375759"/>
            <a:ext cx="4654331" cy="1329809"/>
          </a:xfrm>
          <a:prstGeom prst="rect">
            <a:avLst/>
          </a:prstGeom>
        </p:spPr>
      </p:pic>
    </p:spTree>
    <p:extLst>
      <p:ext uri="{BB962C8B-B14F-4D97-AF65-F5344CB8AC3E}">
        <p14:creationId xmlns:p14="http://schemas.microsoft.com/office/powerpoint/2010/main" val="4151048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413964" y="1175950"/>
            <a:ext cx="6523705"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Approximate Voltage Drop in a Transformer </a:t>
            </a:r>
          </a:p>
        </p:txBody>
      </p:sp>
      <p:sp>
        <p:nvSpPr>
          <p:cNvPr id="4" name="Rectangle 3">
            <a:extLst>
              <a:ext uri="{FF2B5EF4-FFF2-40B4-BE49-F238E27FC236}">
                <a16:creationId xmlns:a16="http://schemas.microsoft.com/office/drawing/2014/main" id="{405AC500-FF19-4AC3-AA7F-835E4C97C3D1}"/>
              </a:ext>
            </a:extLst>
          </p:cNvPr>
          <p:cNvSpPr/>
          <p:nvPr/>
        </p:nvSpPr>
        <p:spPr>
          <a:xfrm>
            <a:off x="916583" y="1636705"/>
            <a:ext cx="6096000" cy="646331"/>
          </a:xfrm>
          <a:prstGeom prst="rect">
            <a:avLst/>
          </a:prstGeom>
        </p:spPr>
        <p:txBody>
          <a:bodyPr>
            <a:spAutoFit/>
          </a:bodyPr>
          <a:lstStyle/>
          <a:p>
            <a:r>
              <a:rPr lang="en-US" dirty="0"/>
              <a:t>The approximate equivalent circuit of transformer referred to secondary is shown below </a:t>
            </a:r>
            <a:endParaRPr lang="en-IN" dirty="0"/>
          </a:p>
        </p:txBody>
      </p:sp>
      <p:sp>
        <p:nvSpPr>
          <p:cNvPr id="5" name="Rectangle 4">
            <a:extLst>
              <a:ext uri="{FF2B5EF4-FFF2-40B4-BE49-F238E27FC236}">
                <a16:creationId xmlns:a16="http://schemas.microsoft.com/office/drawing/2014/main" id="{46903EBC-1989-498C-A29B-4B65C0AE6BA8}"/>
              </a:ext>
            </a:extLst>
          </p:cNvPr>
          <p:cNvSpPr/>
          <p:nvPr/>
        </p:nvSpPr>
        <p:spPr>
          <a:xfrm>
            <a:off x="916583" y="2202987"/>
            <a:ext cx="6096000" cy="1477328"/>
          </a:xfrm>
          <a:prstGeom prst="rect">
            <a:avLst/>
          </a:prstGeom>
        </p:spPr>
        <p:txBody>
          <a:bodyPr>
            <a:spAutoFit/>
          </a:bodyPr>
          <a:lstStyle/>
          <a:p>
            <a:r>
              <a:rPr lang="en-US" dirty="0"/>
              <a:t>At no-load, the secondary voltage is K V1. When a load having a lagging </a:t>
            </a:r>
            <a:r>
              <a:rPr lang="en-US" dirty="0" err="1"/>
              <a:t>p.f</a:t>
            </a:r>
            <a:r>
              <a:rPr lang="en-US" dirty="0"/>
              <a:t>. cos 2 is applied, the secondary carries a current I2 and voltage drops occur in (R2 + K2R1) and (X2 + K2 X1). Consequently, the secondary voltage falls from KV1 to V2. </a:t>
            </a:r>
            <a:endParaRPr lang="en-IN" dirty="0"/>
          </a:p>
        </p:txBody>
      </p:sp>
      <p:pic>
        <p:nvPicPr>
          <p:cNvPr id="6" name="Picture 5">
            <a:extLst>
              <a:ext uri="{FF2B5EF4-FFF2-40B4-BE49-F238E27FC236}">
                <a16:creationId xmlns:a16="http://schemas.microsoft.com/office/drawing/2014/main" id="{F26FCA57-8A08-47D2-BD46-1E9D7DFBE777}"/>
              </a:ext>
            </a:extLst>
          </p:cNvPr>
          <p:cNvPicPr>
            <a:picLocks noChangeAspect="1"/>
          </p:cNvPicPr>
          <p:nvPr/>
        </p:nvPicPr>
        <p:blipFill>
          <a:blip r:embed="rId2"/>
          <a:stretch>
            <a:fillRect/>
          </a:stretch>
        </p:blipFill>
        <p:spPr>
          <a:xfrm>
            <a:off x="895735" y="3636516"/>
            <a:ext cx="5964285" cy="1688519"/>
          </a:xfrm>
          <a:prstGeom prst="rect">
            <a:avLst/>
          </a:prstGeom>
        </p:spPr>
      </p:pic>
      <p:pic>
        <p:nvPicPr>
          <p:cNvPr id="9" name="Picture 8">
            <a:extLst>
              <a:ext uri="{FF2B5EF4-FFF2-40B4-BE49-F238E27FC236}">
                <a16:creationId xmlns:a16="http://schemas.microsoft.com/office/drawing/2014/main" id="{8E9FC120-B54D-4B6C-849F-AA0BBB809F09}"/>
              </a:ext>
            </a:extLst>
          </p:cNvPr>
          <p:cNvPicPr>
            <a:picLocks noChangeAspect="1"/>
          </p:cNvPicPr>
          <p:nvPr/>
        </p:nvPicPr>
        <p:blipFill>
          <a:blip r:embed="rId3"/>
          <a:stretch>
            <a:fillRect/>
          </a:stretch>
        </p:blipFill>
        <p:spPr>
          <a:xfrm>
            <a:off x="7322917" y="2364224"/>
            <a:ext cx="4271938" cy="2116551"/>
          </a:xfrm>
          <a:prstGeom prst="rect">
            <a:avLst/>
          </a:prstGeom>
        </p:spPr>
      </p:pic>
    </p:spTree>
    <p:extLst>
      <p:ext uri="{BB962C8B-B14F-4D97-AF65-F5344CB8AC3E}">
        <p14:creationId xmlns:p14="http://schemas.microsoft.com/office/powerpoint/2010/main" val="3933259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Practical Transformer on load</a:t>
            </a:r>
          </a:p>
        </p:txBody>
      </p:sp>
      <p:sp>
        <p:nvSpPr>
          <p:cNvPr id="11" name="Rectangle 10">
            <a:extLst>
              <a:ext uri="{FF2B5EF4-FFF2-40B4-BE49-F238E27FC236}">
                <a16:creationId xmlns:a16="http://schemas.microsoft.com/office/drawing/2014/main" id="{A856569F-4E09-45DA-A66B-A600B7F66202}"/>
              </a:ext>
            </a:extLst>
          </p:cNvPr>
          <p:cNvSpPr/>
          <p:nvPr/>
        </p:nvSpPr>
        <p:spPr>
          <a:xfrm>
            <a:off x="895736" y="1745443"/>
            <a:ext cx="9041933" cy="369332"/>
          </a:xfrm>
          <a:prstGeom prst="rect">
            <a:avLst/>
          </a:prstGeom>
        </p:spPr>
        <p:txBody>
          <a:bodyPr wrap="square">
            <a:spAutoFit/>
          </a:bodyPr>
          <a:lstStyle/>
          <a:p>
            <a:r>
              <a:rPr lang="en-US" dirty="0"/>
              <a:t>It is clear from the phasor diagram below that drop in secondary voltage is AC = I</a:t>
            </a:r>
            <a:r>
              <a:rPr lang="en-US" sz="1400" dirty="0"/>
              <a:t>2</a:t>
            </a:r>
            <a:r>
              <a:rPr lang="en-US" dirty="0"/>
              <a:t> Z</a:t>
            </a:r>
            <a:r>
              <a:rPr lang="en-US" sz="1200" dirty="0"/>
              <a:t>02</a:t>
            </a:r>
            <a:r>
              <a:rPr lang="en-US" dirty="0"/>
              <a:t>.</a:t>
            </a:r>
            <a:endParaRPr lang="en-IN" dirty="0"/>
          </a:p>
        </p:txBody>
      </p:sp>
      <p:pic>
        <p:nvPicPr>
          <p:cNvPr id="4" name="Picture 3">
            <a:extLst>
              <a:ext uri="{FF2B5EF4-FFF2-40B4-BE49-F238E27FC236}">
                <a16:creationId xmlns:a16="http://schemas.microsoft.com/office/drawing/2014/main" id="{4428D189-A808-41C7-B272-D04448A4920E}"/>
              </a:ext>
            </a:extLst>
          </p:cNvPr>
          <p:cNvPicPr>
            <a:picLocks noChangeAspect="1"/>
          </p:cNvPicPr>
          <p:nvPr/>
        </p:nvPicPr>
        <p:blipFill>
          <a:blip r:embed="rId2"/>
          <a:stretch>
            <a:fillRect/>
          </a:stretch>
        </p:blipFill>
        <p:spPr>
          <a:xfrm>
            <a:off x="6862842" y="2324164"/>
            <a:ext cx="4877604" cy="3030939"/>
          </a:xfrm>
          <a:prstGeom prst="rect">
            <a:avLst/>
          </a:prstGeom>
        </p:spPr>
      </p:pic>
      <p:pic>
        <p:nvPicPr>
          <p:cNvPr id="5" name="Picture 4">
            <a:extLst>
              <a:ext uri="{FF2B5EF4-FFF2-40B4-BE49-F238E27FC236}">
                <a16:creationId xmlns:a16="http://schemas.microsoft.com/office/drawing/2014/main" id="{4CC1C601-0F69-4F69-AF70-B665473C1595}"/>
              </a:ext>
            </a:extLst>
          </p:cNvPr>
          <p:cNvPicPr>
            <a:picLocks noChangeAspect="1"/>
          </p:cNvPicPr>
          <p:nvPr/>
        </p:nvPicPr>
        <p:blipFill>
          <a:blip r:embed="rId3"/>
          <a:stretch>
            <a:fillRect/>
          </a:stretch>
        </p:blipFill>
        <p:spPr>
          <a:xfrm>
            <a:off x="891463" y="2114775"/>
            <a:ext cx="5079917" cy="2820691"/>
          </a:xfrm>
          <a:prstGeom prst="rect">
            <a:avLst/>
          </a:prstGeom>
        </p:spPr>
      </p:pic>
      <p:pic>
        <p:nvPicPr>
          <p:cNvPr id="6" name="Picture 5">
            <a:extLst>
              <a:ext uri="{FF2B5EF4-FFF2-40B4-BE49-F238E27FC236}">
                <a16:creationId xmlns:a16="http://schemas.microsoft.com/office/drawing/2014/main" id="{5344F755-F86F-45DB-B854-7FDE2D5D2A31}"/>
              </a:ext>
            </a:extLst>
          </p:cNvPr>
          <p:cNvPicPr>
            <a:picLocks noChangeAspect="1"/>
          </p:cNvPicPr>
          <p:nvPr/>
        </p:nvPicPr>
        <p:blipFill>
          <a:blip r:embed="rId4"/>
          <a:stretch>
            <a:fillRect/>
          </a:stretch>
        </p:blipFill>
        <p:spPr>
          <a:xfrm>
            <a:off x="2353507" y="5218805"/>
            <a:ext cx="3286125" cy="447675"/>
          </a:xfrm>
          <a:prstGeom prst="rect">
            <a:avLst/>
          </a:prstGeom>
        </p:spPr>
      </p:pic>
      <p:pic>
        <p:nvPicPr>
          <p:cNvPr id="7" name="Picture 6">
            <a:extLst>
              <a:ext uri="{FF2B5EF4-FFF2-40B4-BE49-F238E27FC236}">
                <a16:creationId xmlns:a16="http://schemas.microsoft.com/office/drawing/2014/main" id="{C8A8063E-B151-448B-9345-5B97EF48E2F4}"/>
              </a:ext>
            </a:extLst>
          </p:cNvPr>
          <p:cNvPicPr>
            <a:picLocks noChangeAspect="1"/>
          </p:cNvPicPr>
          <p:nvPr/>
        </p:nvPicPr>
        <p:blipFill>
          <a:blip r:embed="rId5"/>
          <a:stretch>
            <a:fillRect/>
          </a:stretch>
        </p:blipFill>
        <p:spPr>
          <a:xfrm>
            <a:off x="901670" y="4839506"/>
            <a:ext cx="2942514" cy="274213"/>
          </a:xfrm>
          <a:prstGeom prst="rect">
            <a:avLst/>
          </a:prstGeom>
        </p:spPr>
      </p:pic>
    </p:spTree>
    <p:extLst>
      <p:ext uri="{BB962C8B-B14F-4D97-AF65-F5344CB8AC3E}">
        <p14:creationId xmlns:p14="http://schemas.microsoft.com/office/powerpoint/2010/main" val="796376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Voltage Regulation</a:t>
            </a:r>
          </a:p>
        </p:txBody>
      </p:sp>
      <p:sp>
        <p:nvSpPr>
          <p:cNvPr id="4" name="Rectangle 3">
            <a:extLst>
              <a:ext uri="{FF2B5EF4-FFF2-40B4-BE49-F238E27FC236}">
                <a16:creationId xmlns:a16="http://schemas.microsoft.com/office/drawing/2014/main" id="{C8140A2E-995B-45D8-B629-53CBC30D1308}"/>
              </a:ext>
            </a:extLst>
          </p:cNvPr>
          <p:cNvSpPr/>
          <p:nvPr/>
        </p:nvSpPr>
        <p:spPr>
          <a:xfrm>
            <a:off x="796184" y="1703130"/>
            <a:ext cx="10711188" cy="923330"/>
          </a:xfrm>
          <a:prstGeom prst="rect">
            <a:avLst/>
          </a:prstGeom>
        </p:spPr>
        <p:txBody>
          <a:bodyPr wrap="square">
            <a:spAutoFit/>
          </a:bodyPr>
          <a:lstStyle/>
          <a:p>
            <a:r>
              <a:rPr lang="en-US" dirty="0"/>
              <a:t>The voltage regulation of a transformer is the arithmetic difference (not phasor difference) between the no-load secondary voltage (0V2) and the secondary voltage V2 on load expressed as percentage of no-load voltage i.e. </a:t>
            </a:r>
            <a:endParaRPr lang="en-IN" dirty="0"/>
          </a:p>
        </p:txBody>
      </p:sp>
      <p:pic>
        <p:nvPicPr>
          <p:cNvPr id="5" name="Picture 4">
            <a:extLst>
              <a:ext uri="{FF2B5EF4-FFF2-40B4-BE49-F238E27FC236}">
                <a16:creationId xmlns:a16="http://schemas.microsoft.com/office/drawing/2014/main" id="{C651A84C-3E56-4C01-BBC5-CF40AA4C6305}"/>
              </a:ext>
            </a:extLst>
          </p:cNvPr>
          <p:cNvPicPr>
            <a:picLocks noChangeAspect="1"/>
          </p:cNvPicPr>
          <p:nvPr/>
        </p:nvPicPr>
        <p:blipFill>
          <a:blip r:embed="rId2"/>
          <a:stretch>
            <a:fillRect/>
          </a:stretch>
        </p:blipFill>
        <p:spPr>
          <a:xfrm>
            <a:off x="2974344" y="2441301"/>
            <a:ext cx="4226010" cy="923330"/>
          </a:xfrm>
          <a:prstGeom prst="rect">
            <a:avLst/>
          </a:prstGeom>
        </p:spPr>
      </p:pic>
      <p:sp>
        <p:nvSpPr>
          <p:cNvPr id="6" name="Rectangle 5">
            <a:extLst>
              <a:ext uri="{FF2B5EF4-FFF2-40B4-BE49-F238E27FC236}">
                <a16:creationId xmlns:a16="http://schemas.microsoft.com/office/drawing/2014/main" id="{12CDF785-C51F-4BE2-A0B9-D0C125B70D4B}"/>
              </a:ext>
            </a:extLst>
          </p:cNvPr>
          <p:cNvSpPr/>
          <p:nvPr/>
        </p:nvSpPr>
        <p:spPr>
          <a:xfrm>
            <a:off x="889502" y="3349669"/>
            <a:ext cx="6096000" cy="923330"/>
          </a:xfrm>
          <a:prstGeom prst="rect">
            <a:avLst/>
          </a:prstGeom>
        </p:spPr>
        <p:txBody>
          <a:bodyPr>
            <a:spAutoFit/>
          </a:bodyPr>
          <a:lstStyle/>
          <a:p>
            <a:r>
              <a:rPr lang="en-US" dirty="0"/>
              <a:t>where </a:t>
            </a:r>
          </a:p>
          <a:p>
            <a:r>
              <a:rPr lang="en-US" dirty="0"/>
              <a:t>0V2 = No-load secondary voltage = K V1</a:t>
            </a:r>
          </a:p>
          <a:p>
            <a:r>
              <a:rPr lang="en-US" dirty="0"/>
              <a:t> V2 = Secondary voltage on load </a:t>
            </a:r>
            <a:endParaRPr lang="en-IN" dirty="0"/>
          </a:p>
        </p:txBody>
      </p:sp>
      <p:pic>
        <p:nvPicPr>
          <p:cNvPr id="7" name="Picture 6">
            <a:extLst>
              <a:ext uri="{FF2B5EF4-FFF2-40B4-BE49-F238E27FC236}">
                <a16:creationId xmlns:a16="http://schemas.microsoft.com/office/drawing/2014/main" id="{F757326C-CEA9-4E9B-852A-2395E3FE20A2}"/>
              </a:ext>
            </a:extLst>
          </p:cNvPr>
          <p:cNvPicPr>
            <a:picLocks noChangeAspect="1"/>
          </p:cNvPicPr>
          <p:nvPr/>
        </p:nvPicPr>
        <p:blipFill>
          <a:blip r:embed="rId3"/>
          <a:stretch>
            <a:fillRect/>
          </a:stretch>
        </p:blipFill>
        <p:spPr>
          <a:xfrm>
            <a:off x="3108961" y="4474481"/>
            <a:ext cx="3661796" cy="535520"/>
          </a:xfrm>
          <a:prstGeom prst="rect">
            <a:avLst/>
          </a:prstGeom>
        </p:spPr>
      </p:pic>
      <p:sp>
        <p:nvSpPr>
          <p:cNvPr id="9" name="Rectangle 8">
            <a:extLst>
              <a:ext uri="{FF2B5EF4-FFF2-40B4-BE49-F238E27FC236}">
                <a16:creationId xmlns:a16="http://schemas.microsoft.com/office/drawing/2014/main" id="{C5CAF7F2-EE5B-49AA-8DF1-85F8D725E7BE}"/>
              </a:ext>
            </a:extLst>
          </p:cNvPr>
          <p:cNvSpPr/>
          <p:nvPr/>
        </p:nvSpPr>
        <p:spPr>
          <a:xfrm>
            <a:off x="889502" y="5180230"/>
            <a:ext cx="5796843" cy="369332"/>
          </a:xfrm>
          <a:prstGeom prst="rect">
            <a:avLst/>
          </a:prstGeom>
        </p:spPr>
        <p:txBody>
          <a:bodyPr wrap="none">
            <a:spAutoFit/>
          </a:bodyPr>
          <a:lstStyle/>
          <a:p>
            <a:r>
              <a:rPr lang="en-US" dirty="0"/>
              <a:t>The +</a:t>
            </a:r>
            <a:r>
              <a:rPr lang="en-US" dirty="0" err="1"/>
              <a:t>ve</a:t>
            </a:r>
            <a:r>
              <a:rPr lang="en-US" dirty="0"/>
              <a:t> sign is for lagging </a:t>
            </a:r>
            <a:r>
              <a:rPr lang="en-US" dirty="0" err="1"/>
              <a:t>p.f</a:t>
            </a:r>
            <a:r>
              <a:rPr lang="en-US" dirty="0"/>
              <a:t>. and -</a:t>
            </a:r>
            <a:r>
              <a:rPr lang="en-US" dirty="0" err="1"/>
              <a:t>ve</a:t>
            </a:r>
            <a:r>
              <a:rPr lang="en-US" dirty="0"/>
              <a:t> sign for leading </a:t>
            </a:r>
            <a:r>
              <a:rPr lang="en-US" dirty="0" err="1"/>
              <a:t>p.f</a:t>
            </a:r>
            <a:r>
              <a:rPr lang="en-US" dirty="0"/>
              <a:t>. </a:t>
            </a:r>
            <a:endParaRPr lang="en-IN" dirty="0"/>
          </a:p>
        </p:txBody>
      </p:sp>
    </p:spTree>
    <p:extLst>
      <p:ext uri="{BB962C8B-B14F-4D97-AF65-F5344CB8AC3E}">
        <p14:creationId xmlns:p14="http://schemas.microsoft.com/office/powerpoint/2010/main" val="4077810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4236320" y="1156600"/>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Losses in Transformer</a:t>
            </a:r>
          </a:p>
        </p:txBody>
      </p:sp>
      <p:sp>
        <p:nvSpPr>
          <p:cNvPr id="4" name="Rectangle 3">
            <a:extLst>
              <a:ext uri="{FF2B5EF4-FFF2-40B4-BE49-F238E27FC236}">
                <a16:creationId xmlns:a16="http://schemas.microsoft.com/office/drawing/2014/main" id="{A5063BEA-86B7-41EB-860C-F68B04446421}"/>
              </a:ext>
            </a:extLst>
          </p:cNvPr>
          <p:cNvSpPr/>
          <p:nvPr/>
        </p:nvSpPr>
        <p:spPr>
          <a:xfrm>
            <a:off x="895736" y="1689440"/>
            <a:ext cx="10767459" cy="2031325"/>
          </a:xfrm>
          <a:prstGeom prst="rect">
            <a:avLst/>
          </a:prstGeom>
        </p:spPr>
        <p:txBody>
          <a:bodyPr wrap="square">
            <a:spAutoFit/>
          </a:bodyPr>
          <a:lstStyle/>
          <a:p>
            <a:r>
              <a:rPr lang="en-US" dirty="0"/>
              <a:t>The power losses in a transformer are of two types, namely; </a:t>
            </a:r>
          </a:p>
          <a:p>
            <a:r>
              <a:rPr lang="en-US" dirty="0"/>
              <a:t>1. Core or Iron losses </a:t>
            </a:r>
          </a:p>
          <a:p>
            <a:r>
              <a:rPr lang="en-US" dirty="0"/>
              <a:t>2. Copper losses</a:t>
            </a:r>
          </a:p>
          <a:p>
            <a:r>
              <a:rPr lang="en-US" dirty="0"/>
              <a:t> NOTE: The above losses appear in the form of heat and produce (</a:t>
            </a:r>
            <a:r>
              <a:rPr lang="en-US" dirty="0" err="1"/>
              <a:t>i</a:t>
            </a:r>
            <a:r>
              <a:rPr lang="en-US" dirty="0"/>
              <a:t>) an increase in temperature and (ii) a drop in efficiency</a:t>
            </a:r>
          </a:p>
          <a:p>
            <a:r>
              <a:rPr lang="en-US" dirty="0"/>
              <a:t>Core or Iron losses (Pi ) : These consist of hysteresis and eddy current losses and occur in the transformer core due to the alternating flux.</a:t>
            </a:r>
            <a:endParaRPr lang="en-IN" dirty="0"/>
          </a:p>
        </p:txBody>
      </p:sp>
      <p:pic>
        <p:nvPicPr>
          <p:cNvPr id="5" name="Picture 4">
            <a:extLst>
              <a:ext uri="{FF2B5EF4-FFF2-40B4-BE49-F238E27FC236}">
                <a16:creationId xmlns:a16="http://schemas.microsoft.com/office/drawing/2014/main" id="{B31F048A-284D-4D77-B4CD-4DF48F32280E}"/>
              </a:ext>
            </a:extLst>
          </p:cNvPr>
          <p:cNvPicPr>
            <a:picLocks noChangeAspect="1"/>
          </p:cNvPicPr>
          <p:nvPr/>
        </p:nvPicPr>
        <p:blipFill>
          <a:blip r:embed="rId2"/>
          <a:stretch>
            <a:fillRect/>
          </a:stretch>
        </p:blipFill>
        <p:spPr>
          <a:xfrm>
            <a:off x="3258130" y="3720765"/>
            <a:ext cx="4237278" cy="871216"/>
          </a:xfrm>
          <a:prstGeom prst="rect">
            <a:avLst/>
          </a:prstGeom>
        </p:spPr>
      </p:pic>
      <p:sp>
        <p:nvSpPr>
          <p:cNvPr id="6" name="Rectangle 5">
            <a:extLst>
              <a:ext uri="{FF2B5EF4-FFF2-40B4-BE49-F238E27FC236}">
                <a16:creationId xmlns:a16="http://schemas.microsoft.com/office/drawing/2014/main" id="{803FB37F-8E92-4995-9DFF-CEB585DF6FA0}"/>
              </a:ext>
            </a:extLst>
          </p:cNvPr>
          <p:cNvSpPr/>
          <p:nvPr/>
        </p:nvSpPr>
        <p:spPr>
          <a:xfrm>
            <a:off x="895736" y="4706895"/>
            <a:ext cx="6096000" cy="923330"/>
          </a:xfrm>
          <a:prstGeom prst="rect">
            <a:avLst/>
          </a:prstGeom>
        </p:spPr>
        <p:txBody>
          <a:bodyPr>
            <a:spAutoFit/>
          </a:bodyPr>
          <a:lstStyle/>
          <a:p>
            <a:r>
              <a:rPr lang="en-US" dirty="0"/>
              <a:t>Both hysteresis and eddy current losses depend upon</a:t>
            </a:r>
          </a:p>
          <a:p>
            <a:r>
              <a:rPr lang="en-US" dirty="0"/>
              <a:t> ► Maximum flux density </a:t>
            </a:r>
            <a:r>
              <a:rPr lang="en-US" dirty="0" err="1"/>
              <a:t>Bm</a:t>
            </a:r>
            <a:r>
              <a:rPr lang="en-US" dirty="0"/>
              <a:t> in the core and </a:t>
            </a:r>
          </a:p>
          <a:p>
            <a:r>
              <a:rPr lang="en-US" dirty="0"/>
              <a:t>► Supply frequency f. </a:t>
            </a:r>
            <a:endParaRPr lang="en-IN" dirty="0"/>
          </a:p>
        </p:txBody>
      </p:sp>
    </p:spTree>
    <p:extLst>
      <p:ext uri="{BB962C8B-B14F-4D97-AF65-F5344CB8AC3E}">
        <p14:creationId xmlns:p14="http://schemas.microsoft.com/office/powerpoint/2010/main" val="168007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A87280-C5D2-45FC-AC74-C8090DF9CDCA}"/>
              </a:ext>
            </a:extLst>
          </p:cNvPr>
          <p:cNvSpPr/>
          <p:nvPr/>
        </p:nvSpPr>
        <p:spPr>
          <a:xfrm>
            <a:off x="895735" y="1552397"/>
            <a:ext cx="10133335" cy="646331"/>
          </a:xfrm>
          <a:prstGeom prst="rect">
            <a:avLst/>
          </a:prstGeom>
        </p:spPr>
        <p:txBody>
          <a:bodyPr wrap="square">
            <a:spAutoFit/>
          </a:bodyPr>
          <a:lstStyle/>
          <a:p>
            <a:r>
              <a:rPr lang="en-US" dirty="0"/>
              <a:t>Copper losses (PC) :These losses occur in both the primary and secondary windings due to their ohmic resistance. These can be determined by short-circuit test Total copper Cu losses: </a:t>
            </a:r>
            <a:endParaRPr lang="en-IN" dirty="0"/>
          </a:p>
        </p:txBody>
      </p:sp>
      <p:sp>
        <p:nvSpPr>
          <p:cNvPr id="13" name="TextBox 12">
            <a:extLst>
              <a:ext uri="{FF2B5EF4-FFF2-40B4-BE49-F238E27FC236}">
                <a16:creationId xmlns:a16="http://schemas.microsoft.com/office/drawing/2014/main" id="{D93DA9DF-FCCD-4AE7-B133-E5FA137B3281}"/>
              </a:ext>
            </a:extLst>
          </p:cNvPr>
          <p:cNvSpPr txBox="1"/>
          <p:nvPr/>
        </p:nvSpPr>
        <p:spPr>
          <a:xfrm>
            <a:off x="3961434" y="1066113"/>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Losses in Transformer</a:t>
            </a:r>
          </a:p>
        </p:txBody>
      </p:sp>
      <p:pic>
        <p:nvPicPr>
          <p:cNvPr id="5" name="Picture 4">
            <a:extLst>
              <a:ext uri="{FF2B5EF4-FFF2-40B4-BE49-F238E27FC236}">
                <a16:creationId xmlns:a16="http://schemas.microsoft.com/office/drawing/2014/main" id="{8B12B895-2FB7-42B9-8851-D6EFBCAE39EA}"/>
              </a:ext>
            </a:extLst>
          </p:cNvPr>
          <p:cNvPicPr>
            <a:picLocks noChangeAspect="1"/>
          </p:cNvPicPr>
          <p:nvPr/>
        </p:nvPicPr>
        <p:blipFill>
          <a:blip r:embed="rId2"/>
          <a:stretch>
            <a:fillRect/>
          </a:stretch>
        </p:blipFill>
        <p:spPr>
          <a:xfrm>
            <a:off x="4325864" y="2152080"/>
            <a:ext cx="2304670" cy="1025705"/>
          </a:xfrm>
          <a:prstGeom prst="rect">
            <a:avLst/>
          </a:prstGeom>
        </p:spPr>
      </p:pic>
      <p:sp>
        <p:nvSpPr>
          <p:cNvPr id="6" name="Rectangle 5">
            <a:extLst>
              <a:ext uri="{FF2B5EF4-FFF2-40B4-BE49-F238E27FC236}">
                <a16:creationId xmlns:a16="http://schemas.microsoft.com/office/drawing/2014/main" id="{91994AC3-09CF-428C-A6FB-D7A09867F232}"/>
              </a:ext>
            </a:extLst>
          </p:cNvPr>
          <p:cNvSpPr/>
          <p:nvPr/>
        </p:nvSpPr>
        <p:spPr>
          <a:xfrm>
            <a:off x="895735" y="3166251"/>
            <a:ext cx="4131900" cy="369332"/>
          </a:xfrm>
          <a:prstGeom prst="rect">
            <a:avLst/>
          </a:prstGeom>
        </p:spPr>
        <p:txBody>
          <a:bodyPr wrap="none">
            <a:spAutoFit/>
          </a:bodyPr>
          <a:lstStyle/>
          <a:p>
            <a:r>
              <a:rPr lang="en-US" dirty="0"/>
              <a:t>Hence, total losses in a transformer are: </a:t>
            </a:r>
            <a:endParaRPr lang="en-IN" dirty="0"/>
          </a:p>
        </p:txBody>
      </p:sp>
      <p:pic>
        <p:nvPicPr>
          <p:cNvPr id="7" name="Picture 6">
            <a:extLst>
              <a:ext uri="{FF2B5EF4-FFF2-40B4-BE49-F238E27FC236}">
                <a16:creationId xmlns:a16="http://schemas.microsoft.com/office/drawing/2014/main" id="{2EB93541-30D3-4225-8C6B-F38609E1B6BB}"/>
              </a:ext>
            </a:extLst>
          </p:cNvPr>
          <p:cNvPicPr>
            <a:picLocks noChangeAspect="1"/>
          </p:cNvPicPr>
          <p:nvPr/>
        </p:nvPicPr>
        <p:blipFill>
          <a:blip r:embed="rId3"/>
          <a:stretch>
            <a:fillRect/>
          </a:stretch>
        </p:blipFill>
        <p:spPr>
          <a:xfrm>
            <a:off x="2650322" y="3562667"/>
            <a:ext cx="5375785" cy="728687"/>
          </a:xfrm>
          <a:prstGeom prst="rect">
            <a:avLst/>
          </a:prstGeom>
        </p:spPr>
      </p:pic>
      <p:sp>
        <p:nvSpPr>
          <p:cNvPr id="9" name="Rectangle 8">
            <a:extLst>
              <a:ext uri="{FF2B5EF4-FFF2-40B4-BE49-F238E27FC236}">
                <a16:creationId xmlns:a16="http://schemas.microsoft.com/office/drawing/2014/main" id="{792AE68C-1B14-4E36-AAC2-2264B631CAFF}"/>
              </a:ext>
            </a:extLst>
          </p:cNvPr>
          <p:cNvSpPr/>
          <p:nvPr/>
        </p:nvSpPr>
        <p:spPr>
          <a:xfrm>
            <a:off x="895735" y="4354564"/>
            <a:ext cx="11291244" cy="646331"/>
          </a:xfrm>
          <a:prstGeom prst="rect">
            <a:avLst/>
          </a:prstGeom>
        </p:spPr>
        <p:txBody>
          <a:bodyPr wrap="square">
            <a:spAutoFit/>
          </a:bodyPr>
          <a:lstStyle/>
          <a:p>
            <a:r>
              <a:rPr lang="en-US" dirty="0"/>
              <a:t>NOTE: Since transformers are connected to constant-frequency, constant voltage supply, both f and </a:t>
            </a:r>
            <a:r>
              <a:rPr lang="en-US" dirty="0" err="1"/>
              <a:t>Bm</a:t>
            </a:r>
            <a:r>
              <a:rPr lang="en-US" dirty="0"/>
              <a:t> are constant. Hence, core or iron losses are practically the same at all loads. Hence,</a:t>
            </a:r>
            <a:endParaRPr lang="en-IN" dirty="0"/>
          </a:p>
        </p:txBody>
      </p:sp>
      <p:pic>
        <p:nvPicPr>
          <p:cNvPr id="11" name="Picture 10">
            <a:extLst>
              <a:ext uri="{FF2B5EF4-FFF2-40B4-BE49-F238E27FC236}">
                <a16:creationId xmlns:a16="http://schemas.microsoft.com/office/drawing/2014/main" id="{70105FCB-FA72-44E8-A954-F6F1638D594A}"/>
              </a:ext>
            </a:extLst>
          </p:cNvPr>
          <p:cNvPicPr>
            <a:picLocks noChangeAspect="1"/>
          </p:cNvPicPr>
          <p:nvPr/>
        </p:nvPicPr>
        <p:blipFill>
          <a:blip r:embed="rId4"/>
          <a:stretch>
            <a:fillRect/>
          </a:stretch>
        </p:blipFill>
        <p:spPr>
          <a:xfrm>
            <a:off x="3246074" y="4976273"/>
            <a:ext cx="4464249" cy="658660"/>
          </a:xfrm>
          <a:prstGeom prst="rect">
            <a:avLst/>
          </a:prstGeom>
        </p:spPr>
      </p:pic>
    </p:spTree>
    <p:extLst>
      <p:ext uri="{BB962C8B-B14F-4D97-AF65-F5344CB8AC3E}">
        <p14:creationId xmlns:p14="http://schemas.microsoft.com/office/powerpoint/2010/main" val="1690744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5025870" y="1175950"/>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Efficiency</a:t>
            </a:r>
          </a:p>
        </p:txBody>
      </p:sp>
      <p:sp>
        <p:nvSpPr>
          <p:cNvPr id="4" name="Rectangle 3">
            <a:extLst>
              <a:ext uri="{FF2B5EF4-FFF2-40B4-BE49-F238E27FC236}">
                <a16:creationId xmlns:a16="http://schemas.microsoft.com/office/drawing/2014/main" id="{A79289D7-479B-4823-A69B-0190A559872C}"/>
              </a:ext>
            </a:extLst>
          </p:cNvPr>
          <p:cNvSpPr/>
          <p:nvPr/>
        </p:nvSpPr>
        <p:spPr>
          <a:xfrm>
            <a:off x="796184" y="1781202"/>
            <a:ext cx="10556444" cy="646331"/>
          </a:xfrm>
          <a:prstGeom prst="rect">
            <a:avLst/>
          </a:prstGeom>
        </p:spPr>
        <p:txBody>
          <a:bodyPr wrap="square">
            <a:spAutoFit/>
          </a:bodyPr>
          <a:lstStyle/>
          <a:p>
            <a:r>
              <a:rPr lang="en-US" dirty="0"/>
              <a:t>The efficiency of a transformer is defined as the ratio of output power (in watts or kW) to input power (watts or kW) i.e. In practice, open-circuit and short-circuit tests are carried out to find the efficiency,</a:t>
            </a:r>
            <a:endParaRPr lang="en-IN" dirty="0"/>
          </a:p>
        </p:txBody>
      </p:sp>
      <p:pic>
        <p:nvPicPr>
          <p:cNvPr id="5" name="Picture 4">
            <a:extLst>
              <a:ext uri="{FF2B5EF4-FFF2-40B4-BE49-F238E27FC236}">
                <a16:creationId xmlns:a16="http://schemas.microsoft.com/office/drawing/2014/main" id="{3F0E932A-9637-40C9-875A-03B7F73BBEF3}"/>
              </a:ext>
            </a:extLst>
          </p:cNvPr>
          <p:cNvPicPr>
            <a:picLocks noChangeAspect="1"/>
          </p:cNvPicPr>
          <p:nvPr/>
        </p:nvPicPr>
        <p:blipFill>
          <a:blip r:embed="rId2"/>
          <a:stretch>
            <a:fillRect/>
          </a:stretch>
        </p:blipFill>
        <p:spPr>
          <a:xfrm>
            <a:off x="3968272" y="2505788"/>
            <a:ext cx="2726007" cy="781233"/>
          </a:xfrm>
          <a:prstGeom prst="rect">
            <a:avLst/>
          </a:prstGeom>
        </p:spPr>
      </p:pic>
      <p:pic>
        <p:nvPicPr>
          <p:cNvPr id="6" name="Picture 5">
            <a:extLst>
              <a:ext uri="{FF2B5EF4-FFF2-40B4-BE49-F238E27FC236}">
                <a16:creationId xmlns:a16="http://schemas.microsoft.com/office/drawing/2014/main" id="{F58E6949-29E7-4AA8-BDF5-E61C1B8282E4}"/>
              </a:ext>
            </a:extLst>
          </p:cNvPr>
          <p:cNvPicPr>
            <a:picLocks noChangeAspect="1"/>
          </p:cNvPicPr>
          <p:nvPr/>
        </p:nvPicPr>
        <p:blipFill>
          <a:blip r:embed="rId3"/>
          <a:stretch>
            <a:fillRect/>
          </a:stretch>
        </p:blipFill>
        <p:spPr>
          <a:xfrm>
            <a:off x="3640753" y="3807525"/>
            <a:ext cx="4489118" cy="890246"/>
          </a:xfrm>
          <a:prstGeom prst="rect">
            <a:avLst/>
          </a:prstGeom>
        </p:spPr>
      </p:pic>
      <p:sp>
        <p:nvSpPr>
          <p:cNvPr id="7" name="Rectangle 6">
            <a:extLst>
              <a:ext uri="{FF2B5EF4-FFF2-40B4-BE49-F238E27FC236}">
                <a16:creationId xmlns:a16="http://schemas.microsoft.com/office/drawing/2014/main" id="{4DCF8BC9-5A8A-4D98-856A-28075011FC9C}"/>
              </a:ext>
            </a:extLst>
          </p:cNvPr>
          <p:cNvSpPr/>
          <p:nvPr/>
        </p:nvSpPr>
        <p:spPr>
          <a:xfrm>
            <a:off x="796183" y="3285192"/>
            <a:ext cx="8291545" cy="369332"/>
          </a:xfrm>
          <a:prstGeom prst="rect">
            <a:avLst/>
          </a:prstGeom>
        </p:spPr>
        <p:txBody>
          <a:bodyPr wrap="square">
            <a:spAutoFit/>
          </a:bodyPr>
          <a:lstStyle/>
          <a:p>
            <a:r>
              <a:rPr lang="en-US" dirty="0"/>
              <a:t>In practice, open-circuit and short-circuit tests are carried out to find the efficiency, </a:t>
            </a:r>
            <a:endParaRPr lang="en-IN" dirty="0"/>
          </a:p>
        </p:txBody>
      </p:sp>
    </p:spTree>
    <p:extLst>
      <p:ext uri="{BB962C8B-B14F-4D97-AF65-F5344CB8AC3E}">
        <p14:creationId xmlns:p14="http://schemas.microsoft.com/office/powerpoint/2010/main" val="1212134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Condition for Maximum Efficiency </a:t>
            </a:r>
          </a:p>
        </p:txBody>
      </p:sp>
      <p:pic>
        <p:nvPicPr>
          <p:cNvPr id="4" name="Picture 3">
            <a:extLst>
              <a:ext uri="{FF2B5EF4-FFF2-40B4-BE49-F238E27FC236}">
                <a16:creationId xmlns:a16="http://schemas.microsoft.com/office/drawing/2014/main" id="{21AD1107-68F5-4032-9D49-F06D514855C7}"/>
              </a:ext>
            </a:extLst>
          </p:cNvPr>
          <p:cNvPicPr>
            <a:picLocks noChangeAspect="1"/>
          </p:cNvPicPr>
          <p:nvPr/>
        </p:nvPicPr>
        <p:blipFill>
          <a:blip r:embed="rId2"/>
          <a:stretch>
            <a:fillRect/>
          </a:stretch>
        </p:blipFill>
        <p:spPr>
          <a:xfrm>
            <a:off x="2641160" y="1679535"/>
            <a:ext cx="6216709" cy="4026033"/>
          </a:xfrm>
          <a:prstGeom prst="rect">
            <a:avLst/>
          </a:prstGeom>
        </p:spPr>
      </p:pic>
    </p:spTree>
    <p:extLst>
      <p:ext uri="{BB962C8B-B14F-4D97-AF65-F5344CB8AC3E}">
        <p14:creationId xmlns:p14="http://schemas.microsoft.com/office/powerpoint/2010/main" val="13063522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1133535" y="760437"/>
            <a:ext cx="9786101" cy="523220"/>
          </a:xfrm>
          <a:prstGeom prst="rect">
            <a:avLst/>
          </a:prstGeom>
          <a:noFill/>
        </p:spPr>
        <p:txBody>
          <a:bodyPr wrap="square" rtlCol="0">
            <a:spAutoFit/>
          </a:bodyPr>
          <a:lstStyle/>
          <a:p>
            <a:r>
              <a:rPr lang="en-US" sz="2800" b="1" dirty="0"/>
              <a:t>Output kVA corresponding to Maximum Efficiency </a:t>
            </a:r>
            <a:endParaRPr lang="en-IN" sz="2800" b="1" dirty="0"/>
          </a:p>
        </p:txBody>
      </p:sp>
      <p:sp>
        <p:nvSpPr>
          <p:cNvPr id="2" name="Rectangle 1">
            <a:extLst>
              <a:ext uri="{FF2B5EF4-FFF2-40B4-BE49-F238E27FC236}">
                <a16:creationId xmlns:a16="http://schemas.microsoft.com/office/drawing/2014/main" id="{252D909E-353E-46F5-ADA1-AB70214265C2}"/>
              </a:ext>
            </a:extLst>
          </p:cNvPr>
          <p:cNvSpPr/>
          <p:nvPr/>
        </p:nvSpPr>
        <p:spPr>
          <a:xfrm>
            <a:off x="895736" y="1647654"/>
            <a:ext cx="10944262" cy="369332"/>
          </a:xfrm>
          <a:prstGeom prst="rect">
            <a:avLst/>
          </a:prstGeom>
        </p:spPr>
        <p:txBody>
          <a:bodyPr wrap="square">
            <a:spAutoFit/>
          </a:bodyPr>
          <a:lstStyle/>
          <a:p>
            <a:r>
              <a:rPr lang="en-US" dirty="0"/>
              <a:t>Hence efficiency of a transformer will be maximum when copper losses are equal to constant or iron losses. </a:t>
            </a:r>
            <a:endParaRPr lang="en-IN" dirty="0"/>
          </a:p>
        </p:txBody>
      </p:sp>
      <p:sp>
        <p:nvSpPr>
          <p:cNvPr id="5" name="Rectangle 4">
            <a:extLst>
              <a:ext uri="{FF2B5EF4-FFF2-40B4-BE49-F238E27FC236}">
                <a16:creationId xmlns:a16="http://schemas.microsoft.com/office/drawing/2014/main" id="{75AAED67-3C4B-428A-8BCF-9CC42EBF5078}"/>
              </a:ext>
            </a:extLst>
          </p:cNvPr>
          <p:cNvSpPr/>
          <p:nvPr/>
        </p:nvSpPr>
        <p:spPr>
          <a:xfrm>
            <a:off x="925815" y="1983360"/>
            <a:ext cx="7444461" cy="369332"/>
          </a:xfrm>
          <a:prstGeom prst="rect">
            <a:avLst/>
          </a:prstGeom>
        </p:spPr>
        <p:txBody>
          <a:bodyPr wrap="square">
            <a:spAutoFit/>
          </a:bodyPr>
          <a:lstStyle/>
          <a:p>
            <a:r>
              <a:rPr lang="en-US" dirty="0"/>
              <a:t>From above, the load current I</a:t>
            </a:r>
            <a:r>
              <a:rPr lang="en-US" sz="1400" dirty="0"/>
              <a:t>2</a:t>
            </a:r>
            <a:r>
              <a:rPr lang="en-US" dirty="0"/>
              <a:t> corresponding to maximum efficiency is: </a:t>
            </a:r>
            <a:endParaRPr lang="en-IN" dirty="0"/>
          </a:p>
        </p:txBody>
      </p:sp>
      <p:pic>
        <p:nvPicPr>
          <p:cNvPr id="6" name="Picture 5">
            <a:extLst>
              <a:ext uri="{FF2B5EF4-FFF2-40B4-BE49-F238E27FC236}">
                <a16:creationId xmlns:a16="http://schemas.microsoft.com/office/drawing/2014/main" id="{068B0E8C-3667-4D22-9A10-2E4798B478BC}"/>
              </a:ext>
            </a:extLst>
          </p:cNvPr>
          <p:cNvPicPr>
            <a:picLocks noChangeAspect="1"/>
          </p:cNvPicPr>
          <p:nvPr/>
        </p:nvPicPr>
        <p:blipFill>
          <a:blip r:embed="rId3"/>
          <a:stretch>
            <a:fillRect/>
          </a:stretch>
        </p:blipFill>
        <p:spPr>
          <a:xfrm>
            <a:off x="7919104" y="1926309"/>
            <a:ext cx="1606058" cy="1126086"/>
          </a:xfrm>
          <a:prstGeom prst="rect">
            <a:avLst/>
          </a:prstGeom>
        </p:spPr>
      </p:pic>
      <p:pic>
        <p:nvPicPr>
          <p:cNvPr id="11" name="Picture 10">
            <a:extLst>
              <a:ext uri="{FF2B5EF4-FFF2-40B4-BE49-F238E27FC236}">
                <a16:creationId xmlns:a16="http://schemas.microsoft.com/office/drawing/2014/main" id="{7756A774-CC23-44D0-8282-42A34096F841}"/>
              </a:ext>
            </a:extLst>
          </p:cNvPr>
          <p:cNvPicPr>
            <a:picLocks noChangeAspect="1"/>
          </p:cNvPicPr>
          <p:nvPr/>
        </p:nvPicPr>
        <p:blipFill>
          <a:blip r:embed="rId4"/>
          <a:stretch>
            <a:fillRect/>
          </a:stretch>
        </p:blipFill>
        <p:spPr>
          <a:xfrm>
            <a:off x="2857078" y="2475623"/>
            <a:ext cx="4790375" cy="3221528"/>
          </a:xfrm>
          <a:prstGeom prst="rect">
            <a:avLst/>
          </a:prstGeom>
        </p:spPr>
      </p:pic>
    </p:spTree>
    <p:extLst>
      <p:ext uri="{BB962C8B-B14F-4D97-AF65-F5344CB8AC3E}">
        <p14:creationId xmlns:p14="http://schemas.microsoft.com/office/powerpoint/2010/main" val="431238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4599469" y="1178881"/>
            <a:ext cx="5338200" cy="86177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Transformer Test</a:t>
            </a:r>
          </a:p>
          <a:p>
            <a:endParaRPr lang="en-IN" sz="25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7E81F3B-DCB2-4D05-A3C7-E60394331982}"/>
              </a:ext>
            </a:extLst>
          </p:cNvPr>
          <p:cNvSpPr/>
          <p:nvPr/>
        </p:nvSpPr>
        <p:spPr>
          <a:xfrm>
            <a:off x="796184" y="1704257"/>
            <a:ext cx="10944262" cy="646331"/>
          </a:xfrm>
          <a:prstGeom prst="rect">
            <a:avLst/>
          </a:prstGeom>
        </p:spPr>
        <p:txBody>
          <a:bodyPr wrap="square">
            <a:spAutoFit/>
          </a:bodyPr>
          <a:lstStyle/>
          <a:p>
            <a:r>
              <a:rPr lang="en-US" dirty="0"/>
              <a:t>The circuit constants, efficiency and voltage regulation of a transformer can be determined by two simple tests: (</a:t>
            </a:r>
            <a:r>
              <a:rPr lang="en-US" dirty="0" err="1"/>
              <a:t>i</a:t>
            </a:r>
            <a:r>
              <a:rPr lang="en-US" dirty="0"/>
              <a:t>) open-circuit test and (ii) short-circuit test </a:t>
            </a:r>
            <a:endParaRPr lang="en-IN" dirty="0"/>
          </a:p>
        </p:txBody>
      </p:sp>
      <p:sp>
        <p:nvSpPr>
          <p:cNvPr id="5" name="Rectangle 4">
            <a:extLst>
              <a:ext uri="{FF2B5EF4-FFF2-40B4-BE49-F238E27FC236}">
                <a16:creationId xmlns:a16="http://schemas.microsoft.com/office/drawing/2014/main" id="{46490C80-AC77-476D-A1B6-DA9CFBC2D9E5}"/>
              </a:ext>
            </a:extLst>
          </p:cNvPr>
          <p:cNvSpPr/>
          <p:nvPr/>
        </p:nvSpPr>
        <p:spPr>
          <a:xfrm>
            <a:off x="796184" y="2535372"/>
            <a:ext cx="5656383" cy="3139321"/>
          </a:xfrm>
          <a:prstGeom prst="rect">
            <a:avLst/>
          </a:prstGeom>
        </p:spPr>
        <p:txBody>
          <a:bodyPr wrap="square">
            <a:spAutoFit/>
          </a:bodyPr>
          <a:lstStyle/>
          <a:p>
            <a:pPr algn="just"/>
            <a:r>
              <a:rPr lang="en-US" dirty="0"/>
              <a:t>Open-Circuit Test : </a:t>
            </a:r>
          </a:p>
          <a:p>
            <a:pPr algn="just"/>
            <a:r>
              <a:rPr lang="en-US" dirty="0"/>
              <a:t>This test is conducted to determine: </a:t>
            </a:r>
          </a:p>
          <a:p>
            <a:pPr algn="just"/>
            <a:r>
              <a:rPr lang="en-US" dirty="0"/>
              <a:t>► The iron losses (or core losses) and </a:t>
            </a:r>
          </a:p>
          <a:p>
            <a:pPr algn="just"/>
            <a:r>
              <a:rPr lang="en-US" dirty="0"/>
              <a:t>► Parameters R</a:t>
            </a:r>
            <a:r>
              <a:rPr lang="en-US" sz="1400" dirty="0"/>
              <a:t>0</a:t>
            </a:r>
            <a:r>
              <a:rPr lang="en-US" dirty="0"/>
              <a:t> and X</a:t>
            </a:r>
            <a:r>
              <a:rPr lang="en-US" sz="1200" dirty="0"/>
              <a:t>0</a:t>
            </a:r>
            <a:r>
              <a:rPr lang="en-US" dirty="0"/>
              <a:t> of the transformer.</a:t>
            </a:r>
          </a:p>
          <a:p>
            <a:pPr algn="just"/>
            <a:r>
              <a:rPr lang="en-US" dirty="0"/>
              <a:t> In this test (see Figure below), the rated voltage is applied to the primary (usually low-voltage winding) while the secondary is left open-circuited. As the normal rated voltage is applied to the primary, therefore, normal iron losses will occur in the transformer core. Cu losses in the primary under no-load condition are negligible as compared with iron losses. </a:t>
            </a:r>
            <a:endParaRPr lang="en-IN" dirty="0"/>
          </a:p>
        </p:txBody>
      </p:sp>
      <p:pic>
        <p:nvPicPr>
          <p:cNvPr id="6" name="Picture 5">
            <a:extLst>
              <a:ext uri="{FF2B5EF4-FFF2-40B4-BE49-F238E27FC236}">
                <a16:creationId xmlns:a16="http://schemas.microsoft.com/office/drawing/2014/main" id="{254CABED-675F-481F-AE6E-15F86515E167}"/>
              </a:ext>
            </a:extLst>
          </p:cNvPr>
          <p:cNvPicPr>
            <a:picLocks noChangeAspect="1"/>
          </p:cNvPicPr>
          <p:nvPr/>
        </p:nvPicPr>
        <p:blipFill>
          <a:blip r:embed="rId2"/>
          <a:stretch>
            <a:fillRect/>
          </a:stretch>
        </p:blipFill>
        <p:spPr>
          <a:xfrm>
            <a:off x="7459765" y="2042981"/>
            <a:ext cx="4151331" cy="2104155"/>
          </a:xfrm>
          <a:prstGeom prst="rect">
            <a:avLst/>
          </a:prstGeom>
        </p:spPr>
      </p:pic>
      <p:pic>
        <p:nvPicPr>
          <p:cNvPr id="7" name="Picture 6">
            <a:extLst>
              <a:ext uri="{FF2B5EF4-FFF2-40B4-BE49-F238E27FC236}">
                <a16:creationId xmlns:a16="http://schemas.microsoft.com/office/drawing/2014/main" id="{231B1861-49CF-4842-A5B1-6AE767C72294}"/>
              </a:ext>
            </a:extLst>
          </p:cNvPr>
          <p:cNvPicPr>
            <a:picLocks noChangeAspect="1"/>
          </p:cNvPicPr>
          <p:nvPr/>
        </p:nvPicPr>
        <p:blipFill>
          <a:blip r:embed="rId3"/>
          <a:stretch>
            <a:fillRect/>
          </a:stretch>
        </p:blipFill>
        <p:spPr>
          <a:xfrm>
            <a:off x="9800949" y="4443505"/>
            <a:ext cx="2044799" cy="1231188"/>
          </a:xfrm>
          <a:prstGeom prst="rect">
            <a:avLst/>
          </a:prstGeom>
        </p:spPr>
      </p:pic>
      <p:pic>
        <p:nvPicPr>
          <p:cNvPr id="9" name="Picture 8">
            <a:extLst>
              <a:ext uri="{FF2B5EF4-FFF2-40B4-BE49-F238E27FC236}">
                <a16:creationId xmlns:a16="http://schemas.microsoft.com/office/drawing/2014/main" id="{9BEAF83E-5418-4070-88F3-63957AA72A5E}"/>
              </a:ext>
            </a:extLst>
          </p:cNvPr>
          <p:cNvPicPr>
            <a:picLocks noChangeAspect="1"/>
          </p:cNvPicPr>
          <p:nvPr/>
        </p:nvPicPr>
        <p:blipFill>
          <a:blip r:embed="rId4"/>
          <a:stretch>
            <a:fillRect/>
          </a:stretch>
        </p:blipFill>
        <p:spPr>
          <a:xfrm>
            <a:off x="6878861" y="4028780"/>
            <a:ext cx="2874186" cy="1275985"/>
          </a:xfrm>
          <a:prstGeom prst="rect">
            <a:avLst/>
          </a:prstGeom>
        </p:spPr>
      </p:pic>
    </p:spTree>
    <p:extLst>
      <p:ext uri="{BB962C8B-B14F-4D97-AF65-F5344CB8AC3E}">
        <p14:creationId xmlns:p14="http://schemas.microsoft.com/office/powerpoint/2010/main" val="3787835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3844184" y="1202481"/>
            <a:ext cx="533820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Transformer Test</a:t>
            </a:r>
          </a:p>
        </p:txBody>
      </p:sp>
      <p:sp>
        <p:nvSpPr>
          <p:cNvPr id="2" name="Rectangle 1">
            <a:extLst>
              <a:ext uri="{FF2B5EF4-FFF2-40B4-BE49-F238E27FC236}">
                <a16:creationId xmlns:a16="http://schemas.microsoft.com/office/drawing/2014/main" id="{3F502CF8-AA4C-4742-87B6-4F23B51F341A}"/>
              </a:ext>
            </a:extLst>
          </p:cNvPr>
          <p:cNvSpPr/>
          <p:nvPr/>
        </p:nvSpPr>
        <p:spPr>
          <a:xfrm>
            <a:off x="895736" y="1859339"/>
            <a:ext cx="5589470" cy="3139321"/>
          </a:xfrm>
          <a:prstGeom prst="rect">
            <a:avLst/>
          </a:prstGeom>
        </p:spPr>
        <p:txBody>
          <a:bodyPr wrap="square">
            <a:spAutoFit/>
          </a:bodyPr>
          <a:lstStyle/>
          <a:p>
            <a:r>
              <a:rPr lang="en-US" dirty="0"/>
              <a:t>Short Circuit test: This test is conducted to determine: ► Full-load copper losses of the transformer and </a:t>
            </a:r>
          </a:p>
          <a:p>
            <a:r>
              <a:rPr lang="en-US" dirty="0"/>
              <a:t>► R</a:t>
            </a:r>
            <a:r>
              <a:rPr lang="en-US" sz="1200" dirty="0"/>
              <a:t>01</a:t>
            </a:r>
            <a:r>
              <a:rPr lang="en-US" dirty="0"/>
              <a:t> (or R</a:t>
            </a:r>
            <a:r>
              <a:rPr lang="en-US" sz="1200" dirty="0"/>
              <a:t>02</a:t>
            </a:r>
            <a:r>
              <a:rPr lang="en-US" dirty="0"/>
              <a:t>), X</a:t>
            </a:r>
            <a:r>
              <a:rPr lang="en-US" sz="1100" dirty="0"/>
              <a:t>01</a:t>
            </a:r>
            <a:r>
              <a:rPr lang="en-US" dirty="0"/>
              <a:t> (or X</a:t>
            </a:r>
            <a:r>
              <a:rPr lang="en-US" sz="1100" dirty="0"/>
              <a:t>02</a:t>
            </a:r>
            <a:r>
              <a:rPr lang="en-US" dirty="0"/>
              <a:t>). </a:t>
            </a:r>
          </a:p>
          <a:p>
            <a:pPr algn="just"/>
            <a:r>
              <a:rPr lang="en-US" dirty="0"/>
              <a:t>In this test (see Figure below), the secondary (usually low-voltage winding) is short-circuited by a thick conductor and variable low voltage is applied to the primary. The low input voltage is gradually raised till at voltage VSC, full-load current I</a:t>
            </a:r>
            <a:r>
              <a:rPr lang="en-US" sz="1400" dirty="0"/>
              <a:t>1</a:t>
            </a:r>
            <a:r>
              <a:rPr lang="en-US" dirty="0"/>
              <a:t> flows in the primary. Then I</a:t>
            </a:r>
            <a:r>
              <a:rPr lang="en-US" sz="1200" dirty="0"/>
              <a:t>2</a:t>
            </a:r>
            <a:r>
              <a:rPr lang="en-US" dirty="0"/>
              <a:t> in the secondary also has full-load value since I</a:t>
            </a:r>
            <a:r>
              <a:rPr lang="en-US" sz="1200" dirty="0"/>
              <a:t>1</a:t>
            </a:r>
            <a:r>
              <a:rPr lang="en-US" dirty="0"/>
              <a:t>/I</a:t>
            </a:r>
            <a:r>
              <a:rPr lang="en-US" sz="1400" dirty="0"/>
              <a:t>2 </a:t>
            </a:r>
            <a:r>
              <a:rPr lang="en-US" dirty="0"/>
              <a:t>= N</a:t>
            </a:r>
            <a:r>
              <a:rPr lang="en-US" sz="1200" dirty="0"/>
              <a:t>2</a:t>
            </a:r>
            <a:r>
              <a:rPr lang="en-US" dirty="0"/>
              <a:t>/N</a:t>
            </a:r>
            <a:r>
              <a:rPr lang="en-US" sz="1200" dirty="0"/>
              <a:t>1</a:t>
            </a:r>
            <a:r>
              <a:rPr lang="en-US" dirty="0"/>
              <a:t>. Under such conditions, the copper loss in the windings is the same as that on full load. </a:t>
            </a:r>
            <a:endParaRPr lang="en-IN" dirty="0"/>
          </a:p>
        </p:txBody>
      </p:sp>
      <p:pic>
        <p:nvPicPr>
          <p:cNvPr id="5" name="Picture 4">
            <a:extLst>
              <a:ext uri="{FF2B5EF4-FFF2-40B4-BE49-F238E27FC236}">
                <a16:creationId xmlns:a16="http://schemas.microsoft.com/office/drawing/2014/main" id="{41DB9A3A-3413-4A78-8BDC-736785FA12E9}"/>
              </a:ext>
            </a:extLst>
          </p:cNvPr>
          <p:cNvPicPr>
            <a:picLocks noChangeAspect="1"/>
          </p:cNvPicPr>
          <p:nvPr/>
        </p:nvPicPr>
        <p:blipFill>
          <a:blip r:embed="rId2"/>
          <a:stretch>
            <a:fillRect/>
          </a:stretch>
        </p:blipFill>
        <p:spPr>
          <a:xfrm>
            <a:off x="6485353" y="1340583"/>
            <a:ext cx="5255093" cy="1512830"/>
          </a:xfrm>
          <a:prstGeom prst="rect">
            <a:avLst/>
          </a:prstGeom>
        </p:spPr>
      </p:pic>
      <p:pic>
        <p:nvPicPr>
          <p:cNvPr id="6" name="Picture 5">
            <a:extLst>
              <a:ext uri="{FF2B5EF4-FFF2-40B4-BE49-F238E27FC236}">
                <a16:creationId xmlns:a16="http://schemas.microsoft.com/office/drawing/2014/main" id="{ECB61FC6-695F-4BE4-8935-CE7A0B52E316}"/>
              </a:ext>
            </a:extLst>
          </p:cNvPr>
          <p:cNvPicPr>
            <a:picLocks noChangeAspect="1"/>
          </p:cNvPicPr>
          <p:nvPr/>
        </p:nvPicPr>
        <p:blipFill>
          <a:blip r:embed="rId3"/>
          <a:stretch>
            <a:fillRect/>
          </a:stretch>
        </p:blipFill>
        <p:spPr>
          <a:xfrm>
            <a:off x="9095943" y="3054456"/>
            <a:ext cx="3096057" cy="857370"/>
          </a:xfrm>
          <a:prstGeom prst="rect">
            <a:avLst/>
          </a:prstGeom>
        </p:spPr>
      </p:pic>
      <p:pic>
        <p:nvPicPr>
          <p:cNvPr id="7" name="Picture 6">
            <a:extLst>
              <a:ext uri="{FF2B5EF4-FFF2-40B4-BE49-F238E27FC236}">
                <a16:creationId xmlns:a16="http://schemas.microsoft.com/office/drawing/2014/main" id="{31E0A7DE-5BA8-4E45-AF15-847A4B17AE55}"/>
              </a:ext>
            </a:extLst>
          </p:cNvPr>
          <p:cNvPicPr>
            <a:picLocks noChangeAspect="1"/>
          </p:cNvPicPr>
          <p:nvPr/>
        </p:nvPicPr>
        <p:blipFill>
          <a:blip r:embed="rId4"/>
          <a:stretch>
            <a:fillRect/>
          </a:stretch>
        </p:blipFill>
        <p:spPr>
          <a:xfrm>
            <a:off x="6648195" y="3069140"/>
            <a:ext cx="2518866" cy="1043729"/>
          </a:xfrm>
          <a:prstGeom prst="rect">
            <a:avLst/>
          </a:prstGeom>
        </p:spPr>
      </p:pic>
    </p:spTree>
    <p:extLst>
      <p:ext uri="{BB962C8B-B14F-4D97-AF65-F5344CB8AC3E}">
        <p14:creationId xmlns:p14="http://schemas.microsoft.com/office/powerpoint/2010/main" val="2451355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4308174" y="1186243"/>
            <a:ext cx="2964579" cy="477054"/>
          </a:xfrm>
          <a:prstGeom prst="rect">
            <a:avLst/>
          </a:prstGeom>
          <a:noFill/>
        </p:spPr>
        <p:txBody>
          <a:bodyPr wrap="square" rtlCol="0">
            <a:spAutoFit/>
          </a:bodyPr>
          <a:lstStyle/>
          <a:p>
            <a:pPr algn="ctr"/>
            <a:r>
              <a:rPr lang="en-IN" sz="2500" b="1" dirty="0">
                <a:latin typeface="Times New Roman" panose="02020603050405020304" pitchFamily="18" charset="0"/>
                <a:cs typeface="Times New Roman" panose="02020603050405020304" pitchFamily="18" charset="0"/>
              </a:rPr>
              <a:t>Transformer Test</a:t>
            </a:r>
          </a:p>
        </p:txBody>
      </p:sp>
      <p:pic>
        <p:nvPicPr>
          <p:cNvPr id="5" name="Picture 4">
            <a:extLst>
              <a:ext uri="{FF2B5EF4-FFF2-40B4-BE49-F238E27FC236}">
                <a16:creationId xmlns:a16="http://schemas.microsoft.com/office/drawing/2014/main" id="{41DB9A3A-3413-4A78-8BDC-736785FA12E9}"/>
              </a:ext>
            </a:extLst>
          </p:cNvPr>
          <p:cNvPicPr>
            <a:picLocks noChangeAspect="1"/>
          </p:cNvPicPr>
          <p:nvPr/>
        </p:nvPicPr>
        <p:blipFill>
          <a:blip r:embed="rId2"/>
          <a:stretch>
            <a:fillRect/>
          </a:stretch>
        </p:blipFill>
        <p:spPr>
          <a:xfrm>
            <a:off x="5448265" y="2301236"/>
            <a:ext cx="6046617" cy="1740693"/>
          </a:xfrm>
          <a:prstGeom prst="rect">
            <a:avLst/>
          </a:prstGeom>
        </p:spPr>
      </p:pic>
      <p:pic>
        <p:nvPicPr>
          <p:cNvPr id="4" name="Picture 3">
            <a:extLst>
              <a:ext uri="{FF2B5EF4-FFF2-40B4-BE49-F238E27FC236}">
                <a16:creationId xmlns:a16="http://schemas.microsoft.com/office/drawing/2014/main" id="{554F078C-B67B-47F3-B701-472A76B10C47}"/>
              </a:ext>
            </a:extLst>
          </p:cNvPr>
          <p:cNvPicPr>
            <a:picLocks noChangeAspect="1"/>
          </p:cNvPicPr>
          <p:nvPr/>
        </p:nvPicPr>
        <p:blipFill>
          <a:blip r:embed="rId3"/>
          <a:stretch>
            <a:fillRect/>
          </a:stretch>
        </p:blipFill>
        <p:spPr>
          <a:xfrm>
            <a:off x="895736" y="1716255"/>
            <a:ext cx="4421852" cy="3866501"/>
          </a:xfrm>
          <a:prstGeom prst="rect">
            <a:avLst/>
          </a:prstGeom>
        </p:spPr>
      </p:pic>
    </p:spTree>
    <p:extLst>
      <p:ext uri="{BB962C8B-B14F-4D97-AF65-F5344CB8AC3E}">
        <p14:creationId xmlns:p14="http://schemas.microsoft.com/office/powerpoint/2010/main" val="42824018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F13D4F-ACA8-4FF0-9E83-5E6CA4EAC044}"/>
              </a:ext>
            </a:extLst>
          </p:cNvPr>
          <p:cNvSpPr txBox="1"/>
          <p:nvPr/>
        </p:nvSpPr>
        <p:spPr>
          <a:xfrm>
            <a:off x="3557587" y="1183065"/>
            <a:ext cx="5957888" cy="400110"/>
          </a:xfrm>
          <a:prstGeom prst="rect">
            <a:avLst/>
          </a:prstGeom>
          <a:noFill/>
        </p:spPr>
        <p:txBody>
          <a:bodyPr wrap="square" rtlCol="0">
            <a:spAutoFit/>
          </a:bodyPr>
          <a:lstStyle/>
          <a:p>
            <a:r>
              <a:rPr lang="en-IN" sz="2000" b="1" dirty="0"/>
              <a:t>Parallel operation of Single phase Transformer</a:t>
            </a:r>
          </a:p>
        </p:txBody>
      </p:sp>
      <p:sp>
        <p:nvSpPr>
          <p:cNvPr id="4" name="Rectangle 3">
            <a:extLst>
              <a:ext uri="{FF2B5EF4-FFF2-40B4-BE49-F238E27FC236}">
                <a16:creationId xmlns:a16="http://schemas.microsoft.com/office/drawing/2014/main" id="{043130AB-D64F-4916-957F-0AEFF4C3AF7D}"/>
              </a:ext>
            </a:extLst>
          </p:cNvPr>
          <p:cNvSpPr/>
          <p:nvPr/>
        </p:nvSpPr>
        <p:spPr>
          <a:xfrm>
            <a:off x="688051" y="1898444"/>
            <a:ext cx="10810875" cy="3139321"/>
          </a:xfrm>
          <a:prstGeom prst="rect">
            <a:avLst/>
          </a:prstGeom>
        </p:spPr>
        <p:txBody>
          <a:bodyPr wrap="square">
            <a:spAutoFit/>
          </a:bodyPr>
          <a:lstStyle/>
          <a:p>
            <a:r>
              <a:rPr lang="en-US" dirty="0"/>
              <a:t>It is economical to install numbers of smaller rated transformers in parallel than installing a bigger rated </a:t>
            </a:r>
            <a:r>
              <a:rPr lang="en-US" dirty="0">
                <a:hlinkClick r:id="rId2">
                  <a:extLst>
                    <a:ext uri="{A12FA001-AC4F-418D-AE19-62706E023703}">
                      <ahyp:hlinkClr xmlns:ahyp="http://schemas.microsoft.com/office/drawing/2018/hyperlinkcolor" val="tx"/>
                    </a:ext>
                  </a:extLst>
                </a:hlinkClick>
              </a:rPr>
              <a:t>electrical power transformers</a:t>
            </a:r>
            <a:r>
              <a:rPr lang="en-US" dirty="0"/>
              <a:t>. </a:t>
            </a:r>
          </a:p>
          <a:p>
            <a:endParaRPr lang="en-US" dirty="0"/>
          </a:p>
          <a:p>
            <a:r>
              <a:rPr lang="en-US" b="1" dirty="0"/>
              <a:t>Conditions for Parallel Operation of Transformers</a:t>
            </a:r>
          </a:p>
          <a:p>
            <a:r>
              <a:rPr lang="en-US" dirty="0"/>
              <a:t>When two or more transformers run in parallel, they must satisfy the following conditions for satisfactory performance. These are the conditions for </a:t>
            </a:r>
            <a:r>
              <a:rPr lang="en-US" b="1" dirty="0"/>
              <a:t>parallel operation of transformers</a:t>
            </a:r>
            <a:r>
              <a:rPr lang="en-US" dirty="0"/>
              <a:t>.</a:t>
            </a:r>
          </a:p>
          <a:p>
            <a:r>
              <a:rPr lang="en-US" dirty="0"/>
              <a:t>1. Same polarity.</a:t>
            </a:r>
          </a:p>
          <a:p>
            <a:r>
              <a:rPr lang="en-US" dirty="0"/>
              <a:t>2. Same </a:t>
            </a:r>
            <a:r>
              <a:rPr lang="en-US" dirty="0">
                <a:hlinkClick r:id="rId3">
                  <a:extLst>
                    <a:ext uri="{A12FA001-AC4F-418D-AE19-62706E023703}">
                      <ahyp:hlinkClr xmlns:ahyp="http://schemas.microsoft.com/office/drawing/2018/hyperlinkcolor" val="tx"/>
                    </a:ext>
                  </a:extLst>
                </a:hlinkClick>
              </a:rPr>
              <a:t>voltage ratio of transformer</a:t>
            </a:r>
            <a:r>
              <a:rPr lang="en-US" dirty="0"/>
              <a:t>.</a:t>
            </a:r>
          </a:p>
          <a:p>
            <a:r>
              <a:rPr lang="en-US" dirty="0"/>
              <a:t>3. Same percentage impedance.</a:t>
            </a:r>
          </a:p>
          <a:p>
            <a:r>
              <a:rPr lang="en-US" dirty="0"/>
              <a:t>4. Same phase sequence for the 3-phase transformer</a:t>
            </a:r>
          </a:p>
          <a:p>
            <a:endParaRPr lang="en-IN" dirty="0"/>
          </a:p>
        </p:txBody>
      </p:sp>
    </p:spTree>
    <p:extLst>
      <p:ext uri="{BB962C8B-B14F-4D97-AF65-F5344CB8AC3E}">
        <p14:creationId xmlns:p14="http://schemas.microsoft.com/office/powerpoint/2010/main" val="8061624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987BF316-8914-4862-B629-833573468722}"/>
              </a:ext>
            </a:extLst>
          </p:cNvPr>
          <p:cNvSpPr>
            <a:spLocks noChangeArrowheads="1"/>
          </p:cNvSpPr>
          <p:nvPr/>
        </p:nvSpPr>
        <p:spPr bwMode="auto">
          <a:xfrm>
            <a:off x="549772" y="1250414"/>
            <a:ext cx="5718717" cy="46935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Let,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a</a:t>
            </a:r>
            <a:r>
              <a:rPr kumimoji="0" lang="en-US" altLang="en-US" sz="800" b="0" i="0" u="none" strike="noStrike" cap="none" normalizeH="0" baseline="-30000" dirty="0">
                <a:ln>
                  <a:noFill/>
                </a:ln>
                <a:solidFill>
                  <a:srgbClr val="000000"/>
                </a:solidFill>
                <a:effectLst/>
                <a:latin typeface="Verdana" panose="020B0604030504040204" pitchFamily="34" charset="0"/>
              </a:rPr>
              <a:t>1</a:t>
            </a:r>
            <a:r>
              <a:rPr kumimoji="0" lang="en-US" altLang="en-US" sz="1100" b="0" i="0" u="none" strike="noStrike" cap="none" normalizeH="0" baseline="0" dirty="0">
                <a:ln>
                  <a:noFill/>
                </a:ln>
                <a:solidFill>
                  <a:srgbClr val="000000"/>
                </a:solidFill>
                <a:effectLst/>
                <a:latin typeface="Verdana" panose="020B0604030504040204" pitchFamily="34" charset="0"/>
              </a:rPr>
              <a:t> is the turn ratio of the transformer A</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a</a:t>
            </a:r>
            <a:r>
              <a:rPr kumimoji="0" lang="en-US" altLang="en-US" sz="800" b="0" i="0" u="none" strike="noStrike" cap="none" normalizeH="0" baseline="-30000" dirty="0">
                <a:ln>
                  <a:noFill/>
                </a:ln>
                <a:solidFill>
                  <a:srgbClr val="000000"/>
                </a:solidFill>
                <a:effectLst/>
                <a:latin typeface="Verdana" panose="020B0604030504040204" pitchFamily="34" charset="0"/>
              </a:rPr>
              <a:t>2</a:t>
            </a:r>
            <a:r>
              <a:rPr kumimoji="0" lang="en-US" altLang="en-US" sz="1100" b="0" i="0" u="none" strike="noStrike" cap="none" normalizeH="0" baseline="0" dirty="0">
                <a:ln>
                  <a:noFill/>
                </a:ln>
                <a:solidFill>
                  <a:srgbClr val="000000"/>
                </a:solidFill>
                <a:effectLst/>
                <a:latin typeface="Verdana" panose="020B0604030504040204" pitchFamily="34" charset="0"/>
              </a:rPr>
              <a:t> is the turn ratio of transformer B</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Z</a:t>
            </a:r>
            <a:r>
              <a:rPr kumimoji="0" lang="en-US" altLang="en-US" sz="800" b="0" i="0" u="none" strike="noStrike" cap="none" normalizeH="0" baseline="-30000" dirty="0">
                <a:ln>
                  <a:noFill/>
                </a:ln>
                <a:solidFill>
                  <a:srgbClr val="000000"/>
                </a:solidFill>
                <a:effectLst/>
                <a:latin typeface="Verdana" panose="020B0604030504040204" pitchFamily="34" charset="0"/>
              </a:rPr>
              <a:t>A</a:t>
            </a:r>
            <a:r>
              <a:rPr kumimoji="0" lang="en-US" altLang="en-US" sz="1100" b="0" i="0" u="none" strike="noStrike" cap="none" normalizeH="0" baseline="0" dirty="0">
                <a:ln>
                  <a:noFill/>
                </a:ln>
                <a:solidFill>
                  <a:srgbClr val="000000"/>
                </a:solidFill>
                <a:effectLst/>
                <a:latin typeface="Verdana" panose="020B0604030504040204" pitchFamily="34" charset="0"/>
              </a:rPr>
              <a:t> is the equivalent impedance of the transformer A referred to secondary</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Z</a:t>
            </a:r>
            <a:r>
              <a:rPr kumimoji="0" lang="en-US" altLang="en-US" sz="800" b="0" i="0" u="none" strike="noStrike" cap="none" normalizeH="0" baseline="-30000" dirty="0">
                <a:ln>
                  <a:noFill/>
                </a:ln>
                <a:solidFill>
                  <a:srgbClr val="000000"/>
                </a:solidFill>
                <a:effectLst/>
                <a:latin typeface="Verdana" panose="020B0604030504040204" pitchFamily="34" charset="0"/>
              </a:rPr>
              <a:t>B </a:t>
            </a:r>
            <a:r>
              <a:rPr kumimoji="0" lang="en-US" altLang="en-US" sz="1100" b="0" i="0" u="none" strike="noStrike" cap="none" normalizeH="0" baseline="0" dirty="0">
                <a:ln>
                  <a:noFill/>
                </a:ln>
                <a:solidFill>
                  <a:srgbClr val="000000"/>
                </a:solidFill>
                <a:effectLst/>
                <a:latin typeface="Verdana" panose="020B0604030504040204" pitchFamily="34" charset="0"/>
              </a:rPr>
              <a:t>is the equivalent impedance of the transformer B referred to secondary</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Z</a:t>
            </a:r>
            <a:r>
              <a:rPr kumimoji="0" lang="en-US" altLang="en-US" sz="800" b="0" i="0" u="none" strike="noStrike" cap="none" normalizeH="0" baseline="-30000" dirty="0">
                <a:ln>
                  <a:noFill/>
                </a:ln>
                <a:solidFill>
                  <a:srgbClr val="000000"/>
                </a:solidFill>
                <a:effectLst/>
                <a:latin typeface="Verdana" panose="020B0604030504040204" pitchFamily="34" charset="0"/>
              </a:rPr>
              <a:t>L</a:t>
            </a:r>
            <a:r>
              <a:rPr kumimoji="0" lang="en-US" altLang="en-US" sz="1100" b="0" i="0" u="none" strike="noStrike" cap="none" normalizeH="0" baseline="0" dirty="0">
                <a:ln>
                  <a:noFill/>
                </a:ln>
                <a:solidFill>
                  <a:srgbClr val="000000"/>
                </a:solidFill>
                <a:effectLst/>
                <a:latin typeface="Verdana" panose="020B0604030504040204" pitchFamily="34" charset="0"/>
              </a:rPr>
              <a:t> is the load impedance across the secondary</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I</a:t>
            </a:r>
            <a:r>
              <a:rPr kumimoji="0" lang="en-US" altLang="en-US" sz="800" b="0" i="0" u="none" strike="noStrike" cap="none" normalizeH="0" baseline="-30000" dirty="0">
                <a:ln>
                  <a:noFill/>
                </a:ln>
                <a:solidFill>
                  <a:srgbClr val="000000"/>
                </a:solidFill>
                <a:effectLst/>
                <a:latin typeface="Verdana" panose="020B0604030504040204" pitchFamily="34" charset="0"/>
              </a:rPr>
              <a:t>A</a:t>
            </a:r>
            <a:r>
              <a:rPr kumimoji="0" lang="en-US" altLang="en-US" sz="1100" b="0" i="0" u="none" strike="noStrike" cap="none" normalizeH="0" baseline="0" dirty="0">
                <a:ln>
                  <a:noFill/>
                </a:ln>
                <a:solidFill>
                  <a:srgbClr val="000000"/>
                </a:solidFill>
                <a:effectLst/>
                <a:latin typeface="Verdana" panose="020B0604030504040204" pitchFamily="34" charset="0"/>
              </a:rPr>
              <a:t> is the current supplied to the load by the secondary of the transformer A</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I</a:t>
            </a:r>
            <a:r>
              <a:rPr kumimoji="0" lang="en-US" altLang="en-US" sz="800" b="0" i="0" u="none" strike="noStrike" cap="none" normalizeH="0" baseline="-30000" dirty="0">
                <a:ln>
                  <a:noFill/>
                </a:ln>
                <a:solidFill>
                  <a:srgbClr val="000000"/>
                </a:solidFill>
                <a:effectLst/>
                <a:latin typeface="Verdana" panose="020B0604030504040204" pitchFamily="34" charset="0"/>
              </a:rPr>
              <a:t>B</a:t>
            </a:r>
            <a:r>
              <a:rPr kumimoji="0" lang="en-US" altLang="en-US" sz="1100" b="0" i="0" u="none" strike="noStrike" cap="none" normalizeH="0" baseline="0" dirty="0">
                <a:ln>
                  <a:noFill/>
                </a:ln>
                <a:solidFill>
                  <a:srgbClr val="000000"/>
                </a:solidFill>
                <a:effectLst/>
                <a:latin typeface="Verdana" panose="020B0604030504040204" pitchFamily="34" charset="0"/>
              </a:rPr>
              <a:t> is the current supplied to the load by the secondary of the transformer B</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V</a:t>
            </a:r>
            <a:r>
              <a:rPr kumimoji="0" lang="en-US" altLang="en-US" sz="800" b="0" i="0" u="none" strike="noStrike" cap="none" normalizeH="0" baseline="-30000" dirty="0">
                <a:ln>
                  <a:noFill/>
                </a:ln>
                <a:solidFill>
                  <a:srgbClr val="000000"/>
                </a:solidFill>
                <a:effectLst/>
                <a:latin typeface="Verdana" panose="020B0604030504040204" pitchFamily="34" charset="0"/>
              </a:rPr>
              <a:t>L</a:t>
            </a:r>
            <a:r>
              <a:rPr kumimoji="0" lang="en-US" altLang="en-US" sz="1100" b="0" i="0" u="none" strike="noStrike" cap="none" normalizeH="0" baseline="0" dirty="0">
                <a:ln>
                  <a:noFill/>
                </a:ln>
                <a:solidFill>
                  <a:srgbClr val="000000"/>
                </a:solidFill>
                <a:effectLst/>
                <a:latin typeface="Verdana" panose="020B0604030504040204" pitchFamily="34" charset="0"/>
              </a:rPr>
              <a:t> is the secondary load voltage</a:t>
            </a:r>
            <a:br>
              <a:rPr kumimoji="0" lang="en-US" altLang="en-US" sz="1100" b="0" i="0" u="none" strike="noStrike" cap="none" normalizeH="0" baseline="0" dirty="0">
                <a:ln>
                  <a:noFill/>
                </a:ln>
                <a:solidFill>
                  <a:srgbClr val="000000"/>
                </a:solidFill>
                <a:effectLst/>
                <a:latin typeface="Verdana" panose="020B0604030504040204" pitchFamily="34" charset="0"/>
              </a:rPr>
            </a:br>
            <a:r>
              <a:rPr kumimoji="0" lang="en-US" altLang="en-US" sz="1100" b="0" i="0" u="none" strike="noStrike" cap="none" normalizeH="0" baseline="0" dirty="0">
                <a:ln>
                  <a:noFill/>
                </a:ln>
                <a:solidFill>
                  <a:srgbClr val="000000"/>
                </a:solidFill>
                <a:effectLst/>
                <a:latin typeface="Verdana" panose="020B0604030504040204" pitchFamily="34" charset="0"/>
              </a:rPr>
              <a:t>I</a:t>
            </a:r>
            <a:r>
              <a:rPr kumimoji="0" lang="en-US" altLang="en-US" sz="800" b="0" i="0" u="none" strike="noStrike" cap="none" normalizeH="0" baseline="-30000" dirty="0">
                <a:ln>
                  <a:noFill/>
                </a:ln>
                <a:solidFill>
                  <a:srgbClr val="000000"/>
                </a:solidFill>
                <a:effectLst/>
                <a:latin typeface="Verdana" panose="020B0604030504040204" pitchFamily="34" charset="0"/>
              </a:rPr>
              <a:t>L</a:t>
            </a:r>
            <a:r>
              <a:rPr kumimoji="0" lang="en-US" altLang="en-US" sz="1100" b="0" i="0" u="none" strike="noStrike" cap="none" normalizeH="0" baseline="0" dirty="0">
                <a:ln>
                  <a:noFill/>
                </a:ln>
                <a:solidFill>
                  <a:srgbClr val="000000"/>
                </a:solidFill>
                <a:effectLst/>
                <a:latin typeface="Verdana" panose="020B0604030504040204" pitchFamily="34" charset="0"/>
              </a:rPr>
              <a:t> is the load current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Applying Kirchhoff’s Current Law,</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4682B4"/>
                </a:solidFill>
                <a:effectLst/>
                <a:latin typeface="Verdana" panose="020B0604030504040204" pitchFamily="34" charset="0"/>
              </a:rPr>
              <a:t>  </a:t>
            </a:r>
            <a:r>
              <a:rPr kumimoji="0" lang="en-US" altLang="en-US" sz="3000" b="0" i="0" u="none" strike="noStrike" cap="none" normalizeH="0" baseline="0" dirty="0">
                <a:ln>
                  <a:noFill/>
                </a:ln>
                <a:solidFill>
                  <a:srgbClr val="4682B4"/>
                </a:solidFill>
                <a:effectLst/>
                <a:latin typeface="Verdana" panose="020B060403050404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By Kirchhoff’s Voltage Law,</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4682B4"/>
                </a:solidFill>
                <a:effectLst/>
                <a:latin typeface="Verdana" panose="020B0604030504040204" pitchFamily="34" charset="0"/>
              </a:rPr>
              <a:t>  </a:t>
            </a:r>
            <a:r>
              <a:rPr kumimoji="0" lang="en-US" altLang="en-US" sz="8400" b="0" i="0" u="none" strike="noStrike" cap="none" normalizeH="0" baseline="0" dirty="0">
                <a:ln>
                  <a:noFill/>
                </a:ln>
                <a:solidFill>
                  <a:srgbClr val="4682B4"/>
                </a:solidFill>
                <a:effectLst/>
                <a:latin typeface="Verdana" panose="020B060403050404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Now putting the value of I</a:t>
            </a:r>
            <a:r>
              <a:rPr kumimoji="0" lang="en-US" altLang="en-US" sz="800" b="0" i="0" u="none" strike="noStrike" cap="none" normalizeH="0" baseline="-30000" dirty="0">
                <a:ln>
                  <a:noFill/>
                </a:ln>
                <a:solidFill>
                  <a:srgbClr val="000000"/>
                </a:solidFill>
                <a:effectLst/>
                <a:latin typeface="Verdana" panose="020B0604030504040204" pitchFamily="34" charset="0"/>
              </a:rPr>
              <a:t>B</a:t>
            </a:r>
            <a:r>
              <a:rPr kumimoji="0" lang="en-US" altLang="en-US" sz="1100" b="0" i="0" u="none" strike="noStrike" cap="none" normalizeH="0" baseline="0" dirty="0">
                <a:ln>
                  <a:noFill/>
                </a:ln>
                <a:solidFill>
                  <a:srgbClr val="000000"/>
                </a:solidFill>
                <a:effectLst/>
                <a:latin typeface="Verdana" panose="020B0604030504040204" pitchFamily="34" charset="0"/>
              </a:rPr>
              <a:t> from the equation (1) in equation (3) we will get,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22222"/>
                </a:solidFill>
                <a:effectLst/>
                <a:latin typeface="Verdana" panose="020B0604030504040204" pitchFamily="34" charset="0"/>
              </a:rPr>
              <a:t>  </a:t>
            </a:r>
            <a:r>
              <a:rPr kumimoji="0" lang="en-US" altLang="en-US" sz="4200" b="0" i="0" u="none" strike="noStrike" cap="none" normalizeH="0" baseline="0" dirty="0">
                <a:ln>
                  <a:noFill/>
                </a:ln>
                <a:solidFill>
                  <a:srgbClr val="222222"/>
                </a:solidFill>
                <a:effectLst/>
                <a:latin typeface="Verdana" panose="020B060403050404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parallel-operation-of-single-phase-transformer-eq1">
            <a:hlinkClick r:id="rId2"/>
            <a:extLst>
              <a:ext uri="{FF2B5EF4-FFF2-40B4-BE49-F238E27FC236}">
                <a16:creationId xmlns:a16="http://schemas.microsoft.com/office/drawing/2014/main" id="{CA82B5B6-37BD-4BA2-B44A-FC1DD30234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9894" y="3200400"/>
            <a:ext cx="2294965" cy="4572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rallel-operation-of-single-phase-transformer-eq2">
            <a:hlinkClick r:id="rId4"/>
            <a:extLst>
              <a:ext uri="{FF2B5EF4-FFF2-40B4-BE49-F238E27FC236}">
                <a16:creationId xmlns:a16="http://schemas.microsoft.com/office/drawing/2014/main" id="{7135C459-25CF-4707-9BE5-93223D3BBD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0950" y="3756691"/>
            <a:ext cx="2632851" cy="112377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rallel-operation-of-single-phase-transformer-eq3">
            <a:hlinkClick r:id="rId6"/>
            <a:extLst>
              <a:ext uri="{FF2B5EF4-FFF2-40B4-BE49-F238E27FC236}">
                <a16:creationId xmlns:a16="http://schemas.microsoft.com/office/drawing/2014/main" id="{3FD990D4-10E4-4DB0-97D4-C0FFC815EF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3732" y="5410028"/>
            <a:ext cx="3305175" cy="6667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3F24FD8-5DA2-4152-A720-265A9ED4AD9F}"/>
              </a:ext>
            </a:extLst>
          </p:cNvPr>
          <p:cNvPicPr>
            <a:picLocks noChangeAspect="1"/>
          </p:cNvPicPr>
          <p:nvPr/>
        </p:nvPicPr>
        <p:blipFill>
          <a:blip r:embed="rId8"/>
          <a:stretch>
            <a:fillRect/>
          </a:stretch>
        </p:blipFill>
        <p:spPr>
          <a:xfrm>
            <a:off x="6645462" y="1552397"/>
            <a:ext cx="5591175" cy="3895725"/>
          </a:xfrm>
          <a:prstGeom prst="rect">
            <a:avLst/>
          </a:prstGeom>
        </p:spPr>
      </p:pic>
    </p:spTree>
    <p:extLst>
      <p:ext uri="{BB962C8B-B14F-4D97-AF65-F5344CB8AC3E}">
        <p14:creationId xmlns:p14="http://schemas.microsoft.com/office/powerpoint/2010/main" val="1178181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A2B9315-C317-4BF3-A0D3-10D300063D8F}"/>
              </a:ext>
            </a:extLst>
          </p:cNvPr>
          <p:cNvSpPr>
            <a:spLocks noChangeArrowheads="1"/>
          </p:cNvSpPr>
          <p:nvPr/>
        </p:nvSpPr>
        <p:spPr bwMode="auto">
          <a:xfrm>
            <a:off x="722604" y="1591930"/>
            <a:ext cx="9178634" cy="25237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Solving equations (2) and (4) we will get,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4682B4"/>
                </a:solidFill>
                <a:effectLst/>
                <a:latin typeface="Verdana" panose="020B0604030504040204" pitchFamily="34" charset="0"/>
              </a:rPr>
              <a:t>  </a:t>
            </a:r>
            <a:r>
              <a:rPr kumimoji="0" lang="en-US" altLang="en-US" sz="9100" b="0" i="0" u="none" strike="noStrike" cap="none" normalizeH="0" baseline="0" dirty="0">
                <a:ln>
                  <a:noFill/>
                </a:ln>
                <a:solidFill>
                  <a:srgbClr val="4682B4"/>
                </a:solidFill>
                <a:effectLst/>
                <a:latin typeface="Verdana" panose="020B060403050404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The current I</a:t>
            </a:r>
            <a:r>
              <a:rPr kumimoji="0" lang="en-US" altLang="en-US" sz="1400" b="0" i="0" u="none" strike="noStrike" cap="none" normalizeH="0" baseline="-30000" dirty="0">
                <a:ln>
                  <a:noFill/>
                </a:ln>
                <a:solidFill>
                  <a:srgbClr val="000000"/>
                </a:solidFill>
                <a:effectLst/>
                <a:latin typeface="Verdana" panose="020B0604030504040204" pitchFamily="34" charset="0"/>
              </a:rPr>
              <a:t>A </a:t>
            </a:r>
            <a:r>
              <a:rPr kumimoji="0" lang="en-US" altLang="en-US" sz="1400" b="0" i="0" u="none" strike="noStrike" cap="none" normalizeH="0" baseline="0" dirty="0">
                <a:ln>
                  <a:noFill/>
                </a:ln>
                <a:solidFill>
                  <a:srgbClr val="000000"/>
                </a:solidFill>
                <a:effectLst/>
                <a:latin typeface="Verdana" panose="020B0604030504040204" pitchFamily="34" charset="0"/>
              </a:rPr>
              <a:t>and I</a:t>
            </a:r>
            <a:r>
              <a:rPr kumimoji="0" lang="en-US" altLang="en-US" sz="1400" b="0" i="0" u="none" strike="noStrike" cap="none" normalizeH="0" baseline="-30000" dirty="0">
                <a:ln>
                  <a:noFill/>
                </a:ln>
                <a:solidFill>
                  <a:srgbClr val="000000"/>
                </a:solidFill>
                <a:effectLst/>
                <a:latin typeface="Verdana" panose="020B0604030504040204" pitchFamily="34" charset="0"/>
              </a:rPr>
              <a:t>B</a:t>
            </a:r>
            <a:r>
              <a:rPr kumimoji="0" lang="en-US" altLang="en-US" sz="1400" b="0" i="0" u="none" strike="noStrike" cap="none" normalizeH="0" baseline="0" dirty="0">
                <a:ln>
                  <a:noFill/>
                </a:ln>
                <a:solidFill>
                  <a:srgbClr val="000000"/>
                </a:solidFill>
                <a:effectLst/>
                <a:latin typeface="Verdana" panose="020B0604030504040204" pitchFamily="34" charset="0"/>
              </a:rPr>
              <a:t>  have two components. The first component represents the transformers share of the load currents and the second component is a circulating current in the secondary windings of the single-phase transformer.</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Verdana" panose="020B0604030504040204" pitchFamily="34" charset="0"/>
              </a:rPr>
              <a:t>The undesirable effects of the circulating currents are as follows</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2050" name="Picture 2" descr="parallel-operation-of-single-phase-transformer-eq4">
            <a:hlinkClick r:id="rId2"/>
            <a:extLst>
              <a:ext uri="{FF2B5EF4-FFF2-40B4-BE49-F238E27FC236}">
                <a16:creationId xmlns:a16="http://schemas.microsoft.com/office/drawing/2014/main" id="{5B688B8B-694C-4B58-AF29-1330190D9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849" y="1839509"/>
            <a:ext cx="2947701" cy="135810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61DD7C0-01C9-46B3-9A64-4BD00CA58705}"/>
              </a:ext>
            </a:extLst>
          </p:cNvPr>
          <p:cNvSpPr/>
          <p:nvPr/>
        </p:nvSpPr>
        <p:spPr>
          <a:xfrm>
            <a:off x="722604" y="4363277"/>
            <a:ext cx="10250196" cy="523220"/>
          </a:xfrm>
          <a:prstGeom prst="rect">
            <a:avLst/>
          </a:prstGeom>
        </p:spPr>
        <p:txBody>
          <a:bodyPr wrap="square">
            <a:spAutoFit/>
          </a:bodyPr>
          <a:lstStyle/>
          <a:p>
            <a:pPr>
              <a:buFont typeface="Arial" panose="020B0604020202020204" pitchFamily="34" charset="0"/>
              <a:buChar char="•"/>
            </a:pPr>
            <a:r>
              <a:rPr lang="en-US" sz="1400" dirty="0">
                <a:solidFill>
                  <a:srgbClr val="000000"/>
                </a:solidFill>
                <a:latin typeface="Verdana" panose="020B0604030504040204" pitchFamily="34" charset="0"/>
              </a:rPr>
              <a:t>They increase the copper loss.</a:t>
            </a:r>
          </a:p>
          <a:p>
            <a:pPr>
              <a:buFont typeface="Arial" panose="020B0604020202020204" pitchFamily="34" charset="0"/>
              <a:buChar char="•"/>
            </a:pPr>
            <a:r>
              <a:rPr lang="en-US" sz="1400" dirty="0">
                <a:solidFill>
                  <a:srgbClr val="000000"/>
                </a:solidFill>
                <a:latin typeface="Verdana" panose="020B0604030504040204" pitchFamily="34" charset="0"/>
              </a:rPr>
              <a:t>The circulating current overloads the one transformer and reduce the permissible load kVA.</a:t>
            </a:r>
          </a:p>
        </p:txBody>
      </p:sp>
    </p:spTree>
    <p:extLst>
      <p:ext uri="{BB962C8B-B14F-4D97-AF65-F5344CB8AC3E}">
        <p14:creationId xmlns:p14="http://schemas.microsoft.com/office/powerpoint/2010/main" val="2034989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5A09D875-E357-45AF-B508-760442B0B871}"/>
              </a:ext>
            </a:extLst>
          </p:cNvPr>
          <p:cNvSpPr>
            <a:spLocks noChangeArrowheads="1"/>
          </p:cNvSpPr>
          <p:nvPr/>
        </p:nvSpPr>
        <p:spPr bwMode="auto">
          <a:xfrm>
            <a:off x="1639846" y="1298718"/>
            <a:ext cx="8566437"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Verdana" panose="020B0604030504040204" pitchFamily="34" charset="0"/>
              </a:rPr>
              <a:t>Equal Voltage Ratio</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In order to eliminate circulating currents, the voltage ratios must be identical. That is a</a:t>
            </a:r>
            <a:r>
              <a:rPr kumimoji="0" lang="en-US" altLang="en-US" sz="800" b="0" i="0" u="none" strike="noStrike" cap="none" normalizeH="0" baseline="-30000">
                <a:ln>
                  <a:noFill/>
                </a:ln>
                <a:solidFill>
                  <a:srgbClr val="000000"/>
                </a:solidFill>
                <a:effectLst/>
                <a:latin typeface="Verdana" panose="020B0604030504040204" pitchFamily="34" charset="0"/>
              </a:rPr>
              <a:t>1</a:t>
            </a:r>
            <a:r>
              <a:rPr kumimoji="0" lang="en-US" altLang="en-US" sz="1100" b="0" i="0" u="none" strike="noStrike" cap="none" normalizeH="0" baseline="0">
                <a:ln>
                  <a:noFill/>
                </a:ln>
                <a:solidFill>
                  <a:srgbClr val="000000"/>
                </a:solidFill>
                <a:effectLst/>
                <a:latin typeface="Verdana" panose="020B0604030504040204" pitchFamily="34" charset="0"/>
              </a:rPr>
              <a:t>=a</a:t>
            </a:r>
            <a:r>
              <a:rPr kumimoji="0" lang="en-US" altLang="en-US" sz="800" b="0" i="0" u="none" strike="noStrike" cap="none" normalizeH="0" baseline="-30000">
                <a:ln>
                  <a:noFill/>
                </a:ln>
                <a:solidFill>
                  <a:srgbClr val="000000"/>
                </a:solidFill>
                <a:effectLst/>
                <a:latin typeface="Verdana" panose="020B0604030504040204" pitchFamily="34" charset="0"/>
              </a:rPr>
              <a:t>2</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Under this condition,</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4682B4"/>
                </a:solidFill>
                <a:effectLst/>
                <a:latin typeface="Verdana" panose="020B0604030504040204" pitchFamily="34" charset="0"/>
              </a:rPr>
              <a:t>  </a:t>
            </a:r>
            <a:r>
              <a:rPr kumimoji="0" lang="en-US" altLang="en-US" sz="8800" b="0" i="0" u="none" strike="noStrike" cap="none" normalizeH="0" baseline="0">
                <a:ln>
                  <a:noFill/>
                </a:ln>
                <a:solidFill>
                  <a:srgbClr val="4682B4"/>
                </a:solidFill>
                <a:effectLst/>
                <a:latin typeface="Verdana" panose="020B0604030504040204" pitchFamily="34" charset="0"/>
              </a:rPr>
              <a:t>       </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Equating equation (7) and (8) we will get: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222222"/>
                </a:solidFill>
                <a:effectLst/>
                <a:latin typeface="Verdana" panose="020B0604030504040204" pitchFamily="34" charset="0"/>
              </a:rPr>
              <a:t>  </a:t>
            </a:r>
            <a:r>
              <a:rPr kumimoji="0" lang="en-US" altLang="en-US" sz="4800" b="0" i="0" u="none" strike="noStrike" cap="none" normalizeH="0" baseline="0">
                <a:ln>
                  <a:noFill/>
                </a:ln>
                <a:solidFill>
                  <a:srgbClr val="222222"/>
                </a:solidFill>
                <a:effectLst/>
                <a:latin typeface="Verdana" panose="020B060403050404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4" name="Picture 2" descr="parallel-operation-of-single-phase-transformer-eq5">
            <a:hlinkClick r:id="rId2"/>
            <a:extLst>
              <a:ext uri="{FF2B5EF4-FFF2-40B4-BE49-F238E27FC236}">
                <a16:creationId xmlns:a16="http://schemas.microsoft.com/office/drawing/2014/main" id="{347ABECB-EF77-42C5-AB13-E528089A4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80" y="1979916"/>
            <a:ext cx="2077496" cy="1168042"/>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rallel-operation-of-single-phase-transformer-eq6">
            <a:hlinkClick r:id="rId4"/>
            <a:extLst>
              <a:ext uri="{FF2B5EF4-FFF2-40B4-BE49-F238E27FC236}">
                <a16:creationId xmlns:a16="http://schemas.microsoft.com/office/drawing/2014/main" id="{5D20F737-864E-4FA0-8BFA-D0F90FC5B3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483" y="3488042"/>
            <a:ext cx="1623958" cy="64361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A712281-0606-44A9-969D-88A6820FAD93}"/>
              </a:ext>
            </a:extLst>
          </p:cNvPr>
          <p:cNvSpPr/>
          <p:nvPr/>
        </p:nvSpPr>
        <p:spPr>
          <a:xfrm>
            <a:off x="657574" y="4416215"/>
            <a:ext cx="11293913" cy="738664"/>
          </a:xfrm>
          <a:prstGeom prst="rect">
            <a:avLst/>
          </a:prstGeom>
        </p:spPr>
        <p:txBody>
          <a:bodyPr wrap="square">
            <a:spAutoFit/>
          </a:bodyPr>
          <a:lstStyle/>
          <a:p>
            <a:r>
              <a:rPr lang="en-US" sz="1400" dirty="0">
                <a:solidFill>
                  <a:srgbClr val="000000"/>
                </a:solidFill>
                <a:latin typeface="Verdana" panose="020B0604030504040204" pitchFamily="34" charset="0"/>
              </a:rPr>
              <a:t>From the above equation (9), it is clear that the transformer currents are inversely proportional to the transformer impedance. Thus, for the efficient parallel operation of the two single-phase transformers, the potential differences at full load across the transformer internal impedance should be equal.</a:t>
            </a:r>
            <a:endParaRPr lang="en-IN" sz="1400" dirty="0"/>
          </a:p>
        </p:txBody>
      </p:sp>
    </p:spTree>
    <p:extLst>
      <p:ext uri="{BB962C8B-B14F-4D97-AF65-F5344CB8AC3E}">
        <p14:creationId xmlns:p14="http://schemas.microsoft.com/office/powerpoint/2010/main" val="5050083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B970D8BE-D3D8-4D35-8AC0-26F656243F72}"/>
              </a:ext>
            </a:extLst>
          </p:cNvPr>
          <p:cNvSpPr>
            <a:spLocks noChangeArrowheads="1"/>
          </p:cNvSpPr>
          <p:nvPr/>
        </p:nvSpPr>
        <p:spPr bwMode="auto">
          <a:xfrm>
            <a:off x="3887600" y="1365921"/>
            <a:ext cx="7852846" cy="36009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Therefore, we know that,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total load in volt-ampere (VA) is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4682B4"/>
                </a:solidFill>
                <a:effectLst/>
                <a:latin typeface="Verdana" panose="020B0604030504040204" pitchFamily="34" charset="0"/>
              </a:rPr>
              <a:t>  </a:t>
            </a:r>
            <a:r>
              <a:rPr kumimoji="0" lang="en-US" altLang="en-US" sz="2800" b="0" i="0" u="none" strike="noStrike" cap="none" normalizeH="0" baseline="0" dirty="0">
                <a:ln>
                  <a:noFill/>
                </a:ln>
                <a:solidFill>
                  <a:srgbClr val="4682B4"/>
                </a:solidFill>
                <a:effectLst/>
                <a:latin typeface="Verdana" panose="020B060403050404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volt-ampere of transformer A is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4682B4"/>
                </a:solidFill>
                <a:effectLst/>
                <a:latin typeface="Verdana" panose="020B0604030504040204" pitchFamily="34" charset="0"/>
              </a:rPr>
              <a:t>  </a:t>
            </a:r>
            <a:r>
              <a:rPr kumimoji="0" lang="en-US" altLang="en-US" sz="2600" b="0" i="0" u="none" strike="noStrike" cap="none" normalizeH="0" baseline="0" dirty="0">
                <a:ln>
                  <a:noFill/>
                </a:ln>
                <a:solidFill>
                  <a:srgbClr val="4682B4"/>
                </a:solidFill>
                <a:effectLst/>
                <a:latin typeface="Verdana" panose="020B060403050404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Similarly, the volt-ampere of transformer B is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4682B4"/>
                </a:solidFill>
                <a:effectLst/>
                <a:latin typeface="Verdana" panose="020B0604030504040204" pitchFamily="34" charset="0"/>
              </a:rPr>
              <a:t>  </a:t>
            </a:r>
            <a:r>
              <a:rPr kumimoji="0" lang="en-US" altLang="en-US" sz="2700" b="0" i="0" u="none" strike="noStrike" cap="none" normalizeH="0" baseline="0" dirty="0">
                <a:ln>
                  <a:noFill/>
                </a:ln>
                <a:solidFill>
                  <a:srgbClr val="4682B4"/>
                </a:solidFill>
                <a:effectLst/>
                <a:latin typeface="Verdana" panose="020B0604030504040204" pitchFamily="34"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Hence, the various equations will be written as shown below</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22222"/>
                </a:solidFill>
                <a:effectLst/>
                <a:latin typeface="Verdana" panose="020B0604030504040204" pitchFamily="34" charset="0"/>
              </a:rPr>
              <a:t>  </a:t>
            </a:r>
            <a:r>
              <a:rPr kumimoji="0" lang="en-US" altLang="en-US" sz="9200" b="0" i="0" u="none" strike="noStrike" cap="none" normalizeH="0" baseline="0" dirty="0">
                <a:ln>
                  <a:noFill/>
                </a:ln>
                <a:solidFill>
                  <a:srgbClr val="222222"/>
                </a:solidFill>
                <a:effectLst/>
                <a:latin typeface="Verdana" panose="020B060403050404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098" name="Picture 2" descr="parallel-operation-of-single-phase-transformer-eq8">
            <a:hlinkClick r:id="rId2"/>
            <a:extLst>
              <a:ext uri="{FF2B5EF4-FFF2-40B4-BE49-F238E27FC236}">
                <a16:creationId xmlns:a16="http://schemas.microsoft.com/office/drawing/2014/main" id="{D3008081-BFA0-4045-901F-10A2EA974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285" y="1596013"/>
            <a:ext cx="920451" cy="337978"/>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parallel-operation-of-single-phase-transformer-eq9">
            <a:hlinkClick r:id="rId4"/>
            <a:extLst>
              <a:ext uri="{FF2B5EF4-FFF2-40B4-BE49-F238E27FC236}">
                <a16:creationId xmlns:a16="http://schemas.microsoft.com/office/drawing/2014/main" id="{75A54D50-59DA-40A7-882B-E6907C44E5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3945" y="2189737"/>
            <a:ext cx="848541" cy="31640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rallel-operation-of-single-phase-transformer-eq">
            <a:hlinkClick r:id="rId6"/>
            <a:extLst>
              <a:ext uri="{FF2B5EF4-FFF2-40B4-BE49-F238E27FC236}">
                <a16:creationId xmlns:a16="http://schemas.microsoft.com/office/drawing/2014/main" id="{246A0199-0CCA-415A-BD2A-2B7C4A9E35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7949" y="2753301"/>
            <a:ext cx="891687" cy="323596"/>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parallel-operation-of-single-phase-transformer-eq10-">
            <a:hlinkClick r:id="rId8"/>
            <a:extLst>
              <a:ext uri="{FF2B5EF4-FFF2-40B4-BE49-F238E27FC236}">
                <a16:creationId xmlns:a16="http://schemas.microsoft.com/office/drawing/2014/main" id="{28695545-F63C-478B-812E-BDA37CADEB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3075" y="3342004"/>
            <a:ext cx="2144525" cy="109815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6">
            <a:extLst>
              <a:ext uri="{FF2B5EF4-FFF2-40B4-BE49-F238E27FC236}">
                <a16:creationId xmlns:a16="http://schemas.microsoft.com/office/drawing/2014/main" id="{A09C33E7-AD68-41D4-B036-CF7EF20C80AB}"/>
              </a:ext>
            </a:extLst>
          </p:cNvPr>
          <p:cNvSpPr>
            <a:spLocks noChangeArrowheads="1"/>
          </p:cNvSpPr>
          <p:nvPr/>
        </p:nvSpPr>
        <p:spPr bwMode="auto">
          <a:xfrm>
            <a:off x="1203907" y="4477691"/>
            <a:ext cx="9009738" cy="15081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Equating the equation (11) and (12) we will get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4682B4"/>
                </a:solidFill>
                <a:effectLst/>
                <a:latin typeface="Verdana" panose="020B0604030504040204" pitchFamily="34" charset="0"/>
              </a:rPr>
              <a:t>  </a:t>
            </a:r>
            <a:r>
              <a:rPr kumimoji="0" lang="en-US" altLang="en-US" sz="4800" b="0" i="0" u="none" strike="noStrike" cap="none" normalizeH="0" baseline="0">
                <a:ln>
                  <a:noFill/>
                </a:ln>
                <a:solidFill>
                  <a:srgbClr val="4682B4"/>
                </a:solidFill>
                <a:effectLst/>
                <a:latin typeface="Verdana" panose="020B0604030504040204" pitchFamily="34" charset="0"/>
              </a:rPr>
              <a:t>          </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Equation (13) tells that the volt-ampere load on each single-phase transformer is inversely proportional to its impedance.</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Hence, to share the load in proportion to their ratings, the transformers should have the impedance which is inversely proportional to their ratings.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103" name="Picture 7" descr="parallel-operation-of-single-phase-transformer-eq11">
            <a:hlinkClick r:id="rId10"/>
            <a:extLst>
              <a:ext uri="{FF2B5EF4-FFF2-40B4-BE49-F238E27FC236}">
                <a16:creationId xmlns:a16="http://schemas.microsoft.com/office/drawing/2014/main" id="{706D8FBC-1DE9-4E6E-9046-D939E87550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2333" y="4747332"/>
            <a:ext cx="1803400" cy="541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931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4308174" y="1186243"/>
            <a:ext cx="2964579" cy="477054"/>
          </a:xfrm>
          <a:prstGeom prst="rect">
            <a:avLst/>
          </a:prstGeom>
          <a:noFill/>
        </p:spPr>
        <p:txBody>
          <a:bodyPr wrap="square" rtlCol="0">
            <a:spAutoFit/>
          </a:bodyPr>
          <a:lstStyle/>
          <a:p>
            <a:pPr algn="ctr"/>
            <a:r>
              <a:rPr lang="en-IN" sz="2500" b="1" dirty="0">
                <a:latin typeface="Times New Roman" panose="02020603050405020304" pitchFamily="18" charset="0"/>
                <a:cs typeface="Times New Roman" panose="02020603050405020304" pitchFamily="18" charset="0"/>
              </a:rPr>
              <a:t>Examples</a:t>
            </a:r>
          </a:p>
        </p:txBody>
      </p:sp>
      <p:sp>
        <p:nvSpPr>
          <p:cNvPr id="2" name="Rectangle 1">
            <a:extLst>
              <a:ext uri="{FF2B5EF4-FFF2-40B4-BE49-F238E27FC236}">
                <a16:creationId xmlns:a16="http://schemas.microsoft.com/office/drawing/2014/main" id="{15A9028E-3ECA-4302-865D-6B6E08C4C404}"/>
              </a:ext>
            </a:extLst>
          </p:cNvPr>
          <p:cNvSpPr/>
          <p:nvPr/>
        </p:nvSpPr>
        <p:spPr>
          <a:xfrm>
            <a:off x="588376" y="1645651"/>
            <a:ext cx="11027361" cy="4524315"/>
          </a:xfrm>
          <a:prstGeom prst="rect">
            <a:avLst/>
          </a:prstGeom>
        </p:spPr>
        <p:txBody>
          <a:bodyPr wrap="square">
            <a:spAutoFit/>
          </a:bodyPr>
          <a:lstStyle/>
          <a:p>
            <a:pPr marL="342900" indent="-342900">
              <a:buAutoNum type="arabicPeriod"/>
            </a:pPr>
            <a:r>
              <a:rPr lang="en-IN" dirty="0"/>
              <a:t>A 10 kVA, 2000/400V, single phase transformer at no load, has R1=5.5 Ohm, X1=12 ohm, R2= 0.2 ohm, X2=0.45 ohm. Determine the approximate value of the secondary voltage at full load, 0.8 power factor (lagging), when the primary applied voltage is 2000V.</a:t>
            </a:r>
          </a:p>
          <a:p>
            <a:pPr marL="342900" indent="-342900">
              <a:buAutoNum type="arabicPeriod"/>
            </a:pPr>
            <a:endParaRPr lang="en-IN" dirty="0"/>
          </a:p>
          <a:p>
            <a:pPr marL="342900" indent="-342900">
              <a:buAutoNum type="arabicPeriod"/>
            </a:pPr>
            <a:r>
              <a:rPr lang="en-IN" dirty="0"/>
              <a:t>Calculate the regulation of a transformer in which ohmic loss is 1% of the output and the reactance drop is 5% of the voltage when the power factor is (a) 0.8 lagging (b) unity © 0.8 leading.</a:t>
            </a:r>
          </a:p>
          <a:p>
            <a:pPr marL="342900" indent="-342900">
              <a:buAutoNum type="arabicPeriod"/>
            </a:pPr>
            <a:endParaRPr lang="en-IN" dirty="0"/>
          </a:p>
          <a:p>
            <a:pPr marL="342900" indent="-342900">
              <a:buAutoNum type="arabicPeriod"/>
            </a:pPr>
            <a:r>
              <a:rPr lang="en-IN" dirty="0"/>
              <a:t>In a 50 KVA, 11kV/400V transformer, the iron and copper losses are 500 W and 600 W respectively under rated conditions. Calculate the efficiency on unity power factor at full load. Find the load for maximum efficiency and the iron and copper losses corresponding to this load.</a:t>
            </a:r>
          </a:p>
          <a:p>
            <a:pPr marL="342900" indent="-342900">
              <a:buAutoNum type="arabicPeriod"/>
            </a:pPr>
            <a:endParaRPr lang="en-IN" dirty="0"/>
          </a:p>
          <a:p>
            <a:pPr marL="342900" indent="-342900">
              <a:buAutoNum type="arabicPeriod"/>
            </a:pPr>
            <a:r>
              <a:rPr lang="en-IN" dirty="0"/>
              <a:t>A transformer rated 200/50V, 10 kVA has a core loss of 100 watts. What is the maximum efficiency of the transformer at 0.8 lagging power factor? Assume full-load copper loss as200 watts. At what load this maximum efficiency is obtained?</a:t>
            </a:r>
          </a:p>
          <a:p>
            <a:pPr marL="342900" indent="-342900">
              <a:buAutoNum type="arabicPeriod"/>
            </a:pPr>
            <a:endParaRPr lang="en-IN" dirty="0"/>
          </a:p>
          <a:p>
            <a:pPr marL="342900" indent="-342900">
              <a:buAutoNum type="arabicPeriod"/>
            </a:pPr>
            <a:endParaRPr lang="en-IN" dirty="0"/>
          </a:p>
        </p:txBody>
      </p:sp>
    </p:spTree>
    <p:extLst>
      <p:ext uri="{BB962C8B-B14F-4D97-AF65-F5344CB8AC3E}">
        <p14:creationId xmlns:p14="http://schemas.microsoft.com/office/powerpoint/2010/main" val="2474273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E3894672-ADE0-42C9-A35D-4412A8EABFBF}"/>
              </a:ext>
            </a:extLst>
          </p:cNvPr>
          <p:cNvSpPr txBox="1"/>
          <p:nvPr/>
        </p:nvSpPr>
        <p:spPr>
          <a:xfrm>
            <a:off x="4493650" y="1013539"/>
            <a:ext cx="2964579" cy="861774"/>
          </a:xfrm>
          <a:prstGeom prst="rect">
            <a:avLst/>
          </a:prstGeom>
          <a:noFill/>
        </p:spPr>
        <p:txBody>
          <a:bodyPr wrap="square" rtlCol="0">
            <a:spAutoFit/>
          </a:bodyPr>
          <a:lstStyle/>
          <a:p>
            <a:pPr algn="ctr"/>
            <a:r>
              <a:rPr lang="en-IN" sz="2500" b="1" dirty="0">
                <a:latin typeface="Times New Roman" panose="02020603050405020304" pitchFamily="18" charset="0"/>
                <a:cs typeface="Times New Roman" panose="02020603050405020304" pitchFamily="18" charset="0"/>
              </a:rPr>
              <a:t>Examples</a:t>
            </a:r>
          </a:p>
          <a:p>
            <a:pPr algn="ctr"/>
            <a:endParaRPr lang="en-IN" sz="2500"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AF792066-5B20-49F0-ACBA-1AE49E061662}"/>
              </a:ext>
            </a:extLst>
          </p:cNvPr>
          <p:cNvSpPr/>
          <p:nvPr/>
        </p:nvSpPr>
        <p:spPr>
          <a:xfrm>
            <a:off x="666620" y="1393177"/>
            <a:ext cx="10853738" cy="4524315"/>
          </a:xfrm>
          <a:prstGeom prst="rect">
            <a:avLst/>
          </a:prstGeom>
        </p:spPr>
        <p:txBody>
          <a:bodyPr wrap="square">
            <a:spAutoFit/>
          </a:bodyPr>
          <a:lstStyle/>
          <a:p>
            <a:r>
              <a:rPr lang="en-US" dirty="0"/>
              <a:t>5. Open circuit and short circuit tests on a  5kVA, 250/500 V transformer has the following test data: </a:t>
            </a:r>
          </a:p>
          <a:p>
            <a:r>
              <a:rPr lang="en-US" dirty="0"/>
              <a:t>                                       Voltage (v)            Current (A)                Power (W) </a:t>
            </a:r>
          </a:p>
          <a:p>
            <a:r>
              <a:rPr lang="en-US" dirty="0"/>
              <a:t>Open  circuit test (LV)         250                      1                             80 </a:t>
            </a:r>
          </a:p>
          <a:p>
            <a:r>
              <a:rPr lang="en-US" dirty="0"/>
              <a:t>Short circuit test (HV)         20                      12                             100</a:t>
            </a:r>
          </a:p>
          <a:p>
            <a:r>
              <a:rPr lang="en-US" dirty="0"/>
              <a:t>Determine </a:t>
            </a:r>
            <a:r>
              <a:rPr lang="en-US"/>
              <a:t>circuit constant and </a:t>
            </a:r>
            <a:r>
              <a:rPr lang="en-US" dirty="0"/>
              <a:t>Calculate the efficiency and voltage regulation of the transformer at full load at 0.9 power factor lagging.</a:t>
            </a:r>
          </a:p>
          <a:p>
            <a:endParaRPr lang="en-US" dirty="0"/>
          </a:p>
          <a:p>
            <a:r>
              <a:rPr lang="en-US" dirty="0"/>
              <a:t> 6. Single phase transformer gave following test result: Rating 100kVA, 11kV/220V, 50 Hz </a:t>
            </a:r>
          </a:p>
          <a:p>
            <a:r>
              <a:rPr lang="en-US" dirty="0"/>
              <a:t>                                         </a:t>
            </a:r>
          </a:p>
          <a:p>
            <a:r>
              <a:rPr lang="en-US" dirty="0"/>
              <a:t>Open  circuit test (LV)         220 V                 45 A                           2kW</a:t>
            </a:r>
          </a:p>
          <a:p>
            <a:r>
              <a:rPr lang="en-US" dirty="0"/>
              <a:t>Short circuit test (HV)         500V                 9.09 A                         3kW</a:t>
            </a:r>
          </a:p>
          <a:p>
            <a:r>
              <a:rPr lang="en-US" dirty="0"/>
              <a:t> Determine equivalent circuit parameters referred to LV side.</a:t>
            </a:r>
          </a:p>
          <a:p>
            <a:endParaRPr lang="en-US" dirty="0"/>
          </a:p>
          <a:p>
            <a:r>
              <a:rPr lang="en-US" dirty="0"/>
              <a:t>7. Two single-phase transformer with equal turns have impedances of (0.5+j3) ohms and (0.6+j 10) ohms with respect to the secondary. If they operate in parallel, determine how they will share total load of 100 kW at 0.8 pf lagging?</a:t>
            </a:r>
            <a:endParaRPr lang="en-IN" dirty="0"/>
          </a:p>
        </p:txBody>
      </p:sp>
    </p:spTree>
    <p:extLst>
      <p:ext uri="{BB962C8B-B14F-4D97-AF65-F5344CB8AC3E}">
        <p14:creationId xmlns:p14="http://schemas.microsoft.com/office/powerpoint/2010/main" val="27137183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A3CD-620A-4E5E-A1C7-BBB18570C299}"/>
              </a:ext>
            </a:extLst>
          </p:cNvPr>
          <p:cNvSpPr>
            <a:spLocks noGrp="1"/>
          </p:cNvSpPr>
          <p:nvPr>
            <p:ph type="ctrTitle"/>
          </p:nvPr>
        </p:nvSpPr>
        <p:spPr>
          <a:xfrm>
            <a:off x="446533" y="1552397"/>
            <a:ext cx="7231784" cy="3654081"/>
          </a:xfrm>
        </p:spPr>
        <p:txBody>
          <a:bodyPr anchor="ctr">
            <a:normAutofit/>
          </a:bodyPr>
          <a:lstStyle/>
          <a:p>
            <a:r>
              <a:rPr lang="en-US" sz="5400" dirty="0">
                <a:solidFill>
                  <a:schemeClr val="tx2"/>
                </a:solidFill>
              </a:rPr>
              <a:t>Lecture series outcome</a:t>
            </a:r>
          </a:p>
        </p:txBody>
      </p:sp>
      <p:sp>
        <p:nvSpPr>
          <p:cNvPr id="3" name="Subtitle 2">
            <a:extLst>
              <a:ext uri="{FF2B5EF4-FFF2-40B4-BE49-F238E27FC236}">
                <a16:creationId xmlns:a16="http://schemas.microsoft.com/office/drawing/2014/main" id="{380BEE3A-B36C-4174-A295-3E5F260225DE}"/>
              </a:ext>
            </a:extLst>
          </p:cNvPr>
          <p:cNvSpPr>
            <a:spLocks noGrp="1"/>
          </p:cNvSpPr>
          <p:nvPr>
            <p:ph type="subTitle" idx="1"/>
          </p:nvPr>
        </p:nvSpPr>
        <p:spPr>
          <a:xfrm>
            <a:off x="5635487" y="1552397"/>
            <a:ext cx="6104959" cy="3654082"/>
          </a:xfrm>
        </p:spPr>
        <p:txBody>
          <a:bodyPr anchor="ctr">
            <a:normAutofit/>
          </a:bodyPr>
          <a:lstStyle/>
          <a:p>
            <a:pPr algn="just">
              <a:lnSpc>
                <a:spcPct val="150000"/>
              </a:lnSpc>
            </a:pPr>
            <a:r>
              <a:rPr lang="en-US" sz="2800" dirty="0">
                <a:solidFill>
                  <a:srgbClr val="0070C0"/>
                </a:solidFill>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Explain the construction, operating principles, equivalent circuits, voltage regulation, and parallel operation of single-phase and three-phase transformers</a:t>
            </a:r>
            <a:r>
              <a:rPr lang="en-US" sz="2800"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62555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4DE6CB5B-B042-42CC-BDF4-44EECFD503B3}"/>
              </a:ext>
            </a:extLst>
          </p:cNvPr>
          <p:cNvPicPr>
            <a:picLocks noChangeAspect="1"/>
          </p:cNvPicPr>
          <p:nvPr/>
        </p:nvPicPr>
        <p:blipFill rotWithShape="1">
          <a:blip r:embed="rId2"/>
          <a:srcRect/>
          <a:stretch/>
        </p:blipFill>
        <p:spPr>
          <a:xfrm>
            <a:off x="-2" y="10"/>
            <a:ext cx="12192002" cy="6857990"/>
          </a:xfrm>
          <a:prstGeom prst="rect">
            <a:avLst/>
          </a:prstGeom>
        </p:spPr>
      </p:pic>
      <p:sp>
        <p:nvSpPr>
          <p:cNvPr id="2" name="Title 1">
            <a:extLst>
              <a:ext uri="{FF2B5EF4-FFF2-40B4-BE49-F238E27FC236}">
                <a16:creationId xmlns:a16="http://schemas.microsoft.com/office/drawing/2014/main" id="{8C7EC7A8-5BE3-42D7-8870-1FF9B4A28476}"/>
              </a:ext>
            </a:extLst>
          </p:cNvPr>
          <p:cNvSpPr>
            <a:spLocks noGrp="1"/>
          </p:cNvSpPr>
          <p:nvPr>
            <p:ph type="ctrTitle"/>
          </p:nvPr>
        </p:nvSpPr>
        <p:spPr>
          <a:xfrm>
            <a:off x="6096006" y="643467"/>
            <a:ext cx="5452529" cy="3569242"/>
          </a:xfrm>
        </p:spPr>
        <p:txBody>
          <a:bodyPr anchor="t">
            <a:normAutofit/>
          </a:bodyPr>
          <a:lstStyle/>
          <a:p>
            <a:pPr algn="r"/>
            <a:r>
              <a:rPr lang="en-US" sz="4800" dirty="0">
                <a:solidFill>
                  <a:schemeClr val="bg1"/>
                </a:solidFill>
              </a:rPr>
              <a:t>COURSE OUTCOMES MAPPING WITH CO1 &amp; CO2</a:t>
            </a:r>
          </a:p>
        </p:txBody>
      </p:sp>
      <p:sp>
        <p:nvSpPr>
          <p:cNvPr id="5" name="Subtitle 4">
            <a:extLst>
              <a:ext uri="{FF2B5EF4-FFF2-40B4-BE49-F238E27FC236}">
                <a16:creationId xmlns:a16="http://schemas.microsoft.com/office/drawing/2014/main" id="{B959FD7A-E781-487C-9D32-9659BA7720D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12490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4533</TotalTime>
  <Words>3706</Words>
  <Application>Microsoft Office PowerPoint</Application>
  <PresentationFormat>Widescreen</PresentationFormat>
  <Paragraphs>230</Paragraphs>
  <Slides>48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Arial</vt:lpstr>
      <vt:lpstr>Calibri</vt:lpstr>
      <vt:lpstr>Times New Roman</vt:lpstr>
      <vt:lpstr>Verdana</vt:lpstr>
      <vt:lpstr>Office Theme</vt:lpstr>
      <vt:lpstr>Single Phase Transformer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Lecture series outcome</vt:lpstr>
      <vt:lpstr>COURSE OUTCOMES MAPPING WITH CO1 &amp; CO2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Ashish Kumar [MU - Jaipur]</dc:creator>
  <cp:lastModifiedBy>Dr. Vinay Gupta [MU - Jaipur]</cp:lastModifiedBy>
  <cp:revision>7</cp:revision>
  <dcterms:created xsi:type="dcterms:W3CDTF">2025-10-01T15:47:58Z</dcterms:created>
  <dcterms:modified xsi:type="dcterms:W3CDTF">2026-08-16T12:31:42Z</dcterms:modified>
</cp:coreProperties>
</file>