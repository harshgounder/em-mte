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handoutMasterIdLst>
    <p:handoutMasterId r:id="rId45"/>
  </p:handoutMasterIdLst>
  <p:sldIdLst>
    <p:sldId id="256" r:id="rId2"/>
    <p:sldId id="261" r:id="rId3"/>
    <p:sldId id="277" r:id="rId4"/>
    <p:sldId id="278" r:id="rId5"/>
    <p:sldId id="266" r:id="rId6"/>
    <p:sldId id="267" r:id="rId7"/>
    <p:sldId id="268" r:id="rId8"/>
    <p:sldId id="323" r:id="rId9"/>
    <p:sldId id="324" r:id="rId10"/>
    <p:sldId id="325" r:id="rId11"/>
    <p:sldId id="326" r:id="rId12"/>
    <p:sldId id="305" r:id="rId13"/>
    <p:sldId id="306" r:id="rId14"/>
    <p:sldId id="307" r:id="rId15"/>
    <p:sldId id="308" r:id="rId16"/>
    <p:sldId id="309" r:id="rId17"/>
    <p:sldId id="310" r:id="rId18"/>
    <p:sldId id="311" r:id="rId19"/>
    <p:sldId id="312" r:id="rId20"/>
    <p:sldId id="313" r:id="rId21"/>
    <p:sldId id="314" r:id="rId22"/>
    <p:sldId id="315" r:id="rId23"/>
    <p:sldId id="318" r:id="rId24"/>
    <p:sldId id="319" r:id="rId25"/>
    <p:sldId id="320" r:id="rId26"/>
    <p:sldId id="321" r:id="rId27"/>
    <p:sldId id="322" r:id="rId28"/>
    <p:sldId id="269" r:id="rId29"/>
    <p:sldId id="270" r:id="rId30"/>
    <p:sldId id="282" r:id="rId31"/>
    <p:sldId id="271" r:id="rId32"/>
    <p:sldId id="272" r:id="rId33"/>
    <p:sldId id="327" r:id="rId34"/>
    <p:sldId id="328" r:id="rId35"/>
    <p:sldId id="329" r:id="rId36"/>
    <p:sldId id="330" r:id="rId37"/>
    <p:sldId id="333" r:id="rId38"/>
    <p:sldId id="331" r:id="rId39"/>
    <p:sldId id="332" r:id="rId40"/>
    <p:sldId id="279" r:id="rId41"/>
    <p:sldId id="280" r:id="rId42"/>
    <p:sldId id="28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115EE0-4A1D-5A96-B077-F22C8871A7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613F4D-5C6E-2B68-6339-643679A18C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594462-75B1-44C8-A601-DF603758CB8A}" type="datetimeFigureOut">
              <a:rPr lang="en-US" smtClean="0"/>
              <a:t>8/13/2026</a:t>
            </a:fld>
            <a:endParaRPr lang="en-US"/>
          </a:p>
        </p:txBody>
      </p:sp>
      <p:sp>
        <p:nvSpPr>
          <p:cNvPr id="4" name="Footer Placeholder 3">
            <a:extLst>
              <a:ext uri="{FF2B5EF4-FFF2-40B4-BE49-F238E27FC236}">
                <a16:creationId xmlns:a16="http://schemas.microsoft.com/office/drawing/2014/main" id="{66C67C39-55F4-B5B9-391F-98FD2A71FBE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CBEAC3-B027-8CF8-DE4F-6C4361F096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A82EF6-3896-4524-A506-FAC6A669967C}" type="slidenum">
              <a:rPr lang="en-US" smtClean="0"/>
              <a:t>‹#›</a:t>
            </a:fld>
            <a:endParaRPr lang="en-US"/>
          </a:p>
        </p:txBody>
      </p:sp>
    </p:spTree>
    <p:extLst>
      <p:ext uri="{BB962C8B-B14F-4D97-AF65-F5344CB8AC3E}">
        <p14:creationId xmlns:p14="http://schemas.microsoft.com/office/powerpoint/2010/main" val="32322138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1A3DE-9003-4A22-9DD6-37AD7365FE9E}"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E6586-99FC-472A-99D6-89BE5F94D309}" type="slidenum">
              <a:rPr lang="en-US" smtClean="0"/>
              <a:t>‹#›</a:t>
            </a:fld>
            <a:endParaRPr lang="en-US"/>
          </a:p>
        </p:txBody>
      </p:sp>
    </p:spTree>
    <p:extLst>
      <p:ext uri="{BB962C8B-B14F-4D97-AF65-F5344CB8AC3E}">
        <p14:creationId xmlns:p14="http://schemas.microsoft.com/office/powerpoint/2010/main" val="8106143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FFC9-793B-3F13-0589-31890013BC8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10201-7E1C-0763-328F-291E5BFA33C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DAF629-04B6-BE85-B720-46BC5DB8558E}"/>
              </a:ext>
            </a:extLst>
          </p:cNvPr>
          <p:cNvSpPr>
            <a:spLocks noGrp="1"/>
          </p:cNvSpPr>
          <p:nvPr>
            <p:ph type="dt" sz="half" idx="10"/>
          </p:nvPr>
        </p:nvSpPr>
        <p:spPr/>
        <p:txBody>
          <a:bodyPr/>
          <a:lstStyle/>
          <a:p>
            <a:fld id="{325B6676-6B8D-41AE-9731-411042636E71}" type="datetime1">
              <a:rPr lang="en-US" smtClean="0"/>
              <a:t>8/13/2026</a:t>
            </a:fld>
            <a:endParaRPr lang="en-US"/>
          </a:p>
        </p:txBody>
      </p:sp>
      <p:sp>
        <p:nvSpPr>
          <p:cNvPr id="5" name="Footer Placeholder 4">
            <a:extLst>
              <a:ext uri="{FF2B5EF4-FFF2-40B4-BE49-F238E27FC236}">
                <a16:creationId xmlns:a16="http://schemas.microsoft.com/office/drawing/2014/main" id="{EBC0CF84-DFC5-688A-73CB-7EAADAA773B6}"/>
              </a:ext>
            </a:extLst>
          </p:cNvPr>
          <p:cNvSpPr>
            <a:spLocks noGrp="1"/>
          </p:cNvSpPr>
          <p:nvPr>
            <p:ph type="ftr" sz="quarter" idx="11"/>
          </p:nvPr>
        </p:nvSpPr>
        <p:spPr/>
        <p:txBody>
          <a:bodyPr/>
          <a:lstStyle/>
          <a:p>
            <a:r>
              <a:rPr lang="en-US"/>
              <a:t>Course Code</a:t>
            </a:r>
          </a:p>
        </p:txBody>
      </p:sp>
      <p:sp>
        <p:nvSpPr>
          <p:cNvPr id="6" name="Slide Number Placeholder 5">
            <a:extLst>
              <a:ext uri="{FF2B5EF4-FFF2-40B4-BE49-F238E27FC236}">
                <a16:creationId xmlns:a16="http://schemas.microsoft.com/office/drawing/2014/main" id="{F274EA29-C8CB-7E59-52B6-7BB1C1EB1445}"/>
              </a:ext>
            </a:extLst>
          </p:cNvPr>
          <p:cNvSpPr>
            <a:spLocks noGrp="1"/>
          </p:cNvSpPr>
          <p:nvPr>
            <p:ph type="sldNum" sz="quarter" idx="12"/>
          </p:nvPr>
        </p:nvSpPr>
        <p:spPr/>
        <p:txBody>
          <a:bodyPr/>
          <a:lstStyle/>
          <a:p>
            <a:fld id="{2DFB1CBB-BAB9-4807-BFB8-A8A25F8F198A}" type="slidenum">
              <a:rPr lang="en-US" smtClean="0"/>
              <a:t>‹#›</a:t>
            </a:fld>
            <a:endParaRPr lang="en-US"/>
          </a:p>
        </p:txBody>
      </p:sp>
      <p:pic>
        <p:nvPicPr>
          <p:cNvPr id="7" name="Picture 6">
            <a:extLst>
              <a:ext uri="{FF2B5EF4-FFF2-40B4-BE49-F238E27FC236}">
                <a16:creationId xmlns:a16="http://schemas.microsoft.com/office/drawing/2014/main" id="{1DC15F42-153B-BFEF-2901-D3DE189C85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sp>
        <p:nvSpPr>
          <p:cNvPr id="8" name="Rectangle 7">
            <a:extLst>
              <a:ext uri="{FF2B5EF4-FFF2-40B4-BE49-F238E27FC236}">
                <a16:creationId xmlns:a16="http://schemas.microsoft.com/office/drawing/2014/main" id="{32F20779-1BC0-EA17-B06D-1A5BD036E955}"/>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Logo&#10;&#10;Description automatically generated">
            <a:extLst>
              <a:ext uri="{FF2B5EF4-FFF2-40B4-BE49-F238E27FC236}">
                <a16:creationId xmlns:a16="http://schemas.microsoft.com/office/drawing/2014/main" id="{D1136D55-3842-562F-06E3-29751D88BCF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1570930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03225CF-CC2B-4141-BD1D-7D1756FF5363}"/>
              </a:ext>
            </a:extLst>
          </p:cNvPr>
          <p:cNvSpPr>
            <a:spLocks noGrp="1"/>
          </p:cNvSpPr>
          <p:nvPr>
            <p:ph type="dt" sz="half" idx="10"/>
          </p:nvPr>
        </p:nvSpPr>
        <p:spPr/>
        <p:txBody>
          <a:bodyPr/>
          <a:lstStyle>
            <a:lvl1pPr>
              <a:defRPr/>
            </a:lvl1pPr>
          </a:lstStyle>
          <a:p>
            <a:pPr>
              <a:defRPr/>
            </a:pPr>
            <a:fld id="{6CE1C18A-37DE-4C60-B8BC-DA0FBEEF9E5B}" type="datetimeFigureOut">
              <a:rPr lang="en-US"/>
              <a:pPr>
                <a:defRPr/>
              </a:pPr>
              <a:t>8/17/2026</a:t>
            </a:fld>
            <a:endParaRPr lang="en-US"/>
          </a:p>
        </p:txBody>
      </p:sp>
      <p:sp>
        <p:nvSpPr>
          <p:cNvPr id="5" name="Footer Placeholder 2">
            <a:extLst>
              <a:ext uri="{FF2B5EF4-FFF2-40B4-BE49-F238E27FC236}">
                <a16:creationId xmlns:a16="http://schemas.microsoft.com/office/drawing/2014/main" id="{28564192-7A6E-4888-9E1E-22D5F52D814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554A8FCB-56F7-4EED-9E00-8E8C87AAA0C7}"/>
              </a:ext>
            </a:extLst>
          </p:cNvPr>
          <p:cNvSpPr>
            <a:spLocks noGrp="1"/>
          </p:cNvSpPr>
          <p:nvPr>
            <p:ph type="sldNum" sz="quarter" idx="12"/>
          </p:nvPr>
        </p:nvSpPr>
        <p:spPr/>
        <p:txBody>
          <a:bodyPr/>
          <a:lstStyle>
            <a:lvl1pPr>
              <a:defRPr/>
            </a:lvl1pPr>
          </a:lstStyle>
          <a:p>
            <a:pPr>
              <a:defRPr/>
            </a:pPr>
            <a:fld id="{2CAEAD87-B00F-40C6-B2B5-EDBAC0055298}" type="slidenum">
              <a:rPr lang="en-US" altLang="en-US"/>
              <a:pPr>
                <a:defRPr/>
              </a:pPr>
              <a:t>‹#›</a:t>
            </a:fld>
            <a:endParaRPr lang="en-US" altLang="en-US"/>
          </a:p>
        </p:txBody>
      </p:sp>
    </p:spTree>
    <p:extLst>
      <p:ext uri="{BB962C8B-B14F-4D97-AF65-F5344CB8AC3E}">
        <p14:creationId xmlns:p14="http://schemas.microsoft.com/office/powerpoint/2010/main" val="10765923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B402E9-9286-41DF-C6BA-03C18A4020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F08574-D638-4A51-8811-3E76E4CBC5C7}" type="datetime1">
              <a:rPr lang="en-US" smtClean="0"/>
              <a:t>8/13/2026</a:t>
            </a:fld>
            <a:endParaRPr lang="en-US"/>
          </a:p>
        </p:txBody>
      </p:sp>
      <p:sp>
        <p:nvSpPr>
          <p:cNvPr id="5" name="Footer Placeholder 4">
            <a:extLst>
              <a:ext uri="{FF2B5EF4-FFF2-40B4-BE49-F238E27FC236}">
                <a16:creationId xmlns:a16="http://schemas.microsoft.com/office/drawing/2014/main" id="{CFFC99A3-E133-AAFF-8948-D877DD35C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Course Code</a:t>
            </a:r>
          </a:p>
        </p:txBody>
      </p:sp>
      <p:sp>
        <p:nvSpPr>
          <p:cNvPr id="6" name="Slide Number Placeholder 5">
            <a:extLst>
              <a:ext uri="{FF2B5EF4-FFF2-40B4-BE49-F238E27FC236}">
                <a16:creationId xmlns:a16="http://schemas.microsoft.com/office/drawing/2014/main" id="{344333E6-C173-5370-E96C-1CD870002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B1CBB-BAB9-4807-BFB8-A8A25F8F198A}" type="slidenum">
              <a:rPr lang="en-US" smtClean="0"/>
              <a:t>‹#›</a:t>
            </a:fld>
            <a:endParaRPr lang="en-US"/>
          </a:p>
        </p:txBody>
      </p:sp>
      <p:sp>
        <p:nvSpPr>
          <p:cNvPr id="7" name="Rectangle 6">
            <a:extLst>
              <a:ext uri="{FF2B5EF4-FFF2-40B4-BE49-F238E27FC236}">
                <a16:creationId xmlns:a16="http://schemas.microsoft.com/office/drawing/2014/main" id="{44C26D48-8915-A9C4-BB4B-172B453DEA09}"/>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5DFA9CA5-0602-AD5E-8743-4CDC059C75B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pic>
        <p:nvPicPr>
          <p:cNvPr id="9" name="Picture 8" descr="Logo&#10;&#10;Description automatically generated">
            <a:extLst>
              <a:ext uri="{FF2B5EF4-FFF2-40B4-BE49-F238E27FC236}">
                <a16:creationId xmlns:a16="http://schemas.microsoft.com/office/drawing/2014/main" id="{0B7FAD6B-7286-3118-AB2F-BDAF899BB357}"/>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2519291796"/>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2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3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C5179-AFAE-55D7-9C5D-3D067DE17D22}"/>
              </a:ext>
            </a:extLst>
          </p:cNvPr>
          <p:cNvSpPr>
            <a:spLocks noGrp="1"/>
          </p:cNvSpPr>
          <p:nvPr>
            <p:ph type="ctrTitle"/>
          </p:nvPr>
        </p:nvSpPr>
        <p:spPr/>
        <p:txBody>
          <a:bodyPr/>
          <a:lstStyle/>
          <a:p>
            <a:r>
              <a:rPr lang="en-US" dirty="0"/>
              <a:t>DC Machine</a:t>
            </a:r>
          </a:p>
        </p:txBody>
      </p:sp>
      <p:sp>
        <p:nvSpPr>
          <p:cNvPr id="3" name="Subtitle 2">
            <a:extLst>
              <a:ext uri="{FF2B5EF4-FFF2-40B4-BE49-F238E27FC236}">
                <a16:creationId xmlns:a16="http://schemas.microsoft.com/office/drawing/2014/main" id="{3B6C72A2-0F97-A244-EE58-6754ED64DFD3}"/>
              </a:ext>
            </a:extLst>
          </p:cNvPr>
          <p:cNvSpPr>
            <a:spLocks noGrp="1"/>
          </p:cNvSpPr>
          <p:nvPr>
            <p:ph type="subTitle" idx="1"/>
          </p:nvPr>
        </p:nvSpPr>
        <p:spPr/>
        <p:txBody>
          <a:bodyPr/>
          <a:lstStyle/>
          <a:p>
            <a:r>
              <a:rPr lang="en-US" dirty="0"/>
              <a:t>Electrical machines– ELC2104</a:t>
            </a:r>
          </a:p>
        </p:txBody>
      </p:sp>
    </p:spTree>
    <p:extLst>
      <p:ext uri="{BB962C8B-B14F-4D97-AF65-F5344CB8AC3E}">
        <p14:creationId xmlns:p14="http://schemas.microsoft.com/office/powerpoint/2010/main" val="104067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32867C-BC96-4F3D-83A6-614B77D119A3}"/>
              </a:ext>
            </a:extLst>
          </p:cNvPr>
          <p:cNvSpPr/>
          <p:nvPr/>
        </p:nvSpPr>
        <p:spPr>
          <a:xfrm>
            <a:off x="661737" y="1188613"/>
            <a:ext cx="8082289" cy="1325619"/>
          </a:xfrm>
          <a:prstGeom prst="rect">
            <a:avLst/>
          </a:prstGeom>
        </p:spPr>
        <p:txBody>
          <a:bodyPr wrap="square">
            <a:spAutoFit/>
          </a:bodyPr>
          <a:lstStyle/>
          <a:p>
            <a:pPr lvl="0">
              <a:lnSpc>
                <a:spcPct val="107000"/>
              </a:lnSpc>
              <a:spcAft>
                <a:spcPts val="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REFERENCE BOOK</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M. G. Say, </a:t>
            </a:r>
            <a:r>
              <a:rPr lang="en-IN" i="1" dirty="0">
                <a:latin typeface="Times New Roman" panose="02020603050405020304" pitchFamily="18" charset="0"/>
                <a:ea typeface="Calibri" panose="020F0502020204030204" pitchFamily="34" charset="0"/>
                <a:cs typeface="Times New Roman" panose="02020603050405020304" pitchFamily="18" charset="0"/>
              </a:rPr>
              <a:t>Alternating Current Machines </a:t>
            </a:r>
            <a:r>
              <a:rPr lang="en-IN" dirty="0">
                <a:latin typeface="Times New Roman" panose="02020603050405020304" pitchFamily="18" charset="0"/>
                <a:ea typeface="Calibri" panose="020F0502020204030204" pitchFamily="34" charset="0"/>
                <a:cs typeface="Times New Roman" panose="02020603050405020304" pitchFamily="18" charset="0"/>
              </a:rPr>
              <a:t>(5e)</a:t>
            </a:r>
            <a:r>
              <a:rPr lang="en-IN" i="1" dirty="0">
                <a:latin typeface="Times New Roman" panose="02020603050405020304" pitchFamily="18" charset="0"/>
                <a:ea typeface="Calibri" panose="020F0502020204030204" pitchFamily="34" charset="0"/>
                <a:cs typeface="Times New Roman" panose="02020603050405020304" pitchFamily="18" charset="0"/>
              </a:rPr>
              <a:t>,</a:t>
            </a:r>
            <a:r>
              <a:rPr lang="en-IN" dirty="0">
                <a:latin typeface="Times New Roman" panose="02020603050405020304" pitchFamily="18" charset="0"/>
                <a:ea typeface="Calibri" panose="020F0502020204030204" pitchFamily="34" charset="0"/>
                <a:cs typeface="Times New Roman" panose="02020603050405020304" pitchFamily="18" charset="0"/>
              </a:rPr>
              <a:t> ELBS.</a:t>
            </a: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2. E. H. </a:t>
            </a:r>
            <a:r>
              <a:rPr lang="en-IN" dirty="0" err="1">
                <a:latin typeface="Times New Roman" panose="02020603050405020304" pitchFamily="18" charset="0"/>
                <a:ea typeface="Calibri" panose="020F0502020204030204" pitchFamily="34" charset="0"/>
                <a:cs typeface="Times New Roman" panose="02020603050405020304" pitchFamily="18" charset="0"/>
              </a:rPr>
              <a:t>Langsdorf</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i="1" dirty="0">
                <a:latin typeface="Times New Roman" panose="02020603050405020304" pitchFamily="18" charset="0"/>
                <a:ea typeface="Calibri" panose="020F0502020204030204" pitchFamily="34" charset="0"/>
                <a:cs typeface="Times New Roman" panose="02020603050405020304" pitchFamily="18" charset="0"/>
              </a:rPr>
              <a:t>Theory of Alternating Current Machine </a:t>
            </a:r>
            <a:r>
              <a:rPr lang="en-IN" dirty="0">
                <a:latin typeface="Times New Roman" panose="02020603050405020304" pitchFamily="18" charset="0"/>
                <a:ea typeface="Calibri" panose="020F0502020204030204" pitchFamily="34" charset="0"/>
                <a:cs typeface="Times New Roman" panose="02020603050405020304" pitchFamily="18" charset="0"/>
              </a:rPr>
              <a:t>(2e), TMH. </a:t>
            </a:r>
          </a:p>
          <a:p>
            <a:pPr marL="647700" algn="just">
              <a:lnSpc>
                <a:spcPct val="115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A. E. Clayton</a:t>
            </a:r>
            <a:r>
              <a:rPr lang="en-IN" i="1" dirty="0">
                <a:latin typeface="Times New Roman" panose="02020603050405020304" pitchFamily="18" charset="0"/>
                <a:ea typeface="Calibri" panose="020F0502020204030204" pitchFamily="34" charset="0"/>
                <a:cs typeface="Times New Roman" panose="02020603050405020304" pitchFamily="18" charset="0"/>
              </a:rPr>
              <a:t>, Performance and Design of DC Machines </a:t>
            </a:r>
            <a:r>
              <a:rPr lang="en-IN" dirty="0">
                <a:latin typeface="Times New Roman" panose="02020603050405020304" pitchFamily="18" charset="0"/>
                <a:ea typeface="Calibri" panose="020F0502020204030204" pitchFamily="34" charset="0"/>
                <a:cs typeface="Times New Roman" panose="02020603050405020304" pitchFamily="18" charset="0"/>
              </a:rPr>
              <a:t>(3e), O&amp; IBH,</a:t>
            </a:r>
          </a:p>
        </p:txBody>
      </p:sp>
      <p:sp>
        <p:nvSpPr>
          <p:cNvPr id="9" name="Rectangle 8">
            <a:extLst>
              <a:ext uri="{FF2B5EF4-FFF2-40B4-BE49-F238E27FC236}">
                <a16:creationId xmlns:a16="http://schemas.microsoft.com/office/drawing/2014/main" id="{91CC5333-3D76-410A-90DA-C29F9556A102}"/>
              </a:ext>
            </a:extLst>
          </p:cNvPr>
          <p:cNvSpPr/>
          <p:nvPr/>
        </p:nvSpPr>
        <p:spPr>
          <a:xfrm>
            <a:off x="670836" y="2389109"/>
            <a:ext cx="11530263" cy="1656800"/>
          </a:xfrm>
          <a:prstGeom prst="rect">
            <a:avLst/>
          </a:prstGeom>
        </p:spPr>
        <p:txBody>
          <a:bodyPr wrap="square">
            <a:spAutoFit/>
          </a:bodyPr>
          <a:lstStyle/>
          <a:p>
            <a:pPr lvl="0">
              <a:lnSpc>
                <a:spcPct val="107000"/>
              </a:lnSpc>
              <a:spcAft>
                <a:spcPts val="80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TEXT BOOKS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190500">
              <a:lnSpc>
                <a:spcPct val="107000"/>
              </a:lnSpc>
              <a:spcAft>
                <a:spcPts val="0"/>
              </a:spcAft>
              <a:tabLst>
                <a:tab pos="647700" algn="l"/>
              </a:tabLst>
            </a:pPr>
            <a:r>
              <a:rPr lang="en-IN" dirty="0">
                <a:latin typeface="Calibri" panose="020F0502020204030204" pitchFamily="34" charset="0"/>
                <a:ea typeface="Calibri" panose="020F0502020204030204" pitchFamily="34" charset="0"/>
                <a:cs typeface="Calibri" panose="020F0502020204030204" pitchFamily="34" charset="0"/>
              </a:rPr>
              <a:t>	 1. </a:t>
            </a:r>
            <a:r>
              <a:rPr lang="en-IN" dirty="0">
                <a:latin typeface="Times New Roman" panose="02020603050405020304" pitchFamily="18" charset="0"/>
                <a:ea typeface="Calibri" panose="020F0502020204030204" pitchFamily="34" charset="0"/>
                <a:cs typeface="Times New Roman" panose="02020603050405020304" pitchFamily="18" charset="0"/>
              </a:rPr>
              <a:t>P. S. </a:t>
            </a:r>
            <a:r>
              <a:rPr lang="en-IN" dirty="0" err="1">
                <a:latin typeface="Times New Roman" panose="02020603050405020304" pitchFamily="18" charset="0"/>
                <a:ea typeface="Calibri" panose="020F0502020204030204" pitchFamily="34" charset="0"/>
                <a:cs typeface="Times New Roman" panose="02020603050405020304" pitchFamily="18" charset="0"/>
              </a:rPr>
              <a:t>Bhimbra</a:t>
            </a:r>
            <a:r>
              <a:rPr lang="en-IN" dirty="0">
                <a:latin typeface="Times New Roman" panose="02020603050405020304" pitchFamily="18" charset="0"/>
                <a:ea typeface="Calibri" panose="020F0502020204030204" pitchFamily="34" charset="0"/>
                <a:cs typeface="Times New Roman" panose="02020603050405020304" pitchFamily="18" charset="0"/>
              </a:rPr>
              <a:t>, “Electrical Machinery”, Seventh Edition, 1995,Khanna Publishers.</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2. I. J. </a:t>
            </a:r>
            <a:r>
              <a:rPr lang="en-IN" dirty="0" err="1">
                <a:latin typeface="Times New Roman" panose="02020603050405020304" pitchFamily="18" charset="0"/>
                <a:ea typeface="Calibri" panose="020F0502020204030204" pitchFamily="34" charset="0"/>
                <a:cs typeface="Times New Roman" panose="02020603050405020304" pitchFamily="18" charset="0"/>
              </a:rPr>
              <a:t>Nagrath</a:t>
            </a:r>
            <a:r>
              <a:rPr lang="en-IN" dirty="0">
                <a:latin typeface="Times New Roman" panose="02020603050405020304" pitchFamily="18" charset="0"/>
                <a:ea typeface="Calibri" panose="020F0502020204030204" pitchFamily="34" charset="0"/>
                <a:cs typeface="Times New Roman" panose="02020603050405020304" pitchFamily="18" charset="0"/>
              </a:rPr>
              <a:t>, , D. </a:t>
            </a:r>
            <a:r>
              <a:rPr lang="en-IN" dirty="0" err="1">
                <a:latin typeface="Times New Roman" panose="02020603050405020304" pitchFamily="18" charset="0"/>
                <a:ea typeface="Calibri" panose="020F0502020204030204" pitchFamily="34" charset="0"/>
                <a:cs typeface="Times New Roman" panose="02020603050405020304" pitchFamily="18" charset="0"/>
              </a:rPr>
              <a:t>P.Kothari</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Machines”, Third Edition, Tata McGraw-Hill Publishing Company Ltd. </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3. A. </a:t>
            </a:r>
            <a:r>
              <a:rPr lang="en-IN" dirty="0" err="1">
                <a:latin typeface="Times New Roman" panose="02020603050405020304" pitchFamily="18" charset="0"/>
                <a:ea typeface="Calibri" panose="020F0502020204030204" pitchFamily="34" charset="0"/>
                <a:cs typeface="Times New Roman" panose="02020603050405020304" pitchFamily="18" charset="0"/>
              </a:rPr>
              <a:t>E.Fitzgerald</a:t>
            </a:r>
            <a:r>
              <a:rPr lang="en-IN" dirty="0">
                <a:latin typeface="Times New Roman" panose="02020603050405020304" pitchFamily="18" charset="0"/>
                <a:ea typeface="Calibri" panose="020F0502020204030204" pitchFamily="34" charset="0"/>
                <a:cs typeface="Times New Roman" panose="02020603050405020304" pitchFamily="18" charset="0"/>
              </a:rPr>
              <a:t>, Charles Kingsley, Jr. Stephen D. </a:t>
            </a:r>
            <a:r>
              <a:rPr lang="en-IN" dirty="0" err="1">
                <a:latin typeface="Times New Roman" panose="02020603050405020304" pitchFamily="18" charset="0"/>
                <a:ea typeface="Calibri" panose="020F0502020204030204" pitchFamily="34" charset="0"/>
                <a:cs typeface="Times New Roman" panose="02020603050405020304" pitchFamily="18" charset="0"/>
              </a:rPr>
              <a:t>Umans</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Machinery”, Fifth Edition, Tata McGraw-Hill.</a:t>
            </a:r>
          </a:p>
          <a:p>
            <a:pPr marL="190500">
              <a:lnSpc>
                <a:spcPct val="107000"/>
              </a:lnSpc>
              <a:spcAft>
                <a:spcPts val="0"/>
              </a:spcAft>
              <a:tabLst>
                <a:tab pos="647700" algn="l"/>
              </a:tabLs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619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a:extLst>
              <a:ext uri="{FF2B5EF4-FFF2-40B4-BE49-F238E27FC236}">
                <a16:creationId xmlns:a16="http://schemas.microsoft.com/office/drawing/2014/main" id="{926593CD-B456-4ADA-BF7D-004DCCFDCF19}"/>
              </a:ext>
            </a:extLst>
          </p:cNvPr>
          <p:cNvSpPr>
            <a:spLocks noGrp="1"/>
          </p:cNvSpPr>
          <p:nvPr>
            <p:ph type="title"/>
          </p:nvPr>
        </p:nvSpPr>
        <p:spPr>
          <a:xfrm>
            <a:off x="1570961" y="979967"/>
            <a:ext cx="8617688" cy="685800"/>
          </a:xfrm>
        </p:spPr>
        <p:txBody>
          <a:bodyPr/>
          <a:lstStyle/>
          <a:p>
            <a:pPr eaLnBrk="1" hangingPunct="1"/>
            <a:r>
              <a:rPr lang="en-US" altLang="en-US" sz="3200" dirty="0">
                <a:latin typeface="Arial" panose="020B0604020202020204" pitchFamily="34" charset="0"/>
                <a:cs typeface="Arial" panose="020B0604020202020204" pitchFamily="34" charset="0"/>
              </a:rPr>
              <a:t>Direct Current (DC) Machines Fundamentals</a:t>
            </a:r>
          </a:p>
        </p:txBody>
      </p:sp>
      <p:sp>
        <p:nvSpPr>
          <p:cNvPr id="6148" name="Content Placeholder 2">
            <a:extLst>
              <a:ext uri="{FF2B5EF4-FFF2-40B4-BE49-F238E27FC236}">
                <a16:creationId xmlns:a16="http://schemas.microsoft.com/office/drawing/2014/main" id="{36B6FE3F-54C0-405E-A9CB-2CD2E9536A80}"/>
              </a:ext>
            </a:extLst>
          </p:cNvPr>
          <p:cNvSpPr>
            <a:spLocks noGrp="1"/>
          </p:cNvSpPr>
          <p:nvPr>
            <p:ph sz="quarter" idx="1"/>
          </p:nvPr>
        </p:nvSpPr>
        <p:spPr>
          <a:xfrm>
            <a:off x="698205" y="1830573"/>
            <a:ext cx="10363200" cy="4572000"/>
          </a:xfrm>
        </p:spPr>
        <p:txBody>
          <a:bodyPr/>
          <a:lstStyle/>
          <a:p>
            <a:pPr algn="just" eaLnBrk="1" hangingPunct="1"/>
            <a:r>
              <a:rPr lang="en-US" altLang="en-US" sz="3200" dirty="0">
                <a:solidFill>
                  <a:srgbClr val="FF0000"/>
                </a:solidFill>
                <a:latin typeface="Arial" panose="020B0604020202020204" pitchFamily="34" charset="0"/>
                <a:cs typeface="Arial" panose="020B0604020202020204" pitchFamily="34" charset="0"/>
              </a:rPr>
              <a:t>Generator action</a:t>
            </a:r>
            <a:r>
              <a:rPr lang="en-US" altLang="en-US" sz="3200" dirty="0">
                <a:latin typeface="Arial" panose="020B0604020202020204" pitchFamily="34" charset="0"/>
                <a:cs typeface="Arial" panose="020B0604020202020204" pitchFamily="34" charset="0"/>
              </a:rPr>
              <a:t>: </a:t>
            </a:r>
            <a:r>
              <a:rPr lang="en-US" altLang="en-US" sz="3200" dirty="0">
                <a:solidFill>
                  <a:srgbClr val="0070C0"/>
                </a:solidFill>
                <a:latin typeface="Arial" panose="020B0604020202020204" pitchFamily="34" charset="0"/>
                <a:cs typeface="Arial" panose="020B0604020202020204" pitchFamily="34" charset="0"/>
              </a:rPr>
              <a:t>An emf (voltage) is induced in a conductor if it moves through a magnetic field.</a:t>
            </a:r>
          </a:p>
          <a:p>
            <a:pPr algn="just" eaLnBrk="1" hangingPunct="1"/>
            <a:r>
              <a:rPr lang="en-US" altLang="en-US" sz="3200" dirty="0">
                <a:solidFill>
                  <a:srgbClr val="FF0000"/>
                </a:solidFill>
                <a:latin typeface="Arial" panose="020B0604020202020204" pitchFamily="34" charset="0"/>
                <a:cs typeface="Arial" panose="020B0604020202020204" pitchFamily="34" charset="0"/>
              </a:rPr>
              <a:t>Motor action</a:t>
            </a:r>
            <a:r>
              <a:rPr lang="en-US" altLang="en-US" sz="3200" dirty="0">
                <a:latin typeface="Arial" panose="020B0604020202020204" pitchFamily="34" charset="0"/>
                <a:cs typeface="Arial" panose="020B0604020202020204" pitchFamily="34" charset="0"/>
              </a:rPr>
              <a:t>: A force is induced in a conductor that has a current going through it and placed in a magnetic field.</a:t>
            </a:r>
          </a:p>
          <a:p>
            <a:pPr algn="just" eaLnBrk="1" hangingPunct="1"/>
            <a:r>
              <a:rPr lang="en-US" altLang="en-US" sz="3200" dirty="0">
                <a:solidFill>
                  <a:srgbClr val="0070C0"/>
                </a:solidFill>
                <a:latin typeface="Arial" panose="020B0604020202020204" pitchFamily="34" charset="0"/>
                <a:cs typeface="Arial" panose="020B0604020202020204" pitchFamily="34" charset="0"/>
              </a:rPr>
              <a:t>Any DC machine can act either as a generator or as a motor.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a:extLst>
              <a:ext uri="{FF2B5EF4-FFF2-40B4-BE49-F238E27FC236}">
                <a16:creationId xmlns:a16="http://schemas.microsoft.com/office/drawing/2014/main" id="{D831EB79-054F-4105-BA5B-B823E081C294}"/>
              </a:ext>
            </a:extLst>
          </p:cNvPr>
          <p:cNvSpPr>
            <a:spLocks noGrp="1"/>
          </p:cNvSpPr>
          <p:nvPr>
            <p:ph type="title"/>
          </p:nvPr>
        </p:nvSpPr>
        <p:spPr>
          <a:xfrm>
            <a:off x="3257107" y="800100"/>
            <a:ext cx="7772400" cy="685800"/>
          </a:xfrm>
        </p:spPr>
        <p:txBody>
          <a:bodyPr/>
          <a:lstStyle/>
          <a:p>
            <a:pPr eaLnBrk="1" hangingPunct="1"/>
            <a:r>
              <a:rPr lang="en-US" altLang="en-US" sz="3200" dirty="0"/>
              <a:t>DC Machine Construction</a:t>
            </a:r>
          </a:p>
        </p:txBody>
      </p:sp>
      <p:sp>
        <p:nvSpPr>
          <p:cNvPr id="3" name="Content Placeholder 2">
            <a:extLst>
              <a:ext uri="{FF2B5EF4-FFF2-40B4-BE49-F238E27FC236}">
                <a16:creationId xmlns:a16="http://schemas.microsoft.com/office/drawing/2014/main" id="{0B8550F5-9E28-4F47-B40C-5B49076CF787}"/>
              </a:ext>
            </a:extLst>
          </p:cNvPr>
          <p:cNvSpPr>
            <a:spLocks noGrp="1"/>
          </p:cNvSpPr>
          <p:nvPr>
            <p:ph sz="quarter" idx="1"/>
          </p:nvPr>
        </p:nvSpPr>
        <p:spPr>
          <a:xfrm>
            <a:off x="202019" y="1447800"/>
            <a:ext cx="7134446" cy="5029200"/>
          </a:xfrm>
        </p:spPr>
        <p:txBody>
          <a:bodyPr>
            <a:normAutofit/>
          </a:bodyPr>
          <a:lstStyle/>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stator of the dc machine has poles, which are excited by either dc current or permanent magnets to produce magnetic fields. </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In the neutral zone, in the middle between the poles, commutating poles are placed to reduce sparking of the </a:t>
            </a:r>
            <a:r>
              <a:rPr lang="en-US" dirty="0" err="1">
                <a:latin typeface="Arial" panose="020B0604020202020204" pitchFamily="34" charset="0"/>
                <a:cs typeface="Arial" panose="020B0604020202020204" pitchFamily="34" charset="0"/>
              </a:rPr>
              <a:t>commutator</a:t>
            </a:r>
            <a:r>
              <a:rPr lang="en-US" dirty="0">
                <a:latin typeface="Arial" panose="020B0604020202020204" pitchFamily="34" charset="0"/>
                <a:cs typeface="Arial" panose="020B0604020202020204" pitchFamily="34" charset="0"/>
              </a:rPr>
              <a:t>.  </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Compensating windings are mounted on the main poles.  These reduces flux weakening commutation problems. </a:t>
            </a:r>
          </a:p>
          <a:p>
            <a:pPr marL="548640" lvl="1" algn="just">
              <a:spcBef>
                <a:spcPts val="370"/>
              </a:spcBef>
              <a:buNone/>
              <a:defRPr/>
            </a:pPr>
            <a:endParaRPr lang="en-GB" sz="3200" dirty="0"/>
          </a:p>
        </p:txBody>
      </p:sp>
      <p:sp>
        <p:nvSpPr>
          <p:cNvPr id="14341" name="Rectangle 4">
            <a:extLst>
              <a:ext uri="{FF2B5EF4-FFF2-40B4-BE49-F238E27FC236}">
                <a16:creationId xmlns:a16="http://schemas.microsoft.com/office/drawing/2014/main" id="{3B1A081C-30B1-4EFA-BE5A-134A116E1B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4342" name="Rectangle 6">
            <a:extLst>
              <a:ext uri="{FF2B5EF4-FFF2-40B4-BE49-F238E27FC236}">
                <a16:creationId xmlns:a16="http://schemas.microsoft.com/office/drawing/2014/main" id="{73B74F3A-6D22-47F2-A34D-EB5B7470066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4343" name="Rectangle 8">
            <a:extLst>
              <a:ext uri="{FF2B5EF4-FFF2-40B4-BE49-F238E27FC236}">
                <a16:creationId xmlns:a16="http://schemas.microsoft.com/office/drawing/2014/main" id="{D221DFFC-662A-4B48-9B44-54FB24AE9A96}"/>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4344" name="Rectangle 9">
            <a:extLst>
              <a:ext uri="{FF2B5EF4-FFF2-40B4-BE49-F238E27FC236}">
                <a16:creationId xmlns:a16="http://schemas.microsoft.com/office/drawing/2014/main" id="{342ED4CF-5DA2-459B-B586-64938CA6B999}"/>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9" name="Picture 7">
            <a:extLst>
              <a:ext uri="{FF2B5EF4-FFF2-40B4-BE49-F238E27FC236}">
                <a16:creationId xmlns:a16="http://schemas.microsoft.com/office/drawing/2014/main" id="{47837B93-32CB-4C7F-A4A7-354805532ED3}"/>
              </a:ext>
            </a:extLst>
          </p:cNvPr>
          <p:cNvPicPr>
            <a:picLocks noChangeAspect="1" noChangeArrowheads="1"/>
          </p:cNvPicPr>
          <p:nvPr/>
        </p:nvPicPr>
        <p:blipFill>
          <a:blip r:embed="rId2">
            <a:duotone>
              <a:prstClr val="black"/>
              <a:schemeClr val="tx2">
                <a:tint val="45000"/>
                <a:satMod val="400000"/>
              </a:schemeClr>
            </a:duotone>
          </a:blip>
          <a:srcRect/>
          <a:stretch>
            <a:fillRect/>
          </a:stretch>
        </p:blipFill>
        <p:spPr>
          <a:xfrm>
            <a:off x="7336465" y="1485900"/>
            <a:ext cx="4750559" cy="440010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a:extLst>
              <a:ext uri="{FF2B5EF4-FFF2-40B4-BE49-F238E27FC236}">
                <a16:creationId xmlns:a16="http://schemas.microsoft.com/office/drawing/2014/main" id="{794E7CCE-0A7C-45F3-B862-0F6560EDD8F6}"/>
              </a:ext>
            </a:extLst>
          </p:cNvPr>
          <p:cNvSpPr>
            <a:spLocks noGrp="1"/>
          </p:cNvSpPr>
          <p:nvPr>
            <p:ph type="title"/>
          </p:nvPr>
        </p:nvSpPr>
        <p:spPr>
          <a:xfrm>
            <a:off x="2108790" y="873383"/>
            <a:ext cx="7772400" cy="685800"/>
          </a:xfrm>
        </p:spPr>
        <p:txBody>
          <a:bodyPr/>
          <a:lstStyle/>
          <a:p>
            <a:pPr eaLnBrk="1" hangingPunct="1"/>
            <a:r>
              <a:rPr lang="en-US" altLang="en-US" sz="3200" dirty="0"/>
              <a:t>DC Machine Construction</a:t>
            </a:r>
          </a:p>
        </p:txBody>
      </p:sp>
      <p:sp>
        <p:nvSpPr>
          <p:cNvPr id="3" name="Content Placeholder 2">
            <a:extLst>
              <a:ext uri="{FF2B5EF4-FFF2-40B4-BE49-F238E27FC236}">
                <a16:creationId xmlns:a16="http://schemas.microsoft.com/office/drawing/2014/main" id="{54EF8C9C-64A2-48C5-962A-D4EAEE953448}"/>
              </a:ext>
            </a:extLst>
          </p:cNvPr>
          <p:cNvSpPr>
            <a:spLocks noGrp="1"/>
          </p:cNvSpPr>
          <p:nvPr>
            <p:ph sz="quarter" idx="1"/>
          </p:nvPr>
        </p:nvSpPr>
        <p:spPr>
          <a:xfrm>
            <a:off x="350874" y="1447800"/>
            <a:ext cx="7910624" cy="5029200"/>
          </a:xfrm>
        </p:spPr>
        <p:txBody>
          <a:bodyPr>
            <a:normAutofit/>
          </a:bodyPr>
          <a:lstStyle/>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poles are mounted on an iron core that provides a closed magnetic circuit.</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rotor has a ring-shaped laminated iron core with slots.</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Coils with several turns are placed in the slots.  The distance between the two legs of the coil is about 180 electric degrees. </a:t>
            </a:r>
            <a:endParaRPr lang="en-GB" sz="3200" dirty="0">
              <a:latin typeface="Arial" panose="020B0604020202020204" pitchFamily="34" charset="0"/>
              <a:cs typeface="Arial" panose="020B0604020202020204" pitchFamily="34" charset="0"/>
            </a:endParaRPr>
          </a:p>
        </p:txBody>
      </p:sp>
      <p:sp>
        <p:nvSpPr>
          <p:cNvPr id="15365" name="Rectangle 4">
            <a:extLst>
              <a:ext uri="{FF2B5EF4-FFF2-40B4-BE49-F238E27FC236}">
                <a16:creationId xmlns:a16="http://schemas.microsoft.com/office/drawing/2014/main" id="{BC19DE43-9C3F-4218-A9FD-97C1836219B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5366" name="Rectangle 6">
            <a:extLst>
              <a:ext uri="{FF2B5EF4-FFF2-40B4-BE49-F238E27FC236}">
                <a16:creationId xmlns:a16="http://schemas.microsoft.com/office/drawing/2014/main" id="{B8C7BB74-53BC-453D-9860-7AD54F0EC9F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5367" name="Rectangle 8">
            <a:extLst>
              <a:ext uri="{FF2B5EF4-FFF2-40B4-BE49-F238E27FC236}">
                <a16:creationId xmlns:a16="http://schemas.microsoft.com/office/drawing/2014/main" id="{F011997B-DD26-4514-BA9C-41A2C7ACB447}"/>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5368" name="Rectangle 9">
            <a:extLst>
              <a:ext uri="{FF2B5EF4-FFF2-40B4-BE49-F238E27FC236}">
                <a16:creationId xmlns:a16="http://schemas.microsoft.com/office/drawing/2014/main" id="{BFCAA05B-7ACF-4745-898A-F9D5B6C13804}"/>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5369" name="Picture 4" descr="Fig8">
            <a:extLst>
              <a:ext uri="{FF2B5EF4-FFF2-40B4-BE49-F238E27FC236}">
                <a16:creationId xmlns:a16="http://schemas.microsoft.com/office/drawing/2014/main" id="{F89E90F6-EC8E-439A-9481-387069171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3251" y="1858962"/>
            <a:ext cx="35290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a:extLst>
              <a:ext uri="{FF2B5EF4-FFF2-40B4-BE49-F238E27FC236}">
                <a16:creationId xmlns:a16="http://schemas.microsoft.com/office/drawing/2014/main" id="{6AAF184C-B31E-402B-961F-5F962DD16A6B}"/>
              </a:ext>
            </a:extLst>
          </p:cNvPr>
          <p:cNvSpPr>
            <a:spLocks noGrp="1"/>
          </p:cNvSpPr>
          <p:nvPr>
            <p:ph type="title"/>
          </p:nvPr>
        </p:nvSpPr>
        <p:spPr>
          <a:xfrm>
            <a:off x="2425700" y="800100"/>
            <a:ext cx="7772400" cy="685800"/>
          </a:xfrm>
        </p:spPr>
        <p:txBody>
          <a:bodyPr/>
          <a:lstStyle/>
          <a:p>
            <a:pPr eaLnBrk="1" hangingPunct="1"/>
            <a:r>
              <a:rPr lang="en-US" altLang="en-US" sz="3200" dirty="0"/>
              <a:t>DC Machine Construction</a:t>
            </a:r>
          </a:p>
        </p:txBody>
      </p:sp>
      <p:sp>
        <p:nvSpPr>
          <p:cNvPr id="3" name="Content Placeholder 2">
            <a:extLst>
              <a:ext uri="{FF2B5EF4-FFF2-40B4-BE49-F238E27FC236}">
                <a16:creationId xmlns:a16="http://schemas.microsoft.com/office/drawing/2014/main" id="{DF913053-7D77-4EB5-9600-23D873CF9D3A}"/>
              </a:ext>
            </a:extLst>
          </p:cNvPr>
          <p:cNvSpPr>
            <a:spLocks noGrp="1"/>
          </p:cNvSpPr>
          <p:nvPr>
            <p:ph sz="quarter" idx="1"/>
          </p:nvPr>
        </p:nvSpPr>
        <p:spPr>
          <a:xfrm>
            <a:off x="233915" y="1447800"/>
            <a:ext cx="7772399" cy="5029200"/>
          </a:xfrm>
        </p:spPr>
        <p:txBody>
          <a:bodyPr>
            <a:normAutofit lnSpcReduction="10000"/>
          </a:bodyPr>
          <a:lstStyle/>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rotor coils are connected in series through the </a:t>
            </a:r>
            <a:r>
              <a:rPr lang="en-US" dirty="0" err="1">
                <a:solidFill>
                  <a:srgbClr val="0070C0"/>
                </a:solidFill>
                <a:latin typeface="Arial" panose="020B0604020202020204" pitchFamily="34" charset="0"/>
                <a:cs typeface="Arial" panose="020B0604020202020204" pitchFamily="34" charset="0"/>
              </a:rPr>
              <a:t>commutator</a:t>
            </a:r>
            <a:r>
              <a:rPr lang="en-US" dirty="0">
                <a:solidFill>
                  <a:srgbClr val="0070C0"/>
                </a:solidFill>
                <a:latin typeface="Arial" panose="020B0604020202020204" pitchFamily="34" charset="0"/>
                <a:cs typeface="Arial" panose="020B0604020202020204" pitchFamily="34" charset="0"/>
              </a:rPr>
              <a:t> segments. </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ends of each coil are connected to a </a:t>
            </a:r>
            <a:r>
              <a:rPr lang="en-US" dirty="0" err="1">
                <a:latin typeface="Arial" panose="020B0604020202020204" pitchFamily="34" charset="0"/>
                <a:cs typeface="Arial" panose="020B0604020202020204" pitchFamily="34" charset="0"/>
              </a:rPr>
              <a:t>commutator</a:t>
            </a:r>
            <a:r>
              <a:rPr lang="en-US" dirty="0">
                <a:latin typeface="Arial" panose="020B0604020202020204" pitchFamily="34" charset="0"/>
                <a:cs typeface="Arial" panose="020B0604020202020204" pitchFamily="34" charset="0"/>
              </a:rPr>
              <a:t> segment.</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a:t>
            </a:r>
            <a:r>
              <a:rPr lang="en-US" dirty="0" err="1">
                <a:solidFill>
                  <a:srgbClr val="0070C0"/>
                </a:solidFill>
                <a:latin typeface="Arial" panose="020B0604020202020204" pitchFamily="34" charset="0"/>
                <a:cs typeface="Arial" panose="020B0604020202020204" pitchFamily="34" charset="0"/>
              </a:rPr>
              <a:t>commutator</a:t>
            </a:r>
            <a:r>
              <a:rPr lang="en-US" dirty="0">
                <a:solidFill>
                  <a:srgbClr val="0070C0"/>
                </a:solidFill>
                <a:latin typeface="Arial" panose="020B0604020202020204" pitchFamily="34" charset="0"/>
                <a:cs typeface="Arial" panose="020B0604020202020204" pitchFamily="34" charset="0"/>
              </a:rPr>
              <a:t> consists of insulated copper segments mounted on an insulated tube. </a:t>
            </a:r>
          </a:p>
          <a:p>
            <a:pPr marL="274320" indent="-274320" algn="just">
              <a:spcBef>
                <a:spcPts val="580"/>
              </a:spcBef>
              <a:buFont typeface="Wingdings 2"/>
              <a:buChar char=""/>
              <a:defRPr/>
            </a:pPr>
            <a:endParaRPr lang="en-US" dirty="0">
              <a:solidFill>
                <a:srgbClr val="0070C0"/>
              </a:solidFill>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Two brushes are pressed to the </a:t>
            </a:r>
            <a:r>
              <a:rPr lang="en-US" dirty="0" err="1">
                <a:latin typeface="Arial" panose="020B0604020202020204" pitchFamily="34" charset="0"/>
                <a:cs typeface="Arial" panose="020B0604020202020204" pitchFamily="34" charset="0"/>
              </a:rPr>
              <a:t>commutator</a:t>
            </a:r>
            <a:r>
              <a:rPr lang="en-US" dirty="0">
                <a:latin typeface="Arial" panose="020B0604020202020204" pitchFamily="34" charset="0"/>
                <a:cs typeface="Arial" panose="020B0604020202020204" pitchFamily="34" charset="0"/>
              </a:rPr>
              <a:t> to permit current flow and they are placed in neutral zone.</a:t>
            </a:r>
          </a:p>
        </p:txBody>
      </p:sp>
      <p:sp>
        <p:nvSpPr>
          <p:cNvPr id="16389" name="Rectangle 4">
            <a:extLst>
              <a:ext uri="{FF2B5EF4-FFF2-40B4-BE49-F238E27FC236}">
                <a16:creationId xmlns:a16="http://schemas.microsoft.com/office/drawing/2014/main" id="{F20C0CC3-287E-4028-AFAD-2ECED61CD40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6390" name="Rectangle 6">
            <a:extLst>
              <a:ext uri="{FF2B5EF4-FFF2-40B4-BE49-F238E27FC236}">
                <a16:creationId xmlns:a16="http://schemas.microsoft.com/office/drawing/2014/main" id="{99D0A950-6306-4AAD-B57D-F7969DD56D1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6391" name="Rectangle 8">
            <a:extLst>
              <a:ext uri="{FF2B5EF4-FFF2-40B4-BE49-F238E27FC236}">
                <a16:creationId xmlns:a16="http://schemas.microsoft.com/office/drawing/2014/main" id="{65F71765-5EC9-4ECC-8523-863C43C70624}"/>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6392" name="Rectangle 9">
            <a:extLst>
              <a:ext uri="{FF2B5EF4-FFF2-40B4-BE49-F238E27FC236}">
                <a16:creationId xmlns:a16="http://schemas.microsoft.com/office/drawing/2014/main" id="{AFF5682B-6E57-4547-AE6D-3839D409C4B5}"/>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6393" name="Picture 7" descr="Fig7">
            <a:extLst>
              <a:ext uri="{FF2B5EF4-FFF2-40B4-BE49-F238E27FC236}">
                <a16:creationId xmlns:a16="http://schemas.microsoft.com/office/drawing/2014/main" id="{E516B774-9B21-4A23-8CD8-0312421557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3900" y="1098697"/>
            <a:ext cx="37084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94" name="Object 2">
            <a:extLst>
              <a:ext uri="{FF2B5EF4-FFF2-40B4-BE49-F238E27FC236}">
                <a16:creationId xmlns:a16="http://schemas.microsoft.com/office/drawing/2014/main" id="{C56055B3-7974-4925-BF48-F28F38D65426}"/>
              </a:ext>
            </a:extLst>
          </p:cNvPr>
          <p:cNvGraphicFramePr>
            <a:graphicFrameLocks noChangeAspect="1"/>
          </p:cNvGraphicFramePr>
          <p:nvPr>
            <p:extLst>
              <p:ext uri="{D42A27DB-BD31-4B8C-83A1-F6EECF244321}">
                <p14:modId xmlns:p14="http://schemas.microsoft.com/office/powerpoint/2010/main" val="3685320336"/>
              </p:ext>
            </p:extLst>
          </p:nvPr>
        </p:nvGraphicFramePr>
        <p:xfrm>
          <a:off x="8544146" y="3822847"/>
          <a:ext cx="2876107" cy="2891642"/>
        </p:xfrm>
        <a:graphic>
          <a:graphicData uri="http://schemas.openxmlformats.org/presentationml/2006/ole">
            <mc:AlternateContent xmlns:mc="http://schemas.openxmlformats.org/markup-compatibility/2006">
              <mc:Choice xmlns:v="urn:schemas-microsoft-com:vml" Requires="v">
                <p:oleObj name="Visio" r:id="rId3" imgW="3557500" imgH="3572121" progId="Visio.Drawing.6">
                  <p:embed/>
                </p:oleObj>
              </mc:Choice>
              <mc:Fallback>
                <p:oleObj name="Visio" r:id="rId3" imgW="3557500" imgH="3572121" progId="Visio.Drawing.6">
                  <p:embed/>
                  <p:pic>
                    <p:nvPicPr>
                      <p:cNvPr id="16394" name="Object 2">
                        <a:extLst>
                          <a:ext uri="{FF2B5EF4-FFF2-40B4-BE49-F238E27FC236}">
                            <a16:creationId xmlns:a16="http://schemas.microsoft.com/office/drawing/2014/main" id="{C56055B3-7974-4925-BF48-F28F38D654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4146" y="3822847"/>
                        <a:ext cx="2876107" cy="2891642"/>
                      </a:xfrm>
                      <a:prstGeom prst="rect">
                        <a:avLst/>
                      </a:prstGeom>
                      <a:noFill/>
                      <a:ln>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a:extLst>
              <a:ext uri="{FF2B5EF4-FFF2-40B4-BE49-F238E27FC236}">
                <a16:creationId xmlns:a16="http://schemas.microsoft.com/office/drawing/2014/main" id="{08F9246F-A0B5-44AB-A6E1-A97D6D0F8434}"/>
              </a:ext>
            </a:extLst>
          </p:cNvPr>
          <p:cNvSpPr>
            <a:spLocks noGrp="1"/>
          </p:cNvSpPr>
          <p:nvPr>
            <p:ph type="title"/>
          </p:nvPr>
        </p:nvSpPr>
        <p:spPr>
          <a:xfrm>
            <a:off x="2310809" y="707878"/>
            <a:ext cx="7772400" cy="685800"/>
          </a:xfrm>
        </p:spPr>
        <p:txBody>
          <a:bodyPr/>
          <a:lstStyle/>
          <a:p>
            <a:pPr eaLnBrk="1" hangingPunct="1"/>
            <a:r>
              <a:rPr lang="en-US" altLang="en-US" sz="3200" dirty="0"/>
              <a:t>DC Machine Construction</a:t>
            </a:r>
          </a:p>
        </p:txBody>
      </p:sp>
      <p:sp>
        <p:nvSpPr>
          <p:cNvPr id="3" name="Content Placeholder 2">
            <a:extLst>
              <a:ext uri="{FF2B5EF4-FFF2-40B4-BE49-F238E27FC236}">
                <a16:creationId xmlns:a16="http://schemas.microsoft.com/office/drawing/2014/main" id="{437EEE1B-056B-42BA-A1DE-7B1ABEE9E260}"/>
              </a:ext>
            </a:extLst>
          </p:cNvPr>
          <p:cNvSpPr>
            <a:spLocks noGrp="1"/>
          </p:cNvSpPr>
          <p:nvPr>
            <p:ph sz="quarter" idx="1"/>
          </p:nvPr>
        </p:nvSpPr>
        <p:spPr>
          <a:xfrm>
            <a:off x="147301" y="1213366"/>
            <a:ext cx="6921795" cy="5029200"/>
          </a:xfrm>
        </p:spPr>
        <p:txBody>
          <a:bodyPr>
            <a:normAutofit fontScale="92500" lnSpcReduction="10000"/>
          </a:bodyPr>
          <a:lstStyle/>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rotor coils are connected in series through the </a:t>
            </a:r>
            <a:r>
              <a:rPr lang="en-US" dirty="0" err="1">
                <a:solidFill>
                  <a:srgbClr val="0070C0"/>
                </a:solidFill>
                <a:latin typeface="Arial" panose="020B0604020202020204" pitchFamily="34" charset="0"/>
                <a:cs typeface="Arial" panose="020B0604020202020204" pitchFamily="34" charset="0"/>
              </a:rPr>
              <a:t>commutator</a:t>
            </a:r>
            <a:r>
              <a:rPr lang="en-US" dirty="0">
                <a:solidFill>
                  <a:srgbClr val="0070C0"/>
                </a:solidFill>
                <a:latin typeface="Arial" panose="020B0604020202020204" pitchFamily="34" charset="0"/>
                <a:cs typeface="Arial" panose="020B0604020202020204" pitchFamily="34" charset="0"/>
              </a:rPr>
              <a:t> segments. </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ends of each coil are connected to a </a:t>
            </a:r>
            <a:r>
              <a:rPr lang="en-US" dirty="0" err="1">
                <a:latin typeface="Arial" panose="020B0604020202020204" pitchFamily="34" charset="0"/>
                <a:cs typeface="Arial" panose="020B0604020202020204" pitchFamily="34" charset="0"/>
              </a:rPr>
              <a:t>commutator</a:t>
            </a:r>
            <a:r>
              <a:rPr lang="en-US" dirty="0">
                <a:latin typeface="Arial" panose="020B0604020202020204" pitchFamily="34" charset="0"/>
                <a:cs typeface="Arial" panose="020B0604020202020204" pitchFamily="34" charset="0"/>
              </a:rPr>
              <a:t> segment.</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solidFill>
                  <a:srgbClr val="0070C0"/>
                </a:solidFill>
                <a:latin typeface="Arial" panose="020B0604020202020204" pitchFamily="34" charset="0"/>
                <a:cs typeface="Arial" panose="020B0604020202020204" pitchFamily="34" charset="0"/>
              </a:rPr>
              <a:t>The </a:t>
            </a:r>
            <a:r>
              <a:rPr lang="en-US" dirty="0" err="1">
                <a:solidFill>
                  <a:srgbClr val="0070C0"/>
                </a:solidFill>
                <a:latin typeface="Arial" panose="020B0604020202020204" pitchFamily="34" charset="0"/>
                <a:cs typeface="Arial" panose="020B0604020202020204" pitchFamily="34" charset="0"/>
              </a:rPr>
              <a:t>commutator</a:t>
            </a:r>
            <a:r>
              <a:rPr lang="en-US" dirty="0">
                <a:solidFill>
                  <a:srgbClr val="0070C0"/>
                </a:solidFill>
                <a:latin typeface="Arial" panose="020B0604020202020204" pitchFamily="34" charset="0"/>
                <a:cs typeface="Arial" panose="020B0604020202020204" pitchFamily="34" charset="0"/>
              </a:rPr>
              <a:t> consists of insulated copper segments mounted on an insulated tube. </a:t>
            </a:r>
          </a:p>
          <a:p>
            <a:pPr marL="274320" indent="-274320" algn="just">
              <a:spcBef>
                <a:spcPts val="580"/>
              </a:spcBef>
              <a:buFont typeface="Wingdings 2"/>
              <a:buChar char=""/>
              <a:defRPr/>
            </a:pPr>
            <a:endParaRPr lang="en-US" dirty="0">
              <a:solidFill>
                <a:srgbClr val="0070C0"/>
              </a:solidFill>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Two brushes are pressed to the </a:t>
            </a:r>
            <a:r>
              <a:rPr lang="en-US" dirty="0" err="1">
                <a:latin typeface="Arial" panose="020B0604020202020204" pitchFamily="34" charset="0"/>
                <a:cs typeface="Arial" panose="020B0604020202020204" pitchFamily="34" charset="0"/>
              </a:rPr>
              <a:t>commutator</a:t>
            </a:r>
            <a:r>
              <a:rPr lang="en-US" dirty="0">
                <a:latin typeface="Arial" panose="020B0604020202020204" pitchFamily="34" charset="0"/>
                <a:cs typeface="Arial" panose="020B0604020202020204" pitchFamily="34" charset="0"/>
              </a:rPr>
              <a:t> to permit current flow and they are placed in neutral zone.</a:t>
            </a:r>
          </a:p>
        </p:txBody>
      </p:sp>
      <p:sp>
        <p:nvSpPr>
          <p:cNvPr id="17413" name="Rectangle 4">
            <a:extLst>
              <a:ext uri="{FF2B5EF4-FFF2-40B4-BE49-F238E27FC236}">
                <a16:creationId xmlns:a16="http://schemas.microsoft.com/office/drawing/2014/main" id="{E6A4435B-D834-4FB3-A04A-A348562EE9B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7414" name="Rectangle 6">
            <a:extLst>
              <a:ext uri="{FF2B5EF4-FFF2-40B4-BE49-F238E27FC236}">
                <a16:creationId xmlns:a16="http://schemas.microsoft.com/office/drawing/2014/main" id="{4D201104-EA8E-4349-AAC0-54BC44E44A5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7415" name="Rectangle 8">
            <a:extLst>
              <a:ext uri="{FF2B5EF4-FFF2-40B4-BE49-F238E27FC236}">
                <a16:creationId xmlns:a16="http://schemas.microsoft.com/office/drawing/2014/main" id="{2BA02359-53B0-4D14-A110-13E6E15DE14A}"/>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7416" name="Rectangle 9">
            <a:extLst>
              <a:ext uri="{FF2B5EF4-FFF2-40B4-BE49-F238E27FC236}">
                <a16:creationId xmlns:a16="http://schemas.microsoft.com/office/drawing/2014/main" id="{DE0557B3-E57E-42AC-93E2-86C7D71E372A}"/>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graphicFrame>
        <p:nvGraphicFramePr>
          <p:cNvPr id="17417" name="Object 2">
            <a:extLst>
              <a:ext uri="{FF2B5EF4-FFF2-40B4-BE49-F238E27FC236}">
                <a16:creationId xmlns:a16="http://schemas.microsoft.com/office/drawing/2014/main" id="{B93E46FA-C4C7-4FCD-84A2-BA75B2EF0193}"/>
              </a:ext>
            </a:extLst>
          </p:cNvPr>
          <p:cNvGraphicFramePr>
            <a:graphicFrameLocks noChangeAspect="1"/>
          </p:cNvGraphicFramePr>
          <p:nvPr>
            <p:extLst>
              <p:ext uri="{D42A27DB-BD31-4B8C-83A1-F6EECF244321}">
                <p14:modId xmlns:p14="http://schemas.microsoft.com/office/powerpoint/2010/main" val="1528311448"/>
              </p:ext>
            </p:extLst>
          </p:nvPr>
        </p:nvGraphicFramePr>
        <p:xfrm>
          <a:off x="8091376" y="3327990"/>
          <a:ext cx="3425457" cy="3443873"/>
        </p:xfrm>
        <a:graphic>
          <a:graphicData uri="http://schemas.openxmlformats.org/presentationml/2006/ole">
            <mc:AlternateContent xmlns:mc="http://schemas.openxmlformats.org/markup-compatibility/2006">
              <mc:Choice xmlns:v="urn:schemas-microsoft-com:vml" Requires="v">
                <p:oleObj name="Visio" r:id="rId2" imgW="3557500" imgH="3572121" progId="Visio.Drawing.6">
                  <p:embed/>
                </p:oleObj>
              </mc:Choice>
              <mc:Fallback>
                <p:oleObj name="Visio" r:id="rId2" imgW="3557500" imgH="3572121" progId="Visio.Drawing.6">
                  <p:embed/>
                  <p:pic>
                    <p:nvPicPr>
                      <p:cNvPr id="17417" name="Object 2">
                        <a:extLst>
                          <a:ext uri="{FF2B5EF4-FFF2-40B4-BE49-F238E27FC236}">
                            <a16:creationId xmlns:a16="http://schemas.microsoft.com/office/drawing/2014/main" id="{B93E46FA-C4C7-4FCD-84A2-BA75B2EF0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1376" y="3327990"/>
                        <a:ext cx="3425457" cy="3443873"/>
                      </a:xfrm>
                      <a:prstGeom prst="rect">
                        <a:avLst/>
                      </a:prstGeom>
                      <a:noFill/>
                      <a:ln>
                        <a:noFill/>
                      </a:ln>
                    </p:spPr>
                  </p:pic>
                </p:oleObj>
              </mc:Fallback>
            </mc:AlternateContent>
          </a:graphicData>
        </a:graphic>
      </p:graphicFrame>
      <p:pic>
        <p:nvPicPr>
          <p:cNvPr id="17418" name="Picture 4" descr="Fig7">
            <a:extLst>
              <a:ext uri="{FF2B5EF4-FFF2-40B4-BE49-F238E27FC236}">
                <a16:creationId xmlns:a16="http://schemas.microsoft.com/office/drawing/2014/main" id="{BAAA8E32-E816-4BD3-A723-4F24ACD36A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599" y="800099"/>
            <a:ext cx="4666876" cy="2527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B01C2F0-8210-4B5E-605B-4D488FC84CA6}"/>
              </a:ext>
            </a:extLst>
          </p:cNvPr>
          <p:cNvPicPr>
            <a:picLocks noChangeAspect="1"/>
          </p:cNvPicPr>
          <p:nvPr/>
        </p:nvPicPr>
        <p:blipFill>
          <a:blip r:embed="rId2"/>
          <a:stretch>
            <a:fillRect/>
          </a:stretch>
        </p:blipFill>
        <p:spPr>
          <a:xfrm>
            <a:off x="604284" y="1506027"/>
            <a:ext cx="8240275" cy="3877216"/>
          </a:xfrm>
          <a:prstGeom prst="rect">
            <a:avLst/>
          </a:prstGeom>
        </p:spPr>
      </p:pic>
      <p:pic>
        <p:nvPicPr>
          <p:cNvPr id="9" name="Picture 8">
            <a:extLst>
              <a:ext uri="{FF2B5EF4-FFF2-40B4-BE49-F238E27FC236}">
                <a16:creationId xmlns:a16="http://schemas.microsoft.com/office/drawing/2014/main" id="{8A17D23D-42A7-13C3-FB01-81741E9CFAA6}"/>
              </a:ext>
            </a:extLst>
          </p:cNvPr>
          <p:cNvPicPr>
            <a:picLocks noChangeAspect="1"/>
          </p:cNvPicPr>
          <p:nvPr/>
        </p:nvPicPr>
        <p:blipFill>
          <a:blip r:embed="rId3"/>
          <a:stretch>
            <a:fillRect/>
          </a:stretch>
        </p:blipFill>
        <p:spPr>
          <a:xfrm>
            <a:off x="1890823" y="5351973"/>
            <a:ext cx="6354062" cy="952633"/>
          </a:xfrm>
          <a:prstGeom prst="rect">
            <a:avLst/>
          </a:prstGeom>
        </p:spPr>
      </p:pic>
      <p:sp>
        <p:nvSpPr>
          <p:cNvPr id="10" name="Title 1">
            <a:extLst>
              <a:ext uri="{FF2B5EF4-FFF2-40B4-BE49-F238E27FC236}">
                <a16:creationId xmlns:a16="http://schemas.microsoft.com/office/drawing/2014/main" id="{D68DF77E-80C0-1C39-7D10-089616B34D92}"/>
              </a:ext>
            </a:extLst>
          </p:cNvPr>
          <p:cNvSpPr>
            <a:spLocks noGrp="1"/>
          </p:cNvSpPr>
          <p:nvPr>
            <p:ph type="title"/>
          </p:nvPr>
        </p:nvSpPr>
        <p:spPr>
          <a:xfrm>
            <a:off x="2536747" y="896679"/>
            <a:ext cx="7772400" cy="685800"/>
          </a:xfrm>
        </p:spPr>
        <p:txBody>
          <a:bodyPr/>
          <a:lstStyle/>
          <a:p>
            <a:pPr eaLnBrk="1" hangingPunct="1"/>
            <a:r>
              <a:rPr lang="en-US" altLang="en-US" sz="3200" dirty="0"/>
              <a:t>EMF Equation of DC Generator</a:t>
            </a:r>
          </a:p>
        </p:txBody>
      </p:sp>
    </p:spTree>
    <p:extLst>
      <p:ext uri="{BB962C8B-B14F-4D97-AF65-F5344CB8AC3E}">
        <p14:creationId xmlns:p14="http://schemas.microsoft.com/office/powerpoint/2010/main" val="165558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47E27C-5871-6CF3-3E44-5E136A803311}"/>
              </a:ext>
            </a:extLst>
          </p:cNvPr>
          <p:cNvPicPr>
            <a:picLocks noChangeAspect="1"/>
          </p:cNvPicPr>
          <p:nvPr/>
        </p:nvPicPr>
        <p:blipFill>
          <a:blip r:embed="rId2"/>
          <a:stretch>
            <a:fillRect/>
          </a:stretch>
        </p:blipFill>
        <p:spPr>
          <a:xfrm>
            <a:off x="2286000" y="990600"/>
            <a:ext cx="6582694" cy="3886742"/>
          </a:xfrm>
          <a:prstGeom prst="rect">
            <a:avLst/>
          </a:prstGeom>
        </p:spPr>
      </p:pic>
    </p:spTree>
    <p:extLst>
      <p:ext uri="{BB962C8B-B14F-4D97-AF65-F5344CB8AC3E}">
        <p14:creationId xmlns:p14="http://schemas.microsoft.com/office/powerpoint/2010/main" val="21260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39B109-C894-862F-B77F-3AD1BBACF3EB}"/>
              </a:ext>
            </a:extLst>
          </p:cNvPr>
          <p:cNvPicPr>
            <a:picLocks noChangeAspect="1"/>
          </p:cNvPicPr>
          <p:nvPr/>
        </p:nvPicPr>
        <p:blipFill>
          <a:blip r:embed="rId2"/>
          <a:stretch>
            <a:fillRect/>
          </a:stretch>
        </p:blipFill>
        <p:spPr>
          <a:xfrm>
            <a:off x="2376376" y="1345019"/>
            <a:ext cx="6373114" cy="4686954"/>
          </a:xfrm>
          <a:prstGeom prst="rect">
            <a:avLst/>
          </a:prstGeom>
        </p:spPr>
      </p:pic>
    </p:spTree>
    <p:extLst>
      <p:ext uri="{BB962C8B-B14F-4D97-AF65-F5344CB8AC3E}">
        <p14:creationId xmlns:p14="http://schemas.microsoft.com/office/powerpoint/2010/main" val="415662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270025-6684-0B27-D11B-F1C55C98C2B6}"/>
              </a:ext>
            </a:extLst>
          </p:cNvPr>
          <p:cNvPicPr>
            <a:picLocks noChangeAspect="1"/>
          </p:cNvPicPr>
          <p:nvPr/>
        </p:nvPicPr>
        <p:blipFill>
          <a:blip r:embed="rId2"/>
          <a:stretch>
            <a:fillRect/>
          </a:stretch>
        </p:blipFill>
        <p:spPr>
          <a:xfrm>
            <a:off x="2971364" y="999786"/>
            <a:ext cx="6249272" cy="4858428"/>
          </a:xfrm>
          <a:prstGeom prst="rect">
            <a:avLst/>
          </a:prstGeom>
        </p:spPr>
      </p:pic>
    </p:spTree>
    <p:extLst>
      <p:ext uri="{BB962C8B-B14F-4D97-AF65-F5344CB8AC3E}">
        <p14:creationId xmlns:p14="http://schemas.microsoft.com/office/powerpoint/2010/main" val="350801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853D-2A16-0FFF-7181-63A2C1CB0FE8}"/>
            </a:ext>
          </a:extLst>
        </p:cNvPr>
        <p:cNvGrpSpPr/>
        <p:nvPr/>
      </p:nvGrpSpPr>
      <p:grpSpPr>
        <a:xfrm>
          <a:off x="0" y="0"/>
          <a:ext cx="0" cy="0"/>
          <a:chOff x="0" y="0"/>
          <a:chExt cx="0" cy="0"/>
        </a:xfrm>
      </p:grpSpPr>
      <p:sp>
        <p:nvSpPr>
          <p:cNvPr id="32771" name="Title 1">
            <a:extLst>
              <a:ext uri="{FF2B5EF4-FFF2-40B4-BE49-F238E27FC236}">
                <a16:creationId xmlns:a16="http://schemas.microsoft.com/office/drawing/2014/main" id="{DC0E1555-36E1-BB5B-5DF3-E598BFDC26C0}"/>
              </a:ext>
            </a:extLst>
          </p:cNvPr>
          <p:cNvSpPr>
            <a:spLocks noGrp="1"/>
          </p:cNvSpPr>
          <p:nvPr>
            <p:ph type="title"/>
          </p:nvPr>
        </p:nvSpPr>
        <p:spPr>
          <a:xfrm>
            <a:off x="752476" y="873274"/>
            <a:ext cx="7772400" cy="685800"/>
          </a:xfrm>
        </p:spPr>
        <p:txBody>
          <a:bodyPr/>
          <a:lstStyle/>
          <a:p>
            <a:pPr algn="ctr" eaLnBrk="1" hangingPunct="1"/>
            <a:r>
              <a:rPr lang="en-US" altLang="en-US" sz="3200" dirty="0"/>
              <a:t>Type of DC GENERATORS</a:t>
            </a:r>
          </a:p>
        </p:txBody>
      </p:sp>
      <p:sp>
        <p:nvSpPr>
          <p:cNvPr id="32772" name="Rectangle 4">
            <a:extLst>
              <a:ext uri="{FF2B5EF4-FFF2-40B4-BE49-F238E27FC236}">
                <a16:creationId xmlns:a16="http://schemas.microsoft.com/office/drawing/2014/main" id="{F3016B03-7082-EDBA-A989-9D9E00E096D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2773" name="Rectangle 6">
            <a:extLst>
              <a:ext uri="{FF2B5EF4-FFF2-40B4-BE49-F238E27FC236}">
                <a16:creationId xmlns:a16="http://schemas.microsoft.com/office/drawing/2014/main" id="{306ADD38-DA29-4D1A-7144-AF7992914EE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2774" name="Rectangle 8">
            <a:extLst>
              <a:ext uri="{FF2B5EF4-FFF2-40B4-BE49-F238E27FC236}">
                <a16:creationId xmlns:a16="http://schemas.microsoft.com/office/drawing/2014/main" id="{B519EFDA-0FC2-367A-2925-090ACA7B7769}"/>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2775" name="Rectangle 9">
            <a:extLst>
              <a:ext uri="{FF2B5EF4-FFF2-40B4-BE49-F238E27FC236}">
                <a16:creationId xmlns:a16="http://schemas.microsoft.com/office/drawing/2014/main" id="{2D2AA974-5787-4135-4B96-B87D81B7DAF9}"/>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76" name="Rectangle 2">
            <a:extLst>
              <a:ext uri="{FF2B5EF4-FFF2-40B4-BE49-F238E27FC236}">
                <a16:creationId xmlns:a16="http://schemas.microsoft.com/office/drawing/2014/main" id="{BBB5CE06-82D9-0317-E920-EA4A19F42F6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77" name="Rectangle 4">
            <a:extLst>
              <a:ext uri="{FF2B5EF4-FFF2-40B4-BE49-F238E27FC236}">
                <a16:creationId xmlns:a16="http://schemas.microsoft.com/office/drawing/2014/main" id="{20962BC4-A90B-6155-84E4-6819DF05965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78" name="Rectangle 6">
            <a:extLst>
              <a:ext uri="{FF2B5EF4-FFF2-40B4-BE49-F238E27FC236}">
                <a16:creationId xmlns:a16="http://schemas.microsoft.com/office/drawing/2014/main" id="{F5816131-EE13-625B-4AE6-8FDBAA6B254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79" name="Rectangle 8">
            <a:extLst>
              <a:ext uri="{FF2B5EF4-FFF2-40B4-BE49-F238E27FC236}">
                <a16:creationId xmlns:a16="http://schemas.microsoft.com/office/drawing/2014/main" id="{91DFFB95-0A8F-E74D-3AFA-ECCCCC86B64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0" name="Rectangle 10">
            <a:extLst>
              <a:ext uri="{FF2B5EF4-FFF2-40B4-BE49-F238E27FC236}">
                <a16:creationId xmlns:a16="http://schemas.microsoft.com/office/drawing/2014/main" id="{06611D2C-D90C-B926-A15F-65C9531B5E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1" name="Rectangle 12">
            <a:extLst>
              <a:ext uri="{FF2B5EF4-FFF2-40B4-BE49-F238E27FC236}">
                <a16:creationId xmlns:a16="http://schemas.microsoft.com/office/drawing/2014/main" id="{2C31D657-8169-C913-B061-F59CAC1B264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2" name="Rectangle 2">
            <a:extLst>
              <a:ext uri="{FF2B5EF4-FFF2-40B4-BE49-F238E27FC236}">
                <a16:creationId xmlns:a16="http://schemas.microsoft.com/office/drawing/2014/main" id="{677E00E7-84A6-C174-3CEE-EFF09883C57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3" name="Rectangle 4">
            <a:extLst>
              <a:ext uri="{FF2B5EF4-FFF2-40B4-BE49-F238E27FC236}">
                <a16:creationId xmlns:a16="http://schemas.microsoft.com/office/drawing/2014/main" id="{25F337BE-F98C-2FF4-0B94-7665AEE9B19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4" name="Rectangle 6">
            <a:extLst>
              <a:ext uri="{FF2B5EF4-FFF2-40B4-BE49-F238E27FC236}">
                <a16:creationId xmlns:a16="http://schemas.microsoft.com/office/drawing/2014/main" id="{89131E1E-B1A6-86EF-544C-F6E6430ECEE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5" name="Rectangle 8">
            <a:extLst>
              <a:ext uri="{FF2B5EF4-FFF2-40B4-BE49-F238E27FC236}">
                <a16:creationId xmlns:a16="http://schemas.microsoft.com/office/drawing/2014/main" id="{C648CD8C-0330-160D-579D-D60B0A97B41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6" name="Rectangle 10">
            <a:extLst>
              <a:ext uri="{FF2B5EF4-FFF2-40B4-BE49-F238E27FC236}">
                <a16:creationId xmlns:a16="http://schemas.microsoft.com/office/drawing/2014/main" id="{757CE60C-1EC0-F21B-FC37-EB8C8AD4F3A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7" name="Rectangle 2">
            <a:extLst>
              <a:ext uri="{FF2B5EF4-FFF2-40B4-BE49-F238E27FC236}">
                <a16:creationId xmlns:a16="http://schemas.microsoft.com/office/drawing/2014/main" id="{EA829070-0782-09A5-C3B2-8EC8B9B9355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8" name="Rectangle 4">
            <a:extLst>
              <a:ext uri="{FF2B5EF4-FFF2-40B4-BE49-F238E27FC236}">
                <a16:creationId xmlns:a16="http://schemas.microsoft.com/office/drawing/2014/main" id="{18853938-F4AB-8001-CF9C-7E7BAA30660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2789" name="Rectangle 7">
            <a:extLst>
              <a:ext uri="{FF2B5EF4-FFF2-40B4-BE49-F238E27FC236}">
                <a16:creationId xmlns:a16="http://schemas.microsoft.com/office/drawing/2014/main" id="{71D93C54-8F9F-09B5-9451-E7A9A81E888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EC31D39C-3A16-1809-E16C-500645A51400}"/>
              </a:ext>
            </a:extLst>
          </p:cNvPr>
          <p:cNvSpPr>
            <a:spLocks noGrp="1"/>
          </p:cNvSpPr>
          <p:nvPr>
            <p:ph sz="quarter" idx="1"/>
          </p:nvPr>
        </p:nvSpPr>
        <p:spPr>
          <a:xfrm>
            <a:off x="0" y="1386846"/>
            <a:ext cx="7848600" cy="3536027"/>
          </a:xfrm>
        </p:spPr>
        <p:txBody>
          <a:bodyPr/>
          <a:lstStyle/>
          <a:p>
            <a:pPr indent="0">
              <a:buNone/>
              <a:defRPr/>
            </a:pPr>
            <a:r>
              <a:rPr lang="en-US" sz="2400" b="1" dirty="0">
                <a:latin typeface="Arial" panose="020B0604020202020204" pitchFamily="34" charset="0"/>
                <a:cs typeface="Arial" panose="020B0604020202020204" pitchFamily="34" charset="0"/>
              </a:rPr>
              <a:t>There are four major types of DC generators, namely</a:t>
            </a:r>
          </a:p>
          <a:p>
            <a:pPr indent="457200">
              <a:defRPr/>
            </a:pPr>
            <a:r>
              <a:rPr lang="en-US" sz="2400" dirty="0">
                <a:latin typeface="Arial" panose="020B0604020202020204" pitchFamily="34" charset="0"/>
                <a:cs typeface="Arial" panose="020B0604020202020204" pitchFamily="34" charset="0"/>
              </a:rPr>
              <a:t>Separately excited generator.</a:t>
            </a:r>
          </a:p>
          <a:p>
            <a:pPr indent="457200">
              <a:defRPr/>
            </a:pPr>
            <a:r>
              <a:rPr lang="en-US" sz="2400" dirty="0">
                <a:latin typeface="Arial" panose="020B0604020202020204" pitchFamily="34" charset="0"/>
                <a:cs typeface="Arial" panose="020B0604020202020204" pitchFamily="34" charset="0"/>
              </a:rPr>
              <a:t>Shunt generator.</a:t>
            </a:r>
          </a:p>
          <a:p>
            <a:pPr indent="457200">
              <a:defRPr/>
            </a:pPr>
            <a:r>
              <a:rPr lang="en-US" sz="2400" dirty="0">
                <a:latin typeface="Arial" panose="020B0604020202020204" pitchFamily="34" charset="0"/>
                <a:cs typeface="Arial" panose="020B0604020202020204" pitchFamily="34" charset="0"/>
              </a:rPr>
              <a:t>Series generator</a:t>
            </a:r>
          </a:p>
          <a:p>
            <a:pPr indent="457200">
              <a:defRPr/>
            </a:pPr>
            <a:r>
              <a:rPr lang="en-US" sz="2400" dirty="0">
                <a:latin typeface="Arial" panose="020B0604020202020204" pitchFamily="34" charset="0"/>
                <a:cs typeface="Arial" panose="020B0604020202020204" pitchFamily="34" charset="0"/>
              </a:rPr>
              <a:t>Compounded generator </a:t>
            </a:r>
          </a:p>
          <a:p>
            <a:pPr lvl="1" indent="457200">
              <a:defRPr/>
            </a:pPr>
            <a:r>
              <a:rPr lang="en-US" sz="2200" dirty="0">
                <a:latin typeface="Arial" panose="020B0604020202020204" pitchFamily="34" charset="0"/>
                <a:cs typeface="Arial" panose="020B0604020202020204" pitchFamily="34" charset="0"/>
              </a:rPr>
              <a:t>Cumulative </a:t>
            </a:r>
          </a:p>
          <a:p>
            <a:pPr lvl="1" indent="457200">
              <a:defRPr/>
            </a:pPr>
            <a:r>
              <a:rPr lang="en-US" dirty="0">
                <a:latin typeface="Arial" panose="020B0604020202020204" pitchFamily="34" charset="0"/>
                <a:cs typeface="Arial" panose="020B0604020202020204" pitchFamily="34" charset="0"/>
              </a:rPr>
              <a:t>Differential </a:t>
            </a:r>
          </a:p>
          <a:p>
            <a:pPr indent="0">
              <a:buNone/>
              <a:defRPr/>
            </a:pPr>
            <a:endParaRPr lang="en-US" dirty="0"/>
          </a:p>
        </p:txBody>
      </p:sp>
      <p:pic>
        <p:nvPicPr>
          <p:cNvPr id="32791" name="Picture 27">
            <a:extLst>
              <a:ext uri="{FF2B5EF4-FFF2-40B4-BE49-F238E27FC236}">
                <a16:creationId xmlns:a16="http://schemas.microsoft.com/office/drawing/2014/main" id="{BAD3EF06-F5F0-7E5D-9069-A7CFEA313F7A}"/>
              </a:ext>
            </a:extLst>
          </p:cNvPr>
          <p:cNvPicPr>
            <a:picLocks noChangeAspect="1" noChangeArrowheads="1"/>
          </p:cNvPicPr>
          <p:nvPr/>
        </p:nvPicPr>
        <p:blipFill>
          <a:blip r:embed="rId2">
            <a:lum bright="-10000" contrast="40000"/>
            <a:extLst>
              <a:ext uri="{28A0092B-C50C-407E-A947-70E740481C1C}">
                <a14:useLocalDpi xmlns:a14="http://schemas.microsoft.com/office/drawing/2010/main" val="0"/>
              </a:ext>
            </a:extLst>
          </a:blip>
          <a:srcRect l="2545"/>
          <a:stretch>
            <a:fillRect/>
          </a:stretch>
        </p:blipFill>
        <p:spPr bwMode="auto">
          <a:xfrm>
            <a:off x="8524876" y="1559074"/>
            <a:ext cx="2648170" cy="155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2" name="Picture 28">
            <a:extLst>
              <a:ext uri="{FF2B5EF4-FFF2-40B4-BE49-F238E27FC236}">
                <a16:creationId xmlns:a16="http://schemas.microsoft.com/office/drawing/2014/main" id="{9ED42E35-DC10-A987-98D5-B63E21A42917}"/>
              </a:ext>
            </a:extLst>
          </p:cNvPr>
          <p:cNvPicPr>
            <a:picLocks noChangeAspect="1" noChangeArrowheads="1"/>
          </p:cNvPicPr>
          <p:nvPr/>
        </p:nvPicPr>
        <p:blipFill>
          <a:blip r:embed="rId3">
            <a:lum bright="-10000" contrast="40000"/>
            <a:extLst>
              <a:ext uri="{28A0092B-C50C-407E-A947-70E740481C1C}">
                <a14:useLocalDpi xmlns:a14="http://schemas.microsoft.com/office/drawing/2010/main" val="0"/>
              </a:ext>
            </a:extLst>
          </a:blip>
          <a:srcRect b="27274"/>
          <a:stretch>
            <a:fillRect/>
          </a:stretch>
        </p:blipFill>
        <p:spPr bwMode="auto">
          <a:xfrm>
            <a:off x="4051006" y="3377610"/>
            <a:ext cx="2125554" cy="130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3" name="Picture 29">
            <a:extLst>
              <a:ext uri="{FF2B5EF4-FFF2-40B4-BE49-F238E27FC236}">
                <a16:creationId xmlns:a16="http://schemas.microsoft.com/office/drawing/2014/main" id="{355C5DC7-8E3F-D007-3B9E-AD1BA97F7252}"/>
              </a:ext>
            </a:extLst>
          </p:cNvPr>
          <p:cNvPicPr>
            <a:picLocks noChangeAspect="1" noChangeArrowheads="1"/>
          </p:cNvPicPr>
          <p:nvPr/>
        </p:nvPicPr>
        <p:blipFill>
          <a:blip r:embed="rId4">
            <a:lum bright="-10000" contrast="40000"/>
            <a:extLst>
              <a:ext uri="{28A0092B-C50C-407E-A947-70E740481C1C}">
                <a14:useLocalDpi xmlns:a14="http://schemas.microsoft.com/office/drawing/2010/main" val="0"/>
              </a:ext>
            </a:extLst>
          </a:blip>
          <a:srcRect t="14854" b="17029"/>
          <a:stretch>
            <a:fillRect/>
          </a:stretch>
        </p:blipFill>
        <p:spPr bwMode="auto">
          <a:xfrm>
            <a:off x="6395122" y="3154859"/>
            <a:ext cx="3091816" cy="155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4" name="Picture 30">
            <a:extLst>
              <a:ext uri="{FF2B5EF4-FFF2-40B4-BE49-F238E27FC236}">
                <a16:creationId xmlns:a16="http://schemas.microsoft.com/office/drawing/2014/main" id="{3C5003FB-6CB7-4AFD-2D58-4A1A772606D0}"/>
              </a:ext>
            </a:extLst>
          </p:cNvPr>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l="3835" t="5363" r="6786" b="34158"/>
          <a:stretch>
            <a:fillRect/>
          </a:stretch>
        </p:blipFill>
        <p:spPr bwMode="auto">
          <a:xfrm rot="-240000">
            <a:off x="9531204" y="3345480"/>
            <a:ext cx="2403180" cy="135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8693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C4D51-A1CB-4D61-8030-D5178027AD81}"/>
            </a:ext>
          </a:extLst>
        </p:cNvPr>
        <p:cNvGrpSpPr/>
        <p:nvPr/>
      </p:nvGrpSpPr>
      <p:grpSpPr>
        <a:xfrm>
          <a:off x="0" y="0"/>
          <a:ext cx="0" cy="0"/>
          <a:chOff x="0" y="0"/>
          <a:chExt cx="0" cy="0"/>
        </a:xfrm>
      </p:grpSpPr>
      <p:sp>
        <p:nvSpPr>
          <p:cNvPr id="33795" name="Title 1">
            <a:extLst>
              <a:ext uri="{FF2B5EF4-FFF2-40B4-BE49-F238E27FC236}">
                <a16:creationId xmlns:a16="http://schemas.microsoft.com/office/drawing/2014/main" id="{EA30B276-56C4-1159-C95E-9E7C8673D4EC}"/>
              </a:ext>
            </a:extLst>
          </p:cNvPr>
          <p:cNvSpPr>
            <a:spLocks noGrp="1"/>
          </p:cNvSpPr>
          <p:nvPr>
            <p:ph type="title"/>
          </p:nvPr>
        </p:nvSpPr>
        <p:spPr>
          <a:xfrm>
            <a:off x="2018372" y="746937"/>
            <a:ext cx="7772400" cy="685800"/>
          </a:xfrm>
        </p:spPr>
        <p:txBody>
          <a:bodyPr/>
          <a:lstStyle/>
          <a:p>
            <a:pPr algn="ctr" eaLnBrk="1" hangingPunct="1"/>
            <a:r>
              <a:rPr lang="en-US" altLang="en-US" sz="3200" dirty="0"/>
              <a:t>The Equivalent Circuit of a DC Generator</a:t>
            </a:r>
          </a:p>
        </p:txBody>
      </p:sp>
      <p:sp>
        <p:nvSpPr>
          <p:cNvPr id="33796" name="Rectangle 4">
            <a:extLst>
              <a:ext uri="{FF2B5EF4-FFF2-40B4-BE49-F238E27FC236}">
                <a16:creationId xmlns:a16="http://schemas.microsoft.com/office/drawing/2014/main" id="{10094E5B-34F1-681E-7D3B-EF62E803442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3797" name="Rectangle 6">
            <a:extLst>
              <a:ext uri="{FF2B5EF4-FFF2-40B4-BE49-F238E27FC236}">
                <a16:creationId xmlns:a16="http://schemas.microsoft.com/office/drawing/2014/main" id="{25F0873F-9911-6262-7915-078ED4959BC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3798" name="Rectangle 8">
            <a:extLst>
              <a:ext uri="{FF2B5EF4-FFF2-40B4-BE49-F238E27FC236}">
                <a16:creationId xmlns:a16="http://schemas.microsoft.com/office/drawing/2014/main" id="{9FF0E993-E50C-EF64-4187-BE9656A132ED}"/>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3799" name="Rectangle 9">
            <a:extLst>
              <a:ext uri="{FF2B5EF4-FFF2-40B4-BE49-F238E27FC236}">
                <a16:creationId xmlns:a16="http://schemas.microsoft.com/office/drawing/2014/main" id="{E2A5EC33-471E-821B-3E16-83D37E8D2C59}"/>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0" name="Rectangle 2">
            <a:extLst>
              <a:ext uri="{FF2B5EF4-FFF2-40B4-BE49-F238E27FC236}">
                <a16:creationId xmlns:a16="http://schemas.microsoft.com/office/drawing/2014/main" id="{B54B2457-573A-A02B-91CD-18854BA9775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1" name="Rectangle 4">
            <a:extLst>
              <a:ext uri="{FF2B5EF4-FFF2-40B4-BE49-F238E27FC236}">
                <a16:creationId xmlns:a16="http://schemas.microsoft.com/office/drawing/2014/main" id="{7D75D7FA-B3DF-C889-EB1F-8185F40173E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2" name="Rectangle 6">
            <a:extLst>
              <a:ext uri="{FF2B5EF4-FFF2-40B4-BE49-F238E27FC236}">
                <a16:creationId xmlns:a16="http://schemas.microsoft.com/office/drawing/2014/main" id="{E467EC5A-0A25-71A2-E904-37C2A0ACA49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3" name="Rectangle 8">
            <a:extLst>
              <a:ext uri="{FF2B5EF4-FFF2-40B4-BE49-F238E27FC236}">
                <a16:creationId xmlns:a16="http://schemas.microsoft.com/office/drawing/2014/main" id="{E2DA3501-5694-0316-B542-BBA31E7E7A6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4" name="Rectangle 10">
            <a:extLst>
              <a:ext uri="{FF2B5EF4-FFF2-40B4-BE49-F238E27FC236}">
                <a16:creationId xmlns:a16="http://schemas.microsoft.com/office/drawing/2014/main" id="{715721FD-6A14-C329-EF27-0C49A44C21D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5" name="Rectangle 12">
            <a:extLst>
              <a:ext uri="{FF2B5EF4-FFF2-40B4-BE49-F238E27FC236}">
                <a16:creationId xmlns:a16="http://schemas.microsoft.com/office/drawing/2014/main" id="{BAB00AEC-9B5E-3710-0ED3-FADF8156A7B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6" name="Rectangle 2">
            <a:extLst>
              <a:ext uri="{FF2B5EF4-FFF2-40B4-BE49-F238E27FC236}">
                <a16:creationId xmlns:a16="http://schemas.microsoft.com/office/drawing/2014/main" id="{B765C335-EE7D-AB3A-D34B-4EC60608349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7" name="Rectangle 4">
            <a:extLst>
              <a:ext uri="{FF2B5EF4-FFF2-40B4-BE49-F238E27FC236}">
                <a16:creationId xmlns:a16="http://schemas.microsoft.com/office/drawing/2014/main" id="{757E4A98-CB49-A349-8C29-DFDA45D88E3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8" name="Rectangle 6">
            <a:extLst>
              <a:ext uri="{FF2B5EF4-FFF2-40B4-BE49-F238E27FC236}">
                <a16:creationId xmlns:a16="http://schemas.microsoft.com/office/drawing/2014/main" id="{75EBE056-63F7-E772-238D-7B62A160A74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09" name="Rectangle 8">
            <a:extLst>
              <a:ext uri="{FF2B5EF4-FFF2-40B4-BE49-F238E27FC236}">
                <a16:creationId xmlns:a16="http://schemas.microsoft.com/office/drawing/2014/main" id="{84FF3867-1E33-1D8B-5645-758775AAF74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10" name="Rectangle 10">
            <a:extLst>
              <a:ext uri="{FF2B5EF4-FFF2-40B4-BE49-F238E27FC236}">
                <a16:creationId xmlns:a16="http://schemas.microsoft.com/office/drawing/2014/main" id="{F2C263D4-2A14-4562-1DF5-50709CE3AA1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11" name="Rectangle 2">
            <a:extLst>
              <a:ext uri="{FF2B5EF4-FFF2-40B4-BE49-F238E27FC236}">
                <a16:creationId xmlns:a16="http://schemas.microsoft.com/office/drawing/2014/main" id="{30256009-67B9-D611-8DFC-6E5623D483C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12" name="Rectangle 4">
            <a:extLst>
              <a:ext uri="{FF2B5EF4-FFF2-40B4-BE49-F238E27FC236}">
                <a16:creationId xmlns:a16="http://schemas.microsoft.com/office/drawing/2014/main" id="{BBD68DCE-52E8-E6B2-2EBD-FCE21D7E326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3813" name="Rectangle 7">
            <a:extLst>
              <a:ext uri="{FF2B5EF4-FFF2-40B4-BE49-F238E27FC236}">
                <a16:creationId xmlns:a16="http://schemas.microsoft.com/office/drawing/2014/main" id="{BE403DFB-0B0E-DDA2-3FA7-4FBCD6E19EC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991D30A4-D190-9668-A5DE-7594E8A84A46}"/>
              </a:ext>
            </a:extLst>
          </p:cNvPr>
          <p:cNvSpPr>
            <a:spLocks noGrp="1"/>
          </p:cNvSpPr>
          <p:nvPr>
            <p:ph sz="quarter" idx="1"/>
          </p:nvPr>
        </p:nvSpPr>
        <p:spPr>
          <a:xfrm>
            <a:off x="0" y="1219200"/>
            <a:ext cx="7848600" cy="2971800"/>
          </a:xfrm>
        </p:spPr>
        <p:txBody>
          <a:bodyPr/>
          <a:lstStyle/>
          <a:p>
            <a:pPr indent="0">
              <a:buNone/>
              <a:defRPr/>
            </a:pPr>
            <a:r>
              <a:rPr lang="en-US" sz="2400" b="1" dirty="0">
                <a:solidFill>
                  <a:srgbClr val="0070C0"/>
                </a:solidFill>
                <a:latin typeface="Arial" panose="020B0604020202020204" pitchFamily="34" charset="0"/>
                <a:cs typeface="Arial" panose="020B0604020202020204" pitchFamily="34" charset="0"/>
              </a:rPr>
              <a:t>Two circuits are involved in DC generators</a:t>
            </a:r>
          </a:p>
          <a:p>
            <a:pPr indent="0">
              <a:buNone/>
              <a:defRPr/>
            </a:pPr>
            <a:r>
              <a:rPr lang="en-US" sz="2400" b="1" dirty="0">
                <a:solidFill>
                  <a:srgbClr val="0070C0"/>
                </a:solidFill>
                <a:latin typeface="Arial" panose="020B0604020202020204" pitchFamily="34" charset="0"/>
                <a:cs typeface="Arial" panose="020B0604020202020204" pitchFamily="34" charset="0"/>
              </a:rPr>
              <a:t>         Armature Circuit</a:t>
            </a:r>
          </a:p>
          <a:p>
            <a:pPr indent="0">
              <a:buNone/>
              <a:defRPr/>
            </a:pPr>
            <a:r>
              <a:rPr lang="en-US" sz="2400" b="1" dirty="0">
                <a:solidFill>
                  <a:srgbClr val="0070C0"/>
                </a:solidFill>
                <a:latin typeface="Arial" panose="020B0604020202020204" pitchFamily="34" charset="0"/>
                <a:cs typeface="Arial" panose="020B0604020202020204" pitchFamily="34" charset="0"/>
              </a:rPr>
              <a:t>         Field circuit</a:t>
            </a:r>
          </a:p>
          <a:p>
            <a:pPr indent="457200">
              <a:defRPr/>
            </a:pPr>
            <a:r>
              <a:rPr lang="en-US" sz="2400" dirty="0">
                <a:solidFill>
                  <a:srgbClr val="0070C0"/>
                </a:solidFill>
                <a:latin typeface="Arial" panose="020B0604020202020204" pitchFamily="34" charset="0"/>
                <a:cs typeface="Arial" panose="020B0604020202020204" pitchFamily="34" charset="0"/>
              </a:rPr>
              <a:t>Armature circuit represents </a:t>
            </a:r>
            <a:r>
              <a:rPr lang="en-US" sz="2400" dirty="0" err="1">
                <a:solidFill>
                  <a:srgbClr val="0070C0"/>
                </a:solidFill>
                <a:latin typeface="Arial" panose="020B0604020202020204" pitchFamily="34" charset="0"/>
                <a:cs typeface="Arial" panose="020B0604020202020204" pitchFamily="34" charset="0"/>
              </a:rPr>
              <a:t>Thevenin</a:t>
            </a:r>
            <a:r>
              <a:rPr lang="en-US" sz="2400" dirty="0">
                <a:solidFill>
                  <a:srgbClr val="0070C0"/>
                </a:solidFill>
                <a:latin typeface="Arial" panose="020B0604020202020204" pitchFamily="34" charset="0"/>
                <a:cs typeface="Arial" panose="020B0604020202020204" pitchFamily="34" charset="0"/>
              </a:rPr>
              <a:t> equivalent of the entire rotor.</a:t>
            </a:r>
          </a:p>
          <a:p>
            <a:pPr indent="457200">
              <a:defRPr/>
            </a:pPr>
            <a:r>
              <a:rPr lang="en-US" sz="2400" dirty="0">
                <a:latin typeface="Arial" panose="020B0604020202020204" pitchFamily="34" charset="0"/>
                <a:cs typeface="Arial" panose="020B0604020202020204" pitchFamily="34" charset="0"/>
              </a:rPr>
              <a:t>It </a:t>
            </a:r>
            <a:r>
              <a:rPr lang="en-US" sz="2400" dirty="0" err="1">
                <a:latin typeface="Arial" panose="020B0604020202020204" pitchFamily="34" charset="0"/>
                <a:cs typeface="Arial" panose="020B0604020202020204" pitchFamily="34" charset="0"/>
              </a:rPr>
              <a:t>cantain</a:t>
            </a:r>
            <a:r>
              <a:rPr lang="en-US" sz="2400" dirty="0">
                <a:latin typeface="Arial" panose="020B0604020202020204" pitchFamily="34" charset="0"/>
                <a:cs typeface="Arial" panose="020B0604020202020204" pitchFamily="34" charset="0"/>
              </a:rPr>
              <a:t> an ideal voltage source E</a:t>
            </a:r>
            <a:r>
              <a:rPr lang="en-US" sz="1400" dirty="0">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and a resistor R</a:t>
            </a:r>
            <a:r>
              <a:rPr lang="en-US" sz="1400" dirty="0">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a:t>
            </a:r>
          </a:p>
          <a:p>
            <a:pPr indent="457200">
              <a:defRPr/>
            </a:pPr>
            <a:r>
              <a:rPr lang="en-US" sz="2400" dirty="0">
                <a:solidFill>
                  <a:srgbClr val="0070C0"/>
                </a:solidFill>
                <a:latin typeface="Arial" panose="020B0604020202020204" pitchFamily="34" charset="0"/>
                <a:cs typeface="Arial" panose="020B0604020202020204" pitchFamily="34" charset="0"/>
              </a:rPr>
              <a:t>Brush voltage drop is represented by a small battery</a:t>
            </a:r>
          </a:p>
          <a:p>
            <a:pPr indent="457200">
              <a:defRPr/>
            </a:pPr>
            <a:r>
              <a:rPr lang="en-US" sz="2400" dirty="0">
                <a:solidFill>
                  <a:srgbClr val="0070C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field coils, which produce the magnetic flux</a:t>
            </a:r>
          </a:p>
          <a:p>
            <a:pPr lvl="1" indent="457200">
              <a:defRPr/>
            </a:pPr>
            <a:r>
              <a:rPr lang="en-US" dirty="0">
                <a:solidFill>
                  <a:srgbClr val="0070C0"/>
                </a:solidFill>
                <a:latin typeface="Arial" panose="020B0604020202020204" pitchFamily="34" charset="0"/>
                <a:cs typeface="Arial" panose="020B0604020202020204" pitchFamily="34" charset="0"/>
              </a:rPr>
              <a:t>inductor L</a:t>
            </a:r>
            <a:r>
              <a:rPr lang="en-US" sz="1400" dirty="0">
                <a:solidFill>
                  <a:srgbClr val="0070C0"/>
                </a:solidFill>
                <a:latin typeface="Arial" panose="020B0604020202020204" pitchFamily="34" charset="0"/>
                <a:cs typeface="Arial" panose="020B0604020202020204" pitchFamily="34" charset="0"/>
              </a:rPr>
              <a:t>F</a:t>
            </a:r>
            <a:r>
              <a:rPr lang="en-US" dirty="0">
                <a:solidFill>
                  <a:srgbClr val="0070C0"/>
                </a:solidFill>
                <a:latin typeface="Arial" panose="020B0604020202020204" pitchFamily="34" charset="0"/>
                <a:cs typeface="Arial" panose="020B0604020202020204" pitchFamily="34" charset="0"/>
              </a:rPr>
              <a:t> and resistor R</a:t>
            </a:r>
            <a:r>
              <a:rPr lang="en-US" sz="1400" dirty="0">
                <a:solidFill>
                  <a:srgbClr val="0070C0"/>
                </a:solidFill>
                <a:latin typeface="Arial" panose="020B0604020202020204" pitchFamily="34" charset="0"/>
                <a:cs typeface="Arial" panose="020B0604020202020204" pitchFamily="34" charset="0"/>
              </a:rPr>
              <a:t>F</a:t>
            </a:r>
            <a:r>
              <a:rPr lang="en-US" dirty="0">
                <a:solidFill>
                  <a:srgbClr val="0070C0"/>
                </a:solidFill>
                <a:latin typeface="Arial" panose="020B0604020202020204" pitchFamily="34" charset="0"/>
                <a:cs typeface="Arial" panose="020B0604020202020204" pitchFamily="34" charset="0"/>
              </a:rPr>
              <a:t>  </a:t>
            </a:r>
          </a:p>
          <a:p>
            <a:pPr lvl="1" indent="457200">
              <a:defRPr/>
            </a:pPr>
            <a:r>
              <a:rPr lang="en-US" dirty="0" err="1">
                <a:solidFill>
                  <a:srgbClr val="0070C0"/>
                </a:solidFill>
                <a:latin typeface="Arial" panose="020B0604020202020204" pitchFamily="34" charset="0"/>
                <a:cs typeface="Arial" panose="020B0604020202020204" pitchFamily="34" charset="0"/>
              </a:rPr>
              <a:t>R</a:t>
            </a:r>
            <a:r>
              <a:rPr lang="en-US" sz="1200" dirty="0" err="1">
                <a:solidFill>
                  <a:srgbClr val="0070C0"/>
                </a:solidFill>
                <a:latin typeface="Arial" panose="020B0604020202020204" pitchFamily="34" charset="0"/>
                <a:cs typeface="Arial" panose="020B0604020202020204" pitchFamily="34" charset="0"/>
              </a:rPr>
              <a:t>adj</a:t>
            </a:r>
            <a:r>
              <a:rPr lang="en-US" dirty="0">
                <a:solidFill>
                  <a:srgbClr val="0070C0"/>
                </a:solidFill>
                <a:latin typeface="Arial" panose="020B0604020202020204" pitchFamily="34" charset="0"/>
                <a:cs typeface="Arial" panose="020B0604020202020204" pitchFamily="34" charset="0"/>
              </a:rPr>
              <a:t> for field current control</a:t>
            </a:r>
          </a:p>
          <a:p>
            <a:pPr indent="0">
              <a:buNone/>
              <a:defRPr/>
            </a:pPr>
            <a:endParaRPr lang="en-US" dirty="0"/>
          </a:p>
        </p:txBody>
      </p:sp>
      <p:pic>
        <p:nvPicPr>
          <p:cNvPr id="33815" name="Picture 31">
            <a:extLst>
              <a:ext uri="{FF2B5EF4-FFF2-40B4-BE49-F238E27FC236}">
                <a16:creationId xmlns:a16="http://schemas.microsoft.com/office/drawing/2014/main" id="{C325F587-809C-1A72-2662-7336D62E53F3}"/>
              </a:ext>
            </a:extLst>
          </p:cNvPr>
          <p:cNvPicPr>
            <a:picLocks noChangeAspect="1" noChangeArrowheads="1"/>
          </p:cNvPicPr>
          <p:nvPr/>
        </p:nvPicPr>
        <p:blipFill>
          <a:blip r:embed="rId2">
            <a:lum bright="-10000" contrast="40000"/>
            <a:extLst>
              <a:ext uri="{28A0092B-C50C-407E-A947-70E740481C1C}">
                <a14:useLocalDpi xmlns:a14="http://schemas.microsoft.com/office/drawing/2010/main" val="0"/>
              </a:ext>
            </a:extLst>
          </a:blip>
          <a:srcRect/>
          <a:stretch>
            <a:fillRect/>
          </a:stretch>
        </p:blipFill>
        <p:spPr bwMode="auto">
          <a:xfrm>
            <a:off x="7539729" y="2332074"/>
            <a:ext cx="4502086" cy="1858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5533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1342A-BF1D-D47B-BA83-3EC1720848E6}"/>
            </a:ext>
          </a:extLst>
        </p:cNvPr>
        <p:cNvGrpSpPr/>
        <p:nvPr/>
      </p:nvGrpSpPr>
      <p:grpSpPr>
        <a:xfrm>
          <a:off x="0" y="0"/>
          <a:ext cx="0" cy="0"/>
          <a:chOff x="0" y="0"/>
          <a:chExt cx="0" cy="0"/>
        </a:xfrm>
      </p:grpSpPr>
      <p:sp>
        <p:nvSpPr>
          <p:cNvPr id="34819" name="Title 1">
            <a:extLst>
              <a:ext uri="{FF2B5EF4-FFF2-40B4-BE49-F238E27FC236}">
                <a16:creationId xmlns:a16="http://schemas.microsoft.com/office/drawing/2014/main" id="{820741B9-1F6D-77EC-5D68-557C50A2C2EF}"/>
              </a:ext>
            </a:extLst>
          </p:cNvPr>
          <p:cNvSpPr>
            <a:spLocks noGrp="1"/>
          </p:cNvSpPr>
          <p:nvPr>
            <p:ph type="title"/>
          </p:nvPr>
        </p:nvSpPr>
        <p:spPr>
          <a:xfrm>
            <a:off x="1204753" y="873274"/>
            <a:ext cx="9136912" cy="685800"/>
          </a:xfrm>
        </p:spPr>
        <p:txBody>
          <a:bodyPr/>
          <a:lstStyle/>
          <a:p>
            <a:pPr algn="ctr" eaLnBrk="1" hangingPunct="1"/>
            <a:r>
              <a:rPr lang="en-US" altLang="en-US" sz="3200" dirty="0"/>
              <a:t>Magnetizing curve of a DC Generator &amp; performance</a:t>
            </a:r>
          </a:p>
        </p:txBody>
      </p:sp>
      <p:sp>
        <p:nvSpPr>
          <p:cNvPr id="34820" name="Rectangle 4">
            <a:extLst>
              <a:ext uri="{FF2B5EF4-FFF2-40B4-BE49-F238E27FC236}">
                <a16:creationId xmlns:a16="http://schemas.microsoft.com/office/drawing/2014/main" id="{B62B6BC6-3C1F-55C5-6003-E5ED7B605B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4821" name="Rectangle 6">
            <a:extLst>
              <a:ext uri="{FF2B5EF4-FFF2-40B4-BE49-F238E27FC236}">
                <a16:creationId xmlns:a16="http://schemas.microsoft.com/office/drawing/2014/main" id="{709E339A-8706-4462-5CF7-F5B3BA3281C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4822" name="Rectangle 8">
            <a:extLst>
              <a:ext uri="{FF2B5EF4-FFF2-40B4-BE49-F238E27FC236}">
                <a16:creationId xmlns:a16="http://schemas.microsoft.com/office/drawing/2014/main" id="{A3B527E8-30D2-A153-EBA9-52E5C0C4FD48}"/>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4823" name="Rectangle 9">
            <a:extLst>
              <a:ext uri="{FF2B5EF4-FFF2-40B4-BE49-F238E27FC236}">
                <a16:creationId xmlns:a16="http://schemas.microsoft.com/office/drawing/2014/main" id="{F84F94E4-5CF8-6D86-D079-BC273095073A}"/>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4" name="Rectangle 2">
            <a:extLst>
              <a:ext uri="{FF2B5EF4-FFF2-40B4-BE49-F238E27FC236}">
                <a16:creationId xmlns:a16="http://schemas.microsoft.com/office/drawing/2014/main" id="{3C9B4DE0-32D9-CA32-7128-50D4093A277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5" name="Rectangle 4">
            <a:extLst>
              <a:ext uri="{FF2B5EF4-FFF2-40B4-BE49-F238E27FC236}">
                <a16:creationId xmlns:a16="http://schemas.microsoft.com/office/drawing/2014/main" id="{4898DCDD-DC9B-7496-BCE8-813D3920F2D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6" name="Rectangle 6">
            <a:extLst>
              <a:ext uri="{FF2B5EF4-FFF2-40B4-BE49-F238E27FC236}">
                <a16:creationId xmlns:a16="http://schemas.microsoft.com/office/drawing/2014/main" id="{A8555377-6283-4D4C-A59B-3DA309F1433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7" name="Rectangle 8">
            <a:extLst>
              <a:ext uri="{FF2B5EF4-FFF2-40B4-BE49-F238E27FC236}">
                <a16:creationId xmlns:a16="http://schemas.microsoft.com/office/drawing/2014/main" id="{2165A1C2-B472-263C-BE2B-D85A7C6CD73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8" name="Rectangle 10">
            <a:extLst>
              <a:ext uri="{FF2B5EF4-FFF2-40B4-BE49-F238E27FC236}">
                <a16:creationId xmlns:a16="http://schemas.microsoft.com/office/drawing/2014/main" id="{073C2AFA-B15E-2DB7-6CC3-3E75D750A50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29" name="Rectangle 12">
            <a:extLst>
              <a:ext uri="{FF2B5EF4-FFF2-40B4-BE49-F238E27FC236}">
                <a16:creationId xmlns:a16="http://schemas.microsoft.com/office/drawing/2014/main" id="{C93CC2F5-08C0-20BD-9EED-1903E60642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0" name="Rectangle 2">
            <a:extLst>
              <a:ext uri="{FF2B5EF4-FFF2-40B4-BE49-F238E27FC236}">
                <a16:creationId xmlns:a16="http://schemas.microsoft.com/office/drawing/2014/main" id="{4D1EF82B-C1C5-CD59-8E3D-F111665D67B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1" name="Rectangle 4">
            <a:extLst>
              <a:ext uri="{FF2B5EF4-FFF2-40B4-BE49-F238E27FC236}">
                <a16:creationId xmlns:a16="http://schemas.microsoft.com/office/drawing/2014/main" id="{2423550F-975C-D742-AE9D-2F0AEF2ED75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2" name="Rectangle 6">
            <a:extLst>
              <a:ext uri="{FF2B5EF4-FFF2-40B4-BE49-F238E27FC236}">
                <a16:creationId xmlns:a16="http://schemas.microsoft.com/office/drawing/2014/main" id="{29AB3EE7-5834-407C-43A0-2F67E057409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3" name="Rectangle 8">
            <a:extLst>
              <a:ext uri="{FF2B5EF4-FFF2-40B4-BE49-F238E27FC236}">
                <a16:creationId xmlns:a16="http://schemas.microsoft.com/office/drawing/2014/main" id="{33909E4B-518C-926D-BFE3-802D3DC0300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4" name="Rectangle 10">
            <a:extLst>
              <a:ext uri="{FF2B5EF4-FFF2-40B4-BE49-F238E27FC236}">
                <a16:creationId xmlns:a16="http://schemas.microsoft.com/office/drawing/2014/main" id="{D2BDC337-D521-4759-0ADC-9523051C86E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5" name="Rectangle 2">
            <a:extLst>
              <a:ext uri="{FF2B5EF4-FFF2-40B4-BE49-F238E27FC236}">
                <a16:creationId xmlns:a16="http://schemas.microsoft.com/office/drawing/2014/main" id="{5091AF84-2BFE-CAD9-4093-CA1F420934B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6" name="Rectangle 4">
            <a:extLst>
              <a:ext uri="{FF2B5EF4-FFF2-40B4-BE49-F238E27FC236}">
                <a16:creationId xmlns:a16="http://schemas.microsoft.com/office/drawing/2014/main" id="{41F1F776-C33A-3400-85C6-F1B2FAA72E9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4837" name="Rectangle 7">
            <a:extLst>
              <a:ext uri="{FF2B5EF4-FFF2-40B4-BE49-F238E27FC236}">
                <a16:creationId xmlns:a16="http://schemas.microsoft.com/office/drawing/2014/main" id="{AE00EFAC-3E1C-5B03-4EF0-A206A76ED65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03E6984F-ED20-FC36-377F-C6504CE0F9B4}"/>
              </a:ext>
            </a:extLst>
          </p:cNvPr>
          <p:cNvSpPr>
            <a:spLocks noGrp="1"/>
          </p:cNvSpPr>
          <p:nvPr>
            <p:ph sz="quarter" idx="1"/>
          </p:nvPr>
        </p:nvSpPr>
        <p:spPr>
          <a:xfrm>
            <a:off x="205562" y="1082749"/>
            <a:ext cx="7391400" cy="4648200"/>
          </a:xfrm>
        </p:spPr>
        <p:txBody>
          <a:bodyPr/>
          <a:lstStyle/>
          <a:p>
            <a:pPr indent="457200">
              <a:buNone/>
              <a:defRPr/>
            </a:pPr>
            <a:endParaRPr lang="en-US" sz="2400" dirty="0">
              <a:solidFill>
                <a:srgbClr val="0070C0"/>
              </a:solidFill>
            </a:endParaRPr>
          </a:p>
          <a:p>
            <a:pPr indent="457200">
              <a:defRPr/>
            </a:pPr>
            <a:r>
              <a:rPr lang="en-US" sz="2400" dirty="0">
                <a:latin typeface="Arial" panose="020B0604020202020204" pitchFamily="34" charset="0"/>
                <a:cs typeface="Arial" panose="020B0604020202020204" pitchFamily="34" charset="0"/>
              </a:rPr>
              <a:t>The internal generated voltage EA of a dc generator is given by</a:t>
            </a:r>
          </a:p>
          <a:p>
            <a:pPr indent="457200">
              <a:defRPr/>
            </a:pPr>
            <a:r>
              <a:rPr lang="en-US" sz="2400" dirty="0">
                <a:latin typeface="Arial" panose="020B0604020202020204" pitchFamily="34" charset="0"/>
                <a:cs typeface="Arial" panose="020B0604020202020204" pitchFamily="34" charset="0"/>
              </a:rPr>
              <a:t>E</a:t>
            </a:r>
            <a:r>
              <a:rPr lang="en-US" sz="1400" dirty="0">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is directly proportional to the flux </a:t>
            </a:r>
          </a:p>
          <a:p>
            <a:pPr indent="457200">
              <a:defRPr/>
            </a:pPr>
            <a:r>
              <a:rPr lang="en-US" sz="2400" dirty="0">
                <a:latin typeface="Arial" panose="020B0604020202020204" pitchFamily="34" charset="0"/>
                <a:cs typeface="Arial" panose="020B0604020202020204" pitchFamily="34" charset="0"/>
              </a:rPr>
              <a:t>The field current is directly proportional to the 	</a:t>
            </a:r>
            <a:r>
              <a:rPr lang="en-US" sz="2400" dirty="0" err="1">
                <a:latin typeface="Arial" panose="020B0604020202020204" pitchFamily="34" charset="0"/>
                <a:cs typeface="Arial" panose="020B0604020202020204" pitchFamily="34" charset="0"/>
              </a:rPr>
              <a:t>magnetomotive</a:t>
            </a:r>
            <a:r>
              <a:rPr lang="en-US" sz="2400" dirty="0">
                <a:latin typeface="Arial" panose="020B0604020202020204" pitchFamily="34" charset="0"/>
                <a:cs typeface="Arial" panose="020B0604020202020204" pitchFamily="34" charset="0"/>
              </a:rPr>
              <a:t> force and hence E</a:t>
            </a:r>
            <a:r>
              <a:rPr lang="en-US" sz="1400" dirty="0">
                <a:latin typeface="Arial" panose="020B0604020202020204" pitchFamily="34" charset="0"/>
                <a:cs typeface="Arial" panose="020B0604020202020204" pitchFamily="34" charset="0"/>
              </a:rPr>
              <a:t>A</a:t>
            </a:r>
            <a:endParaRPr lang="en-US" sz="2400" dirty="0">
              <a:latin typeface="Arial" panose="020B0604020202020204" pitchFamily="34" charset="0"/>
              <a:cs typeface="Arial" panose="020B0604020202020204" pitchFamily="34" charset="0"/>
            </a:endParaRPr>
          </a:p>
          <a:p>
            <a:pPr indent="457200">
              <a:defRPr/>
            </a:pPr>
            <a:r>
              <a:rPr lang="en-US" sz="2400" dirty="0">
                <a:latin typeface="Arial" panose="020B0604020202020204" pitchFamily="34" charset="0"/>
                <a:cs typeface="Arial" panose="020B0604020202020204" pitchFamily="34" charset="0"/>
              </a:rPr>
              <a:t>Brush voltage drop is represented by a small battery</a:t>
            </a:r>
          </a:p>
          <a:p>
            <a:pPr indent="457200">
              <a:defRPr/>
            </a:pPr>
            <a:r>
              <a:rPr lang="en-US" sz="2400" dirty="0">
                <a:latin typeface="Arial" panose="020B0604020202020204" pitchFamily="34" charset="0"/>
                <a:cs typeface="Arial" panose="020B0604020202020204" pitchFamily="34" charset="0"/>
              </a:rPr>
              <a:t> Performance of the DC generators are determined by terminal output parameter I</a:t>
            </a:r>
            <a:r>
              <a:rPr lang="en-US" sz="1400" dirty="0">
                <a:latin typeface="Arial" panose="020B0604020202020204" pitchFamily="34" charset="0"/>
                <a:cs typeface="Arial" panose="020B0604020202020204" pitchFamily="34" charset="0"/>
              </a:rPr>
              <a:t>L</a:t>
            </a:r>
            <a:r>
              <a:rPr lang="en-US" sz="2400" dirty="0">
                <a:latin typeface="Arial" panose="020B0604020202020204" pitchFamily="34" charset="0"/>
                <a:cs typeface="Arial" panose="020B0604020202020204" pitchFamily="34" charset="0"/>
              </a:rPr>
              <a:t> and V</a:t>
            </a:r>
            <a:r>
              <a:rPr lang="en-US" sz="1400" dirty="0">
                <a:latin typeface="Arial" panose="020B0604020202020204" pitchFamily="34" charset="0"/>
                <a:cs typeface="Arial" panose="020B0604020202020204" pitchFamily="34" charset="0"/>
              </a:rPr>
              <a:t>T</a:t>
            </a:r>
          </a:p>
          <a:p>
            <a:pPr indent="457200">
              <a:defRPr/>
            </a:pPr>
            <a:r>
              <a:rPr lang="en-US" sz="2400" dirty="0">
                <a:latin typeface="Arial" panose="020B0604020202020204" pitchFamily="34" charset="0"/>
                <a:cs typeface="Arial" panose="020B0604020202020204" pitchFamily="34" charset="0"/>
              </a:rPr>
              <a:t>Voltage regulation also determines its performance</a:t>
            </a:r>
          </a:p>
          <a:p>
            <a:pPr indent="0">
              <a:buNone/>
              <a:defRPr/>
            </a:pPr>
            <a:endParaRPr lang="en-US" dirty="0"/>
          </a:p>
        </p:txBody>
      </p:sp>
      <p:sp>
        <p:nvSpPr>
          <p:cNvPr id="34839" name="Rectangle 2">
            <a:extLst>
              <a:ext uri="{FF2B5EF4-FFF2-40B4-BE49-F238E27FC236}">
                <a16:creationId xmlns:a16="http://schemas.microsoft.com/office/drawing/2014/main" id="{EDD282A6-A958-B1C1-EE9C-8338E28E7B9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4840" name="Picture 1">
            <a:extLst>
              <a:ext uri="{FF2B5EF4-FFF2-40B4-BE49-F238E27FC236}">
                <a16:creationId xmlns:a16="http://schemas.microsoft.com/office/drawing/2014/main" id="{2B9BE362-304C-DA6F-7964-B397EF0F4C8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33553" y="1952407"/>
            <a:ext cx="9906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41" name="Picture 29">
            <a:extLst>
              <a:ext uri="{FF2B5EF4-FFF2-40B4-BE49-F238E27FC236}">
                <a16:creationId xmlns:a16="http://schemas.microsoft.com/office/drawing/2014/main" id="{0ACB298F-BE8C-D7FC-6A38-36C8D38B5B47}"/>
              </a:ext>
            </a:extLst>
          </p:cNvPr>
          <p:cNvPicPr>
            <a:picLocks noChangeAspect="1" noChangeArrowheads="1"/>
          </p:cNvPicPr>
          <p:nvPr/>
        </p:nvPicPr>
        <p:blipFill>
          <a:blip r:embed="rId3">
            <a:lum contrast="40000"/>
            <a:extLst>
              <a:ext uri="{28A0092B-C50C-407E-A947-70E740481C1C}">
                <a14:useLocalDpi xmlns:a14="http://schemas.microsoft.com/office/drawing/2010/main" val="0"/>
              </a:ext>
            </a:extLst>
          </a:blip>
          <a:srcRect/>
          <a:stretch>
            <a:fillRect/>
          </a:stretch>
        </p:blipFill>
        <p:spPr bwMode="auto">
          <a:xfrm>
            <a:off x="7729042" y="1911720"/>
            <a:ext cx="4257396" cy="2692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9007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A2AF8-130B-8698-1461-BAB7D5645540}"/>
            </a:ext>
          </a:extLst>
        </p:cNvPr>
        <p:cNvGrpSpPr/>
        <p:nvPr/>
      </p:nvGrpSpPr>
      <p:grpSpPr>
        <a:xfrm>
          <a:off x="0" y="0"/>
          <a:ext cx="0" cy="0"/>
          <a:chOff x="0" y="0"/>
          <a:chExt cx="0" cy="0"/>
        </a:xfrm>
      </p:grpSpPr>
      <p:sp>
        <p:nvSpPr>
          <p:cNvPr id="35843" name="Title 1">
            <a:extLst>
              <a:ext uri="{FF2B5EF4-FFF2-40B4-BE49-F238E27FC236}">
                <a16:creationId xmlns:a16="http://schemas.microsoft.com/office/drawing/2014/main" id="{B65502C0-2B70-61F1-FA78-8D2A320769BD}"/>
              </a:ext>
            </a:extLst>
          </p:cNvPr>
          <p:cNvSpPr>
            <a:spLocks noGrp="1"/>
          </p:cNvSpPr>
          <p:nvPr>
            <p:ph type="title"/>
          </p:nvPr>
        </p:nvSpPr>
        <p:spPr>
          <a:xfrm>
            <a:off x="1524000" y="738551"/>
            <a:ext cx="7772400" cy="685800"/>
          </a:xfrm>
        </p:spPr>
        <p:txBody>
          <a:bodyPr/>
          <a:lstStyle/>
          <a:p>
            <a:pPr algn="ctr" eaLnBrk="1" hangingPunct="1"/>
            <a:r>
              <a:rPr lang="en-US" altLang="en-US" sz="3200" dirty="0"/>
              <a:t>The Separately Excited Generator</a:t>
            </a:r>
          </a:p>
        </p:txBody>
      </p:sp>
      <p:sp>
        <p:nvSpPr>
          <p:cNvPr id="35844" name="Rectangle 4">
            <a:extLst>
              <a:ext uri="{FF2B5EF4-FFF2-40B4-BE49-F238E27FC236}">
                <a16:creationId xmlns:a16="http://schemas.microsoft.com/office/drawing/2014/main" id="{D2C00B7A-1BAC-1160-7423-2D7D10ED674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5845" name="Rectangle 6">
            <a:extLst>
              <a:ext uri="{FF2B5EF4-FFF2-40B4-BE49-F238E27FC236}">
                <a16:creationId xmlns:a16="http://schemas.microsoft.com/office/drawing/2014/main" id="{A66A801D-9771-55CE-CF15-E0283B4480A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5846" name="Rectangle 8">
            <a:extLst>
              <a:ext uri="{FF2B5EF4-FFF2-40B4-BE49-F238E27FC236}">
                <a16:creationId xmlns:a16="http://schemas.microsoft.com/office/drawing/2014/main" id="{D2A9ACA5-2599-9E00-8E36-DB79A787D2A5}"/>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5847" name="Rectangle 9">
            <a:extLst>
              <a:ext uri="{FF2B5EF4-FFF2-40B4-BE49-F238E27FC236}">
                <a16:creationId xmlns:a16="http://schemas.microsoft.com/office/drawing/2014/main" id="{18DA6461-EE59-2D10-F035-88E72905E0F7}"/>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48" name="Rectangle 2">
            <a:extLst>
              <a:ext uri="{FF2B5EF4-FFF2-40B4-BE49-F238E27FC236}">
                <a16:creationId xmlns:a16="http://schemas.microsoft.com/office/drawing/2014/main" id="{31DF239A-6076-B7A0-3C9C-CD141AB2912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49" name="Rectangle 4">
            <a:extLst>
              <a:ext uri="{FF2B5EF4-FFF2-40B4-BE49-F238E27FC236}">
                <a16:creationId xmlns:a16="http://schemas.microsoft.com/office/drawing/2014/main" id="{446118A7-BA71-6DDF-EA3A-CC489486EB2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0" name="Rectangle 6">
            <a:extLst>
              <a:ext uri="{FF2B5EF4-FFF2-40B4-BE49-F238E27FC236}">
                <a16:creationId xmlns:a16="http://schemas.microsoft.com/office/drawing/2014/main" id="{91274AB3-3142-A8B3-053B-A36F7BDCF93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1" name="Rectangle 8">
            <a:extLst>
              <a:ext uri="{FF2B5EF4-FFF2-40B4-BE49-F238E27FC236}">
                <a16:creationId xmlns:a16="http://schemas.microsoft.com/office/drawing/2014/main" id="{BA8E8BF0-1E20-7198-894B-7FF52085401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2" name="Rectangle 10">
            <a:extLst>
              <a:ext uri="{FF2B5EF4-FFF2-40B4-BE49-F238E27FC236}">
                <a16:creationId xmlns:a16="http://schemas.microsoft.com/office/drawing/2014/main" id="{4CF9B08E-8D39-A2FD-4951-4BE8D7567BF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3" name="Rectangle 12">
            <a:extLst>
              <a:ext uri="{FF2B5EF4-FFF2-40B4-BE49-F238E27FC236}">
                <a16:creationId xmlns:a16="http://schemas.microsoft.com/office/drawing/2014/main" id="{CF01C999-42F1-4354-C7DB-5FE97EE178C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4" name="Rectangle 2">
            <a:extLst>
              <a:ext uri="{FF2B5EF4-FFF2-40B4-BE49-F238E27FC236}">
                <a16:creationId xmlns:a16="http://schemas.microsoft.com/office/drawing/2014/main" id="{0B9CE48D-069D-19CE-4492-C3BDAD01AAD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5" name="Rectangle 4">
            <a:extLst>
              <a:ext uri="{FF2B5EF4-FFF2-40B4-BE49-F238E27FC236}">
                <a16:creationId xmlns:a16="http://schemas.microsoft.com/office/drawing/2014/main" id="{F463B5AD-1DEB-CC72-0F89-3DBE6482A54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6" name="Rectangle 6">
            <a:extLst>
              <a:ext uri="{FF2B5EF4-FFF2-40B4-BE49-F238E27FC236}">
                <a16:creationId xmlns:a16="http://schemas.microsoft.com/office/drawing/2014/main" id="{C21B9F09-5FA5-8085-C08D-1304499A57D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7" name="Rectangle 8">
            <a:extLst>
              <a:ext uri="{FF2B5EF4-FFF2-40B4-BE49-F238E27FC236}">
                <a16:creationId xmlns:a16="http://schemas.microsoft.com/office/drawing/2014/main" id="{BE498AE7-32D9-E94D-B226-BCF468601CC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8" name="Rectangle 10">
            <a:extLst>
              <a:ext uri="{FF2B5EF4-FFF2-40B4-BE49-F238E27FC236}">
                <a16:creationId xmlns:a16="http://schemas.microsoft.com/office/drawing/2014/main" id="{BBE89FAA-772B-6242-9E2D-CF3B7E18241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59" name="Rectangle 2">
            <a:extLst>
              <a:ext uri="{FF2B5EF4-FFF2-40B4-BE49-F238E27FC236}">
                <a16:creationId xmlns:a16="http://schemas.microsoft.com/office/drawing/2014/main" id="{033470D9-66F5-C87B-037B-43CFFF86C84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60" name="Rectangle 4">
            <a:extLst>
              <a:ext uri="{FF2B5EF4-FFF2-40B4-BE49-F238E27FC236}">
                <a16:creationId xmlns:a16="http://schemas.microsoft.com/office/drawing/2014/main" id="{06D23ADB-42FA-5BCD-0641-E8082327787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5861" name="Rectangle 7">
            <a:extLst>
              <a:ext uri="{FF2B5EF4-FFF2-40B4-BE49-F238E27FC236}">
                <a16:creationId xmlns:a16="http://schemas.microsoft.com/office/drawing/2014/main" id="{D24E769C-F904-C792-4E17-39CFC5E6D05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E9A0729A-E6E0-C04A-D035-1D502B571597}"/>
              </a:ext>
            </a:extLst>
          </p:cNvPr>
          <p:cNvSpPr>
            <a:spLocks noGrp="1"/>
          </p:cNvSpPr>
          <p:nvPr>
            <p:ph sz="quarter" idx="1"/>
          </p:nvPr>
        </p:nvSpPr>
        <p:spPr>
          <a:xfrm>
            <a:off x="113658" y="1004889"/>
            <a:ext cx="7811141" cy="4648200"/>
          </a:xfrm>
        </p:spPr>
        <p:txBody>
          <a:bodyPr/>
          <a:lstStyle/>
          <a:p>
            <a:pPr indent="457200">
              <a:buNone/>
              <a:defRPr/>
            </a:pPr>
            <a:endParaRPr lang="en-US" sz="2400" dirty="0">
              <a:solidFill>
                <a:srgbClr val="0070C0"/>
              </a:solidFill>
            </a:endParaRPr>
          </a:p>
          <a:p>
            <a:pPr indent="457200">
              <a:defRPr/>
            </a:pPr>
            <a:r>
              <a:rPr lang="en-US" sz="2400" dirty="0">
                <a:latin typeface="Arial" panose="020B0604020202020204" pitchFamily="34" charset="0"/>
                <a:cs typeface="Arial" panose="020B0604020202020204" pitchFamily="34" charset="0"/>
              </a:rPr>
              <a:t>A separately excited dc generator is a generator whose field current is supplied by a separate external dc voltage source.</a:t>
            </a:r>
          </a:p>
          <a:p>
            <a:pPr indent="457200">
              <a:defRPr/>
            </a:pPr>
            <a:endParaRPr lang="en-US" sz="2400" dirty="0">
              <a:latin typeface="Arial" panose="020B0604020202020204" pitchFamily="34" charset="0"/>
              <a:cs typeface="Arial" panose="020B0604020202020204" pitchFamily="34" charset="0"/>
            </a:endParaRPr>
          </a:p>
          <a:p>
            <a:pPr indent="457200">
              <a:defRPr/>
            </a:pPr>
            <a:r>
              <a:rPr lang="en-US" sz="2400" dirty="0">
                <a:latin typeface="Arial" panose="020B0604020202020204" pitchFamily="34" charset="0"/>
                <a:cs typeface="Arial" panose="020B0604020202020204" pitchFamily="34" charset="0"/>
              </a:rPr>
              <a:t>By Kirchhoff's voltage law, the terminal 	voltage is</a:t>
            </a:r>
          </a:p>
          <a:p>
            <a:pPr indent="457200">
              <a:defRPr/>
            </a:pPr>
            <a:r>
              <a:rPr lang="en-US" sz="2400" dirty="0">
                <a:latin typeface="Arial" panose="020B0604020202020204" pitchFamily="34" charset="0"/>
                <a:cs typeface="Arial" panose="020B0604020202020204" pitchFamily="34" charset="0"/>
              </a:rPr>
              <a:t>Since the internal generated voltage is 	independent of </a:t>
            </a:r>
            <a:r>
              <a:rPr lang="en-US" sz="2400" dirty="0" err="1">
                <a:latin typeface="Arial" panose="020B0604020202020204" pitchFamily="34" charset="0"/>
                <a:cs typeface="Arial" panose="020B0604020202020204" pitchFamily="34" charset="0"/>
              </a:rPr>
              <a:t>lA</a:t>
            </a:r>
            <a:r>
              <a:rPr lang="en-US" sz="2400" dirty="0">
                <a:latin typeface="Arial" panose="020B0604020202020204" pitchFamily="34" charset="0"/>
                <a:cs typeface="Arial" panose="020B0604020202020204" pitchFamily="34" charset="0"/>
              </a:rPr>
              <a:t> the terminal 	characteristic of the separately excited 	generator is a straight line</a:t>
            </a:r>
          </a:p>
          <a:p>
            <a:pPr indent="0">
              <a:buNone/>
              <a:defRPr/>
            </a:pPr>
            <a:endParaRPr lang="en-US" sz="1400" dirty="0">
              <a:latin typeface="Times New Roman" pitchFamily="18" charset="0"/>
              <a:cs typeface="Times New Roman" pitchFamily="18" charset="0"/>
            </a:endParaRPr>
          </a:p>
        </p:txBody>
      </p:sp>
      <p:sp>
        <p:nvSpPr>
          <p:cNvPr id="35863" name="Rectangle 2">
            <a:extLst>
              <a:ext uri="{FF2B5EF4-FFF2-40B4-BE49-F238E27FC236}">
                <a16:creationId xmlns:a16="http://schemas.microsoft.com/office/drawing/2014/main" id="{3F521EFA-AEC4-5442-7879-A13167D4AA7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5864" name="Picture 25">
            <a:extLst>
              <a:ext uri="{FF2B5EF4-FFF2-40B4-BE49-F238E27FC236}">
                <a16:creationId xmlns:a16="http://schemas.microsoft.com/office/drawing/2014/main" id="{BDFFD7E0-21C7-A242-1B1D-FCAE89E702D8}"/>
              </a:ext>
            </a:extLst>
          </p:cNvPr>
          <p:cNvPicPr>
            <a:picLocks noChangeAspect="1" noChangeArrowheads="1"/>
          </p:cNvPicPr>
          <p:nvPr/>
        </p:nvPicPr>
        <p:blipFill>
          <a:blip r:embed="rId2">
            <a:lum bright="-10000" contrast="40000"/>
            <a:extLst>
              <a:ext uri="{28A0092B-C50C-407E-A947-70E740481C1C}">
                <a14:useLocalDpi xmlns:a14="http://schemas.microsoft.com/office/drawing/2010/main" val="0"/>
              </a:ext>
            </a:extLst>
          </a:blip>
          <a:srcRect t="4793" b="1607"/>
          <a:stretch>
            <a:fillRect/>
          </a:stretch>
        </p:blipFill>
        <p:spPr bwMode="auto">
          <a:xfrm rot="-60000">
            <a:off x="8235799" y="1074760"/>
            <a:ext cx="3505005" cy="2056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5" name="Rectangle 2">
            <a:extLst>
              <a:ext uri="{FF2B5EF4-FFF2-40B4-BE49-F238E27FC236}">
                <a16:creationId xmlns:a16="http://schemas.microsoft.com/office/drawing/2014/main" id="{819C030E-7A31-36ED-8011-C9D3EFC7A6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5866" name="Picture 1">
            <a:extLst>
              <a:ext uri="{FF2B5EF4-FFF2-40B4-BE49-F238E27FC236}">
                <a16:creationId xmlns:a16="http://schemas.microsoft.com/office/drawing/2014/main" id="{0F8EE418-7309-7218-B120-9D44E95DCFD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2877" y="3508376"/>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7" name="Picture 28">
            <a:extLst>
              <a:ext uri="{FF2B5EF4-FFF2-40B4-BE49-F238E27FC236}">
                <a16:creationId xmlns:a16="http://schemas.microsoft.com/office/drawing/2014/main" id="{4A441231-2A09-142E-2305-2FC0CF5B2335}"/>
              </a:ext>
            </a:extLst>
          </p:cNvPr>
          <p:cNvPicPr>
            <a:picLocks noChangeAspect="1" noChangeArrowheads="1"/>
          </p:cNvPicPr>
          <p:nvPr/>
        </p:nvPicPr>
        <p:blipFill>
          <a:blip r:embed="rId4">
            <a:lum bright="-10000" contrast="40000"/>
            <a:extLst>
              <a:ext uri="{28A0092B-C50C-407E-A947-70E740481C1C}">
                <a14:useLocalDpi xmlns:a14="http://schemas.microsoft.com/office/drawing/2010/main" val="0"/>
              </a:ext>
            </a:extLst>
          </a:blip>
          <a:srcRect l="3944" t="5511" r="5312" b="4199"/>
          <a:stretch>
            <a:fillRect/>
          </a:stretch>
        </p:blipFill>
        <p:spPr bwMode="auto">
          <a:xfrm>
            <a:off x="7924801" y="3644901"/>
            <a:ext cx="21621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8" name="Picture 30">
            <a:extLst>
              <a:ext uri="{FF2B5EF4-FFF2-40B4-BE49-F238E27FC236}">
                <a16:creationId xmlns:a16="http://schemas.microsoft.com/office/drawing/2014/main" id="{7A40200F-C76C-4041-E65F-5CC67BE98AE6}"/>
              </a:ext>
            </a:extLst>
          </p:cNvPr>
          <p:cNvPicPr>
            <a:picLocks noChangeAspect="1" noChangeArrowheads="1"/>
          </p:cNvPicPr>
          <p:nvPr/>
        </p:nvPicPr>
        <p:blipFill>
          <a:blip r:embed="rId5">
            <a:lum bright="-10000" contrast="40000"/>
            <a:extLst>
              <a:ext uri="{28A0092B-C50C-407E-A947-70E740481C1C}">
                <a14:useLocalDpi xmlns:a14="http://schemas.microsoft.com/office/drawing/2010/main" val="0"/>
              </a:ext>
            </a:extLst>
          </a:blip>
          <a:srcRect l="1669" r="2838"/>
          <a:stretch>
            <a:fillRect/>
          </a:stretch>
        </p:blipFill>
        <p:spPr bwMode="auto">
          <a:xfrm>
            <a:off x="7924801" y="5029201"/>
            <a:ext cx="2066925"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9" name="Rectangle 31">
            <a:extLst>
              <a:ext uri="{FF2B5EF4-FFF2-40B4-BE49-F238E27FC236}">
                <a16:creationId xmlns:a16="http://schemas.microsoft.com/office/drawing/2014/main" id="{D281A649-88E6-9207-C458-16788B27F682}"/>
              </a:ext>
            </a:extLst>
          </p:cNvPr>
          <p:cNvSpPr>
            <a:spLocks noChangeArrowheads="1"/>
          </p:cNvSpPr>
          <p:nvPr/>
        </p:nvSpPr>
        <p:spPr bwMode="auto">
          <a:xfrm>
            <a:off x="7772401" y="3200401"/>
            <a:ext cx="2581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A separately excited dc generator</a:t>
            </a:r>
          </a:p>
        </p:txBody>
      </p:sp>
      <p:sp>
        <p:nvSpPr>
          <p:cNvPr id="35870" name="Rectangle 32">
            <a:extLst>
              <a:ext uri="{FF2B5EF4-FFF2-40B4-BE49-F238E27FC236}">
                <a16:creationId xmlns:a16="http://schemas.microsoft.com/office/drawing/2014/main" id="{A6F8D92D-2601-77B7-3DBE-F1D5B030ACEA}"/>
              </a:ext>
            </a:extLst>
          </p:cNvPr>
          <p:cNvSpPr>
            <a:spLocks noChangeArrowheads="1"/>
          </p:cNvSpPr>
          <p:nvPr/>
        </p:nvSpPr>
        <p:spPr bwMode="auto">
          <a:xfrm>
            <a:off x="4343400" y="6324601"/>
            <a:ext cx="609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terminal characteristic (a) with and (b) without compensating windings</a:t>
            </a:r>
          </a:p>
        </p:txBody>
      </p:sp>
    </p:spTree>
    <p:extLst>
      <p:ext uri="{BB962C8B-B14F-4D97-AF65-F5344CB8AC3E}">
        <p14:creationId xmlns:p14="http://schemas.microsoft.com/office/powerpoint/2010/main" val="143310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F5D76-A21B-30BC-3780-92AC51AB5130}"/>
            </a:ext>
          </a:extLst>
        </p:cNvPr>
        <p:cNvGrpSpPr/>
        <p:nvPr/>
      </p:nvGrpSpPr>
      <p:grpSpPr>
        <a:xfrm>
          <a:off x="0" y="0"/>
          <a:ext cx="0" cy="0"/>
          <a:chOff x="0" y="0"/>
          <a:chExt cx="0" cy="0"/>
        </a:xfrm>
      </p:grpSpPr>
      <p:sp>
        <p:nvSpPr>
          <p:cNvPr id="36867" name="Title 1">
            <a:extLst>
              <a:ext uri="{FF2B5EF4-FFF2-40B4-BE49-F238E27FC236}">
                <a16:creationId xmlns:a16="http://schemas.microsoft.com/office/drawing/2014/main" id="{7CA76F63-9D1A-3E17-E0A8-C03D12D1AB7B}"/>
              </a:ext>
            </a:extLst>
          </p:cNvPr>
          <p:cNvSpPr>
            <a:spLocks noGrp="1"/>
          </p:cNvSpPr>
          <p:nvPr>
            <p:ph type="title"/>
          </p:nvPr>
        </p:nvSpPr>
        <p:spPr>
          <a:xfrm>
            <a:off x="1616366" y="1022866"/>
            <a:ext cx="7772400" cy="685800"/>
          </a:xfrm>
        </p:spPr>
        <p:txBody>
          <a:bodyPr/>
          <a:lstStyle/>
          <a:p>
            <a:pPr algn="ctr" eaLnBrk="1" hangingPunct="1"/>
            <a:r>
              <a:rPr lang="en-US" altLang="en-US" sz="3200" dirty="0"/>
              <a:t>The Separately Excited Generator</a:t>
            </a:r>
          </a:p>
        </p:txBody>
      </p:sp>
      <p:sp>
        <p:nvSpPr>
          <p:cNvPr id="36868" name="Rectangle 4">
            <a:extLst>
              <a:ext uri="{FF2B5EF4-FFF2-40B4-BE49-F238E27FC236}">
                <a16:creationId xmlns:a16="http://schemas.microsoft.com/office/drawing/2014/main" id="{FCA2A51D-7E5B-C050-A3CC-54AADC6FAA6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6869" name="Rectangle 6">
            <a:extLst>
              <a:ext uri="{FF2B5EF4-FFF2-40B4-BE49-F238E27FC236}">
                <a16:creationId xmlns:a16="http://schemas.microsoft.com/office/drawing/2014/main" id="{A36E1915-2895-76AC-3CF8-DFF0311CE05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6870" name="Rectangle 8">
            <a:extLst>
              <a:ext uri="{FF2B5EF4-FFF2-40B4-BE49-F238E27FC236}">
                <a16:creationId xmlns:a16="http://schemas.microsoft.com/office/drawing/2014/main" id="{5478CBB8-AAC7-7168-862A-2F5B152DCDA4}"/>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6871" name="Rectangle 9">
            <a:extLst>
              <a:ext uri="{FF2B5EF4-FFF2-40B4-BE49-F238E27FC236}">
                <a16:creationId xmlns:a16="http://schemas.microsoft.com/office/drawing/2014/main" id="{B26324B0-54C3-11E1-497D-F9D90EE4CE07}"/>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2" name="Rectangle 2">
            <a:extLst>
              <a:ext uri="{FF2B5EF4-FFF2-40B4-BE49-F238E27FC236}">
                <a16:creationId xmlns:a16="http://schemas.microsoft.com/office/drawing/2014/main" id="{514F6C38-D43B-B9C8-C751-FC428138839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3" name="Rectangle 4">
            <a:extLst>
              <a:ext uri="{FF2B5EF4-FFF2-40B4-BE49-F238E27FC236}">
                <a16:creationId xmlns:a16="http://schemas.microsoft.com/office/drawing/2014/main" id="{5DB4CA7C-3DF7-8D2D-039E-D281030E9F5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4" name="Rectangle 6">
            <a:extLst>
              <a:ext uri="{FF2B5EF4-FFF2-40B4-BE49-F238E27FC236}">
                <a16:creationId xmlns:a16="http://schemas.microsoft.com/office/drawing/2014/main" id="{D1EB28B2-4006-12CB-79EA-A91389D215A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5" name="Rectangle 8">
            <a:extLst>
              <a:ext uri="{FF2B5EF4-FFF2-40B4-BE49-F238E27FC236}">
                <a16:creationId xmlns:a16="http://schemas.microsoft.com/office/drawing/2014/main" id="{46F7FF1D-B101-5B3C-2F09-012C055E0D4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6" name="Rectangle 10">
            <a:extLst>
              <a:ext uri="{FF2B5EF4-FFF2-40B4-BE49-F238E27FC236}">
                <a16:creationId xmlns:a16="http://schemas.microsoft.com/office/drawing/2014/main" id="{1B42AB2E-A273-4520-CD42-D8C3A07478F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7" name="Rectangle 12">
            <a:extLst>
              <a:ext uri="{FF2B5EF4-FFF2-40B4-BE49-F238E27FC236}">
                <a16:creationId xmlns:a16="http://schemas.microsoft.com/office/drawing/2014/main" id="{47C8E918-0C4E-E27D-8FC4-F7016C69EEC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8" name="Rectangle 2">
            <a:extLst>
              <a:ext uri="{FF2B5EF4-FFF2-40B4-BE49-F238E27FC236}">
                <a16:creationId xmlns:a16="http://schemas.microsoft.com/office/drawing/2014/main" id="{EC146E74-D1E5-19A3-38F7-45EEDA4CF70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79" name="Rectangle 4">
            <a:extLst>
              <a:ext uri="{FF2B5EF4-FFF2-40B4-BE49-F238E27FC236}">
                <a16:creationId xmlns:a16="http://schemas.microsoft.com/office/drawing/2014/main" id="{59D510E8-3AE7-2EDF-37A0-28B019E55A3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0" name="Rectangle 6">
            <a:extLst>
              <a:ext uri="{FF2B5EF4-FFF2-40B4-BE49-F238E27FC236}">
                <a16:creationId xmlns:a16="http://schemas.microsoft.com/office/drawing/2014/main" id="{ECC91990-679E-7244-29A3-53424053F2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1" name="Rectangle 8">
            <a:extLst>
              <a:ext uri="{FF2B5EF4-FFF2-40B4-BE49-F238E27FC236}">
                <a16:creationId xmlns:a16="http://schemas.microsoft.com/office/drawing/2014/main" id="{B4A5955A-D2C7-AFE6-B33D-7A2CFA5F0E2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2" name="Rectangle 10">
            <a:extLst>
              <a:ext uri="{FF2B5EF4-FFF2-40B4-BE49-F238E27FC236}">
                <a16:creationId xmlns:a16="http://schemas.microsoft.com/office/drawing/2014/main" id="{FA53D57D-A294-7393-C983-078407EC50D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3" name="Rectangle 2">
            <a:extLst>
              <a:ext uri="{FF2B5EF4-FFF2-40B4-BE49-F238E27FC236}">
                <a16:creationId xmlns:a16="http://schemas.microsoft.com/office/drawing/2014/main" id="{69EDF9A7-F11E-C116-190F-BD4BF176AD7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4" name="Rectangle 4">
            <a:extLst>
              <a:ext uri="{FF2B5EF4-FFF2-40B4-BE49-F238E27FC236}">
                <a16:creationId xmlns:a16="http://schemas.microsoft.com/office/drawing/2014/main" id="{E5C64DAD-EFC8-1360-16B6-B9E23CC669C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5" name="Rectangle 7">
            <a:extLst>
              <a:ext uri="{FF2B5EF4-FFF2-40B4-BE49-F238E27FC236}">
                <a16:creationId xmlns:a16="http://schemas.microsoft.com/office/drawing/2014/main" id="{D3AC085E-BB75-11A5-2A70-F045F8A97D3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6" name="Content Placeholder 33">
            <a:extLst>
              <a:ext uri="{FF2B5EF4-FFF2-40B4-BE49-F238E27FC236}">
                <a16:creationId xmlns:a16="http://schemas.microsoft.com/office/drawing/2014/main" id="{7E6641B8-4087-9DF7-1F74-0D2A10530214}"/>
              </a:ext>
            </a:extLst>
          </p:cNvPr>
          <p:cNvSpPr>
            <a:spLocks noGrp="1"/>
          </p:cNvSpPr>
          <p:nvPr>
            <p:ph sz="quarter" idx="1"/>
          </p:nvPr>
        </p:nvSpPr>
        <p:spPr>
          <a:xfrm>
            <a:off x="1024270" y="1984376"/>
            <a:ext cx="6019800" cy="4648200"/>
          </a:xfrm>
        </p:spPr>
        <p:txBody>
          <a:bodyPr/>
          <a:lstStyle/>
          <a:p>
            <a:pPr indent="457200">
              <a:buNone/>
            </a:pPr>
            <a:r>
              <a:rPr lang="en-US" altLang="en-US" sz="2400" dirty="0">
                <a:solidFill>
                  <a:srgbClr val="0070C0"/>
                </a:solidFill>
              </a:rPr>
              <a:t>Control of Terminal Voltage &gt; two methods</a:t>
            </a:r>
          </a:p>
          <a:p>
            <a:pPr indent="457200"/>
            <a:r>
              <a:rPr lang="en-US" altLang="en-US" sz="2400" dirty="0"/>
              <a:t>Change the speed of rotation</a:t>
            </a:r>
          </a:p>
          <a:p>
            <a:pPr indent="457200"/>
            <a:r>
              <a:rPr lang="en-US" altLang="en-US" sz="2400" dirty="0"/>
              <a:t>E</a:t>
            </a:r>
            <a:r>
              <a:rPr lang="en-US" altLang="en-US" sz="2400" baseline="-25000" dirty="0"/>
              <a:t>A</a:t>
            </a:r>
            <a:r>
              <a:rPr lang="en-US" altLang="en-US" sz="2400" dirty="0"/>
              <a:t> = </a:t>
            </a:r>
            <a:r>
              <a:rPr lang="en-US" altLang="en-US" sz="2400" dirty="0" err="1"/>
              <a:t>KФω</a:t>
            </a:r>
            <a:r>
              <a:rPr lang="en-US" altLang="en-US" sz="2400" dirty="0"/>
              <a:t>↑ &gt;VT = E</a:t>
            </a:r>
            <a:r>
              <a:rPr lang="en-US" altLang="en-US" sz="1400" dirty="0"/>
              <a:t>A</a:t>
            </a:r>
            <a:r>
              <a:rPr lang="en-US" altLang="en-US" sz="2400" dirty="0"/>
              <a:t> ↑ - </a:t>
            </a:r>
            <a:r>
              <a:rPr lang="en-US" altLang="en-US" sz="2400" dirty="0" err="1"/>
              <a:t>l</a:t>
            </a:r>
            <a:r>
              <a:rPr lang="en-US" altLang="en-US" sz="2400" baseline="-25000" dirty="0" err="1"/>
              <a:t>A</a:t>
            </a:r>
            <a:r>
              <a:rPr lang="en-US" altLang="en-US" sz="2400" dirty="0" err="1"/>
              <a:t>R</a:t>
            </a:r>
            <a:r>
              <a:rPr lang="en-US" altLang="en-US" sz="2400" baseline="-25000" dirty="0" err="1"/>
              <a:t>A</a:t>
            </a:r>
            <a:r>
              <a:rPr lang="en-US" altLang="en-US" sz="2400" dirty="0"/>
              <a:t> &gt; V</a:t>
            </a:r>
            <a:r>
              <a:rPr lang="en-US" altLang="en-US" sz="1600" dirty="0"/>
              <a:t>T</a:t>
            </a:r>
            <a:r>
              <a:rPr lang="en-US" altLang="en-US" sz="2400" dirty="0"/>
              <a:t> ↑</a:t>
            </a:r>
            <a:endParaRPr lang="en-US" altLang="en-US" sz="2400" dirty="0">
              <a:solidFill>
                <a:srgbClr val="0070C0"/>
              </a:solidFill>
            </a:endParaRPr>
          </a:p>
          <a:p>
            <a:pPr indent="457200"/>
            <a:endParaRPr lang="en-US" altLang="en-US" sz="2400" dirty="0">
              <a:solidFill>
                <a:srgbClr val="0070C0"/>
              </a:solidFill>
            </a:endParaRPr>
          </a:p>
          <a:p>
            <a:pPr indent="457200"/>
            <a:r>
              <a:rPr lang="en-US" altLang="en-US" sz="2400" dirty="0">
                <a:solidFill>
                  <a:srgbClr val="0070C0"/>
                </a:solidFill>
              </a:rPr>
              <a:t>Change the field current.</a:t>
            </a:r>
          </a:p>
          <a:p>
            <a:pPr indent="457200"/>
            <a:r>
              <a:rPr lang="en-US" altLang="en-US" sz="2400" dirty="0"/>
              <a:t>I</a:t>
            </a:r>
            <a:r>
              <a:rPr lang="en-US" altLang="en-US" sz="2400" baseline="-25000" dirty="0"/>
              <a:t>F</a:t>
            </a:r>
            <a:r>
              <a:rPr lang="en-US" altLang="en-US" sz="2400" dirty="0"/>
              <a:t> = VF/R</a:t>
            </a:r>
            <a:r>
              <a:rPr lang="en-US" altLang="en-US" sz="2400" baseline="-25000" dirty="0"/>
              <a:t>F</a:t>
            </a:r>
            <a:r>
              <a:rPr lang="en-US" altLang="en-US" sz="2400" dirty="0"/>
              <a:t>↓ &gt; I</a:t>
            </a:r>
            <a:r>
              <a:rPr lang="en-US" altLang="en-US" sz="2400" baseline="-25000" dirty="0"/>
              <a:t>F</a:t>
            </a:r>
            <a:r>
              <a:rPr lang="en-US" altLang="en-US" sz="2400" dirty="0"/>
              <a:t> ↑ &gt; Ф ↑&gt; E</a:t>
            </a:r>
            <a:r>
              <a:rPr lang="en-US" altLang="en-US" sz="2400" baseline="-25000" dirty="0"/>
              <a:t>A</a:t>
            </a:r>
            <a:r>
              <a:rPr lang="en-US" altLang="en-US" sz="2400" dirty="0"/>
              <a:t> = </a:t>
            </a:r>
            <a:r>
              <a:rPr lang="en-US" altLang="en-US" sz="2400" dirty="0" err="1"/>
              <a:t>KФ↑ω</a:t>
            </a:r>
            <a:r>
              <a:rPr lang="en-US" altLang="en-US" sz="2400" dirty="0"/>
              <a:t> &gt;</a:t>
            </a:r>
          </a:p>
          <a:p>
            <a:pPr indent="457200"/>
            <a:r>
              <a:rPr lang="en-US" altLang="en-US" sz="2400" dirty="0"/>
              <a:t>V</a:t>
            </a:r>
            <a:r>
              <a:rPr lang="en-US" altLang="en-US" sz="2400" baseline="-25000" dirty="0"/>
              <a:t>T </a:t>
            </a:r>
            <a:r>
              <a:rPr lang="en-US" altLang="en-US" sz="2400" dirty="0"/>
              <a:t>= E</a:t>
            </a:r>
            <a:r>
              <a:rPr lang="en-US" altLang="en-US" sz="2400" baseline="-25000" dirty="0"/>
              <a:t>A</a:t>
            </a:r>
            <a:r>
              <a:rPr lang="en-US" altLang="en-US" sz="2400" dirty="0"/>
              <a:t> ↑ - </a:t>
            </a:r>
            <a:r>
              <a:rPr lang="en-US" altLang="en-US" sz="2400" dirty="0" err="1"/>
              <a:t>l</a:t>
            </a:r>
            <a:r>
              <a:rPr lang="en-US" altLang="en-US" sz="2400" baseline="-25000" dirty="0" err="1"/>
              <a:t>A</a:t>
            </a:r>
            <a:r>
              <a:rPr lang="en-US" altLang="en-US" sz="2400" dirty="0"/>
              <a:t> R</a:t>
            </a:r>
            <a:r>
              <a:rPr lang="en-US" altLang="en-US" sz="2400" baseline="-25000" dirty="0"/>
              <a:t>A </a:t>
            </a:r>
            <a:r>
              <a:rPr lang="en-US" altLang="en-US" sz="2400" dirty="0">
                <a:solidFill>
                  <a:srgbClr val="0070C0"/>
                </a:solidFill>
              </a:rPr>
              <a:t>&gt; </a:t>
            </a:r>
            <a:r>
              <a:rPr lang="en-US" altLang="en-US" sz="2400" dirty="0"/>
              <a:t>V</a:t>
            </a:r>
            <a:r>
              <a:rPr lang="en-US" altLang="en-US" sz="1600" dirty="0"/>
              <a:t>T</a:t>
            </a:r>
            <a:r>
              <a:rPr lang="en-US" altLang="en-US" sz="2400" dirty="0"/>
              <a:t> ↑</a:t>
            </a:r>
            <a:endParaRPr lang="en-US" altLang="en-US" sz="2400" dirty="0">
              <a:solidFill>
                <a:srgbClr val="0070C0"/>
              </a:solidFill>
            </a:endParaRPr>
          </a:p>
        </p:txBody>
      </p:sp>
      <p:sp>
        <p:nvSpPr>
          <p:cNvPr id="36887" name="Rectangle 2">
            <a:extLst>
              <a:ext uri="{FF2B5EF4-FFF2-40B4-BE49-F238E27FC236}">
                <a16:creationId xmlns:a16="http://schemas.microsoft.com/office/drawing/2014/main" id="{0D018C96-339C-E88B-4591-9FF0DDC8B2A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8" name="Rectangle 2">
            <a:extLst>
              <a:ext uri="{FF2B5EF4-FFF2-40B4-BE49-F238E27FC236}">
                <a16:creationId xmlns:a16="http://schemas.microsoft.com/office/drawing/2014/main" id="{44CE9FD2-8DFC-0B0B-1F83-067A3F53137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6889" name="Rectangle 32">
            <a:extLst>
              <a:ext uri="{FF2B5EF4-FFF2-40B4-BE49-F238E27FC236}">
                <a16:creationId xmlns:a16="http://schemas.microsoft.com/office/drawing/2014/main" id="{C5918DEA-6E07-374A-DA0A-116C2E2BA556}"/>
              </a:ext>
            </a:extLst>
          </p:cNvPr>
          <p:cNvSpPr>
            <a:spLocks noChangeArrowheads="1"/>
          </p:cNvSpPr>
          <p:nvPr/>
        </p:nvSpPr>
        <p:spPr bwMode="auto">
          <a:xfrm>
            <a:off x="4343400" y="6324601"/>
            <a:ext cx="609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terminal characteristic (a) with and (b) without compensating windings</a:t>
            </a:r>
          </a:p>
        </p:txBody>
      </p:sp>
    </p:spTree>
    <p:extLst>
      <p:ext uri="{BB962C8B-B14F-4D97-AF65-F5344CB8AC3E}">
        <p14:creationId xmlns:p14="http://schemas.microsoft.com/office/powerpoint/2010/main" val="3737097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1EC3-14D1-9BFD-83C5-83571CAED758}"/>
            </a:ext>
          </a:extLst>
        </p:cNvPr>
        <p:cNvGrpSpPr/>
        <p:nvPr/>
      </p:nvGrpSpPr>
      <p:grpSpPr>
        <a:xfrm>
          <a:off x="0" y="0"/>
          <a:ext cx="0" cy="0"/>
          <a:chOff x="0" y="0"/>
          <a:chExt cx="0" cy="0"/>
        </a:xfrm>
      </p:grpSpPr>
      <p:sp>
        <p:nvSpPr>
          <p:cNvPr id="37891" name="Title 1">
            <a:extLst>
              <a:ext uri="{FF2B5EF4-FFF2-40B4-BE49-F238E27FC236}">
                <a16:creationId xmlns:a16="http://schemas.microsoft.com/office/drawing/2014/main" id="{313CDB8D-4FF4-1570-C326-06132F5F3B92}"/>
              </a:ext>
            </a:extLst>
          </p:cNvPr>
          <p:cNvSpPr>
            <a:spLocks noGrp="1"/>
          </p:cNvSpPr>
          <p:nvPr>
            <p:ph type="title"/>
          </p:nvPr>
        </p:nvSpPr>
        <p:spPr>
          <a:xfrm>
            <a:off x="1752601" y="845806"/>
            <a:ext cx="7772400" cy="685800"/>
          </a:xfrm>
        </p:spPr>
        <p:txBody>
          <a:bodyPr/>
          <a:lstStyle/>
          <a:p>
            <a:pPr algn="ctr" eaLnBrk="1" hangingPunct="1"/>
            <a:r>
              <a:rPr lang="en-US" altLang="en-US" sz="3200" dirty="0"/>
              <a:t>The Separately Excited Generator</a:t>
            </a:r>
          </a:p>
        </p:txBody>
      </p:sp>
      <p:sp>
        <p:nvSpPr>
          <p:cNvPr id="37892" name="Rectangle 4">
            <a:extLst>
              <a:ext uri="{FF2B5EF4-FFF2-40B4-BE49-F238E27FC236}">
                <a16:creationId xmlns:a16="http://schemas.microsoft.com/office/drawing/2014/main" id="{84428D5A-C13D-C25E-58AE-B0DB9A1797C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7893" name="Rectangle 6">
            <a:extLst>
              <a:ext uri="{FF2B5EF4-FFF2-40B4-BE49-F238E27FC236}">
                <a16:creationId xmlns:a16="http://schemas.microsoft.com/office/drawing/2014/main" id="{95F8AC38-B6D9-5D5A-FBD2-6091CB0D426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7894" name="Rectangle 8">
            <a:extLst>
              <a:ext uri="{FF2B5EF4-FFF2-40B4-BE49-F238E27FC236}">
                <a16:creationId xmlns:a16="http://schemas.microsoft.com/office/drawing/2014/main" id="{1C7EA3A4-8D8E-A5FE-6DA7-1A8A02E15ACA}"/>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7895" name="Rectangle 9">
            <a:extLst>
              <a:ext uri="{FF2B5EF4-FFF2-40B4-BE49-F238E27FC236}">
                <a16:creationId xmlns:a16="http://schemas.microsoft.com/office/drawing/2014/main" id="{1DB698F4-2998-D147-312C-99BE5657A7DC}"/>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896" name="Rectangle 2">
            <a:extLst>
              <a:ext uri="{FF2B5EF4-FFF2-40B4-BE49-F238E27FC236}">
                <a16:creationId xmlns:a16="http://schemas.microsoft.com/office/drawing/2014/main" id="{1DD93083-59D0-E266-D27F-291C77CB7D4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897" name="Rectangle 4">
            <a:extLst>
              <a:ext uri="{FF2B5EF4-FFF2-40B4-BE49-F238E27FC236}">
                <a16:creationId xmlns:a16="http://schemas.microsoft.com/office/drawing/2014/main" id="{3520E283-83BB-B099-C4FA-C4113F9D41D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898" name="Rectangle 6">
            <a:extLst>
              <a:ext uri="{FF2B5EF4-FFF2-40B4-BE49-F238E27FC236}">
                <a16:creationId xmlns:a16="http://schemas.microsoft.com/office/drawing/2014/main" id="{AE1FE021-EAAF-D034-97EA-3EA82676853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899" name="Rectangle 8">
            <a:extLst>
              <a:ext uri="{FF2B5EF4-FFF2-40B4-BE49-F238E27FC236}">
                <a16:creationId xmlns:a16="http://schemas.microsoft.com/office/drawing/2014/main" id="{AF03E905-2D03-DE66-1102-5E016FAF19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0" name="Rectangle 10">
            <a:extLst>
              <a:ext uri="{FF2B5EF4-FFF2-40B4-BE49-F238E27FC236}">
                <a16:creationId xmlns:a16="http://schemas.microsoft.com/office/drawing/2014/main" id="{D37752A0-9453-3CEB-5929-D6A73A66E08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1" name="Rectangle 12">
            <a:extLst>
              <a:ext uri="{FF2B5EF4-FFF2-40B4-BE49-F238E27FC236}">
                <a16:creationId xmlns:a16="http://schemas.microsoft.com/office/drawing/2014/main" id="{6BA59E66-6C7E-3077-4533-127A1A7938E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2" name="Rectangle 2">
            <a:extLst>
              <a:ext uri="{FF2B5EF4-FFF2-40B4-BE49-F238E27FC236}">
                <a16:creationId xmlns:a16="http://schemas.microsoft.com/office/drawing/2014/main" id="{4031EAB0-8255-37F8-A40F-2793C05BF64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3" name="Rectangle 4">
            <a:extLst>
              <a:ext uri="{FF2B5EF4-FFF2-40B4-BE49-F238E27FC236}">
                <a16:creationId xmlns:a16="http://schemas.microsoft.com/office/drawing/2014/main" id="{9BB40336-29AD-5AFD-C24D-93AB240582E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4" name="Rectangle 6">
            <a:extLst>
              <a:ext uri="{FF2B5EF4-FFF2-40B4-BE49-F238E27FC236}">
                <a16:creationId xmlns:a16="http://schemas.microsoft.com/office/drawing/2014/main" id="{9F0D2BC9-E0FF-87EC-A9B9-2223D81BAA3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5" name="Rectangle 8">
            <a:extLst>
              <a:ext uri="{FF2B5EF4-FFF2-40B4-BE49-F238E27FC236}">
                <a16:creationId xmlns:a16="http://schemas.microsoft.com/office/drawing/2014/main" id="{59514DD8-785A-3D9F-0EA7-3354EFA41AC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6" name="Rectangle 10">
            <a:extLst>
              <a:ext uri="{FF2B5EF4-FFF2-40B4-BE49-F238E27FC236}">
                <a16:creationId xmlns:a16="http://schemas.microsoft.com/office/drawing/2014/main" id="{4C06A3A1-1621-A5DA-668F-2C588BE62BD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7" name="Rectangle 2">
            <a:extLst>
              <a:ext uri="{FF2B5EF4-FFF2-40B4-BE49-F238E27FC236}">
                <a16:creationId xmlns:a16="http://schemas.microsoft.com/office/drawing/2014/main" id="{1235DD44-B3BA-B3C3-F4EB-2DF9BF130E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8" name="Rectangle 4">
            <a:extLst>
              <a:ext uri="{FF2B5EF4-FFF2-40B4-BE49-F238E27FC236}">
                <a16:creationId xmlns:a16="http://schemas.microsoft.com/office/drawing/2014/main" id="{B0A5F23C-36BA-25BF-B86D-AD4BAE7555A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09" name="Rectangle 7">
            <a:extLst>
              <a:ext uri="{FF2B5EF4-FFF2-40B4-BE49-F238E27FC236}">
                <a16:creationId xmlns:a16="http://schemas.microsoft.com/office/drawing/2014/main" id="{C4970B81-AB8D-0658-F2B5-CA2528D63F5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5F64EDB8-01D5-066F-D2C1-5D9D61507724}"/>
              </a:ext>
            </a:extLst>
          </p:cNvPr>
          <p:cNvSpPr>
            <a:spLocks noGrp="1"/>
          </p:cNvSpPr>
          <p:nvPr>
            <p:ph sz="quarter" idx="1"/>
          </p:nvPr>
        </p:nvSpPr>
        <p:spPr>
          <a:xfrm>
            <a:off x="1524000" y="1600200"/>
            <a:ext cx="8915400" cy="4953000"/>
          </a:xfrm>
        </p:spPr>
        <p:txBody>
          <a:bodyPr/>
          <a:lstStyle/>
          <a:p>
            <a:pPr indent="0">
              <a:buNone/>
              <a:defRPr/>
            </a:pPr>
            <a:r>
              <a:rPr lang="en-US" sz="2400" dirty="0"/>
              <a:t>It is not possible to predict analytically the value of E</a:t>
            </a:r>
            <a:r>
              <a:rPr lang="en-US" sz="2400" baseline="-25000" dirty="0"/>
              <a:t>A</a:t>
            </a:r>
            <a:r>
              <a:rPr lang="en-US" sz="2400" dirty="0"/>
              <a:t> to be expected from a given field current. </a:t>
            </a:r>
          </a:p>
          <a:p>
            <a:pPr indent="457200">
              <a:defRPr/>
            </a:pPr>
            <a:r>
              <a:rPr lang="en-US" sz="2400" dirty="0"/>
              <a:t>Magnetization curve of the generator must be  used to </a:t>
            </a:r>
            <a:r>
              <a:rPr lang="en-US" sz="2400" dirty="0" err="1"/>
              <a:t>calculte</a:t>
            </a:r>
            <a:r>
              <a:rPr lang="en-US" sz="2400" dirty="0"/>
              <a:t> E</a:t>
            </a:r>
            <a:r>
              <a:rPr lang="en-US" sz="2400" baseline="-25000" dirty="0"/>
              <a:t>A</a:t>
            </a:r>
            <a:r>
              <a:rPr lang="en-US" sz="2400" dirty="0"/>
              <a:t> 	accurately.</a:t>
            </a:r>
          </a:p>
          <a:p>
            <a:pPr indent="457200">
              <a:defRPr/>
            </a:pPr>
            <a:r>
              <a:rPr lang="en-US" sz="2400" dirty="0"/>
              <a:t>Net </a:t>
            </a:r>
            <a:r>
              <a:rPr lang="en-US" sz="2400" dirty="0" err="1"/>
              <a:t>mmf</a:t>
            </a:r>
            <a:r>
              <a:rPr lang="en-US" sz="2400" dirty="0"/>
              <a:t> is                                       and I</a:t>
            </a:r>
            <a:r>
              <a:rPr lang="en-US" sz="1400" dirty="0"/>
              <a:t>F</a:t>
            </a:r>
            <a:r>
              <a:rPr lang="en-US" sz="2400" dirty="0"/>
              <a:t> equivalent is</a:t>
            </a:r>
          </a:p>
          <a:p>
            <a:pPr indent="457200">
              <a:defRPr/>
            </a:pPr>
            <a:r>
              <a:rPr lang="en-US" sz="2400" dirty="0"/>
              <a:t> </a:t>
            </a:r>
          </a:p>
          <a:p>
            <a:pPr indent="457200">
              <a:defRPr/>
            </a:pPr>
            <a:r>
              <a:rPr lang="en-US" sz="2400" dirty="0"/>
              <a:t>The magnetization curves for a generator are drawn for a particular 	speed, usually the rated speed of the machine. </a:t>
            </a:r>
          </a:p>
          <a:p>
            <a:pPr indent="457200">
              <a:defRPr/>
            </a:pPr>
            <a:endParaRPr lang="en-US" sz="2400" dirty="0"/>
          </a:p>
          <a:p>
            <a:pPr indent="457200">
              <a:defRPr/>
            </a:pPr>
            <a:r>
              <a:rPr lang="en-US" sz="2400" dirty="0"/>
              <a:t>If the machine is turning at other speeds than the E</a:t>
            </a:r>
            <a:r>
              <a:rPr lang="en-US" sz="1400" dirty="0"/>
              <a:t>A</a:t>
            </a:r>
            <a:r>
              <a:rPr lang="en-US" sz="2400" dirty="0"/>
              <a:t> in a machine is 	related to speed by</a:t>
            </a:r>
          </a:p>
          <a:p>
            <a:pPr indent="457200">
              <a:defRPr/>
            </a:pPr>
            <a:endParaRPr lang="en-US" sz="2400" dirty="0">
              <a:solidFill>
                <a:srgbClr val="0070C0"/>
              </a:solidFill>
            </a:endParaRPr>
          </a:p>
        </p:txBody>
      </p:sp>
      <p:sp>
        <p:nvSpPr>
          <p:cNvPr id="37911" name="Rectangle 2">
            <a:extLst>
              <a:ext uri="{FF2B5EF4-FFF2-40B4-BE49-F238E27FC236}">
                <a16:creationId xmlns:a16="http://schemas.microsoft.com/office/drawing/2014/main" id="{9CB3C599-4BB0-AA43-7372-90D87BF366C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12" name="Rectangle 2">
            <a:extLst>
              <a:ext uri="{FF2B5EF4-FFF2-40B4-BE49-F238E27FC236}">
                <a16:creationId xmlns:a16="http://schemas.microsoft.com/office/drawing/2014/main" id="{D700C961-11C5-1071-A1B4-228151B21DA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7913" name="Rectangle 2">
            <a:extLst>
              <a:ext uri="{FF2B5EF4-FFF2-40B4-BE49-F238E27FC236}">
                <a16:creationId xmlns:a16="http://schemas.microsoft.com/office/drawing/2014/main" id="{F47705B1-E731-D986-1558-4623070C5B3C}"/>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7914" name="Picture 1">
            <a:extLst>
              <a:ext uri="{FF2B5EF4-FFF2-40B4-BE49-F238E27FC236}">
                <a16:creationId xmlns:a16="http://schemas.microsoft.com/office/drawing/2014/main" id="{B273F322-A1E4-82C2-A359-3EE0318CA6A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86200" y="3276600"/>
            <a:ext cx="2247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5" name="Rectangle 3">
            <a:extLst>
              <a:ext uri="{FF2B5EF4-FFF2-40B4-BE49-F238E27FC236}">
                <a16:creationId xmlns:a16="http://schemas.microsoft.com/office/drawing/2014/main" id="{30555CCA-64D8-63D1-DC87-3D951E4B76BC}"/>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37916" name="Rectangle 5">
            <a:extLst>
              <a:ext uri="{FF2B5EF4-FFF2-40B4-BE49-F238E27FC236}">
                <a16:creationId xmlns:a16="http://schemas.microsoft.com/office/drawing/2014/main" id="{B1EBF3CE-2D94-D3F4-A244-4D8B80F8138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7917" name="Picture 4">
            <a:extLst>
              <a:ext uri="{FF2B5EF4-FFF2-40B4-BE49-F238E27FC236}">
                <a16:creationId xmlns:a16="http://schemas.microsoft.com/office/drawing/2014/main" id="{ED94576D-0376-7C2A-9056-1B90958BBC8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58200" y="3276600"/>
            <a:ext cx="18684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8" name="Rectangle 7">
            <a:extLst>
              <a:ext uri="{FF2B5EF4-FFF2-40B4-BE49-F238E27FC236}">
                <a16:creationId xmlns:a16="http://schemas.microsoft.com/office/drawing/2014/main" id="{BA079366-78BE-8C6A-D426-EB238669A27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7919" name="Picture 6">
            <a:extLst>
              <a:ext uri="{FF2B5EF4-FFF2-40B4-BE49-F238E27FC236}">
                <a16:creationId xmlns:a16="http://schemas.microsoft.com/office/drawing/2014/main" id="{CCEABE98-368E-E42D-A489-E6C246A4B99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53000" y="5943600"/>
            <a:ext cx="91440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2829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C4F3-5FA0-AC14-D433-ABB629C765D0}"/>
            </a:ext>
          </a:extLst>
        </p:cNvPr>
        <p:cNvGrpSpPr/>
        <p:nvPr/>
      </p:nvGrpSpPr>
      <p:grpSpPr>
        <a:xfrm>
          <a:off x="0" y="0"/>
          <a:ext cx="0" cy="0"/>
          <a:chOff x="0" y="0"/>
          <a:chExt cx="0" cy="0"/>
        </a:xfrm>
      </p:grpSpPr>
      <p:sp>
        <p:nvSpPr>
          <p:cNvPr id="38915" name="Title 1">
            <a:extLst>
              <a:ext uri="{FF2B5EF4-FFF2-40B4-BE49-F238E27FC236}">
                <a16:creationId xmlns:a16="http://schemas.microsoft.com/office/drawing/2014/main" id="{5AAD50E9-624A-B054-359F-BC6C7306FDF7}"/>
              </a:ext>
            </a:extLst>
          </p:cNvPr>
          <p:cNvSpPr>
            <a:spLocks noGrp="1"/>
          </p:cNvSpPr>
          <p:nvPr>
            <p:ph type="title"/>
          </p:nvPr>
        </p:nvSpPr>
        <p:spPr>
          <a:xfrm>
            <a:off x="1937332" y="949583"/>
            <a:ext cx="7772400" cy="685800"/>
          </a:xfrm>
        </p:spPr>
        <p:txBody>
          <a:bodyPr/>
          <a:lstStyle/>
          <a:p>
            <a:pPr algn="ctr" eaLnBrk="1" hangingPunct="1"/>
            <a:r>
              <a:rPr lang="en-US" altLang="en-US" sz="3200" dirty="0"/>
              <a:t>The Shunt Generator</a:t>
            </a:r>
          </a:p>
        </p:txBody>
      </p:sp>
      <p:sp>
        <p:nvSpPr>
          <p:cNvPr id="38916" name="Rectangle 4">
            <a:extLst>
              <a:ext uri="{FF2B5EF4-FFF2-40B4-BE49-F238E27FC236}">
                <a16:creationId xmlns:a16="http://schemas.microsoft.com/office/drawing/2014/main" id="{D3812227-B0D3-8494-8FF1-9FEEBD964F1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8917" name="Rectangle 6">
            <a:extLst>
              <a:ext uri="{FF2B5EF4-FFF2-40B4-BE49-F238E27FC236}">
                <a16:creationId xmlns:a16="http://schemas.microsoft.com/office/drawing/2014/main" id="{45F73A23-61EE-CF9C-918F-7C3877B919B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8918" name="Rectangle 8">
            <a:extLst>
              <a:ext uri="{FF2B5EF4-FFF2-40B4-BE49-F238E27FC236}">
                <a16:creationId xmlns:a16="http://schemas.microsoft.com/office/drawing/2014/main" id="{945D8833-5F7C-123D-5DA1-636D6B76DDF7}"/>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8919" name="Rectangle 9">
            <a:extLst>
              <a:ext uri="{FF2B5EF4-FFF2-40B4-BE49-F238E27FC236}">
                <a16:creationId xmlns:a16="http://schemas.microsoft.com/office/drawing/2014/main" id="{354240E5-EBBE-4780-B292-3988939CD669}"/>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0" name="Rectangle 2">
            <a:extLst>
              <a:ext uri="{FF2B5EF4-FFF2-40B4-BE49-F238E27FC236}">
                <a16:creationId xmlns:a16="http://schemas.microsoft.com/office/drawing/2014/main" id="{8CD41125-7706-65B9-2313-7E5D18A2CAC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1" name="Rectangle 4">
            <a:extLst>
              <a:ext uri="{FF2B5EF4-FFF2-40B4-BE49-F238E27FC236}">
                <a16:creationId xmlns:a16="http://schemas.microsoft.com/office/drawing/2014/main" id="{CC8BF937-D4F8-A4FC-2EA1-95FD985FFFE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2" name="Rectangle 6">
            <a:extLst>
              <a:ext uri="{FF2B5EF4-FFF2-40B4-BE49-F238E27FC236}">
                <a16:creationId xmlns:a16="http://schemas.microsoft.com/office/drawing/2014/main" id="{1EF14CF2-128D-F7A8-D10C-7ACF891D9DD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3" name="Rectangle 8">
            <a:extLst>
              <a:ext uri="{FF2B5EF4-FFF2-40B4-BE49-F238E27FC236}">
                <a16:creationId xmlns:a16="http://schemas.microsoft.com/office/drawing/2014/main" id="{C76C58A7-3709-2D4F-265B-018D30A2BA7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4" name="Rectangle 10">
            <a:extLst>
              <a:ext uri="{FF2B5EF4-FFF2-40B4-BE49-F238E27FC236}">
                <a16:creationId xmlns:a16="http://schemas.microsoft.com/office/drawing/2014/main" id="{310DEEDE-EFAB-FE8A-6CA9-480AF15827E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5" name="Rectangle 12">
            <a:extLst>
              <a:ext uri="{FF2B5EF4-FFF2-40B4-BE49-F238E27FC236}">
                <a16:creationId xmlns:a16="http://schemas.microsoft.com/office/drawing/2014/main" id="{4E54D893-E2CE-AF87-9B9F-A89B17F64A3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6" name="Rectangle 2">
            <a:extLst>
              <a:ext uri="{FF2B5EF4-FFF2-40B4-BE49-F238E27FC236}">
                <a16:creationId xmlns:a16="http://schemas.microsoft.com/office/drawing/2014/main" id="{71A18306-2FFC-DA3A-F009-3A1EE0F464C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7" name="Rectangle 4">
            <a:extLst>
              <a:ext uri="{FF2B5EF4-FFF2-40B4-BE49-F238E27FC236}">
                <a16:creationId xmlns:a16="http://schemas.microsoft.com/office/drawing/2014/main" id="{F9B97315-C8A2-F9D6-B203-D74BC03E980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8" name="Rectangle 6">
            <a:extLst>
              <a:ext uri="{FF2B5EF4-FFF2-40B4-BE49-F238E27FC236}">
                <a16:creationId xmlns:a16="http://schemas.microsoft.com/office/drawing/2014/main" id="{CF612073-2A43-3629-81C8-92DF7E7893F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29" name="Rectangle 8">
            <a:extLst>
              <a:ext uri="{FF2B5EF4-FFF2-40B4-BE49-F238E27FC236}">
                <a16:creationId xmlns:a16="http://schemas.microsoft.com/office/drawing/2014/main" id="{B4EFFABD-63AA-9DD8-491E-A5E4B357613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0" name="Rectangle 10">
            <a:extLst>
              <a:ext uri="{FF2B5EF4-FFF2-40B4-BE49-F238E27FC236}">
                <a16:creationId xmlns:a16="http://schemas.microsoft.com/office/drawing/2014/main" id="{5E904D8E-1961-019D-CCC7-D8CD3F5D2C2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1" name="Rectangle 2">
            <a:extLst>
              <a:ext uri="{FF2B5EF4-FFF2-40B4-BE49-F238E27FC236}">
                <a16:creationId xmlns:a16="http://schemas.microsoft.com/office/drawing/2014/main" id="{8B800B85-C410-A76D-B8EA-1C311AC4C8C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2" name="Rectangle 4">
            <a:extLst>
              <a:ext uri="{FF2B5EF4-FFF2-40B4-BE49-F238E27FC236}">
                <a16:creationId xmlns:a16="http://schemas.microsoft.com/office/drawing/2014/main" id="{7015577A-B8E8-255E-C3AF-0D448C97673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3" name="Rectangle 7">
            <a:extLst>
              <a:ext uri="{FF2B5EF4-FFF2-40B4-BE49-F238E27FC236}">
                <a16:creationId xmlns:a16="http://schemas.microsoft.com/office/drawing/2014/main" id="{9C0E09B8-2E95-C784-201D-33DFBBCB2C5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C5E1FF77-1A67-C78A-31AA-3FA1143F3AC2}"/>
              </a:ext>
            </a:extLst>
          </p:cNvPr>
          <p:cNvSpPr>
            <a:spLocks noGrp="1"/>
          </p:cNvSpPr>
          <p:nvPr>
            <p:ph sz="quarter" idx="1"/>
          </p:nvPr>
        </p:nvSpPr>
        <p:spPr>
          <a:xfrm>
            <a:off x="1524000" y="1600200"/>
            <a:ext cx="8915400" cy="4953000"/>
          </a:xfrm>
        </p:spPr>
        <p:txBody>
          <a:bodyPr/>
          <a:lstStyle/>
          <a:p>
            <a:pPr indent="0">
              <a:buNone/>
              <a:defRPr/>
            </a:pPr>
            <a:r>
              <a:rPr lang="en-US" sz="2400" dirty="0"/>
              <a:t>A shunt dc generator is a dc generator that supplies its own field current by having its field connected directly across the terminals of the machine. </a:t>
            </a:r>
          </a:p>
          <a:p>
            <a:pPr indent="457200">
              <a:defRPr/>
            </a:pPr>
            <a:r>
              <a:rPr lang="en-US" sz="2400" dirty="0"/>
              <a:t>The armature current of the machine supplies both the field circuit and 	the load </a:t>
            </a:r>
          </a:p>
          <a:p>
            <a:pPr indent="457200">
              <a:defRPr/>
            </a:pPr>
            <a:r>
              <a:rPr lang="en-US" sz="2400" dirty="0"/>
              <a:t> </a:t>
            </a:r>
          </a:p>
          <a:p>
            <a:pPr indent="457200">
              <a:defRPr/>
            </a:pPr>
            <a:r>
              <a:rPr lang="en-US" sz="2400" dirty="0"/>
              <a:t> </a:t>
            </a:r>
          </a:p>
        </p:txBody>
      </p:sp>
      <p:sp>
        <p:nvSpPr>
          <p:cNvPr id="38935" name="Rectangle 2">
            <a:extLst>
              <a:ext uri="{FF2B5EF4-FFF2-40B4-BE49-F238E27FC236}">
                <a16:creationId xmlns:a16="http://schemas.microsoft.com/office/drawing/2014/main" id="{59388270-E499-7F95-A9C7-F57FE778B9F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6" name="Rectangle 2">
            <a:extLst>
              <a:ext uri="{FF2B5EF4-FFF2-40B4-BE49-F238E27FC236}">
                <a16:creationId xmlns:a16="http://schemas.microsoft.com/office/drawing/2014/main" id="{151F5D4D-304A-0CCF-A5B1-E1745E283FF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7" name="Rectangle 2">
            <a:extLst>
              <a:ext uri="{FF2B5EF4-FFF2-40B4-BE49-F238E27FC236}">
                <a16:creationId xmlns:a16="http://schemas.microsoft.com/office/drawing/2014/main" id="{41433C02-733F-5F75-AA55-7E0CC364196B}"/>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38" name="Rectangle 3">
            <a:extLst>
              <a:ext uri="{FF2B5EF4-FFF2-40B4-BE49-F238E27FC236}">
                <a16:creationId xmlns:a16="http://schemas.microsoft.com/office/drawing/2014/main" id="{ADD22637-09A2-41E7-DC64-9A2FAC840D4D}"/>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38939" name="Rectangle 5">
            <a:extLst>
              <a:ext uri="{FF2B5EF4-FFF2-40B4-BE49-F238E27FC236}">
                <a16:creationId xmlns:a16="http://schemas.microsoft.com/office/drawing/2014/main" id="{1978591B-CDBC-4BE0-B9D3-0E8C6506721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40" name="Rectangle 7">
            <a:extLst>
              <a:ext uri="{FF2B5EF4-FFF2-40B4-BE49-F238E27FC236}">
                <a16:creationId xmlns:a16="http://schemas.microsoft.com/office/drawing/2014/main" id="{CC138B92-0802-CF43-49EB-DE05B6293E7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8941" name="Rectangle 2">
            <a:extLst>
              <a:ext uri="{FF2B5EF4-FFF2-40B4-BE49-F238E27FC236}">
                <a16:creationId xmlns:a16="http://schemas.microsoft.com/office/drawing/2014/main" id="{79386ABB-8503-98F7-1098-53D4D8F5490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8942" name="Picture 1">
            <a:extLst>
              <a:ext uri="{FF2B5EF4-FFF2-40B4-BE49-F238E27FC236}">
                <a16:creationId xmlns:a16="http://schemas.microsoft.com/office/drawing/2014/main" id="{3C63E82C-C91B-F32A-89D1-D288CEC0C46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4601" y="3276600"/>
            <a:ext cx="12350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43" name="Rectangle 4">
            <a:extLst>
              <a:ext uri="{FF2B5EF4-FFF2-40B4-BE49-F238E27FC236}">
                <a16:creationId xmlns:a16="http://schemas.microsoft.com/office/drawing/2014/main" id="{393D2DB5-0377-B3C8-5194-7A6198D48B3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8944" name="Picture 3">
            <a:extLst>
              <a:ext uri="{FF2B5EF4-FFF2-40B4-BE49-F238E27FC236}">
                <a16:creationId xmlns:a16="http://schemas.microsoft.com/office/drawing/2014/main" id="{720253F3-431D-C97C-CF39-0F2A9BF24EF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38401" y="3733800"/>
            <a:ext cx="16287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45" name="Picture 35">
            <a:extLst>
              <a:ext uri="{FF2B5EF4-FFF2-40B4-BE49-F238E27FC236}">
                <a16:creationId xmlns:a16="http://schemas.microsoft.com/office/drawing/2014/main" id="{4BD49EBE-1915-E924-5BA1-172799EEABBC}"/>
              </a:ext>
            </a:extLst>
          </p:cNvPr>
          <p:cNvPicPr>
            <a:picLocks noChangeAspect="1" noChangeArrowheads="1"/>
          </p:cNvPicPr>
          <p:nvPr/>
        </p:nvPicPr>
        <p:blipFill>
          <a:blip r:embed="rId4">
            <a:lum bright="-10000" contrast="40000"/>
            <a:extLst>
              <a:ext uri="{28A0092B-C50C-407E-A947-70E740481C1C}">
                <a14:useLocalDpi xmlns:a14="http://schemas.microsoft.com/office/drawing/2010/main" val="0"/>
              </a:ext>
            </a:extLst>
          </a:blip>
          <a:srcRect/>
          <a:stretch>
            <a:fillRect/>
          </a:stretch>
        </p:blipFill>
        <p:spPr bwMode="auto">
          <a:xfrm>
            <a:off x="6477000" y="3429001"/>
            <a:ext cx="2590800"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46" name="Rectangle 36">
            <a:extLst>
              <a:ext uri="{FF2B5EF4-FFF2-40B4-BE49-F238E27FC236}">
                <a16:creationId xmlns:a16="http://schemas.microsoft.com/office/drawing/2014/main" id="{A9B549DC-81DD-AD39-4501-BE71B32D1F9E}"/>
              </a:ext>
            </a:extLst>
          </p:cNvPr>
          <p:cNvSpPr>
            <a:spLocks noChangeArrowheads="1"/>
          </p:cNvSpPr>
          <p:nvPr/>
        </p:nvSpPr>
        <p:spPr bwMode="auto">
          <a:xfrm>
            <a:off x="6400800" y="5867401"/>
            <a:ext cx="342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equivalent circuit of a shunt de generator</a:t>
            </a:r>
          </a:p>
        </p:txBody>
      </p:sp>
    </p:spTree>
    <p:extLst>
      <p:ext uri="{BB962C8B-B14F-4D97-AF65-F5344CB8AC3E}">
        <p14:creationId xmlns:p14="http://schemas.microsoft.com/office/powerpoint/2010/main" val="743356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259FE-D036-354B-4820-0B2DDF0FC694}"/>
            </a:ext>
          </a:extLst>
        </p:cNvPr>
        <p:cNvGrpSpPr/>
        <p:nvPr/>
      </p:nvGrpSpPr>
      <p:grpSpPr>
        <a:xfrm>
          <a:off x="0" y="0"/>
          <a:ext cx="0" cy="0"/>
          <a:chOff x="0" y="0"/>
          <a:chExt cx="0" cy="0"/>
        </a:xfrm>
      </p:grpSpPr>
      <p:sp>
        <p:nvSpPr>
          <p:cNvPr id="39939" name="Title 1">
            <a:extLst>
              <a:ext uri="{FF2B5EF4-FFF2-40B4-BE49-F238E27FC236}">
                <a16:creationId xmlns:a16="http://schemas.microsoft.com/office/drawing/2014/main" id="{F36FE57B-4685-4B91-BA16-9F66EF2D20DB}"/>
              </a:ext>
            </a:extLst>
          </p:cNvPr>
          <p:cNvSpPr>
            <a:spLocks noGrp="1"/>
          </p:cNvSpPr>
          <p:nvPr>
            <p:ph type="title"/>
          </p:nvPr>
        </p:nvSpPr>
        <p:spPr>
          <a:xfrm>
            <a:off x="2209800" y="832366"/>
            <a:ext cx="7772400" cy="685800"/>
          </a:xfrm>
        </p:spPr>
        <p:txBody>
          <a:bodyPr/>
          <a:lstStyle/>
          <a:p>
            <a:pPr algn="ctr" eaLnBrk="1" hangingPunct="1"/>
            <a:r>
              <a:rPr lang="en-US" altLang="en-US" sz="3200" dirty="0"/>
              <a:t>Shunt Generator</a:t>
            </a:r>
          </a:p>
        </p:txBody>
      </p:sp>
      <p:sp>
        <p:nvSpPr>
          <p:cNvPr id="39940" name="Rectangle 4">
            <a:extLst>
              <a:ext uri="{FF2B5EF4-FFF2-40B4-BE49-F238E27FC236}">
                <a16:creationId xmlns:a16="http://schemas.microsoft.com/office/drawing/2014/main" id="{76830D3D-F44A-96FE-D512-DDBFF23ABF9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9941" name="Rectangle 6">
            <a:extLst>
              <a:ext uri="{FF2B5EF4-FFF2-40B4-BE49-F238E27FC236}">
                <a16:creationId xmlns:a16="http://schemas.microsoft.com/office/drawing/2014/main" id="{AC664F7D-C997-D92B-F6F1-F3C90A5FC77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9942" name="Rectangle 8">
            <a:extLst>
              <a:ext uri="{FF2B5EF4-FFF2-40B4-BE49-F238E27FC236}">
                <a16:creationId xmlns:a16="http://schemas.microsoft.com/office/drawing/2014/main" id="{B09BAB19-768D-68A4-D175-AA69020DEC96}"/>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9943" name="Rectangle 9">
            <a:extLst>
              <a:ext uri="{FF2B5EF4-FFF2-40B4-BE49-F238E27FC236}">
                <a16:creationId xmlns:a16="http://schemas.microsoft.com/office/drawing/2014/main" id="{5CFFF269-1A44-5D94-BA94-D0C5F71A325B}"/>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4" name="Rectangle 2">
            <a:extLst>
              <a:ext uri="{FF2B5EF4-FFF2-40B4-BE49-F238E27FC236}">
                <a16:creationId xmlns:a16="http://schemas.microsoft.com/office/drawing/2014/main" id="{866302F2-F90E-4932-EF60-4DFF450E7E3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5" name="Rectangle 4">
            <a:extLst>
              <a:ext uri="{FF2B5EF4-FFF2-40B4-BE49-F238E27FC236}">
                <a16:creationId xmlns:a16="http://schemas.microsoft.com/office/drawing/2014/main" id="{FF6312F8-C219-F648-F697-9A24A9BC6F6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6" name="Rectangle 6">
            <a:extLst>
              <a:ext uri="{FF2B5EF4-FFF2-40B4-BE49-F238E27FC236}">
                <a16:creationId xmlns:a16="http://schemas.microsoft.com/office/drawing/2014/main" id="{A2BA601D-D951-722B-670A-EA91063D9F8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7" name="Rectangle 8">
            <a:extLst>
              <a:ext uri="{FF2B5EF4-FFF2-40B4-BE49-F238E27FC236}">
                <a16:creationId xmlns:a16="http://schemas.microsoft.com/office/drawing/2014/main" id="{52857556-528A-5632-A2A7-D8126CDE979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8" name="Rectangle 10">
            <a:extLst>
              <a:ext uri="{FF2B5EF4-FFF2-40B4-BE49-F238E27FC236}">
                <a16:creationId xmlns:a16="http://schemas.microsoft.com/office/drawing/2014/main" id="{93173C1C-9154-3EE9-170E-B783DBAE4BD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49" name="Rectangle 12">
            <a:extLst>
              <a:ext uri="{FF2B5EF4-FFF2-40B4-BE49-F238E27FC236}">
                <a16:creationId xmlns:a16="http://schemas.microsoft.com/office/drawing/2014/main" id="{6EC72C8C-1347-1B3F-E38A-9FBC48C1577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0" name="Rectangle 2">
            <a:extLst>
              <a:ext uri="{FF2B5EF4-FFF2-40B4-BE49-F238E27FC236}">
                <a16:creationId xmlns:a16="http://schemas.microsoft.com/office/drawing/2014/main" id="{B26A9168-ADE2-24FE-0D5C-F551A765813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1" name="Rectangle 4">
            <a:extLst>
              <a:ext uri="{FF2B5EF4-FFF2-40B4-BE49-F238E27FC236}">
                <a16:creationId xmlns:a16="http://schemas.microsoft.com/office/drawing/2014/main" id="{AB42F115-E561-637E-AFAC-22F92DF6164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2" name="Rectangle 6">
            <a:extLst>
              <a:ext uri="{FF2B5EF4-FFF2-40B4-BE49-F238E27FC236}">
                <a16:creationId xmlns:a16="http://schemas.microsoft.com/office/drawing/2014/main" id="{A52CF427-4517-B83D-01EB-D581F1B276D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3" name="Rectangle 8">
            <a:extLst>
              <a:ext uri="{FF2B5EF4-FFF2-40B4-BE49-F238E27FC236}">
                <a16:creationId xmlns:a16="http://schemas.microsoft.com/office/drawing/2014/main" id="{12AAC972-0873-B282-E1B0-04A5F103BB9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4" name="Rectangle 10">
            <a:extLst>
              <a:ext uri="{FF2B5EF4-FFF2-40B4-BE49-F238E27FC236}">
                <a16:creationId xmlns:a16="http://schemas.microsoft.com/office/drawing/2014/main" id="{250E6D01-5C93-0A59-7E07-674153CFC2F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5" name="Rectangle 2">
            <a:extLst>
              <a:ext uri="{FF2B5EF4-FFF2-40B4-BE49-F238E27FC236}">
                <a16:creationId xmlns:a16="http://schemas.microsoft.com/office/drawing/2014/main" id="{E5E818CE-2900-2852-84C3-785AF364778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6" name="Rectangle 4">
            <a:extLst>
              <a:ext uri="{FF2B5EF4-FFF2-40B4-BE49-F238E27FC236}">
                <a16:creationId xmlns:a16="http://schemas.microsoft.com/office/drawing/2014/main" id="{BDCE26E4-647F-EBEF-97CD-FD72BEBC521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57" name="Rectangle 7">
            <a:extLst>
              <a:ext uri="{FF2B5EF4-FFF2-40B4-BE49-F238E27FC236}">
                <a16:creationId xmlns:a16="http://schemas.microsoft.com/office/drawing/2014/main" id="{45DEBED1-5E58-C66E-955E-FA897047DB2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8F60F4ED-8031-DBD5-59C1-2CBCD08F5FDF}"/>
              </a:ext>
            </a:extLst>
          </p:cNvPr>
          <p:cNvSpPr>
            <a:spLocks noGrp="1"/>
          </p:cNvSpPr>
          <p:nvPr>
            <p:ph sz="quarter" idx="1"/>
          </p:nvPr>
        </p:nvSpPr>
        <p:spPr>
          <a:xfrm>
            <a:off x="1524000" y="1524000"/>
            <a:ext cx="8915400" cy="4953000"/>
          </a:xfrm>
        </p:spPr>
        <p:txBody>
          <a:bodyPr/>
          <a:lstStyle/>
          <a:p>
            <a:pPr indent="0">
              <a:buNone/>
              <a:defRPr/>
            </a:pPr>
            <a:r>
              <a:rPr lang="en-US" sz="2400" dirty="0">
                <a:solidFill>
                  <a:srgbClr val="0070C0"/>
                </a:solidFill>
              </a:rPr>
              <a:t>Voltage Build up in a Shunt Generator depends on </a:t>
            </a:r>
          </a:p>
          <a:p>
            <a:pPr indent="457200">
              <a:defRPr/>
            </a:pPr>
            <a:r>
              <a:rPr lang="en-US" sz="2400" dirty="0">
                <a:solidFill>
                  <a:srgbClr val="0070C0"/>
                </a:solidFill>
              </a:rPr>
              <a:t> Residual flux </a:t>
            </a:r>
          </a:p>
          <a:p>
            <a:pPr indent="457200">
              <a:defRPr/>
            </a:pPr>
            <a:r>
              <a:rPr lang="en-US" sz="2400" dirty="0"/>
              <a:t> </a:t>
            </a:r>
          </a:p>
          <a:p>
            <a:pPr indent="457200">
              <a:defRPr/>
            </a:pPr>
            <a:r>
              <a:rPr lang="en-US" sz="2400" dirty="0"/>
              <a:t> I</a:t>
            </a:r>
            <a:r>
              <a:rPr lang="en-US" sz="2400" baseline="-25000" dirty="0"/>
              <a:t>F</a:t>
            </a:r>
            <a:r>
              <a:rPr lang="en-US" sz="2400" dirty="0"/>
              <a:t> = V</a:t>
            </a:r>
            <a:r>
              <a:rPr lang="en-US" sz="2400" baseline="-25000" dirty="0"/>
              <a:t>T</a:t>
            </a:r>
            <a:r>
              <a:rPr lang="en-US" sz="2400" dirty="0"/>
              <a:t> ↑/R</a:t>
            </a:r>
            <a:r>
              <a:rPr lang="en-US" sz="2400" baseline="-25000" dirty="0"/>
              <a:t>F</a:t>
            </a:r>
            <a:r>
              <a:rPr lang="en-US" sz="2400" dirty="0"/>
              <a:t> &gt; E</a:t>
            </a:r>
            <a:r>
              <a:rPr lang="en-US" sz="2400" baseline="-25000" dirty="0"/>
              <a:t>A</a:t>
            </a:r>
            <a:r>
              <a:rPr lang="en-US" sz="2400" dirty="0"/>
              <a:t> = </a:t>
            </a:r>
            <a:r>
              <a:rPr lang="en-US" sz="2400" dirty="0" err="1"/>
              <a:t>KФ↑ω</a:t>
            </a:r>
            <a:r>
              <a:rPr lang="en-US" sz="2400" dirty="0"/>
              <a:t> &gt;</a:t>
            </a:r>
          </a:p>
          <a:p>
            <a:pPr indent="457200">
              <a:defRPr/>
            </a:pPr>
            <a:r>
              <a:rPr lang="en-US" sz="2400" dirty="0"/>
              <a:t>V</a:t>
            </a:r>
            <a:r>
              <a:rPr lang="en-US" sz="2400" baseline="-25000" dirty="0"/>
              <a:t>T </a:t>
            </a:r>
            <a:r>
              <a:rPr lang="en-US" sz="2400" dirty="0"/>
              <a:t>= E</a:t>
            </a:r>
            <a:r>
              <a:rPr lang="en-US" sz="2400" baseline="-25000" dirty="0"/>
              <a:t>A</a:t>
            </a:r>
            <a:r>
              <a:rPr lang="en-US" sz="2400" dirty="0"/>
              <a:t> ↑ - </a:t>
            </a:r>
            <a:r>
              <a:rPr lang="en-US" sz="2400" dirty="0" err="1"/>
              <a:t>l</a:t>
            </a:r>
            <a:r>
              <a:rPr lang="en-US" sz="2400" baseline="-25000" dirty="0" err="1"/>
              <a:t>A</a:t>
            </a:r>
            <a:r>
              <a:rPr lang="en-US" sz="2400" dirty="0"/>
              <a:t> R</a:t>
            </a:r>
            <a:r>
              <a:rPr lang="en-US" sz="2400" baseline="-25000" dirty="0"/>
              <a:t>A </a:t>
            </a:r>
            <a:r>
              <a:rPr lang="en-US" sz="2400" dirty="0">
                <a:solidFill>
                  <a:srgbClr val="0070C0"/>
                </a:solidFill>
              </a:rPr>
              <a:t>&gt; </a:t>
            </a:r>
            <a:r>
              <a:rPr lang="en-US" sz="2400" dirty="0"/>
              <a:t>V</a:t>
            </a:r>
            <a:r>
              <a:rPr lang="en-US" sz="1600" dirty="0"/>
              <a:t>T</a:t>
            </a:r>
            <a:r>
              <a:rPr lang="en-US" sz="2400" dirty="0"/>
              <a:t> ↑</a:t>
            </a:r>
            <a:endParaRPr lang="en-US" sz="2400" dirty="0">
              <a:solidFill>
                <a:srgbClr val="0070C0"/>
              </a:solidFill>
            </a:endParaRPr>
          </a:p>
          <a:p>
            <a:pPr indent="457200">
              <a:defRPr/>
            </a:pPr>
            <a:endParaRPr lang="en-US" sz="2400" dirty="0">
              <a:solidFill>
                <a:srgbClr val="0070C0"/>
              </a:solidFill>
            </a:endParaRPr>
          </a:p>
          <a:p>
            <a:pPr indent="0">
              <a:buNone/>
              <a:defRPr/>
            </a:pPr>
            <a:r>
              <a:rPr lang="en-US" sz="2400" dirty="0">
                <a:solidFill>
                  <a:srgbClr val="0070C0"/>
                </a:solidFill>
              </a:rPr>
              <a:t>possible causes for the voltage to fail to build up during starting</a:t>
            </a:r>
          </a:p>
          <a:p>
            <a:pPr indent="0">
              <a:defRPr/>
            </a:pPr>
            <a:r>
              <a:rPr lang="en-US" sz="2400" dirty="0">
                <a:solidFill>
                  <a:srgbClr val="0070C0"/>
                </a:solidFill>
              </a:rPr>
              <a:t> 	</a:t>
            </a:r>
            <a:r>
              <a:rPr lang="en-US" sz="2400" dirty="0"/>
              <a:t>There may be no residual magnetic flux</a:t>
            </a:r>
          </a:p>
          <a:p>
            <a:pPr indent="0">
              <a:defRPr/>
            </a:pPr>
            <a:r>
              <a:rPr lang="en-US" sz="2400" dirty="0">
                <a:solidFill>
                  <a:srgbClr val="0070C0"/>
                </a:solidFill>
              </a:rPr>
              <a:t> 	</a:t>
            </a:r>
            <a:r>
              <a:rPr lang="en-US" sz="2400" dirty="0"/>
              <a:t>The direction of rotation of the generator may have been reversed</a:t>
            </a:r>
          </a:p>
          <a:p>
            <a:pPr indent="0">
              <a:defRPr/>
            </a:pPr>
            <a:r>
              <a:rPr lang="en-US" sz="2400" dirty="0">
                <a:solidFill>
                  <a:srgbClr val="0070C0"/>
                </a:solidFill>
              </a:rPr>
              <a:t> 	</a:t>
            </a:r>
            <a:r>
              <a:rPr lang="en-US" sz="2400" dirty="0"/>
              <a:t>The field resistance may be adjusted to a value greater than the critical 	resistance</a:t>
            </a:r>
          </a:p>
          <a:p>
            <a:pPr indent="0">
              <a:defRPr/>
            </a:pPr>
            <a:endParaRPr lang="en-US" sz="2200" dirty="0">
              <a:solidFill>
                <a:srgbClr val="0070C0"/>
              </a:solidFill>
            </a:endParaRPr>
          </a:p>
          <a:p>
            <a:pPr indent="457200">
              <a:buNone/>
              <a:defRPr/>
            </a:pPr>
            <a:endParaRPr lang="en-US" sz="2400" dirty="0"/>
          </a:p>
        </p:txBody>
      </p:sp>
      <p:sp>
        <p:nvSpPr>
          <p:cNvPr id="39959" name="Rectangle 2">
            <a:extLst>
              <a:ext uri="{FF2B5EF4-FFF2-40B4-BE49-F238E27FC236}">
                <a16:creationId xmlns:a16="http://schemas.microsoft.com/office/drawing/2014/main" id="{E1B4418F-9C4C-0BAE-F209-6E6161AF55A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0" name="Rectangle 2">
            <a:extLst>
              <a:ext uri="{FF2B5EF4-FFF2-40B4-BE49-F238E27FC236}">
                <a16:creationId xmlns:a16="http://schemas.microsoft.com/office/drawing/2014/main" id="{1383583F-728C-0F1E-BB42-312875171B5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1" name="Rectangle 2">
            <a:extLst>
              <a:ext uri="{FF2B5EF4-FFF2-40B4-BE49-F238E27FC236}">
                <a16:creationId xmlns:a16="http://schemas.microsoft.com/office/drawing/2014/main" id="{71CEAF88-999A-CFDA-9850-4B8C0B6AB213}"/>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2" name="Rectangle 3">
            <a:extLst>
              <a:ext uri="{FF2B5EF4-FFF2-40B4-BE49-F238E27FC236}">
                <a16:creationId xmlns:a16="http://schemas.microsoft.com/office/drawing/2014/main" id="{97EE6D0C-C7EF-3947-D635-A388259446B8}"/>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39963" name="Rectangle 5">
            <a:extLst>
              <a:ext uri="{FF2B5EF4-FFF2-40B4-BE49-F238E27FC236}">
                <a16:creationId xmlns:a16="http://schemas.microsoft.com/office/drawing/2014/main" id="{360EF62C-156E-5080-AC03-95EDDB660F3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4" name="Rectangle 7">
            <a:extLst>
              <a:ext uri="{FF2B5EF4-FFF2-40B4-BE49-F238E27FC236}">
                <a16:creationId xmlns:a16="http://schemas.microsoft.com/office/drawing/2014/main" id="{1B8BCE57-6B47-C455-0804-15DFE4BAE82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5" name="Rectangle 2">
            <a:extLst>
              <a:ext uri="{FF2B5EF4-FFF2-40B4-BE49-F238E27FC236}">
                <a16:creationId xmlns:a16="http://schemas.microsoft.com/office/drawing/2014/main" id="{844AB27A-BEBA-EA7A-759A-E74CF1A6E99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6" name="Rectangle 4">
            <a:extLst>
              <a:ext uri="{FF2B5EF4-FFF2-40B4-BE49-F238E27FC236}">
                <a16:creationId xmlns:a16="http://schemas.microsoft.com/office/drawing/2014/main" id="{6C3A81DC-7E6D-C502-CFCF-D2DEBC318A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9967" name="Rectangle 36">
            <a:extLst>
              <a:ext uri="{FF2B5EF4-FFF2-40B4-BE49-F238E27FC236}">
                <a16:creationId xmlns:a16="http://schemas.microsoft.com/office/drawing/2014/main" id="{DA01A0E8-C1A0-6BC1-072B-CADD8325A9E8}"/>
              </a:ext>
            </a:extLst>
          </p:cNvPr>
          <p:cNvSpPr>
            <a:spLocks noChangeArrowheads="1"/>
          </p:cNvSpPr>
          <p:nvPr/>
        </p:nvSpPr>
        <p:spPr bwMode="auto">
          <a:xfrm>
            <a:off x="6400800" y="3886201"/>
            <a:ext cx="3886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Voltage buildup on starting in a shunt dc generator</a:t>
            </a:r>
          </a:p>
        </p:txBody>
      </p:sp>
      <p:sp>
        <p:nvSpPr>
          <p:cNvPr id="39968" name="Rectangle 2">
            <a:extLst>
              <a:ext uri="{FF2B5EF4-FFF2-40B4-BE49-F238E27FC236}">
                <a16:creationId xmlns:a16="http://schemas.microsoft.com/office/drawing/2014/main" id="{49F2C05E-2E80-99B6-80EE-F508272621D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39969" name="Picture 1">
            <a:extLst>
              <a:ext uri="{FF2B5EF4-FFF2-40B4-BE49-F238E27FC236}">
                <a16:creationId xmlns:a16="http://schemas.microsoft.com/office/drawing/2014/main" id="{D0CFB93E-4DEB-0D5D-1C5C-CA94DBAE37E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2201" y="2590800"/>
            <a:ext cx="14398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0" name="Picture 37">
            <a:extLst>
              <a:ext uri="{FF2B5EF4-FFF2-40B4-BE49-F238E27FC236}">
                <a16:creationId xmlns:a16="http://schemas.microsoft.com/office/drawing/2014/main" id="{574687DF-BA79-E6C7-8307-76904CE32D9D}"/>
              </a:ext>
            </a:extLst>
          </p:cNvPr>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t="2727" b="2727"/>
          <a:stretch>
            <a:fillRect/>
          </a:stretch>
        </p:blipFill>
        <p:spPr bwMode="auto">
          <a:xfrm>
            <a:off x="7543801" y="1752600"/>
            <a:ext cx="27717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0955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E92C-AAE2-7EBC-61CB-74FCC9E0D978}"/>
            </a:ext>
          </a:extLst>
        </p:cNvPr>
        <p:cNvGrpSpPr/>
        <p:nvPr/>
      </p:nvGrpSpPr>
      <p:grpSpPr>
        <a:xfrm>
          <a:off x="0" y="0"/>
          <a:ext cx="0" cy="0"/>
          <a:chOff x="0" y="0"/>
          <a:chExt cx="0" cy="0"/>
        </a:xfrm>
      </p:grpSpPr>
      <p:sp>
        <p:nvSpPr>
          <p:cNvPr id="40963" name="Title 1">
            <a:extLst>
              <a:ext uri="{FF2B5EF4-FFF2-40B4-BE49-F238E27FC236}">
                <a16:creationId xmlns:a16="http://schemas.microsoft.com/office/drawing/2014/main" id="{CAD37508-3048-B0F9-EA82-B88B99CFD023}"/>
              </a:ext>
            </a:extLst>
          </p:cNvPr>
          <p:cNvSpPr>
            <a:spLocks noGrp="1"/>
          </p:cNvSpPr>
          <p:nvPr>
            <p:ph type="title"/>
          </p:nvPr>
        </p:nvSpPr>
        <p:spPr>
          <a:xfrm>
            <a:off x="2209800" y="801504"/>
            <a:ext cx="7772400" cy="685800"/>
          </a:xfrm>
        </p:spPr>
        <p:txBody>
          <a:bodyPr/>
          <a:lstStyle/>
          <a:p>
            <a:pPr algn="ctr" eaLnBrk="1" hangingPunct="1"/>
            <a:r>
              <a:rPr lang="en-US" altLang="en-US" sz="3200" dirty="0"/>
              <a:t> Shunt Generator</a:t>
            </a:r>
          </a:p>
        </p:txBody>
      </p:sp>
      <p:sp>
        <p:nvSpPr>
          <p:cNvPr id="40964" name="Rectangle 4">
            <a:extLst>
              <a:ext uri="{FF2B5EF4-FFF2-40B4-BE49-F238E27FC236}">
                <a16:creationId xmlns:a16="http://schemas.microsoft.com/office/drawing/2014/main" id="{FD0DD5AA-3037-AF84-6B18-1C83A1DC65D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0965" name="Rectangle 6">
            <a:extLst>
              <a:ext uri="{FF2B5EF4-FFF2-40B4-BE49-F238E27FC236}">
                <a16:creationId xmlns:a16="http://schemas.microsoft.com/office/drawing/2014/main" id="{54C8064E-6FA0-7140-CCCB-15A526D2863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0966" name="Rectangle 8">
            <a:extLst>
              <a:ext uri="{FF2B5EF4-FFF2-40B4-BE49-F238E27FC236}">
                <a16:creationId xmlns:a16="http://schemas.microsoft.com/office/drawing/2014/main" id="{EA651D0C-3852-1748-A462-1CF05991E7DF}"/>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0967" name="Rectangle 9">
            <a:extLst>
              <a:ext uri="{FF2B5EF4-FFF2-40B4-BE49-F238E27FC236}">
                <a16:creationId xmlns:a16="http://schemas.microsoft.com/office/drawing/2014/main" id="{49B125AF-44D4-F95B-D34F-36BBB1AC0364}"/>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68" name="Rectangle 2">
            <a:extLst>
              <a:ext uri="{FF2B5EF4-FFF2-40B4-BE49-F238E27FC236}">
                <a16:creationId xmlns:a16="http://schemas.microsoft.com/office/drawing/2014/main" id="{629F400C-7D6A-867D-1DE2-B759B6C73DB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69" name="Rectangle 4">
            <a:extLst>
              <a:ext uri="{FF2B5EF4-FFF2-40B4-BE49-F238E27FC236}">
                <a16:creationId xmlns:a16="http://schemas.microsoft.com/office/drawing/2014/main" id="{16AA0A12-D729-8CFB-EB12-6AAC68D05C4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0" name="Rectangle 6">
            <a:extLst>
              <a:ext uri="{FF2B5EF4-FFF2-40B4-BE49-F238E27FC236}">
                <a16:creationId xmlns:a16="http://schemas.microsoft.com/office/drawing/2014/main" id="{6373DB0F-9319-5E79-3A89-07585FC50ED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1" name="Rectangle 8">
            <a:extLst>
              <a:ext uri="{FF2B5EF4-FFF2-40B4-BE49-F238E27FC236}">
                <a16:creationId xmlns:a16="http://schemas.microsoft.com/office/drawing/2014/main" id="{98B3BA5C-4506-E525-C4B1-58B9DA8BFA5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2" name="Rectangle 10">
            <a:extLst>
              <a:ext uri="{FF2B5EF4-FFF2-40B4-BE49-F238E27FC236}">
                <a16:creationId xmlns:a16="http://schemas.microsoft.com/office/drawing/2014/main" id="{5F191087-F0B6-4358-CD98-B8700FF0AD1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3" name="Rectangle 12">
            <a:extLst>
              <a:ext uri="{FF2B5EF4-FFF2-40B4-BE49-F238E27FC236}">
                <a16:creationId xmlns:a16="http://schemas.microsoft.com/office/drawing/2014/main" id="{F1EC937C-7B4C-7864-2205-3161081445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4" name="Rectangle 2">
            <a:extLst>
              <a:ext uri="{FF2B5EF4-FFF2-40B4-BE49-F238E27FC236}">
                <a16:creationId xmlns:a16="http://schemas.microsoft.com/office/drawing/2014/main" id="{91F8C913-2AE2-EFA4-2394-E3EBC900D3A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5" name="Rectangle 4">
            <a:extLst>
              <a:ext uri="{FF2B5EF4-FFF2-40B4-BE49-F238E27FC236}">
                <a16:creationId xmlns:a16="http://schemas.microsoft.com/office/drawing/2014/main" id="{2DA6D766-9CF5-86DF-BEB9-777DC28D93B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6" name="Rectangle 6">
            <a:extLst>
              <a:ext uri="{FF2B5EF4-FFF2-40B4-BE49-F238E27FC236}">
                <a16:creationId xmlns:a16="http://schemas.microsoft.com/office/drawing/2014/main" id="{F354D365-0719-7058-B7C4-7FB27A6AFEF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7" name="Rectangle 8">
            <a:extLst>
              <a:ext uri="{FF2B5EF4-FFF2-40B4-BE49-F238E27FC236}">
                <a16:creationId xmlns:a16="http://schemas.microsoft.com/office/drawing/2014/main" id="{4C52A739-B315-C36B-A9B8-FE661B88F4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8" name="Rectangle 10">
            <a:extLst>
              <a:ext uri="{FF2B5EF4-FFF2-40B4-BE49-F238E27FC236}">
                <a16:creationId xmlns:a16="http://schemas.microsoft.com/office/drawing/2014/main" id="{BD50DD63-BD25-848E-BAE1-61A71922A34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79" name="Rectangle 2">
            <a:extLst>
              <a:ext uri="{FF2B5EF4-FFF2-40B4-BE49-F238E27FC236}">
                <a16:creationId xmlns:a16="http://schemas.microsoft.com/office/drawing/2014/main" id="{B064AF3F-700E-C889-F707-2281BE0531E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0" name="Rectangle 4">
            <a:extLst>
              <a:ext uri="{FF2B5EF4-FFF2-40B4-BE49-F238E27FC236}">
                <a16:creationId xmlns:a16="http://schemas.microsoft.com/office/drawing/2014/main" id="{36709EA2-D268-81C9-6F0C-EDB89F22F4C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1" name="Rectangle 7">
            <a:extLst>
              <a:ext uri="{FF2B5EF4-FFF2-40B4-BE49-F238E27FC236}">
                <a16:creationId xmlns:a16="http://schemas.microsoft.com/office/drawing/2014/main" id="{8E0ED42E-69AC-3A35-73AA-91D90531C6B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7D7265F8-0BAD-7119-5426-67C3852ABE78}"/>
              </a:ext>
            </a:extLst>
          </p:cNvPr>
          <p:cNvSpPr>
            <a:spLocks noGrp="1"/>
          </p:cNvSpPr>
          <p:nvPr>
            <p:ph sz="quarter" idx="1"/>
          </p:nvPr>
        </p:nvSpPr>
        <p:spPr>
          <a:xfrm>
            <a:off x="1524000" y="1524000"/>
            <a:ext cx="8915400" cy="4953000"/>
          </a:xfrm>
        </p:spPr>
        <p:txBody>
          <a:bodyPr/>
          <a:lstStyle/>
          <a:p>
            <a:pPr indent="0">
              <a:buNone/>
              <a:defRPr/>
            </a:pPr>
            <a:r>
              <a:rPr lang="en-US" sz="2400" dirty="0">
                <a:solidFill>
                  <a:srgbClr val="0070C0"/>
                </a:solidFill>
              </a:rPr>
              <a:t>The Terminal Characteristic of a Shunt DC Generator</a:t>
            </a:r>
          </a:p>
          <a:p>
            <a:pPr indent="0">
              <a:buNone/>
              <a:defRPr/>
            </a:pPr>
            <a:r>
              <a:rPr lang="en-US" sz="2400" dirty="0">
                <a:solidFill>
                  <a:srgbClr val="0070C0"/>
                </a:solidFill>
              </a:rPr>
              <a:t> </a:t>
            </a:r>
          </a:p>
          <a:p>
            <a:pPr indent="457200">
              <a:defRPr/>
            </a:pPr>
            <a:r>
              <a:rPr lang="en-US" sz="2400" dirty="0"/>
              <a:t> I</a:t>
            </a:r>
            <a:r>
              <a:rPr lang="en-US" sz="2400" baseline="-25000" dirty="0"/>
              <a:t>A</a:t>
            </a:r>
            <a:r>
              <a:rPr lang="en-US" sz="2400" dirty="0"/>
              <a:t> = I</a:t>
            </a:r>
            <a:r>
              <a:rPr lang="en-US" sz="2400" baseline="-25000" dirty="0"/>
              <a:t>L</a:t>
            </a:r>
            <a:r>
              <a:rPr lang="en-US" sz="2400" dirty="0"/>
              <a:t> ↑ + I</a:t>
            </a:r>
            <a:r>
              <a:rPr lang="en-US" sz="2400" baseline="-25000" dirty="0"/>
              <a:t>F  </a:t>
            </a:r>
            <a:r>
              <a:rPr lang="en-US" sz="2400" dirty="0"/>
              <a:t>&gt; (</a:t>
            </a:r>
            <a:r>
              <a:rPr lang="en-US" sz="2400" dirty="0" err="1"/>
              <a:t>l</a:t>
            </a:r>
            <a:r>
              <a:rPr lang="en-US" sz="2400" baseline="-25000" dirty="0" err="1"/>
              <a:t>A</a:t>
            </a:r>
            <a:r>
              <a:rPr lang="en-US" sz="2400" dirty="0" err="1"/>
              <a:t>R</a:t>
            </a:r>
            <a:r>
              <a:rPr lang="en-US" sz="2400" baseline="-25000" dirty="0" err="1"/>
              <a:t>A</a:t>
            </a:r>
            <a:r>
              <a:rPr lang="en-US" sz="2400" dirty="0"/>
              <a:t> ) ↑  &gt; V</a:t>
            </a:r>
            <a:r>
              <a:rPr lang="en-US" sz="2400" baseline="-25000" dirty="0"/>
              <a:t>T</a:t>
            </a:r>
            <a:r>
              <a:rPr lang="en-US" sz="2400" dirty="0"/>
              <a:t> ↓ = E</a:t>
            </a:r>
            <a:r>
              <a:rPr lang="en-US" sz="2400" baseline="-25000" dirty="0"/>
              <a:t>A</a:t>
            </a:r>
            <a:r>
              <a:rPr lang="en-US" sz="2400" dirty="0"/>
              <a:t> - I</a:t>
            </a:r>
            <a:r>
              <a:rPr lang="en-US" sz="2400" baseline="-25000" dirty="0"/>
              <a:t>A</a:t>
            </a:r>
            <a:r>
              <a:rPr lang="en-US" sz="2400" dirty="0"/>
              <a:t> ↑ R</a:t>
            </a:r>
            <a:r>
              <a:rPr lang="en-US" sz="2400" baseline="-25000" dirty="0"/>
              <a:t>A</a:t>
            </a:r>
            <a:r>
              <a:rPr lang="en-US" sz="2400" dirty="0"/>
              <a:t> </a:t>
            </a:r>
          </a:p>
          <a:p>
            <a:pPr indent="457200">
              <a:defRPr/>
            </a:pPr>
            <a:r>
              <a:rPr lang="en-US" sz="2400" dirty="0"/>
              <a:t> I</a:t>
            </a:r>
            <a:r>
              <a:rPr lang="en-US" sz="2400" baseline="-25000" dirty="0"/>
              <a:t>F</a:t>
            </a:r>
            <a:r>
              <a:rPr lang="en-US" sz="2400" dirty="0"/>
              <a:t> ↓ = V</a:t>
            </a:r>
            <a:r>
              <a:rPr lang="en-US" sz="2400" baseline="-25000" dirty="0"/>
              <a:t>T</a:t>
            </a:r>
            <a:r>
              <a:rPr lang="en-US" sz="2400" dirty="0"/>
              <a:t> ↓ /R</a:t>
            </a:r>
            <a:r>
              <a:rPr lang="en-US" sz="2400" baseline="-25000" dirty="0"/>
              <a:t>F</a:t>
            </a:r>
            <a:r>
              <a:rPr lang="en-US" sz="2400" dirty="0"/>
              <a:t> &gt; E</a:t>
            </a:r>
            <a:r>
              <a:rPr lang="en-US" sz="2400" baseline="-25000" dirty="0"/>
              <a:t>A</a:t>
            </a:r>
            <a:r>
              <a:rPr lang="en-US" sz="2400" dirty="0"/>
              <a:t> = KФ ↓ ω &gt;</a:t>
            </a:r>
          </a:p>
          <a:p>
            <a:pPr indent="457200">
              <a:defRPr/>
            </a:pPr>
            <a:r>
              <a:rPr lang="en-US" sz="2400" dirty="0"/>
              <a:t>V</a:t>
            </a:r>
            <a:r>
              <a:rPr lang="en-US" sz="2400" baseline="-25000" dirty="0"/>
              <a:t>T </a:t>
            </a:r>
            <a:r>
              <a:rPr lang="en-US" sz="2400" dirty="0"/>
              <a:t>= E</a:t>
            </a:r>
            <a:r>
              <a:rPr lang="en-US" sz="2400" baseline="-25000" dirty="0"/>
              <a:t>A</a:t>
            </a:r>
            <a:r>
              <a:rPr lang="en-US" sz="2400" dirty="0"/>
              <a:t> ↓ - </a:t>
            </a:r>
            <a:r>
              <a:rPr lang="en-US" sz="2400" dirty="0" err="1"/>
              <a:t>l</a:t>
            </a:r>
            <a:r>
              <a:rPr lang="en-US" sz="2400" baseline="-25000" dirty="0" err="1"/>
              <a:t>A</a:t>
            </a:r>
            <a:r>
              <a:rPr lang="en-US" sz="2400" dirty="0"/>
              <a:t> R</a:t>
            </a:r>
            <a:r>
              <a:rPr lang="en-US" sz="2400" baseline="-25000" dirty="0"/>
              <a:t>A </a:t>
            </a:r>
            <a:r>
              <a:rPr lang="en-US" sz="2400" dirty="0">
                <a:solidFill>
                  <a:srgbClr val="0070C0"/>
                </a:solidFill>
              </a:rPr>
              <a:t>&gt; </a:t>
            </a:r>
            <a:r>
              <a:rPr lang="en-US" sz="2400" dirty="0"/>
              <a:t>V</a:t>
            </a:r>
            <a:r>
              <a:rPr lang="en-US" sz="1600" dirty="0"/>
              <a:t>T</a:t>
            </a:r>
            <a:r>
              <a:rPr lang="en-US" sz="2400" dirty="0"/>
              <a:t> ↓</a:t>
            </a:r>
            <a:endParaRPr lang="en-US" sz="2400" dirty="0">
              <a:solidFill>
                <a:srgbClr val="0070C0"/>
              </a:solidFill>
            </a:endParaRPr>
          </a:p>
          <a:p>
            <a:pPr indent="457200">
              <a:defRPr/>
            </a:pPr>
            <a:endParaRPr lang="en-US" sz="2400" dirty="0">
              <a:solidFill>
                <a:srgbClr val="0070C0"/>
              </a:solidFill>
            </a:endParaRPr>
          </a:p>
          <a:p>
            <a:pPr indent="0">
              <a:buNone/>
              <a:defRPr/>
            </a:pPr>
            <a:r>
              <a:rPr lang="en-US" sz="2000" dirty="0">
                <a:solidFill>
                  <a:srgbClr val="0070C0"/>
                </a:solidFill>
              </a:rPr>
              <a:t>Voltage Control for a Shunt DC Generator</a:t>
            </a:r>
          </a:p>
          <a:p>
            <a:pPr indent="0">
              <a:defRPr/>
            </a:pPr>
            <a:r>
              <a:rPr lang="en-US" sz="2000" dirty="0">
                <a:solidFill>
                  <a:srgbClr val="0070C0"/>
                </a:solidFill>
              </a:rPr>
              <a:t> 	Change the shaft speed ω of the generator.</a:t>
            </a:r>
          </a:p>
          <a:p>
            <a:pPr indent="0">
              <a:defRPr/>
            </a:pPr>
            <a:r>
              <a:rPr lang="en-US" sz="2000" dirty="0">
                <a:solidFill>
                  <a:srgbClr val="0070C0"/>
                </a:solidFill>
              </a:rPr>
              <a:t> 	Change the field resistor of the generator, </a:t>
            </a:r>
          </a:p>
          <a:p>
            <a:pPr indent="0">
              <a:defRPr/>
            </a:pPr>
            <a:endParaRPr lang="en-US" sz="2200" dirty="0">
              <a:solidFill>
                <a:srgbClr val="0070C0"/>
              </a:solidFill>
            </a:endParaRPr>
          </a:p>
          <a:p>
            <a:pPr indent="457200">
              <a:buNone/>
              <a:defRPr/>
            </a:pPr>
            <a:endParaRPr lang="en-US" sz="2400" dirty="0"/>
          </a:p>
        </p:txBody>
      </p:sp>
      <p:sp>
        <p:nvSpPr>
          <p:cNvPr id="40983" name="Rectangle 2">
            <a:extLst>
              <a:ext uri="{FF2B5EF4-FFF2-40B4-BE49-F238E27FC236}">
                <a16:creationId xmlns:a16="http://schemas.microsoft.com/office/drawing/2014/main" id="{EA313D1F-A0BB-BA64-8412-86C2E113A8E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4" name="Rectangle 2">
            <a:extLst>
              <a:ext uri="{FF2B5EF4-FFF2-40B4-BE49-F238E27FC236}">
                <a16:creationId xmlns:a16="http://schemas.microsoft.com/office/drawing/2014/main" id="{4D7F1946-F6F9-B34C-1A47-7E71BFD6839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5" name="Rectangle 2">
            <a:extLst>
              <a:ext uri="{FF2B5EF4-FFF2-40B4-BE49-F238E27FC236}">
                <a16:creationId xmlns:a16="http://schemas.microsoft.com/office/drawing/2014/main" id="{4D81A60C-506C-317E-EDA9-0F474406A280}"/>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6" name="Rectangle 3">
            <a:extLst>
              <a:ext uri="{FF2B5EF4-FFF2-40B4-BE49-F238E27FC236}">
                <a16:creationId xmlns:a16="http://schemas.microsoft.com/office/drawing/2014/main" id="{D36F0C3B-6848-C949-473E-9C29F76A0452}"/>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0987" name="Rectangle 5">
            <a:extLst>
              <a:ext uri="{FF2B5EF4-FFF2-40B4-BE49-F238E27FC236}">
                <a16:creationId xmlns:a16="http://schemas.microsoft.com/office/drawing/2014/main" id="{8B0F3876-E327-8B58-34F2-73BC63CF009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8" name="Rectangle 7">
            <a:extLst>
              <a:ext uri="{FF2B5EF4-FFF2-40B4-BE49-F238E27FC236}">
                <a16:creationId xmlns:a16="http://schemas.microsoft.com/office/drawing/2014/main" id="{E494AFA5-92B5-531C-DDA9-1CE4ED5A204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89" name="Rectangle 2">
            <a:extLst>
              <a:ext uri="{FF2B5EF4-FFF2-40B4-BE49-F238E27FC236}">
                <a16:creationId xmlns:a16="http://schemas.microsoft.com/office/drawing/2014/main" id="{8B0AAF1F-4480-9718-3852-888B6795DCB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90" name="Rectangle 4">
            <a:extLst>
              <a:ext uri="{FF2B5EF4-FFF2-40B4-BE49-F238E27FC236}">
                <a16:creationId xmlns:a16="http://schemas.microsoft.com/office/drawing/2014/main" id="{15358C9E-C5ED-6867-7519-AD72B67E0E7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0991" name="Rectangle 36">
            <a:extLst>
              <a:ext uri="{FF2B5EF4-FFF2-40B4-BE49-F238E27FC236}">
                <a16:creationId xmlns:a16="http://schemas.microsoft.com/office/drawing/2014/main" id="{96722A38-4DAA-6A51-1B79-EEA4F78D459D}"/>
              </a:ext>
            </a:extLst>
          </p:cNvPr>
          <p:cNvSpPr>
            <a:spLocks noChangeArrowheads="1"/>
          </p:cNvSpPr>
          <p:nvPr/>
        </p:nvSpPr>
        <p:spPr bwMode="auto">
          <a:xfrm>
            <a:off x="6553200" y="5334001"/>
            <a:ext cx="3886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terminal characteristic of a shunt dc generator</a:t>
            </a:r>
          </a:p>
        </p:txBody>
      </p:sp>
      <p:sp>
        <p:nvSpPr>
          <p:cNvPr id="40992" name="Rectangle 2">
            <a:extLst>
              <a:ext uri="{FF2B5EF4-FFF2-40B4-BE49-F238E27FC236}">
                <a16:creationId xmlns:a16="http://schemas.microsoft.com/office/drawing/2014/main" id="{1D354CF3-D254-C93F-1B7E-CEB5DA03797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0993" name="Picture 35">
            <a:extLst>
              <a:ext uri="{FF2B5EF4-FFF2-40B4-BE49-F238E27FC236}">
                <a16:creationId xmlns:a16="http://schemas.microsoft.com/office/drawing/2014/main" id="{9113FB11-83A9-D15B-6EC8-11DC2C5B2222}"/>
              </a:ext>
            </a:extLst>
          </p:cNvPr>
          <p:cNvPicPr>
            <a:picLocks noChangeAspect="1" noChangeArrowheads="1"/>
          </p:cNvPicPr>
          <p:nvPr/>
        </p:nvPicPr>
        <p:blipFill>
          <a:blip r:embed="rId2">
            <a:lum bright="-10000" contrast="40000"/>
            <a:extLst>
              <a:ext uri="{28A0092B-C50C-407E-A947-70E740481C1C}">
                <a14:useLocalDpi xmlns:a14="http://schemas.microsoft.com/office/drawing/2010/main" val="0"/>
              </a:ext>
            </a:extLst>
          </a:blip>
          <a:srcRect/>
          <a:stretch>
            <a:fillRect/>
          </a:stretch>
        </p:blipFill>
        <p:spPr bwMode="auto">
          <a:xfrm rot="120000">
            <a:off x="6328413" y="2952124"/>
            <a:ext cx="3811522" cy="2468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562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C652-6731-E6E5-49C3-D798625C30F7}"/>
            </a:ext>
          </a:extLst>
        </p:cNvPr>
        <p:cNvGrpSpPr/>
        <p:nvPr/>
      </p:nvGrpSpPr>
      <p:grpSpPr>
        <a:xfrm>
          <a:off x="0" y="0"/>
          <a:ext cx="0" cy="0"/>
          <a:chOff x="0" y="0"/>
          <a:chExt cx="0" cy="0"/>
        </a:xfrm>
      </p:grpSpPr>
      <p:sp>
        <p:nvSpPr>
          <p:cNvPr id="41987" name="Title 1">
            <a:extLst>
              <a:ext uri="{FF2B5EF4-FFF2-40B4-BE49-F238E27FC236}">
                <a16:creationId xmlns:a16="http://schemas.microsoft.com/office/drawing/2014/main" id="{4D26542D-DB0B-86E2-4C06-3A75E2C74211}"/>
              </a:ext>
            </a:extLst>
          </p:cNvPr>
          <p:cNvSpPr>
            <a:spLocks noGrp="1"/>
          </p:cNvSpPr>
          <p:nvPr>
            <p:ph type="title"/>
          </p:nvPr>
        </p:nvSpPr>
        <p:spPr>
          <a:xfrm>
            <a:off x="2095500" y="838200"/>
            <a:ext cx="7772400" cy="685800"/>
          </a:xfrm>
        </p:spPr>
        <p:txBody>
          <a:bodyPr/>
          <a:lstStyle/>
          <a:p>
            <a:pPr algn="ctr" eaLnBrk="1" hangingPunct="1"/>
            <a:r>
              <a:rPr lang="en-US" altLang="en-US" sz="3200" dirty="0"/>
              <a:t>Shunt Generator</a:t>
            </a:r>
          </a:p>
        </p:txBody>
      </p:sp>
      <p:sp>
        <p:nvSpPr>
          <p:cNvPr id="41988" name="Rectangle 4">
            <a:extLst>
              <a:ext uri="{FF2B5EF4-FFF2-40B4-BE49-F238E27FC236}">
                <a16:creationId xmlns:a16="http://schemas.microsoft.com/office/drawing/2014/main" id="{88EDD634-1E02-9FFF-451E-2CE3A042F1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1989" name="Rectangle 6">
            <a:extLst>
              <a:ext uri="{FF2B5EF4-FFF2-40B4-BE49-F238E27FC236}">
                <a16:creationId xmlns:a16="http://schemas.microsoft.com/office/drawing/2014/main" id="{54AB1F11-1A8B-3D86-AD36-A138C347D7B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1990" name="Rectangle 8">
            <a:extLst>
              <a:ext uri="{FF2B5EF4-FFF2-40B4-BE49-F238E27FC236}">
                <a16:creationId xmlns:a16="http://schemas.microsoft.com/office/drawing/2014/main" id="{F4B9991C-E254-6F2B-F3F1-AD009B050321}"/>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1991" name="Rectangle 9">
            <a:extLst>
              <a:ext uri="{FF2B5EF4-FFF2-40B4-BE49-F238E27FC236}">
                <a16:creationId xmlns:a16="http://schemas.microsoft.com/office/drawing/2014/main" id="{94ED0959-FB1E-3A18-2E91-E37328E33061}"/>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2" name="Rectangle 2">
            <a:extLst>
              <a:ext uri="{FF2B5EF4-FFF2-40B4-BE49-F238E27FC236}">
                <a16:creationId xmlns:a16="http://schemas.microsoft.com/office/drawing/2014/main" id="{715DBE1A-8AE8-8F3C-2009-0D7E76FCDF3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3" name="Rectangle 4">
            <a:extLst>
              <a:ext uri="{FF2B5EF4-FFF2-40B4-BE49-F238E27FC236}">
                <a16:creationId xmlns:a16="http://schemas.microsoft.com/office/drawing/2014/main" id="{419BB851-E036-7F55-0D3B-B8FEFADA502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4" name="Rectangle 6">
            <a:extLst>
              <a:ext uri="{FF2B5EF4-FFF2-40B4-BE49-F238E27FC236}">
                <a16:creationId xmlns:a16="http://schemas.microsoft.com/office/drawing/2014/main" id="{6E8299F6-B2CC-68A9-9923-7CC2C2CDECA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5" name="Rectangle 8">
            <a:extLst>
              <a:ext uri="{FF2B5EF4-FFF2-40B4-BE49-F238E27FC236}">
                <a16:creationId xmlns:a16="http://schemas.microsoft.com/office/drawing/2014/main" id="{C35DD1D5-22A7-6635-4C3C-437D2E5FEFD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6" name="Rectangle 10">
            <a:extLst>
              <a:ext uri="{FF2B5EF4-FFF2-40B4-BE49-F238E27FC236}">
                <a16:creationId xmlns:a16="http://schemas.microsoft.com/office/drawing/2014/main" id="{91BAC5AA-E49F-96AA-E82B-C319B1D2389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7" name="Rectangle 12">
            <a:extLst>
              <a:ext uri="{FF2B5EF4-FFF2-40B4-BE49-F238E27FC236}">
                <a16:creationId xmlns:a16="http://schemas.microsoft.com/office/drawing/2014/main" id="{C8267289-A477-4790-8429-7F91E250BFF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8" name="Rectangle 2">
            <a:extLst>
              <a:ext uri="{FF2B5EF4-FFF2-40B4-BE49-F238E27FC236}">
                <a16:creationId xmlns:a16="http://schemas.microsoft.com/office/drawing/2014/main" id="{B05CFF32-6055-09C4-AB74-3C9B43D4ADC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1999" name="Rectangle 4">
            <a:extLst>
              <a:ext uri="{FF2B5EF4-FFF2-40B4-BE49-F238E27FC236}">
                <a16:creationId xmlns:a16="http://schemas.microsoft.com/office/drawing/2014/main" id="{CFEAA68E-17CC-A0D9-8490-59D067C487C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0" name="Rectangle 6">
            <a:extLst>
              <a:ext uri="{FF2B5EF4-FFF2-40B4-BE49-F238E27FC236}">
                <a16:creationId xmlns:a16="http://schemas.microsoft.com/office/drawing/2014/main" id="{596B799A-E994-891F-7ADB-A9D22DF59E4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1" name="Rectangle 8">
            <a:extLst>
              <a:ext uri="{FF2B5EF4-FFF2-40B4-BE49-F238E27FC236}">
                <a16:creationId xmlns:a16="http://schemas.microsoft.com/office/drawing/2014/main" id="{29E58965-B5DA-DA81-AE73-CD9F174EF74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2" name="Rectangle 10">
            <a:extLst>
              <a:ext uri="{FF2B5EF4-FFF2-40B4-BE49-F238E27FC236}">
                <a16:creationId xmlns:a16="http://schemas.microsoft.com/office/drawing/2014/main" id="{DA52F5C4-A81B-74DD-43B2-EDFC825549B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3" name="Rectangle 2">
            <a:extLst>
              <a:ext uri="{FF2B5EF4-FFF2-40B4-BE49-F238E27FC236}">
                <a16:creationId xmlns:a16="http://schemas.microsoft.com/office/drawing/2014/main" id="{AA813D3E-87AA-7EEB-11C8-02BE5895364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4" name="Rectangle 4">
            <a:extLst>
              <a:ext uri="{FF2B5EF4-FFF2-40B4-BE49-F238E27FC236}">
                <a16:creationId xmlns:a16="http://schemas.microsoft.com/office/drawing/2014/main" id="{9C695898-3430-607B-1071-9BE67C1FE33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5" name="Rectangle 7">
            <a:extLst>
              <a:ext uri="{FF2B5EF4-FFF2-40B4-BE49-F238E27FC236}">
                <a16:creationId xmlns:a16="http://schemas.microsoft.com/office/drawing/2014/main" id="{13061EAB-F586-3C68-1B36-C44960E6F42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D7EB0348-D874-1E3E-A563-3A0827073662}"/>
              </a:ext>
            </a:extLst>
          </p:cNvPr>
          <p:cNvSpPr>
            <a:spLocks noGrp="1"/>
          </p:cNvSpPr>
          <p:nvPr>
            <p:ph sz="quarter" idx="1"/>
          </p:nvPr>
        </p:nvSpPr>
        <p:spPr>
          <a:xfrm>
            <a:off x="1524000" y="1524000"/>
            <a:ext cx="8915400" cy="4953000"/>
          </a:xfrm>
        </p:spPr>
        <p:txBody>
          <a:bodyPr/>
          <a:lstStyle/>
          <a:p>
            <a:pPr indent="0">
              <a:buNone/>
              <a:defRPr/>
            </a:pPr>
            <a:r>
              <a:rPr lang="en-US" sz="2400" dirty="0">
                <a:solidFill>
                  <a:srgbClr val="0070C0"/>
                </a:solidFill>
              </a:rPr>
              <a:t>The Non linear Analysis of Shunt DC Generators</a:t>
            </a:r>
          </a:p>
          <a:p>
            <a:pPr indent="0">
              <a:buNone/>
              <a:defRPr/>
            </a:pPr>
            <a:r>
              <a:rPr lang="en-US" sz="2400" dirty="0">
                <a:solidFill>
                  <a:srgbClr val="0070C0"/>
                </a:solidFill>
              </a:rPr>
              <a:t> </a:t>
            </a:r>
          </a:p>
          <a:p>
            <a:pPr indent="457200">
              <a:defRPr/>
            </a:pPr>
            <a:r>
              <a:rPr lang="en-US" sz="2400" dirty="0"/>
              <a:t>  	The key to understanding the graphical analysis of shunt generators is  	to remember Kirchhoff's voltage law (KVL):</a:t>
            </a:r>
          </a:p>
          <a:p>
            <a:pPr indent="457200">
              <a:defRPr/>
            </a:pPr>
            <a:r>
              <a:rPr lang="en-US" sz="2400" dirty="0"/>
              <a:t> </a:t>
            </a:r>
          </a:p>
          <a:p>
            <a:pPr indent="457200">
              <a:defRPr/>
            </a:pPr>
            <a:r>
              <a:rPr lang="en-US" sz="2400" dirty="0"/>
              <a:t> The field resistance R</a:t>
            </a:r>
            <a:r>
              <a:rPr lang="en-US" sz="2400" baseline="-25000" dirty="0"/>
              <a:t>F</a:t>
            </a:r>
            <a:r>
              <a:rPr lang="en-US" sz="2400" dirty="0"/>
              <a:t>, which is just equal to V</a:t>
            </a:r>
            <a:r>
              <a:rPr lang="en-US" sz="2400" baseline="-25000" dirty="0"/>
              <a:t>T</a:t>
            </a:r>
            <a:r>
              <a:rPr lang="en-US" sz="2400" dirty="0"/>
              <a:t>/I</a:t>
            </a:r>
            <a:r>
              <a:rPr lang="en-US" sz="2400" baseline="-25000" dirty="0"/>
              <a:t>F</a:t>
            </a:r>
            <a:r>
              <a:rPr lang="en-US" sz="2400" dirty="0"/>
              <a:t>, a straight line</a:t>
            </a:r>
          </a:p>
          <a:p>
            <a:pPr indent="457200">
              <a:defRPr/>
            </a:pPr>
            <a:r>
              <a:rPr lang="en-US" sz="2400" dirty="0">
                <a:solidFill>
                  <a:srgbClr val="0070C0"/>
                </a:solidFill>
              </a:rPr>
              <a:t>At no load  V</a:t>
            </a:r>
            <a:r>
              <a:rPr lang="en-US" sz="2400" baseline="-25000" dirty="0">
                <a:solidFill>
                  <a:srgbClr val="0070C0"/>
                </a:solidFill>
              </a:rPr>
              <a:t>T </a:t>
            </a:r>
            <a:r>
              <a:rPr lang="en-US" sz="2400" dirty="0">
                <a:solidFill>
                  <a:srgbClr val="0070C0"/>
                </a:solidFill>
              </a:rPr>
              <a:t>= E</a:t>
            </a:r>
            <a:r>
              <a:rPr lang="en-US" sz="2400" baseline="-25000" dirty="0">
                <a:solidFill>
                  <a:srgbClr val="0070C0"/>
                </a:solidFill>
              </a:rPr>
              <a:t>A</a:t>
            </a:r>
            <a:r>
              <a:rPr lang="en-US" sz="2400" dirty="0">
                <a:solidFill>
                  <a:srgbClr val="0070C0"/>
                </a:solidFill>
              </a:rPr>
              <a:t> </a:t>
            </a:r>
          </a:p>
          <a:p>
            <a:pPr indent="457200">
              <a:defRPr/>
            </a:pPr>
            <a:r>
              <a:rPr lang="en-US" sz="2400" dirty="0">
                <a:solidFill>
                  <a:srgbClr val="0070C0"/>
                </a:solidFill>
              </a:rPr>
              <a:t>The </a:t>
            </a:r>
            <a:r>
              <a:rPr lang="en-US" sz="2400" dirty="0" err="1">
                <a:solidFill>
                  <a:srgbClr val="0070C0"/>
                </a:solidFill>
              </a:rPr>
              <a:t>differnce</a:t>
            </a:r>
            <a:r>
              <a:rPr lang="en-US" sz="2400" dirty="0">
                <a:solidFill>
                  <a:srgbClr val="0070C0"/>
                </a:solidFill>
              </a:rPr>
              <a:t> between V</a:t>
            </a:r>
            <a:r>
              <a:rPr lang="en-US" sz="2400" baseline="-25000" dirty="0">
                <a:solidFill>
                  <a:srgbClr val="0070C0"/>
                </a:solidFill>
              </a:rPr>
              <a:t>T </a:t>
            </a:r>
            <a:r>
              <a:rPr lang="en-US" sz="2400" dirty="0">
                <a:solidFill>
                  <a:srgbClr val="0070C0"/>
                </a:solidFill>
              </a:rPr>
              <a:t>and  E</a:t>
            </a:r>
            <a:r>
              <a:rPr lang="en-US" sz="2400" baseline="-25000" dirty="0">
                <a:solidFill>
                  <a:srgbClr val="0070C0"/>
                </a:solidFill>
              </a:rPr>
              <a:t>A</a:t>
            </a:r>
            <a:r>
              <a:rPr lang="en-US" sz="2400" dirty="0">
                <a:solidFill>
                  <a:srgbClr val="0070C0"/>
                </a:solidFill>
              </a:rPr>
              <a:t> is  </a:t>
            </a:r>
            <a:r>
              <a:rPr lang="en-US" sz="2400" dirty="0" err="1">
                <a:solidFill>
                  <a:srgbClr val="0070C0"/>
                </a:solidFill>
              </a:rPr>
              <a:t>l</a:t>
            </a:r>
            <a:r>
              <a:rPr lang="en-US" sz="1600" dirty="0" err="1">
                <a:solidFill>
                  <a:srgbClr val="0070C0"/>
                </a:solidFill>
              </a:rPr>
              <a:t>A</a:t>
            </a:r>
            <a:r>
              <a:rPr lang="en-US" sz="2400" dirty="0" err="1">
                <a:solidFill>
                  <a:srgbClr val="0070C0"/>
                </a:solidFill>
              </a:rPr>
              <a:t>R</a:t>
            </a:r>
            <a:r>
              <a:rPr lang="en-US" sz="1600" dirty="0" err="1">
                <a:solidFill>
                  <a:srgbClr val="0070C0"/>
                </a:solidFill>
              </a:rPr>
              <a:t>A</a:t>
            </a:r>
            <a:endParaRPr lang="en-US" sz="2200" dirty="0">
              <a:solidFill>
                <a:srgbClr val="0070C0"/>
              </a:solidFill>
            </a:endParaRPr>
          </a:p>
          <a:p>
            <a:pPr indent="457200">
              <a:buNone/>
              <a:defRPr/>
            </a:pPr>
            <a:r>
              <a:rPr lang="en-US" sz="2400" dirty="0">
                <a:solidFill>
                  <a:srgbClr val="0070C0"/>
                </a:solidFill>
              </a:rPr>
              <a:t> </a:t>
            </a:r>
            <a:endParaRPr lang="en-US" sz="2400" dirty="0"/>
          </a:p>
        </p:txBody>
      </p:sp>
      <p:sp>
        <p:nvSpPr>
          <p:cNvPr id="42007" name="Rectangle 2">
            <a:extLst>
              <a:ext uri="{FF2B5EF4-FFF2-40B4-BE49-F238E27FC236}">
                <a16:creationId xmlns:a16="http://schemas.microsoft.com/office/drawing/2014/main" id="{E2E772FA-9CE8-8B1B-B142-B09399B250C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8" name="Rectangle 2">
            <a:extLst>
              <a:ext uri="{FF2B5EF4-FFF2-40B4-BE49-F238E27FC236}">
                <a16:creationId xmlns:a16="http://schemas.microsoft.com/office/drawing/2014/main" id="{964C6BC2-B009-05DA-C763-DC41D22188F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09" name="Rectangle 2">
            <a:extLst>
              <a:ext uri="{FF2B5EF4-FFF2-40B4-BE49-F238E27FC236}">
                <a16:creationId xmlns:a16="http://schemas.microsoft.com/office/drawing/2014/main" id="{92CB0E43-81AD-6457-4E5D-65C438911AFB}"/>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0" name="Rectangle 3">
            <a:extLst>
              <a:ext uri="{FF2B5EF4-FFF2-40B4-BE49-F238E27FC236}">
                <a16:creationId xmlns:a16="http://schemas.microsoft.com/office/drawing/2014/main" id="{F2804AA7-BD05-5AF8-8CDA-D4B73A2DF38B}"/>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2011" name="Rectangle 5">
            <a:extLst>
              <a:ext uri="{FF2B5EF4-FFF2-40B4-BE49-F238E27FC236}">
                <a16:creationId xmlns:a16="http://schemas.microsoft.com/office/drawing/2014/main" id="{5D85F514-9DE3-41E4-BDA2-ABADCEF0A97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2" name="Rectangle 7">
            <a:extLst>
              <a:ext uri="{FF2B5EF4-FFF2-40B4-BE49-F238E27FC236}">
                <a16:creationId xmlns:a16="http://schemas.microsoft.com/office/drawing/2014/main" id="{3B669F9C-C882-B9A9-6CD2-6E6C97E925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3" name="Rectangle 2">
            <a:extLst>
              <a:ext uri="{FF2B5EF4-FFF2-40B4-BE49-F238E27FC236}">
                <a16:creationId xmlns:a16="http://schemas.microsoft.com/office/drawing/2014/main" id="{8A48BFB1-B56B-2F1D-01E0-C2EA45EDB9D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4" name="Rectangle 4">
            <a:extLst>
              <a:ext uri="{FF2B5EF4-FFF2-40B4-BE49-F238E27FC236}">
                <a16:creationId xmlns:a16="http://schemas.microsoft.com/office/drawing/2014/main" id="{49ACC5B8-E96C-1CBB-2C4D-4F10C219706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5" name="Rectangle 36">
            <a:extLst>
              <a:ext uri="{FF2B5EF4-FFF2-40B4-BE49-F238E27FC236}">
                <a16:creationId xmlns:a16="http://schemas.microsoft.com/office/drawing/2014/main" id="{EF19D488-384E-D35B-0214-D964C2200219}"/>
              </a:ext>
            </a:extLst>
          </p:cNvPr>
          <p:cNvSpPr>
            <a:spLocks noChangeArrowheads="1"/>
          </p:cNvSpPr>
          <p:nvPr/>
        </p:nvSpPr>
        <p:spPr bwMode="auto">
          <a:xfrm>
            <a:off x="7239000" y="6324601"/>
            <a:ext cx="2895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graphical analysis of shunt generators </a:t>
            </a:r>
          </a:p>
        </p:txBody>
      </p:sp>
      <p:sp>
        <p:nvSpPr>
          <p:cNvPr id="42016" name="Rectangle 2">
            <a:extLst>
              <a:ext uri="{FF2B5EF4-FFF2-40B4-BE49-F238E27FC236}">
                <a16:creationId xmlns:a16="http://schemas.microsoft.com/office/drawing/2014/main" id="{BCD01F3C-A9E8-7C26-990C-6C02CB4F218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2017" name="Rectangle 2">
            <a:extLst>
              <a:ext uri="{FF2B5EF4-FFF2-40B4-BE49-F238E27FC236}">
                <a16:creationId xmlns:a16="http://schemas.microsoft.com/office/drawing/2014/main" id="{246BCC56-CD53-3673-F8C8-31B218CA2EC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2018" name="Picture 1">
            <a:extLst>
              <a:ext uri="{FF2B5EF4-FFF2-40B4-BE49-F238E27FC236}">
                <a16:creationId xmlns:a16="http://schemas.microsoft.com/office/drawing/2014/main" id="{E7110F58-3128-A12B-8E47-86D7DD013F5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0801" y="3276600"/>
            <a:ext cx="16287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19" name="Picture 38">
            <a:extLst>
              <a:ext uri="{FF2B5EF4-FFF2-40B4-BE49-F238E27FC236}">
                <a16:creationId xmlns:a16="http://schemas.microsoft.com/office/drawing/2014/main" id="{EC38E3B0-1947-DABC-E446-79023AB6A4E8}"/>
              </a:ext>
            </a:extLst>
          </p:cNvPr>
          <p:cNvPicPr>
            <a:picLocks noChangeAspect="1" noChangeArrowheads="1"/>
          </p:cNvPicPr>
          <p:nvPr/>
        </p:nvPicPr>
        <p:blipFill>
          <a:blip r:embed="rId3">
            <a:lum bright="-10000" contrast="40000"/>
            <a:extLst>
              <a:ext uri="{28A0092B-C50C-407E-A947-70E740481C1C}">
                <a14:useLocalDpi xmlns:a14="http://schemas.microsoft.com/office/drawing/2010/main" val="0"/>
              </a:ext>
            </a:extLst>
          </a:blip>
          <a:srcRect l="2524"/>
          <a:stretch>
            <a:fillRect/>
          </a:stretch>
        </p:blipFill>
        <p:spPr bwMode="auto">
          <a:xfrm>
            <a:off x="7162801" y="4114800"/>
            <a:ext cx="303847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0688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4EAC3-9C45-276C-9F74-476E842939BA}"/>
            </a:ext>
          </a:extLst>
        </p:cNvPr>
        <p:cNvGrpSpPr/>
        <p:nvPr/>
      </p:nvGrpSpPr>
      <p:grpSpPr>
        <a:xfrm>
          <a:off x="0" y="0"/>
          <a:ext cx="0" cy="0"/>
          <a:chOff x="0" y="0"/>
          <a:chExt cx="0" cy="0"/>
        </a:xfrm>
      </p:grpSpPr>
      <p:sp>
        <p:nvSpPr>
          <p:cNvPr id="43011" name="Title 1">
            <a:extLst>
              <a:ext uri="{FF2B5EF4-FFF2-40B4-BE49-F238E27FC236}">
                <a16:creationId xmlns:a16="http://schemas.microsoft.com/office/drawing/2014/main" id="{845941D5-A3E7-5FB9-C8D9-B174ABCA09B7}"/>
              </a:ext>
            </a:extLst>
          </p:cNvPr>
          <p:cNvSpPr>
            <a:spLocks noGrp="1"/>
          </p:cNvSpPr>
          <p:nvPr>
            <p:ph type="title"/>
          </p:nvPr>
        </p:nvSpPr>
        <p:spPr>
          <a:xfrm>
            <a:off x="2095500" y="853522"/>
            <a:ext cx="7772400" cy="685800"/>
          </a:xfrm>
        </p:spPr>
        <p:txBody>
          <a:bodyPr/>
          <a:lstStyle/>
          <a:p>
            <a:pPr algn="ctr" eaLnBrk="1" hangingPunct="1"/>
            <a:r>
              <a:rPr lang="en-US" altLang="en-US" sz="3200" dirty="0"/>
              <a:t>Shunt Generator</a:t>
            </a:r>
          </a:p>
        </p:txBody>
      </p:sp>
      <p:sp>
        <p:nvSpPr>
          <p:cNvPr id="43012" name="Rectangle 4">
            <a:extLst>
              <a:ext uri="{FF2B5EF4-FFF2-40B4-BE49-F238E27FC236}">
                <a16:creationId xmlns:a16="http://schemas.microsoft.com/office/drawing/2014/main" id="{705BAF4C-ED42-17E8-31DB-8887F0641E3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3013" name="Rectangle 6">
            <a:extLst>
              <a:ext uri="{FF2B5EF4-FFF2-40B4-BE49-F238E27FC236}">
                <a16:creationId xmlns:a16="http://schemas.microsoft.com/office/drawing/2014/main" id="{02E4D30B-2E03-976E-7B38-845C91CD235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3014" name="Rectangle 8">
            <a:extLst>
              <a:ext uri="{FF2B5EF4-FFF2-40B4-BE49-F238E27FC236}">
                <a16:creationId xmlns:a16="http://schemas.microsoft.com/office/drawing/2014/main" id="{5B878C60-D033-0147-C679-F74B74411279}"/>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3015" name="Rectangle 9">
            <a:extLst>
              <a:ext uri="{FF2B5EF4-FFF2-40B4-BE49-F238E27FC236}">
                <a16:creationId xmlns:a16="http://schemas.microsoft.com/office/drawing/2014/main" id="{DD05BB99-829C-A701-F05E-5E8C5C8F0C6D}"/>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16" name="Rectangle 2">
            <a:extLst>
              <a:ext uri="{FF2B5EF4-FFF2-40B4-BE49-F238E27FC236}">
                <a16:creationId xmlns:a16="http://schemas.microsoft.com/office/drawing/2014/main" id="{C94F1B25-246F-0B88-7097-65806FE8174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17" name="Rectangle 4">
            <a:extLst>
              <a:ext uri="{FF2B5EF4-FFF2-40B4-BE49-F238E27FC236}">
                <a16:creationId xmlns:a16="http://schemas.microsoft.com/office/drawing/2014/main" id="{0D36A8E5-E821-ECB6-14D9-06A44EF6C6D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18" name="Rectangle 6">
            <a:extLst>
              <a:ext uri="{FF2B5EF4-FFF2-40B4-BE49-F238E27FC236}">
                <a16:creationId xmlns:a16="http://schemas.microsoft.com/office/drawing/2014/main" id="{1B9145B5-DE79-AC05-AA5B-C0AB34FC31E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19" name="Rectangle 8">
            <a:extLst>
              <a:ext uri="{FF2B5EF4-FFF2-40B4-BE49-F238E27FC236}">
                <a16:creationId xmlns:a16="http://schemas.microsoft.com/office/drawing/2014/main" id="{FFDEE3EA-84DA-B3B9-DEAE-C132D24850A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0" name="Rectangle 10">
            <a:extLst>
              <a:ext uri="{FF2B5EF4-FFF2-40B4-BE49-F238E27FC236}">
                <a16:creationId xmlns:a16="http://schemas.microsoft.com/office/drawing/2014/main" id="{2FB7963C-AE2C-DDB9-D788-7300540DD98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1" name="Rectangle 12">
            <a:extLst>
              <a:ext uri="{FF2B5EF4-FFF2-40B4-BE49-F238E27FC236}">
                <a16:creationId xmlns:a16="http://schemas.microsoft.com/office/drawing/2014/main" id="{59E06AC3-F42C-6EE1-10DA-3687C0F3811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2" name="Rectangle 2">
            <a:extLst>
              <a:ext uri="{FF2B5EF4-FFF2-40B4-BE49-F238E27FC236}">
                <a16:creationId xmlns:a16="http://schemas.microsoft.com/office/drawing/2014/main" id="{A9426B08-B903-0B05-9F83-8876BA2B04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3" name="Rectangle 4">
            <a:extLst>
              <a:ext uri="{FF2B5EF4-FFF2-40B4-BE49-F238E27FC236}">
                <a16:creationId xmlns:a16="http://schemas.microsoft.com/office/drawing/2014/main" id="{C9F323C0-9561-992B-2037-1B51EF09D01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4" name="Rectangle 6">
            <a:extLst>
              <a:ext uri="{FF2B5EF4-FFF2-40B4-BE49-F238E27FC236}">
                <a16:creationId xmlns:a16="http://schemas.microsoft.com/office/drawing/2014/main" id="{901E9B81-CE57-95A4-5CB0-40BBD058204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5" name="Rectangle 8">
            <a:extLst>
              <a:ext uri="{FF2B5EF4-FFF2-40B4-BE49-F238E27FC236}">
                <a16:creationId xmlns:a16="http://schemas.microsoft.com/office/drawing/2014/main" id="{E3102D28-9A13-0B75-7701-AD6DF917B53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6" name="Rectangle 10">
            <a:extLst>
              <a:ext uri="{FF2B5EF4-FFF2-40B4-BE49-F238E27FC236}">
                <a16:creationId xmlns:a16="http://schemas.microsoft.com/office/drawing/2014/main" id="{3CB1EFE9-24ED-5B04-0025-30D1AB7BEF6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7" name="Rectangle 2">
            <a:extLst>
              <a:ext uri="{FF2B5EF4-FFF2-40B4-BE49-F238E27FC236}">
                <a16:creationId xmlns:a16="http://schemas.microsoft.com/office/drawing/2014/main" id="{9CE32ABC-528D-6198-DE65-D8715DE61BE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8" name="Rectangle 4">
            <a:extLst>
              <a:ext uri="{FF2B5EF4-FFF2-40B4-BE49-F238E27FC236}">
                <a16:creationId xmlns:a16="http://schemas.microsoft.com/office/drawing/2014/main" id="{AEC8ED13-A84C-1B2B-D5FC-99BF4AD48BA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29" name="Rectangle 7">
            <a:extLst>
              <a:ext uri="{FF2B5EF4-FFF2-40B4-BE49-F238E27FC236}">
                <a16:creationId xmlns:a16="http://schemas.microsoft.com/office/drawing/2014/main" id="{321FBFC2-B262-9548-1C3F-6C7C7969D64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7FD1964B-52B1-662A-366F-8AB82730A03F}"/>
              </a:ext>
            </a:extLst>
          </p:cNvPr>
          <p:cNvSpPr>
            <a:spLocks noGrp="1"/>
          </p:cNvSpPr>
          <p:nvPr>
            <p:ph sz="quarter" idx="1"/>
          </p:nvPr>
        </p:nvSpPr>
        <p:spPr>
          <a:xfrm>
            <a:off x="1524000" y="1524000"/>
            <a:ext cx="8915400" cy="4953000"/>
          </a:xfrm>
        </p:spPr>
        <p:txBody>
          <a:bodyPr/>
          <a:lstStyle/>
          <a:p>
            <a:pPr indent="0">
              <a:buNone/>
              <a:defRPr/>
            </a:pPr>
            <a:r>
              <a:rPr lang="en-US" sz="2400" dirty="0">
                <a:solidFill>
                  <a:srgbClr val="0070C0"/>
                </a:solidFill>
              </a:rPr>
              <a:t>If armature reaction is present in a shunt generator </a:t>
            </a:r>
          </a:p>
          <a:p>
            <a:pPr indent="457200">
              <a:defRPr/>
            </a:pPr>
            <a:r>
              <a:rPr lang="en-US" sz="2400" dirty="0"/>
              <a:t>  	There is demagnetizing </a:t>
            </a:r>
            <a:r>
              <a:rPr lang="en-US" sz="2400" dirty="0" err="1"/>
              <a:t>magnetomotive</a:t>
            </a:r>
            <a:r>
              <a:rPr lang="en-US" sz="2400" dirty="0"/>
              <a:t> force and </a:t>
            </a:r>
            <a:r>
              <a:rPr lang="en-US" sz="2400" dirty="0" err="1"/>
              <a:t>l</a:t>
            </a:r>
            <a:r>
              <a:rPr lang="en-US" sz="1600" dirty="0" err="1"/>
              <a:t>A</a:t>
            </a:r>
            <a:r>
              <a:rPr lang="en-US" sz="2400" dirty="0" err="1"/>
              <a:t>R</a:t>
            </a:r>
            <a:r>
              <a:rPr lang="en-US" sz="1600" dirty="0" err="1"/>
              <a:t>A</a:t>
            </a:r>
            <a:r>
              <a:rPr lang="en-US" sz="1600" dirty="0"/>
              <a:t> </a:t>
            </a:r>
            <a:r>
              <a:rPr lang="en-US" sz="2400" dirty="0"/>
              <a:t>drop</a:t>
            </a:r>
          </a:p>
          <a:p>
            <a:pPr indent="457200">
              <a:defRPr/>
            </a:pPr>
            <a:r>
              <a:rPr lang="en-US" sz="2400" dirty="0"/>
              <a:t> 	</a:t>
            </a:r>
          </a:p>
          <a:p>
            <a:pPr indent="457200">
              <a:defRPr/>
            </a:pPr>
            <a:endParaRPr lang="en-US" sz="2400" dirty="0"/>
          </a:p>
        </p:txBody>
      </p:sp>
      <p:sp>
        <p:nvSpPr>
          <p:cNvPr id="43031" name="Rectangle 2">
            <a:extLst>
              <a:ext uri="{FF2B5EF4-FFF2-40B4-BE49-F238E27FC236}">
                <a16:creationId xmlns:a16="http://schemas.microsoft.com/office/drawing/2014/main" id="{7AE0CD42-4E13-4402-CC79-A6708D6C54C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2" name="Rectangle 2">
            <a:extLst>
              <a:ext uri="{FF2B5EF4-FFF2-40B4-BE49-F238E27FC236}">
                <a16:creationId xmlns:a16="http://schemas.microsoft.com/office/drawing/2014/main" id="{0B49E84F-66BC-EF3A-1558-52F8B3DF05F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3" name="Rectangle 2">
            <a:extLst>
              <a:ext uri="{FF2B5EF4-FFF2-40B4-BE49-F238E27FC236}">
                <a16:creationId xmlns:a16="http://schemas.microsoft.com/office/drawing/2014/main" id="{9B2186F2-B773-C5C3-CA88-4EFF58A4739C}"/>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4" name="Rectangle 3">
            <a:extLst>
              <a:ext uri="{FF2B5EF4-FFF2-40B4-BE49-F238E27FC236}">
                <a16:creationId xmlns:a16="http://schemas.microsoft.com/office/drawing/2014/main" id="{FE8C2230-1632-DF7E-60D9-12360F7BE03B}"/>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3035" name="Rectangle 5">
            <a:extLst>
              <a:ext uri="{FF2B5EF4-FFF2-40B4-BE49-F238E27FC236}">
                <a16:creationId xmlns:a16="http://schemas.microsoft.com/office/drawing/2014/main" id="{49C78070-3C55-2262-BC71-7B86234E8D2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6" name="Rectangle 7">
            <a:extLst>
              <a:ext uri="{FF2B5EF4-FFF2-40B4-BE49-F238E27FC236}">
                <a16:creationId xmlns:a16="http://schemas.microsoft.com/office/drawing/2014/main" id="{60080BB7-BA55-71BB-8496-03F212C0C2B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7" name="Rectangle 2">
            <a:extLst>
              <a:ext uri="{FF2B5EF4-FFF2-40B4-BE49-F238E27FC236}">
                <a16:creationId xmlns:a16="http://schemas.microsoft.com/office/drawing/2014/main" id="{EC651881-0BC3-8991-6B64-611F05A603F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8" name="Rectangle 4">
            <a:extLst>
              <a:ext uri="{FF2B5EF4-FFF2-40B4-BE49-F238E27FC236}">
                <a16:creationId xmlns:a16="http://schemas.microsoft.com/office/drawing/2014/main" id="{703C02F7-3E8A-7ACF-CA26-4A14EB5B389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39" name="Rectangle 36">
            <a:extLst>
              <a:ext uri="{FF2B5EF4-FFF2-40B4-BE49-F238E27FC236}">
                <a16:creationId xmlns:a16="http://schemas.microsoft.com/office/drawing/2014/main" id="{E88CB21E-4178-97F9-B93B-7AD780BB709C}"/>
              </a:ext>
            </a:extLst>
          </p:cNvPr>
          <p:cNvSpPr>
            <a:spLocks noChangeArrowheads="1"/>
          </p:cNvSpPr>
          <p:nvPr/>
        </p:nvSpPr>
        <p:spPr bwMode="auto">
          <a:xfrm>
            <a:off x="3505200" y="6172201"/>
            <a:ext cx="472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graphical analysis of shunt generators with armature reaction </a:t>
            </a:r>
          </a:p>
        </p:txBody>
      </p:sp>
      <p:sp>
        <p:nvSpPr>
          <p:cNvPr id="43040" name="Rectangle 2">
            <a:extLst>
              <a:ext uri="{FF2B5EF4-FFF2-40B4-BE49-F238E27FC236}">
                <a16:creationId xmlns:a16="http://schemas.microsoft.com/office/drawing/2014/main" id="{33449525-A13E-898B-1895-10F017C00F2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3041" name="Rectangle 2">
            <a:extLst>
              <a:ext uri="{FF2B5EF4-FFF2-40B4-BE49-F238E27FC236}">
                <a16:creationId xmlns:a16="http://schemas.microsoft.com/office/drawing/2014/main" id="{2C7CF6D0-8AFC-ABC1-F50B-CEF4F30098A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3042" name="Picture 4">
            <a:extLst>
              <a:ext uri="{FF2B5EF4-FFF2-40B4-BE49-F238E27FC236}">
                <a16:creationId xmlns:a16="http://schemas.microsoft.com/office/drawing/2014/main" id="{13AA7F49-692B-EB8E-11EE-AFE70CA5272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4600" y="2514600"/>
            <a:ext cx="18684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3" name="Picture 37">
            <a:extLst>
              <a:ext uri="{FF2B5EF4-FFF2-40B4-BE49-F238E27FC236}">
                <a16:creationId xmlns:a16="http://schemas.microsoft.com/office/drawing/2014/main" id="{A6C7A9F1-BEE4-07D6-5FD4-C4DEE8E4F9D2}"/>
              </a:ext>
            </a:extLst>
          </p:cNvPr>
          <p:cNvPicPr>
            <a:picLocks noChangeAspect="1" noChangeArrowheads="1"/>
          </p:cNvPicPr>
          <p:nvPr/>
        </p:nvPicPr>
        <p:blipFill>
          <a:blip r:embed="rId3">
            <a:lum bright="-10000" contrast="40000"/>
            <a:extLst>
              <a:ext uri="{28A0092B-C50C-407E-A947-70E740481C1C}">
                <a14:useLocalDpi xmlns:a14="http://schemas.microsoft.com/office/drawing/2010/main" val="0"/>
              </a:ext>
            </a:extLst>
          </a:blip>
          <a:srcRect/>
          <a:stretch>
            <a:fillRect/>
          </a:stretch>
        </p:blipFill>
        <p:spPr bwMode="auto">
          <a:xfrm rot="60000">
            <a:off x="3906839" y="3614739"/>
            <a:ext cx="380682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082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37CE3-2FF2-4195-01E2-49D49BFFEF0D}"/>
            </a:ext>
          </a:extLst>
        </p:cNvPr>
        <p:cNvGrpSpPr/>
        <p:nvPr/>
      </p:nvGrpSpPr>
      <p:grpSpPr>
        <a:xfrm>
          <a:off x="0" y="0"/>
          <a:ext cx="0" cy="0"/>
          <a:chOff x="0" y="0"/>
          <a:chExt cx="0" cy="0"/>
        </a:xfrm>
      </p:grpSpPr>
      <p:sp>
        <p:nvSpPr>
          <p:cNvPr id="46083" name="Title 1">
            <a:extLst>
              <a:ext uri="{FF2B5EF4-FFF2-40B4-BE49-F238E27FC236}">
                <a16:creationId xmlns:a16="http://schemas.microsoft.com/office/drawing/2014/main" id="{C5F5647E-4F40-58C8-6D7E-63A853ECBCD8}"/>
              </a:ext>
            </a:extLst>
          </p:cNvPr>
          <p:cNvSpPr>
            <a:spLocks noGrp="1"/>
          </p:cNvSpPr>
          <p:nvPr>
            <p:ph type="title"/>
          </p:nvPr>
        </p:nvSpPr>
        <p:spPr>
          <a:xfrm>
            <a:off x="1981201" y="984766"/>
            <a:ext cx="7772400" cy="685800"/>
          </a:xfrm>
        </p:spPr>
        <p:txBody>
          <a:bodyPr/>
          <a:lstStyle/>
          <a:p>
            <a:pPr algn="ctr" eaLnBrk="1" hangingPunct="1"/>
            <a:r>
              <a:rPr lang="en-US" altLang="en-US" sz="3200" dirty="0"/>
              <a:t>SERIES DC GENERATOR</a:t>
            </a:r>
          </a:p>
        </p:txBody>
      </p:sp>
      <p:sp>
        <p:nvSpPr>
          <p:cNvPr id="46084" name="Rectangle 4">
            <a:extLst>
              <a:ext uri="{FF2B5EF4-FFF2-40B4-BE49-F238E27FC236}">
                <a16:creationId xmlns:a16="http://schemas.microsoft.com/office/drawing/2014/main" id="{4B8363D2-E362-1F74-A064-228EE63D38A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6085" name="Rectangle 6">
            <a:extLst>
              <a:ext uri="{FF2B5EF4-FFF2-40B4-BE49-F238E27FC236}">
                <a16:creationId xmlns:a16="http://schemas.microsoft.com/office/drawing/2014/main" id="{54B74A8A-6A33-23C3-33B3-CD552D74333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6086" name="Rectangle 8">
            <a:extLst>
              <a:ext uri="{FF2B5EF4-FFF2-40B4-BE49-F238E27FC236}">
                <a16:creationId xmlns:a16="http://schemas.microsoft.com/office/drawing/2014/main" id="{0399B326-A0D6-C403-9800-E8E299754BA5}"/>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6087" name="Rectangle 9">
            <a:extLst>
              <a:ext uri="{FF2B5EF4-FFF2-40B4-BE49-F238E27FC236}">
                <a16:creationId xmlns:a16="http://schemas.microsoft.com/office/drawing/2014/main" id="{6E367B2A-5959-3548-228C-5FB3CE9EF18F}"/>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88" name="Rectangle 2">
            <a:extLst>
              <a:ext uri="{FF2B5EF4-FFF2-40B4-BE49-F238E27FC236}">
                <a16:creationId xmlns:a16="http://schemas.microsoft.com/office/drawing/2014/main" id="{6E2C0661-C2B0-CD01-B3E7-A6F8910982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89" name="Rectangle 4">
            <a:extLst>
              <a:ext uri="{FF2B5EF4-FFF2-40B4-BE49-F238E27FC236}">
                <a16:creationId xmlns:a16="http://schemas.microsoft.com/office/drawing/2014/main" id="{ECEF0D1B-428F-4762-F8E2-EA5E4902E84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0" name="Rectangle 6">
            <a:extLst>
              <a:ext uri="{FF2B5EF4-FFF2-40B4-BE49-F238E27FC236}">
                <a16:creationId xmlns:a16="http://schemas.microsoft.com/office/drawing/2014/main" id="{0D9C1CB6-FA6C-AA08-B46E-E5D616E8DBB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1" name="Rectangle 8">
            <a:extLst>
              <a:ext uri="{FF2B5EF4-FFF2-40B4-BE49-F238E27FC236}">
                <a16:creationId xmlns:a16="http://schemas.microsoft.com/office/drawing/2014/main" id="{D9B56A14-FC15-1CAD-20B0-8767AA6514B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2" name="Rectangle 10">
            <a:extLst>
              <a:ext uri="{FF2B5EF4-FFF2-40B4-BE49-F238E27FC236}">
                <a16:creationId xmlns:a16="http://schemas.microsoft.com/office/drawing/2014/main" id="{41757F6F-8001-582D-70FE-F6036DAFE8C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3" name="Rectangle 12">
            <a:extLst>
              <a:ext uri="{FF2B5EF4-FFF2-40B4-BE49-F238E27FC236}">
                <a16:creationId xmlns:a16="http://schemas.microsoft.com/office/drawing/2014/main" id="{B4E597E8-B4AB-BC9F-3EA4-4D5364F7F28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4" name="Rectangle 2">
            <a:extLst>
              <a:ext uri="{FF2B5EF4-FFF2-40B4-BE49-F238E27FC236}">
                <a16:creationId xmlns:a16="http://schemas.microsoft.com/office/drawing/2014/main" id="{B3ECBDFA-3910-D866-F7A0-96E45B5B3B2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5" name="Rectangle 4">
            <a:extLst>
              <a:ext uri="{FF2B5EF4-FFF2-40B4-BE49-F238E27FC236}">
                <a16:creationId xmlns:a16="http://schemas.microsoft.com/office/drawing/2014/main" id="{36703356-D928-4EC6-70F9-11EEC5A38A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6" name="Rectangle 6">
            <a:extLst>
              <a:ext uri="{FF2B5EF4-FFF2-40B4-BE49-F238E27FC236}">
                <a16:creationId xmlns:a16="http://schemas.microsoft.com/office/drawing/2014/main" id="{26F05AA0-839F-F484-76E9-B93278A801A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7" name="Rectangle 8">
            <a:extLst>
              <a:ext uri="{FF2B5EF4-FFF2-40B4-BE49-F238E27FC236}">
                <a16:creationId xmlns:a16="http://schemas.microsoft.com/office/drawing/2014/main" id="{482C9FC8-82F0-90DF-470C-94518B1911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8" name="Rectangle 10">
            <a:extLst>
              <a:ext uri="{FF2B5EF4-FFF2-40B4-BE49-F238E27FC236}">
                <a16:creationId xmlns:a16="http://schemas.microsoft.com/office/drawing/2014/main" id="{39906ABA-0461-38C1-6DF6-D0CD5B3F4D0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099" name="Rectangle 2">
            <a:extLst>
              <a:ext uri="{FF2B5EF4-FFF2-40B4-BE49-F238E27FC236}">
                <a16:creationId xmlns:a16="http://schemas.microsoft.com/office/drawing/2014/main" id="{B2FC333C-6389-35FD-C0D9-7186E675ABE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0" name="Rectangle 4">
            <a:extLst>
              <a:ext uri="{FF2B5EF4-FFF2-40B4-BE49-F238E27FC236}">
                <a16:creationId xmlns:a16="http://schemas.microsoft.com/office/drawing/2014/main" id="{C90C377A-5812-E0FD-FD39-5F0AD981BA2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1" name="Rectangle 7">
            <a:extLst>
              <a:ext uri="{FF2B5EF4-FFF2-40B4-BE49-F238E27FC236}">
                <a16:creationId xmlns:a16="http://schemas.microsoft.com/office/drawing/2014/main" id="{98D8DBAA-7926-E939-8B0A-D6FDAF5585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0C46912E-A191-F9CD-6868-AB5DE1CCB136}"/>
              </a:ext>
            </a:extLst>
          </p:cNvPr>
          <p:cNvSpPr>
            <a:spLocks noGrp="1"/>
          </p:cNvSpPr>
          <p:nvPr>
            <p:ph sz="quarter" idx="1"/>
          </p:nvPr>
        </p:nvSpPr>
        <p:spPr>
          <a:xfrm>
            <a:off x="914400" y="2036135"/>
            <a:ext cx="8915400" cy="4953000"/>
          </a:xfrm>
        </p:spPr>
        <p:txBody>
          <a:bodyPr/>
          <a:lstStyle/>
          <a:p>
            <a:pPr indent="0">
              <a:buNone/>
              <a:defRPr/>
            </a:pPr>
            <a:r>
              <a:rPr lang="en-US" sz="2400" dirty="0">
                <a:solidFill>
                  <a:srgbClr val="0070C0"/>
                </a:solidFill>
              </a:rPr>
              <a:t>A series dc generator is a generator whose field is connected in series with its armature. It has few turns of field coil with thick conductors.</a:t>
            </a:r>
          </a:p>
          <a:p>
            <a:pPr indent="457200">
              <a:defRPr/>
            </a:pPr>
            <a:r>
              <a:rPr lang="en-US" sz="2400" dirty="0">
                <a:solidFill>
                  <a:srgbClr val="0070C0"/>
                </a:solidFill>
              </a:rPr>
              <a:t> </a:t>
            </a:r>
          </a:p>
          <a:p>
            <a:pPr indent="457200">
              <a:defRPr/>
            </a:pPr>
            <a:r>
              <a:rPr lang="en-US" sz="2400" dirty="0"/>
              <a:t> </a:t>
            </a:r>
          </a:p>
        </p:txBody>
      </p:sp>
      <p:sp>
        <p:nvSpPr>
          <p:cNvPr id="46103" name="Rectangle 2">
            <a:extLst>
              <a:ext uri="{FF2B5EF4-FFF2-40B4-BE49-F238E27FC236}">
                <a16:creationId xmlns:a16="http://schemas.microsoft.com/office/drawing/2014/main" id="{DCE82C3F-7584-7243-F05D-8D8186CFBCA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4" name="Rectangle 2">
            <a:extLst>
              <a:ext uri="{FF2B5EF4-FFF2-40B4-BE49-F238E27FC236}">
                <a16:creationId xmlns:a16="http://schemas.microsoft.com/office/drawing/2014/main" id="{602207A0-5E6A-9B51-0D6B-CE7F4EA4148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5" name="Rectangle 2">
            <a:extLst>
              <a:ext uri="{FF2B5EF4-FFF2-40B4-BE49-F238E27FC236}">
                <a16:creationId xmlns:a16="http://schemas.microsoft.com/office/drawing/2014/main" id="{AFEAE2CA-39F3-E82B-877C-648420E27460}"/>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6" name="Rectangle 3">
            <a:extLst>
              <a:ext uri="{FF2B5EF4-FFF2-40B4-BE49-F238E27FC236}">
                <a16:creationId xmlns:a16="http://schemas.microsoft.com/office/drawing/2014/main" id="{EA8C6065-3F8F-A67A-2A15-4364ACE5E065}"/>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6107" name="Rectangle 5">
            <a:extLst>
              <a:ext uri="{FF2B5EF4-FFF2-40B4-BE49-F238E27FC236}">
                <a16:creationId xmlns:a16="http://schemas.microsoft.com/office/drawing/2014/main" id="{242EC019-1690-F5E5-E1F4-A205CE61621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8" name="Rectangle 7">
            <a:extLst>
              <a:ext uri="{FF2B5EF4-FFF2-40B4-BE49-F238E27FC236}">
                <a16:creationId xmlns:a16="http://schemas.microsoft.com/office/drawing/2014/main" id="{02B6C4C7-D7F0-DC42-1DDF-7625882D9A2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09" name="Rectangle 2">
            <a:extLst>
              <a:ext uri="{FF2B5EF4-FFF2-40B4-BE49-F238E27FC236}">
                <a16:creationId xmlns:a16="http://schemas.microsoft.com/office/drawing/2014/main" id="{8BB4741F-1784-0712-D00E-F7F7B38CC38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10" name="Rectangle 4">
            <a:extLst>
              <a:ext uri="{FF2B5EF4-FFF2-40B4-BE49-F238E27FC236}">
                <a16:creationId xmlns:a16="http://schemas.microsoft.com/office/drawing/2014/main" id="{60DE6C67-F074-A701-4F99-3C15FCF8294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6111" name="Rectangle 36">
            <a:extLst>
              <a:ext uri="{FF2B5EF4-FFF2-40B4-BE49-F238E27FC236}">
                <a16:creationId xmlns:a16="http://schemas.microsoft.com/office/drawing/2014/main" id="{4C5C1AAD-45EE-434F-7E86-FF6A9D5777D0}"/>
              </a:ext>
            </a:extLst>
          </p:cNvPr>
          <p:cNvSpPr>
            <a:spLocks noChangeArrowheads="1"/>
          </p:cNvSpPr>
          <p:nvPr/>
        </p:nvSpPr>
        <p:spPr bwMode="auto">
          <a:xfrm>
            <a:off x="6400800" y="5867401"/>
            <a:ext cx="342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equivalent circuit of a series generator</a:t>
            </a:r>
          </a:p>
        </p:txBody>
      </p:sp>
      <p:pic>
        <p:nvPicPr>
          <p:cNvPr id="46112" name="Picture 34">
            <a:extLst>
              <a:ext uri="{FF2B5EF4-FFF2-40B4-BE49-F238E27FC236}">
                <a16:creationId xmlns:a16="http://schemas.microsoft.com/office/drawing/2014/main" id="{E712E6BC-26E2-B721-1820-12EF7E007B54}"/>
              </a:ext>
            </a:extLst>
          </p:cNvPr>
          <p:cNvPicPr>
            <a:picLocks noChangeAspect="1" noChangeArrowheads="1"/>
          </p:cNvPicPr>
          <p:nvPr/>
        </p:nvPicPr>
        <p:blipFill>
          <a:blip r:embed="rId2">
            <a:lum bright="-10000" contrast="40000"/>
            <a:extLst>
              <a:ext uri="{28A0092B-C50C-407E-A947-70E740481C1C}">
                <a14:useLocalDpi xmlns:a14="http://schemas.microsoft.com/office/drawing/2010/main" val="0"/>
              </a:ext>
            </a:extLst>
          </a:blip>
          <a:srcRect t="6342"/>
          <a:stretch>
            <a:fillRect/>
          </a:stretch>
        </p:blipFill>
        <p:spPr bwMode="auto">
          <a:xfrm>
            <a:off x="6705601" y="3733800"/>
            <a:ext cx="27336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9782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999C-9FA9-6C26-CD59-C328A6D78CA3}"/>
            </a:ext>
          </a:extLst>
        </p:cNvPr>
        <p:cNvGrpSpPr/>
        <p:nvPr/>
      </p:nvGrpSpPr>
      <p:grpSpPr>
        <a:xfrm>
          <a:off x="0" y="0"/>
          <a:ext cx="0" cy="0"/>
          <a:chOff x="0" y="0"/>
          <a:chExt cx="0" cy="0"/>
        </a:xfrm>
      </p:grpSpPr>
      <p:sp>
        <p:nvSpPr>
          <p:cNvPr id="47107" name="Title 1">
            <a:extLst>
              <a:ext uri="{FF2B5EF4-FFF2-40B4-BE49-F238E27FC236}">
                <a16:creationId xmlns:a16="http://schemas.microsoft.com/office/drawing/2014/main" id="{62D977BA-884C-1C20-1377-0475C17CF8B2}"/>
              </a:ext>
            </a:extLst>
          </p:cNvPr>
          <p:cNvSpPr>
            <a:spLocks noGrp="1"/>
          </p:cNvSpPr>
          <p:nvPr>
            <p:ph type="title"/>
          </p:nvPr>
        </p:nvSpPr>
        <p:spPr>
          <a:xfrm>
            <a:off x="2095500" y="890588"/>
            <a:ext cx="7772400" cy="685800"/>
          </a:xfrm>
        </p:spPr>
        <p:txBody>
          <a:bodyPr/>
          <a:lstStyle/>
          <a:p>
            <a:pPr algn="ctr" eaLnBrk="1" hangingPunct="1"/>
            <a:r>
              <a:rPr lang="en-US" altLang="en-US" sz="3200" dirty="0"/>
              <a:t>SERIES DC GENERATOR</a:t>
            </a:r>
          </a:p>
        </p:txBody>
      </p:sp>
      <p:sp>
        <p:nvSpPr>
          <p:cNvPr id="47108" name="Rectangle 4">
            <a:extLst>
              <a:ext uri="{FF2B5EF4-FFF2-40B4-BE49-F238E27FC236}">
                <a16:creationId xmlns:a16="http://schemas.microsoft.com/office/drawing/2014/main" id="{D12732CF-339E-6090-1EF0-EA72427C845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7109" name="Rectangle 6">
            <a:extLst>
              <a:ext uri="{FF2B5EF4-FFF2-40B4-BE49-F238E27FC236}">
                <a16:creationId xmlns:a16="http://schemas.microsoft.com/office/drawing/2014/main" id="{199EB6BF-682A-937B-A377-132B5412CCC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7110" name="Rectangle 8">
            <a:extLst>
              <a:ext uri="{FF2B5EF4-FFF2-40B4-BE49-F238E27FC236}">
                <a16:creationId xmlns:a16="http://schemas.microsoft.com/office/drawing/2014/main" id="{078CBB77-0FEF-0969-D005-19F3C20D35F8}"/>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7111" name="Rectangle 9">
            <a:extLst>
              <a:ext uri="{FF2B5EF4-FFF2-40B4-BE49-F238E27FC236}">
                <a16:creationId xmlns:a16="http://schemas.microsoft.com/office/drawing/2014/main" id="{1B7C3B7F-4EC4-CDBF-E693-5812DAE56E40}"/>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2" name="Rectangle 2">
            <a:extLst>
              <a:ext uri="{FF2B5EF4-FFF2-40B4-BE49-F238E27FC236}">
                <a16:creationId xmlns:a16="http://schemas.microsoft.com/office/drawing/2014/main" id="{A074B83A-04E6-CE11-080A-F3555585972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3" name="Rectangle 4">
            <a:extLst>
              <a:ext uri="{FF2B5EF4-FFF2-40B4-BE49-F238E27FC236}">
                <a16:creationId xmlns:a16="http://schemas.microsoft.com/office/drawing/2014/main" id="{1643FBA4-DDD2-A4DB-34D5-613154BEC01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4" name="Rectangle 6">
            <a:extLst>
              <a:ext uri="{FF2B5EF4-FFF2-40B4-BE49-F238E27FC236}">
                <a16:creationId xmlns:a16="http://schemas.microsoft.com/office/drawing/2014/main" id="{027C736E-17C7-C522-C998-BA7175F2DE8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5" name="Rectangle 8">
            <a:extLst>
              <a:ext uri="{FF2B5EF4-FFF2-40B4-BE49-F238E27FC236}">
                <a16:creationId xmlns:a16="http://schemas.microsoft.com/office/drawing/2014/main" id="{5E505BE1-034C-E7C0-5A03-49F4FFFD0B8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6" name="Rectangle 10">
            <a:extLst>
              <a:ext uri="{FF2B5EF4-FFF2-40B4-BE49-F238E27FC236}">
                <a16:creationId xmlns:a16="http://schemas.microsoft.com/office/drawing/2014/main" id="{39B2B27E-C5E2-9AF2-3FC6-880980CDFA7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7" name="Rectangle 12">
            <a:extLst>
              <a:ext uri="{FF2B5EF4-FFF2-40B4-BE49-F238E27FC236}">
                <a16:creationId xmlns:a16="http://schemas.microsoft.com/office/drawing/2014/main" id="{1DC8268B-935A-3EB1-6010-5471C0F887C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8" name="Rectangle 2">
            <a:extLst>
              <a:ext uri="{FF2B5EF4-FFF2-40B4-BE49-F238E27FC236}">
                <a16:creationId xmlns:a16="http://schemas.microsoft.com/office/drawing/2014/main" id="{3543E6B5-3E87-3567-73FB-24C5DE85A12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19" name="Rectangle 4">
            <a:extLst>
              <a:ext uri="{FF2B5EF4-FFF2-40B4-BE49-F238E27FC236}">
                <a16:creationId xmlns:a16="http://schemas.microsoft.com/office/drawing/2014/main" id="{3615CCF9-AE7A-E2B1-1128-A9B40B6C617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0" name="Rectangle 6">
            <a:extLst>
              <a:ext uri="{FF2B5EF4-FFF2-40B4-BE49-F238E27FC236}">
                <a16:creationId xmlns:a16="http://schemas.microsoft.com/office/drawing/2014/main" id="{3C06BB9C-A78A-3C7A-7FAC-0B2F58E7D3E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1" name="Rectangle 8">
            <a:extLst>
              <a:ext uri="{FF2B5EF4-FFF2-40B4-BE49-F238E27FC236}">
                <a16:creationId xmlns:a16="http://schemas.microsoft.com/office/drawing/2014/main" id="{9309A8F7-688F-566F-F2D4-FDC60C506BF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2" name="Rectangle 10">
            <a:extLst>
              <a:ext uri="{FF2B5EF4-FFF2-40B4-BE49-F238E27FC236}">
                <a16:creationId xmlns:a16="http://schemas.microsoft.com/office/drawing/2014/main" id="{B320B97E-09B1-45E8-8061-2713351B374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3" name="Rectangle 2">
            <a:extLst>
              <a:ext uri="{FF2B5EF4-FFF2-40B4-BE49-F238E27FC236}">
                <a16:creationId xmlns:a16="http://schemas.microsoft.com/office/drawing/2014/main" id="{10366BAB-030D-A75A-7C20-F2AA334C099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4" name="Rectangle 4">
            <a:extLst>
              <a:ext uri="{FF2B5EF4-FFF2-40B4-BE49-F238E27FC236}">
                <a16:creationId xmlns:a16="http://schemas.microsoft.com/office/drawing/2014/main" id="{AE9091F9-1AE5-457D-4A84-24B80A08388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5" name="Rectangle 7">
            <a:extLst>
              <a:ext uri="{FF2B5EF4-FFF2-40B4-BE49-F238E27FC236}">
                <a16:creationId xmlns:a16="http://schemas.microsoft.com/office/drawing/2014/main" id="{01A155BD-658B-D2A3-7370-60BDDD546DD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884B6EFB-AA6A-5C64-A08E-F83F68DF544D}"/>
              </a:ext>
            </a:extLst>
          </p:cNvPr>
          <p:cNvSpPr>
            <a:spLocks noGrp="1"/>
          </p:cNvSpPr>
          <p:nvPr>
            <p:ph sz="quarter" idx="1"/>
          </p:nvPr>
        </p:nvSpPr>
        <p:spPr>
          <a:xfrm>
            <a:off x="1524000" y="1600200"/>
            <a:ext cx="8915400" cy="4953000"/>
          </a:xfrm>
        </p:spPr>
        <p:txBody>
          <a:bodyPr/>
          <a:lstStyle/>
          <a:p>
            <a:pPr indent="0">
              <a:buNone/>
              <a:defRPr/>
            </a:pPr>
            <a:r>
              <a:rPr lang="en-US" sz="2400" dirty="0">
                <a:solidFill>
                  <a:srgbClr val="0070C0"/>
                </a:solidFill>
              </a:rPr>
              <a:t>The Terminal Characteristic of a Series Generator </a:t>
            </a:r>
          </a:p>
          <a:p>
            <a:pPr indent="457200">
              <a:defRPr/>
            </a:pPr>
            <a:r>
              <a:rPr lang="en-US" sz="2400" dirty="0"/>
              <a:t> </a:t>
            </a:r>
          </a:p>
          <a:p>
            <a:pPr indent="457200">
              <a:defRPr/>
            </a:pPr>
            <a:r>
              <a:rPr lang="en-US" sz="2400" dirty="0"/>
              <a:t> At no load </a:t>
            </a:r>
          </a:p>
          <a:p>
            <a:pPr indent="457200">
              <a:defRPr/>
            </a:pPr>
            <a:r>
              <a:rPr lang="en-US" sz="2400" dirty="0"/>
              <a:t> As I</a:t>
            </a:r>
            <a:r>
              <a:rPr lang="en-US" sz="2400" baseline="-25000" dirty="0"/>
              <a:t>L</a:t>
            </a:r>
            <a:r>
              <a:rPr lang="en-US" sz="2400" dirty="0"/>
              <a:t> ↑= I</a:t>
            </a:r>
            <a:r>
              <a:rPr lang="en-US" sz="2400" baseline="-25000" dirty="0"/>
              <a:t>A</a:t>
            </a:r>
            <a:r>
              <a:rPr lang="en-US" sz="2400" dirty="0"/>
              <a:t> = I</a:t>
            </a:r>
            <a:r>
              <a:rPr lang="en-US" sz="2400" baseline="-25000" dirty="0"/>
              <a:t>F  </a:t>
            </a:r>
            <a:r>
              <a:rPr lang="en-US" sz="2400" dirty="0"/>
              <a:t>&gt; E</a:t>
            </a:r>
            <a:r>
              <a:rPr lang="en-US" sz="2400" baseline="-25000" dirty="0"/>
              <a:t>A</a:t>
            </a:r>
            <a:r>
              <a:rPr lang="en-US" sz="2400" dirty="0"/>
              <a:t> ↑ - I</a:t>
            </a:r>
            <a:r>
              <a:rPr lang="en-US" sz="2400" baseline="-25000" dirty="0"/>
              <a:t>A</a:t>
            </a:r>
            <a:r>
              <a:rPr lang="en-US" sz="2400" dirty="0"/>
              <a:t> ↑ (R</a:t>
            </a:r>
            <a:r>
              <a:rPr lang="en-US" sz="2400" baseline="-25000" dirty="0"/>
              <a:t>F</a:t>
            </a:r>
            <a:r>
              <a:rPr lang="en-US" sz="2400" dirty="0"/>
              <a:t> +R</a:t>
            </a:r>
            <a:r>
              <a:rPr lang="en-US" sz="2400" baseline="-25000" dirty="0"/>
              <a:t>A</a:t>
            </a:r>
            <a:r>
              <a:rPr lang="en-US" sz="2400" dirty="0"/>
              <a:t>)</a:t>
            </a:r>
          </a:p>
          <a:p>
            <a:pPr indent="457200">
              <a:defRPr/>
            </a:pPr>
            <a:r>
              <a:rPr lang="en-US" sz="2400" dirty="0"/>
              <a:t>At the beginning E</a:t>
            </a:r>
            <a:r>
              <a:rPr lang="en-US" sz="2400" baseline="-25000" dirty="0"/>
              <a:t>A</a:t>
            </a:r>
            <a:r>
              <a:rPr lang="en-US" sz="2400" dirty="0"/>
              <a:t> increases more than the resistive drop</a:t>
            </a:r>
          </a:p>
        </p:txBody>
      </p:sp>
      <p:sp>
        <p:nvSpPr>
          <p:cNvPr id="47127" name="Rectangle 2">
            <a:extLst>
              <a:ext uri="{FF2B5EF4-FFF2-40B4-BE49-F238E27FC236}">
                <a16:creationId xmlns:a16="http://schemas.microsoft.com/office/drawing/2014/main" id="{A167CC59-28D5-4A6C-822D-D66C21D7ABB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8" name="Rectangle 2">
            <a:extLst>
              <a:ext uri="{FF2B5EF4-FFF2-40B4-BE49-F238E27FC236}">
                <a16:creationId xmlns:a16="http://schemas.microsoft.com/office/drawing/2014/main" id="{83B97517-E0C3-7357-F938-508D5439769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29" name="Rectangle 2">
            <a:extLst>
              <a:ext uri="{FF2B5EF4-FFF2-40B4-BE49-F238E27FC236}">
                <a16:creationId xmlns:a16="http://schemas.microsoft.com/office/drawing/2014/main" id="{653FCDB5-783A-23FF-C201-066147D46DF3}"/>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0" name="Rectangle 3">
            <a:extLst>
              <a:ext uri="{FF2B5EF4-FFF2-40B4-BE49-F238E27FC236}">
                <a16:creationId xmlns:a16="http://schemas.microsoft.com/office/drawing/2014/main" id="{7125F302-9F96-CB29-F778-1C2011FD2AAE}"/>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7131" name="Rectangle 5">
            <a:extLst>
              <a:ext uri="{FF2B5EF4-FFF2-40B4-BE49-F238E27FC236}">
                <a16:creationId xmlns:a16="http://schemas.microsoft.com/office/drawing/2014/main" id="{1593EE23-E110-103B-36C5-5A51B153B00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2" name="Rectangle 7">
            <a:extLst>
              <a:ext uri="{FF2B5EF4-FFF2-40B4-BE49-F238E27FC236}">
                <a16:creationId xmlns:a16="http://schemas.microsoft.com/office/drawing/2014/main" id="{5BA3A7C5-3C41-0246-B106-8B5F32FCDA5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3" name="Rectangle 2">
            <a:extLst>
              <a:ext uri="{FF2B5EF4-FFF2-40B4-BE49-F238E27FC236}">
                <a16:creationId xmlns:a16="http://schemas.microsoft.com/office/drawing/2014/main" id="{37A19E43-2F44-1AAA-158A-0DF312918B2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4" name="Rectangle 4">
            <a:extLst>
              <a:ext uri="{FF2B5EF4-FFF2-40B4-BE49-F238E27FC236}">
                <a16:creationId xmlns:a16="http://schemas.microsoft.com/office/drawing/2014/main" id="{E4703F4D-79A5-1393-7B79-E5F9F2EACFD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7135" name="Rectangle 2">
            <a:extLst>
              <a:ext uri="{FF2B5EF4-FFF2-40B4-BE49-F238E27FC236}">
                <a16:creationId xmlns:a16="http://schemas.microsoft.com/office/drawing/2014/main" id="{A645F563-8BC7-A23D-0784-A7D5D3898F3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7136" name="Picture 1">
            <a:extLst>
              <a:ext uri="{FF2B5EF4-FFF2-40B4-BE49-F238E27FC236}">
                <a16:creationId xmlns:a16="http://schemas.microsoft.com/office/drawing/2014/main" id="{8FD98902-4E8A-1CEA-DAF0-6291FC7866B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2201" y="2209800"/>
            <a:ext cx="2163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7" name="Picture 1">
            <a:extLst>
              <a:ext uri="{FF2B5EF4-FFF2-40B4-BE49-F238E27FC236}">
                <a16:creationId xmlns:a16="http://schemas.microsoft.com/office/drawing/2014/main" id="{E9A3ECAF-127B-4C6E-C2F7-F453894B465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01" y="2590800"/>
            <a:ext cx="14398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8" name="Picture 37">
            <a:extLst>
              <a:ext uri="{FF2B5EF4-FFF2-40B4-BE49-F238E27FC236}">
                <a16:creationId xmlns:a16="http://schemas.microsoft.com/office/drawing/2014/main" id="{40760F6B-F8EE-572B-4200-65D68E5F2052}"/>
              </a:ext>
            </a:extLst>
          </p:cNvPr>
          <p:cNvPicPr>
            <a:picLocks noChangeAspect="1" noChangeArrowheads="1"/>
          </p:cNvPicPr>
          <p:nvPr/>
        </p:nvPicPr>
        <p:blipFill>
          <a:blip r:embed="rId4">
            <a:lum bright="-10000" contrast="40000"/>
            <a:extLst>
              <a:ext uri="{28A0092B-C50C-407E-A947-70E740481C1C}">
                <a14:useLocalDpi xmlns:a14="http://schemas.microsoft.com/office/drawing/2010/main" val="0"/>
              </a:ext>
            </a:extLst>
          </a:blip>
          <a:srcRect/>
          <a:stretch>
            <a:fillRect/>
          </a:stretch>
        </p:blipFill>
        <p:spPr bwMode="auto">
          <a:xfrm>
            <a:off x="3733801" y="4267201"/>
            <a:ext cx="368617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39" name="Rectangle 38">
            <a:extLst>
              <a:ext uri="{FF2B5EF4-FFF2-40B4-BE49-F238E27FC236}">
                <a16:creationId xmlns:a16="http://schemas.microsoft.com/office/drawing/2014/main" id="{83458224-1B8B-6501-1B10-D963023308FC}"/>
              </a:ext>
            </a:extLst>
          </p:cNvPr>
          <p:cNvSpPr>
            <a:spLocks noChangeArrowheads="1"/>
          </p:cNvSpPr>
          <p:nvPr/>
        </p:nvSpPr>
        <p:spPr bwMode="auto">
          <a:xfrm>
            <a:off x="3276600" y="6172201"/>
            <a:ext cx="5715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Derivation of the terminal characteristic for a series dc generator</a:t>
            </a:r>
          </a:p>
        </p:txBody>
      </p:sp>
    </p:spTree>
    <p:extLst>
      <p:ext uri="{BB962C8B-B14F-4D97-AF65-F5344CB8AC3E}">
        <p14:creationId xmlns:p14="http://schemas.microsoft.com/office/powerpoint/2010/main" val="3991306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7C9B-A10B-980F-F81A-040C67D31D87}"/>
            </a:ext>
          </a:extLst>
        </p:cNvPr>
        <p:cNvGrpSpPr/>
        <p:nvPr/>
      </p:nvGrpSpPr>
      <p:grpSpPr>
        <a:xfrm>
          <a:off x="0" y="0"/>
          <a:ext cx="0" cy="0"/>
          <a:chOff x="0" y="0"/>
          <a:chExt cx="0" cy="0"/>
        </a:xfrm>
      </p:grpSpPr>
      <p:sp>
        <p:nvSpPr>
          <p:cNvPr id="48131" name="Title 1">
            <a:extLst>
              <a:ext uri="{FF2B5EF4-FFF2-40B4-BE49-F238E27FC236}">
                <a16:creationId xmlns:a16="http://schemas.microsoft.com/office/drawing/2014/main" id="{6144E624-0A34-239E-50A5-CE1D3486C430}"/>
              </a:ext>
            </a:extLst>
          </p:cNvPr>
          <p:cNvSpPr>
            <a:spLocks noGrp="1"/>
          </p:cNvSpPr>
          <p:nvPr>
            <p:ph type="title"/>
          </p:nvPr>
        </p:nvSpPr>
        <p:spPr>
          <a:xfrm>
            <a:off x="2438400" y="533400"/>
            <a:ext cx="7772400" cy="685800"/>
          </a:xfrm>
        </p:spPr>
        <p:txBody>
          <a:bodyPr/>
          <a:lstStyle/>
          <a:p>
            <a:pPr algn="ctr" eaLnBrk="1" hangingPunct="1"/>
            <a:r>
              <a:rPr lang="en-US" altLang="en-US" sz="3200" dirty="0"/>
              <a:t>CUMULATIVELY COMPOUNDED DC GENERATOR</a:t>
            </a:r>
          </a:p>
        </p:txBody>
      </p:sp>
      <p:sp>
        <p:nvSpPr>
          <p:cNvPr id="48132" name="Rectangle 4">
            <a:extLst>
              <a:ext uri="{FF2B5EF4-FFF2-40B4-BE49-F238E27FC236}">
                <a16:creationId xmlns:a16="http://schemas.microsoft.com/office/drawing/2014/main" id="{D6BB4A13-86B6-BBC1-6C5C-35843402DDC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8133" name="Rectangle 6">
            <a:extLst>
              <a:ext uri="{FF2B5EF4-FFF2-40B4-BE49-F238E27FC236}">
                <a16:creationId xmlns:a16="http://schemas.microsoft.com/office/drawing/2014/main" id="{59C36B80-4902-E2FD-CEEA-04AD4F26399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8134" name="Rectangle 8">
            <a:extLst>
              <a:ext uri="{FF2B5EF4-FFF2-40B4-BE49-F238E27FC236}">
                <a16:creationId xmlns:a16="http://schemas.microsoft.com/office/drawing/2014/main" id="{96FFF92B-B057-4B8C-E2C2-81F922DB889F}"/>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8135" name="Rectangle 9">
            <a:extLst>
              <a:ext uri="{FF2B5EF4-FFF2-40B4-BE49-F238E27FC236}">
                <a16:creationId xmlns:a16="http://schemas.microsoft.com/office/drawing/2014/main" id="{57A5696D-B1E0-8D25-181F-22006492EC72}"/>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36" name="Rectangle 2">
            <a:extLst>
              <a:ext uri="{FF2B5EF4-FFF2-40B4-BE49-F238E27FC236}">
                <a16:creationId xmlns:a16="http://schemas.microsoft.com/office/drawing/2014/main" id="{3DB6F5EB-CB8B-5AB4-96DF-05F60F3F777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37" name="Rectangle 4">
            <a:extLst>
              <a:ext uri="{FF2B5EF4-FFF2-40B4-BE49-F238E27FC236}">
                <a16:creationId xmlns:a16="http://schemas.microsoft.com/office/drawing/2014/main" id="{C63BA27A-1430-85E4-5EC4-D8D0C383EB1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38" name="Rectangle 6">
            <a:extLst>
              <a:ext uri="{FF2B5EF4-FFF2-40B4-BE49-F238E27FC236}">
                <a16:creationId xmlns:a16="http://schemas.microsoft.com/office/drawing/2014/main" id="{F4D85B6E-D531-71CB-8C93-9841317E8FD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39" name="Rectangle 8">
            <a:extLst>
              <a:ext uri="{FF2B5EF4-FFF2-40B4-BE49-F238E27FC236}">
                <a16:creationId xmlns:a16="http://schemas.microsoft.com/office/drawing/2014/main" id="{9E35976A-5607-C13F-83F9-849A0AC408F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0" name="Rectangle 10">
            <a:extLst>
              <a:ext uri="{FF2B5EF4-FFF2-40B4-BE49-F238E27FC236}">
                <a16:creationId xmlns:a16="http://schemas.microsoft.com/office/drawing/2014/main" id="{7D51B360-9CB3-09CB-C9EE-9325F171790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1" name="Rectangle 12">
            <a:extLst>
              <a:ext uri="{FF2B5EF4-FFF2-40B4-BE49-F238E27FC236}">
                <a16:creationId xmlns:a16="http://schemas.microsoft.com/office/drawing/2014/main" id="{EE7C2A84-F415-CC15-D264-9DC58A76A2B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2" name="Rectangle 2">
            <a:extLst>
              <a:ext uri="{FF2B5EF4-FFF2-40B4-BE49-F238E27FC236}">
                <a16:creationId xmlns:a16="http://schemas.microsoft.com/office/drawing/2014/main" id="{9E07274F-6B72-5C3A-1BB1-90F835755FF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3" name="Rectangle 4">
            <a:extLst>
              <a:ext uri="{FF2B5EF4-FFF2-40B4-BE49-F238E27FC236}">
                <a16:creationId xmlns:a16="http://schemas.microsoft.com/office/drawing/2014/main" id="{6600D970-A5FA-69D0-073F-F7F7D5D1C2C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4" name="Rectangle 6">
            <a:extLst>
              <a:ext uri="{FF2B5EF4-FFF2-40B4-BE49-F238E27FC236}">
                <a16:creationId xmlns:a16="http://schemas.microsoft.com/office/drawing/2014/main" id="{A72C61CC-AA9C-EBC1-C4ED-79E5151ABC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5" name="Rectangle 8">
            <a:extLst>
              <a:ext uri="{FF2B5EF4-FFF2-40B4-BE49-F238E27FC236}">
                <a16:creationId xmlns:a16="http://schemas.microsoft.com/office/drawing/2014/main" id="{3A7DEF53-6B59-B4BD-EC97-2804D2F2DAC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6" name="Rectangle 10">
            <a:extLst>
              <a:ext uri="{FF2B5EF4-FFF2-40B4-BE49-F238E27FC236}">
                <a16:creationId xmlns:a16="http://schemas.microsoft.com/office/drawing/2014/main" id="{6406D4E0-B860-7B28-0119-8913F721496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7" name="Rectangle 2">
            <a:extLst>
              <a:ext uri="{FF2B5EF4-FFF2-40B4-BE49-F238E27FC236}">
                <a16:creationId xmlns:a16="http://schemas.microsoft.com/office/drawing/2014/main" id="{E2C4107A-7B75-327D-3DCE-C369DBB360B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8" name="Rectangle 4">
            <a:extLst>
              <a:ext uri="{FF2B5EF4-FFF2-40B4-BE49-F238E27FC236}">
                <a16:creationId xmlns:a16="http://schemas.microsoft.com/office/drawing/2014/main" id="{D2DCEF08-C365-9281-F453-B2E019FEC47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49" name="Rectangle 7">
            <a:extLst>
              <a:ext uri="{FF2B5EF4-FFF2-40B4-BE49-F238E27FC236}">
                <a16:creationId xmlns:a16="http://schemas.microsoft.com/office/drawing/2014/main" id="{625EC530-9E83-6693-F6FD-45B9598278B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1E8F50AE-9082-3070-85F9-A6156F010A80}"/>
              </a:ext>
            </a:extLst>
          </p:cNvPr>
          <p:cNvSpPr>
            <a:spLocks noGrp="1"/>
          </p:cNvSpPr>
          <p:nvPr>
            <p:ph sz="quarter" idx="1"/>
          </p:nvPr>
        </p:nvSpPr>
        <p:spPr>
          <a:xfrm>
            <a:off x="1524000" y="1600200"/>
            <a:ext cx="8915400" cy="4953000"/>
          </a:xfrm>
        </p:spPr>
        <p:txBody>
          <a:bodyPr/>
          <a:lstStyle/>
          <a:p>
            <a:pPr indent="0">
              <a:buNone/>
              <a:defRPr/>
            </a:pPr>
            <a:r>
              <a:rPr lang="en-US" sz="2400" dirty="0">
                <a:solidFill>
                  <a:srgbClr val="0070C0"/>
                </a:solidFill>
              </a:rPr>
              <a:t>A cumulatively compounded dc generator is a dc generator with both series and shunt fields, connected so that the </a:t>
            </a:r>
            <a:r>
              <a:rPr lang="en-US" sz="2400" dirty="0" err="1">
                <a:solidFill>
                  <a:srgbClr val="0070C0"/>
                </a:solidFill>
              </a:rPr>
              <a:t>magnetomotive</a:t>
            </a:r>
            <a:r>
              <a:rPr lang="en-US" sz="2400" dirty="0">
                <a:solidFill>
                  <a:srgbClr val="0070C0"/>
                </a:solidFill>
              </a:rPr>
              <a:t> forces from the two fields are additive. </a:t>
            </a:r>
          </a:p>
          <a:p>
            <a:pPr indent="457200">
              <a:defRPr/>
            </a:pPr>
            <a:r>
              <a:rPr lang="en-US" sz="2400" dirty="0"/>
              <a:t>Voltage and current relationships for this generator are</a:t>
            </a:r>
            <a:r>
              <a:rPr lang="en-US" sz="2400" dirty="0">
                <a:solidFill>
                  <a:srgbClr val="0070C0"/>
                </a:solidFill>
              </a:rPr>
              <a:t> </a:t>
            </a:r>
          </a:p>
          <a:p>
            <a:pPr indent="457200">
              <a:defRPr/>
            </a:pPr>
            <a:r>
              <a:rPr lang="en-US" sz="2400" dirty="0"/>
              <a:t> </a:t>
            </a:r>
          </a:p>
          <a:p>
            <a:pPr indent="457200">
              <a:defRPr/>
            </a:pPr>
            <a:endParaRPr lang="en-US" sz="2400" dirty="0"/>
          </a:p>
          <a:p>
            <a:pPr indent="457200">
              <a:defRPr/>
            </a:pPr>
            <a:endParaRPr lang="en-US" sz="2400" dirty="0"/>
          </a:p>
          <a:p>
            <a:pPr indent="457200">
              <a:defRPr/>
            </a:pPr>
            <a:endParaRPr lang="en-US" sz="2400" dirty="0"/>
          </a:p>
          <a:p>
            <a:pPr indent="457200">
              <a:defRPr/>
            </a:pPr>
            <a:r>
              <a:rPr lang="en-US" sz="2400" dirty="0"/>
              <a:t>Since there are series and shunt field coils, the equivalent effective shunt field current for this machine is given by</a:t>
            </a:r>
          </a:p>
        </p:txBody>
      </p:sp>
      <p:sp>
        <p:nvSpPr>
          <p:cNvPr id="48151" name="Rectangle 2">
            <a:extLst>
              <a:ext uri="{FF2B5EF4-FFF2-40B4-BE49-F238E27FC236}">
                <a16:creationId xmlns:a16="http://schemas.microsoft.com/office/drawing/2014/main" id="{90027D7C-C7A2-811A-C3B3-95895036B5D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2" name="Rectangle 2">
            <a:extLst>
              <a:ext uri="{FF2B5EF4-FFF2-40B4-BE49-F238E27FC236}">
                <a16:creationId xmlns:a16="http://schemas.microsoft.com/office/drawing/2014/main" id="{ACDDF95D-F0D7-604C-B801-5739815561C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3" name="Rectangle 2">
            <a:extLst>
              <a:ext uri="{FF2B5EF4-FFF2-40B4-BE49-F238E27FC236}">
                <a16:creationId xmlns:a16="http://schemas.microsoft.com/office/drawing/2014/main" id="{4D8885E1-B49D-417D-0740-BA9EED96814B}"/>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4" name="Rectangle 3">
            <a:extLst>
              <a:ext uri="{FF2B5EF4-FFF2-40B4-BE49-F238E27FC236}">
                <a16:creationId xmlns:a16="http://schemas.microsoft.com/office/drawing/2014/main" id="{B8B807F8-61EB-53E3-8DD7-97CC13720B3A}"/>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8155" name="Rectangle 5">
            <a:extLst>
              <a:ext uri="{FF2B5EF4-FFF2-40B4-BE49-F238E27FC236}">
                <a16:creationId xmlns:a16="http://schemas.microsoft.com/office/drawing/2014/main" id="{2D70A479-2632-F66A-3EF2-5A45E49BE5D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6" name="Rectangle 7">
            <a:extLst>
              <a:ext uri="{FF2B5EF4-FFF2-40B4-BE49-F238E27FC236}">
                <a16:creationId xmlns:a16="http://schemas.microsoft.com/office/drawing/2014/main" id="{2F8F5114-880A-CF9A-2685-A18CD33D37F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7" name="Rectangle 2">
            <a:extLst>
              <a:ext uri="{FF2B5EF4-FFF2-40B4-BE49-F238E27FC236}">
                <a16:creationId xmlns:a16="http://schemas.microsoft.com/office/drawing/2014/main" id="{CDA6BAC5-8258-538B-3FDF-659A4D00C36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8" name="Rectangle 4">
            <a:extLst>
              <a:ext uri="{FF2B5EF4-FFF2-40B4-BE49-F238E27FC236}">
                <a16:creationId xmlns:a16="http://schemas.microsoft.com/office/drawing/2014/main" id="{58B3775E-E96E-387E-2CC9-0E41024595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8159" name="Rectangle 36">
            <a:extLst>
              <a:ext uri="{FF2B5EF4-FFF2-40B4-BE49-F238E27FC236}">
                <a16:creationId xmlns:a16="http://schemas.microsoft.com/office/drawing/2014/main" id="{2C268544-494D-6052-1C97-FA2E8EE6B56A}"/>
              </a:ext>
            </a:extLst>
          </p:cNvPr>
          <p:cNvSpPr>
            <a:spLocks noChangeArrowheads="1"/>
          </p:cNvSpPr>
          <p:nvPr/>
        </p:nvSpPr>
        <p:spPr bwMode="auto">
          <a:xfrm>
            <a:off x="9525000" y="3352800"/>
            <a:ext cx="990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The equivalent circuit of a compound dc generator</a:t>
            </a:r>
          </a:p>
        </p:txBody>
      </p:sp>
      <p:pic>
        <p:nvPicPr>
          <p:cNvPr id="48160" name="Picture 34">
            <a:extLst>
              <a:ext uri="{FF2B5EF4-FFF2-40B4-BE49-F238E27FC236}">
                <a16:creationId xmlns:a16="http://schemas.microsoft.com/office/drawing/2014/main" id="{6A515689-E9D5-F51D-1390-329DCCD57781}"/>
              </a:ext>
            </a:extLst>
          </p:cNvPr>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rot="-240000">
            <a:off x="2260600" y="3257551"/>
            <a:ext cx="2413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61" name="Picture 37">
            <a:extLst>
              <a:ext uri="{FF2B5EF4-FFF2-40B4-BE49-F238E27FC236}">
                <a16:creationId xmlns:a16="http://schemas.microsoft.com/office/drawing/2014/main" id="{5A558929-BBEF-A84E-1473-316CAF5B03AB}"/>
              </a:ext>
            </a:extLst>
          </p:cNvPr>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l="3835" t="5363" r="6786" b="31596"/>
          <a:stretch>
            <a:fillRect/>
          </a:stretch>
        </p:blipFill>
        <p:spPr bwMode="auto">
          <a:xfrm rot="-300000">
            <a:off x="6470650" y="3175000"/>
            <a:ext cx="2984500" cy="171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62" name="Rectangle 2">
            <a:extLst>
              <a:ext uri="{FF2B5EF4-FFF2-40B4-BE49-F238E27FC236}">
                <a16:creationId xmlns:a16="http://schemas.microsoft.com/office/drawing/2014/main" id="{E9829A55-666A-B7E3-E867-A4CBD61A183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8163" name="Picture 1">
            <a:extLst>
              <a:ext uri="{FF2B5EF4-FFF2-40B4-BE49-F238E27FC236}">
                <a16:creationId xmlns:a16="http://schemas.microsoft.com/office/drawing/2014/main" id="{D14A9C17-EB1F-7535-370D-E5B0B2E5AF6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33601" y="6096000"/>
            <a:ext cx="26066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64" name="Rectangle 4">
            <a:extLst>
              <a:ext uri="{FF2B5EF4-FFF2-40B4-BE49-F238E27FC236}">
                <a16:creationId xmlns:a16="http://schemas.microsoft.com/office/drawing/2014/main" id="{D4EDA0E1-1D89-3F43-885C-2C998A44885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8165" name="Picture 3">
            <a:extLst>
              <a:ext uri="{FF2B5EF4-FFF2-40B4-BE49-F238E27FC236}">
                <a16:creationId xmlns:a16="http://schemas.microsoft.com/office/drawing/2014/main" id="{1524E718-1BEA-ABF7-D2FA-C8FD1295C051}"/>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3201" y="5943601"/>
            <a:ext cx="21701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6127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AA08-8FCC-81AD-102F-D588D9296E14}"/>
            </a:ext>
          </a:extLst>
        </p:cNvPr>
        <p:cNvGrpSpPr/>
        <p:nvPr/>
      </p:nvGrpSpPr>
      <p:grpSpPr>
        <a:xfrm>
          <a:off x="0" y="0"/>
          <a:ext cx="0" cy="0"/>
          <a:chOff x="0" y="0"/>
          <a:chExt cx="0" cy="0"/>
        </a:xfrm>
      </p:grpSpPr>
      <p:sp>
        <p:nvSpPr>
          <p:cNvPr id="49155" name="Title 1">
            <a:extLst>
              <a:ext uri="{FF2B5EF4-FFF2-40B4-BE49-F238E27FC236}">
                <a16:creationId xmlns:a16="http://schemas.microsoft.com/office/drawing/2014/main" id="{AF0A8DE7-F0DD-C043-7527-F945DE9D83E2}"/>
              </a:ext>
            </a:extLst>
          </p:cNvPr>
          <p:cNvSpPr>
            <a:spLocks noGrp="1"/>
          </p:cNvSpPr>
          <p:nvPr>
            <p:ph type="title"/>
          </p:nvPr>
        </p:nvSpPr>
        <p:spPr>
          <a:xfrm>
            <a:off x="2438400" y="533400"/>
            <a:ext cx="7772400" cy="685800"/>
          </a:xfrm>
        </p:spPr>
        <p:txBody>
          <a:bodyPr/>
          <a:lstStyle/>
          <a:p>
            <a:pPr algn="ctr" eaLnBrk="1" hangingPunct="1"/>
            <a:r>
              <a:rPr lang="en-US" altLang="en-US" sz="3200"/>
              <a:t>The Compound Generator</a:t>
            </a:r>
          </a:p>
        </p:txBody>
      </p:sp>
      <p:sp>
        <p:nvSpPr>
          <p:cNvPr id="49156" name="Rectangle 4">
            <a:extLst>
              <a:ext uri="{FF2B5EF4-FFF2-40B4-BE49-F238E27FC236}">
                <a16:creationId xmlns:a16="http://schemas.microsoft.com/office/drawing/2014/main" id="{10BC6C85-8D20-C97F-A098-AA7EF0B88D7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9157" name="Rectangle 6">
            <a:extLst>
              <a:ext uri="{FF2B5EF4-FFF2-40B4-BE49-F238E27FC236}">
                <a16:creationId xmlns:a16="http://schemas.microsoft.com/office/drawing/2014/main" id="{BA1D19D2-5DE1-A1B0-CB0E-5EF8F108E83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9158" name="Rectangle 8">
            <a:extLst>
              <a:ext uri="{FF2B5EF4-FFF2-40B4-BE49-F238E27FC236}">
                <a16:creationId xmlns:a16="http://schemas.microsoft.com/office/drawing/2014/main" id="{DF16227C-AB86-F7F1-7FC6-12898D6F5906}"/>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49159" name="Rectangle 9">
            <a:extLst>
              <a:ext uri="{FF2B5EF4-FFF2-40B4-BE49-F238E27FC236}">
                <a16:creationId xmlns:a16="http://schemas.microsoft.com/office/drawing/2014/main" id="{4BB0B239-7A60-5624-5E3D-803F93648EA7}"/>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0" name="Rectangle 2">
            <a:extLst>
              <a:ext uri="{FF2B5EF4-FFF2-40B4-BE49-F238E27FC236}">
                <a16:creationId xmlns:a16="http://schemas.microsoft.com/office/drawing/2014/main" id="{5DD06124-1AEA-6B2C-E48F-9DA2DC39462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1" name="Rectangle 4">
            <a:extLst>
              <a:ext uri="{FF2B5EF4-FFF2-40B4-BE49-F238E27FC236}">
                <a16:creationId xmlns:a16="http://schemas.microsoft.com/office/drawing/2014/main" id="{EBC4DF9C-E415-EAAC-2588-AFFDCD01BAC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2" name="Rectangle 6">
            <a:extLst>
              <a:ext uri="{FF2B5EF4-FFF2-40B4-BE49-F238E27FC236}">
                <a16:creationId xmlns:a16="http://schemas.microsoft.com/office/drawing/2014/main" id="{51569B4A-C927-96D7-6619-C9A956B7DAA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3" name="Rectangle 8">
            <a:extLst>
              <a:ext uri="{FF2B5EF4-FFF2-40B4-BE49-F238E27FC236}">
                <a16:creationId xmlns:a16="http://schemas.microsoft.com/office/drawing/2014/main" id="{DE3A149A-E187-7143-DC29-6F205B47D37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4" name="Rectangle 10">
            <a:extLst>
              <a:ext uri="{FF2B5EF4-FFF2-40B4-BE49-F238E27FC236}">
                <a16:creationId xmlns:a16="http://schemas.microsoft.com/office/drawing/2014/main" id="{192FD647-2680-2C95-FF5B-07B36AF080B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5" name="Rectangle 12">
            <a:extLst>
              <a:ext uri="{FF2B5EF4-FFF2-40B4-BE49-F238E27FC236}">
                <a16:creationId xmlns:a16="http://schemas.microsoft.com/office/drawing/2014/main" id="{B864FEBF-4DED-0C03-5C7C-B00404702A4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6" name="Rectangle 2">
            <a:extLst>
              <a:ext uri="{FF2B5EF4-FFF2-40B4-BE49-F238E27FC236}">
                <a16:creationId xmlns:a16="http://schemas.microsoft.com/office/drawing/2014/main" id="{9598AD45-97A2-09A7-D108-C7FB1296C06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7" name="Rectangle 4">
            <a:extLst>
              <a:ext uri="{FF2B5EF4-FFF2-40B4-BE49-F238E27FC236}">
                <a16:creationId xmlns:a16="http://schemas.microsoft.com/office/drawing/2014/main" id="{38CF95B1-1C24-A462-E897-CCA77169721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8" name="Rectangle 6">
            <a:extLst>
              <a:ext uri="{FF2B5EF4-FFF2-40B4-BE49-F238E27FC236}">
                <a16:creationId xmlns:a16="http://schemas.microsoft.com/office/drawing/2014/main" id="{26A95231-FBF9-6898-1EFA-DC5DECD6718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69" name="Rectangle 8">
            <a:extLst>
              <a:ext uri="{FF2B5EF4-FFF2-40B4-BE49-F238E27FC236}">
                <a16:creationId xmlns:a16="http://schemas.microsoft.com/office/drawing/2014/main" id="{1B743512-A0EB-40AF-1118-7CA94023C6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0" name="Rectangle 10">
            <a:extLst>
              <a:ext uri="{FF2B5EF4-FFF2-40B4-BE49-F238E27FC236}">
                <a16:creationId xmlns:a16="http://schemas.microsoft.com/office/drawing/2014/main" id="{A272FDFD-1649-1A85-9E8B-3EF0EAC6E49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1" name="Rectangle 2">
            <a:extLst>
              <a:ext uri="{FF2B5EF4-FFF2-40B4-BE49-F238E27FC236}">
                <a16:creationId xmlns:a16="http://schemas.microsoft.com/office/drawing/2014/main" id="{FBDCB98C-EDFF-35C9-FEAF-D37C988F417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2" name="Rectangle 4">
            <a:extLst>
              <a:ext uri="{FF2B5EF4-FFF2-40B4-BE49-F238E27FC236}">
                <a16:creationId xmlns:a16="http://schemas.microsoft.com/office/drawing/2014/main" id="{1A82B594-6F23-ED0C-C4A6-78BA84ACB5E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3" name="Rectangle 7">
            <a:extLst>
              <a:ext uri="{FF2B5EF4-FFF2-40B4-BE49-F238E27FC236}">
                <a16:creationId xmlns:a16="http://schemas.microsoft.com/office/drawing/2014/main" id="{D85679AA-02C8-1736-1DE3-F37988BD741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D9770182-B410-EEF5-DD19-C0ECEF664B2C}"/>
              </a:ext>
            </a:extLst>
          </p:cNvPr>
          <p:cNvSpPr>
            <a:spLocks noGrp="1"/>
          </p:cNvSpPr>
          <p:nvPr>
            <p:ph sz="quarter" idx="1"/>
          </p:nvPr>
        </p:nvSpPr>
        <p:spPr>
          <a:xfrm>
            <a:off x="1524000" y="1524000"/>
            <a:ext cx="8915400" cy="4953000"/>
          </a:xfrm>
        </p:spPr>
        <p:txBody>
          <a:bodyPr/>
          <a:lstStyle/>
          <a:p>
            <a:pPr indent="0">
              <a:buNone/>
              <a:defRPr/>
            </a:pPr>
            <a:r>
              <a:rPr lang="en-US" sz="2400" dirty="0">
                <a:solidFill>
                  <a:srgbClr val="0070C0"/>
                </a:solidFill>
              </a:rPr>
              <a:t>The Terminal Characteristic of a Cumulatively Compounded DC Generator </a:t>
            </a:r>
          </a:p>
          <a:p>
            <a:pPr indent="457200">
              <a:defRPr/>
            </a:pPr>
            <a:r>
              <a:rPr lang="en-US" sz="2400" dirty="0"/>
              <a:t>  	Since I</a:t>
            </a:r>
            <a:r>
              <a:rPr lang="en-US" sz="2400" baseline="-25000" dirty="0"/>
              <a:t>A </a:t>
            </a:r>
            <a:r>
              <a:rPr lang="en-US" sz="2400" dirty="0"/>
              <a:t>= I</a:t>
            </a:r>
            <a:r>
              <a:rPr lang="en-US" sz="2400" baseline="-25000" dirty="0"/>
              <a:t>F</a:t>
            </a:r>
            <a:r>
              <a:rPr lang="en-US" sz="2400" dirty="0"/>
              <a:t> + I</a:t>
            </a:r>
            <a:r>
              <a:rPr lang="en-US" sz="2400" baseline="-25000" dirty="0"/>
              <a:t>L</a:t>
            </a:r>
            <a:r>
              <a:rPr lang="en-US" sz="2400" dirty="0"/>
              <a:t> ↑, the armature current I</a:t>
            </a:r>
            <a:r>
              <a:rPr lang="en-US" sz="2400" baseline="-25000" dirty="0"/>
              <a:t>A</a:t>
            </a:r>
            <a:r>
              <a:rPr lang="en-US" sz="2400" dirty="0"/>
              <a:t> increases too. At this point two effects occur in the generator:</a:t>
            </a:r>
          </a:p>
          <a:p>
            <a:pPr indent="457200">
              <a:defRPr/>
            </a:pPr>
            <a:r>
              <a:rPr lang="en-US" sz="2400" dirty="0"/>
              <a:t>As I</a:t>
            </a:r>
            <a:r>
              <a:rPr lang="en-US" sz="2400" baseline="-25000" dirty="0"/>
              <a:t>A</a:t>
            </a:r>
            <a:r>
              <a:rPr lang="en-US" sz="2400" dirty="0"/>
              <a:t> increases, V</a:t>
            </a:r>
            <a:r>
              <a:rPr lang="en-US" sz="2400" baseline="-25000" dirty="0"/>
              <a:t>T</a:t>
            </a:r>
            <a:r>
              <a:rPr lang="en-US" sz="2400" dirty="0"/>
              <a:t> ↓ = E</a:t>
            </a:r>
            <a:r>
              <a:rPr lang="en-US" sz="2400" baseline="-25000" dirty="0"/>
              <a:t>A</a:t>
            </a:r>
            <a:r>
              <a:rPr lang="en-US" sz="2400" dirty="0"/>
              <a:t> - I</a:t>
            </a:r>
            <a:r>
              <a:rPr lang="en-US" sz="2400" baseline="-25000" dirty="0"/>
              <a:t>A</a:t>
            </a:r>
            <a:r>
              <a:rPr lang="en-US" sz="2400" dirty="0"/>
              <a:t> ↑ (R</a:t>
            </a:r>
            <a:r>
              <a:rPr lang="en-US" sz="2400" baseline="-25000" dirty="0"/>
              <a:t>A</a:t>
            </a:r>
            <a:r>
              <a:rPr lang="en-US" sz="2400" dirty="0"/>
              <a:t> + R</a:t>
            </a:r>
            <a:r>
              <a:rPr lang="en-US" sz="2400" baseline="-25000" dirty="0"/>
              <a:t>s</a:t>
            </a:r>
            <a:r>
              <a:rPr lang="en-US" sz="2400" dirty="0"/>
              <a:t>).</a:t>
            </a:r>
          </a:p>
          <a:p>
            <a:pPr indent="457200">
              <a:defRPr/>
            </a:pPr>
            <a:r>
              <a:rPr lang="en-US" sz="2400" dirty="0"/>
              <a:t> As I</a:t>
            </a:r>
            <a:r>
              <a:rPr lang="en-US" sz="2400" baseline="-25000" dirty="0"/>
              <a:t>A</a:t>
            </a:r>
            <a:r>
              <a:rPr lang="en-US" sz="2400" dirty="0"/>
              <a:t> increases,                        , increasing </a:t>
            </a:r>
          </a:p>
          <a:p>
            <a:pPr indent="457200">
              <a:defRPr/>
            </a:pPr>
            <a:r>
              <a:rPr lang="en-US" sz="2400" dirty="0"/>
              <a:t> The field resistance R</a:t>
            </a:r>
            <a:r>
              <a:rPr lang="en-US" sz="2400" baseline="-25000" dirty="0"/>
              <a:t>F</a:t>
            </a:r>
            <a:r>
              <a:rPr lang="en-US" sz="2400" dirty="0"/>
              <a:t>, which is just equal to V</a:t>
            </a:r>
            <a:r>
              <a:rPr lang="en-US" sz="2400" baseline="-25000" dirty="0"/>
              <a:t>T</a:t>
            </a:r>
            <a:r>
              <a:rPr lang="en-US" sz="2400" dirty="0"/>
              <a:t>/I</a:t>
            </a:r>
            <a:r>
              <a:rPr lang="en-US" sz="2400" baseline="-25000" dirty="0"/>
              <a:t>F</a:t>
            </a:r>
            <a:r>
              <a:rPr lang="en-US" sz="2400" dirty="0"/>
              <a:t>, a straight line</a:t>
            </a:r>
          </a:p>
          <a:p>
            <a:pPr indent="457200">
              <a:defRPr/>
            </a:pPr>
            <a:r>
              <a:rPr lang="en-US" sz="2400" dirty="0"/>
              <a:t>V</a:t>
            </a:r>
            <a:r>
              <a:rPr lang="en-US" sz="2400" baseline="-25000" dirty="0"/>
              <a:t>T </a:t>
            </a:r>
            <a:r>
              <a:rPr lang="en-US" sz="2400" dirty="0"/>
              <a:t>= E</a:t>
            </a:r>
            <a:r>
              <a:rPr lang="en-US" sz="2400" baseline="-25000" dirty="0"/>
              <a:t>A</a:t>
            </a:r>
            <a:r>
              <a:rPr lang="en-US" sz="2400" dirty="0"/>
              <a:t> ↑- I</a:t>
            </a:r>
            <a:r>
              <a:rPr lang="en-US" sz="2400" baseline="-25000" dirty="0"/>
              <a:t>A</a:t>
            </a:r>
            <a:r>
              <a:rPr lang="en-US" sz="2400" dirty="0"/>
              <a:t>(R</a:t>
            </a:r>
            <a:r>
              <a:rPr lang="en-US" sz="2400" baseline="-25000" dirty="0"/>
              <a:t>A</a:t>
            </a:r>
            <a:r>
              <a:rPr lang="en-US" sz="2400" dirty="0"/>
              <a:t> + R</a:t>
            </a:r>
            <a:r>
              <a:rPr lang="en-US" sz="2400" baseline="-25000" dirty="0"/>
              <a:t>s</a:t>
            </a:r>
            <a:r>
              <a:rPr lang="en-US" sz="2400" dirty="0"/>
              <a:t>) rise.</a:t>
            </a:r>
          </a:p>
          <a:p>
            <a:pPr indent="457200">
              <a:buNone/>
              <a:defRPr/>
            </a:pPr>
            <a:r>
              <a:rPr lang="en-US" sz="2400" dirty="0">
                <a:solidFill>
                  <a:srgbClr val="0070C0"/>
                </a:solidFill>
              </a:rPr>
              <a:t> </a:t>
            </a:r>
            <a:r>
              <a:rPr lang="en-US" sz="2400" dirty="0"/>
              <a:t> </a:t>
            </a:r>
            <a:endParaRPr lang="en-US" sz="2200" dirty="0">
              <a:solidFill>
                <a:srgbClr val="0070C0"/>
              </a:solidFill>
            </a:endParaRPr>
          </a:p>
          <a:p>
            <a:pPr indent="457200">
              <a:buNone/>
              <a:defRPr/>
            </a:pPr>
            <a:r>
              <a:rPr lang="en-US" sz="2400" dirty="0">
                <a:solidFill>
                  <a:srgbClr val="0070C0"/>
                </a:solidFill>
              </a:rPr>
              <a:t> </a:t>
            </a:r>
            <a:endParaRPr lang="en-US" sz="2400" dirty="0"/>
          </a:p>
        </p:txBody>
      </p:sp>
      <p:sp>
        <p:nvSpPr>
          <p:cNvPr id="49175" name="Rectangle 2">
            <a:extLst>
              <a:ext uri="{FF2B5EF4-FFF2-40B4-BE49-F238E27FC236}">
                <a16:creationId xmlns:a16="http://schemas.microsoft.com/office/drawing/2014/main" id="{314189AD-EF91-A0F9-42D5-6687BBA1A03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6" name="Rectangle 2">
            <a:extLst>
              <a:ext uri="{FF2B5EF4-FFF2-40B4-BE49-F238E27FC236}">
                <a16:creationId xmlns:a16="http://schemas.microsoft.com/office/drawing/2014/main" id="{CCDE1A79-2319-EDFB-89CA-0E3F0BB8D58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7" name="Rectangle 2">
            <a:extLst>
              <a:ext uri="{FF2B5EF4-FFF2-40B4-BE49-F238E27FC236}">
                <a16:creationId xmlns:a16="http://schemas.microsoft.com/office/drawing/2014/main" id="{46512CFD-ADA3-FF7A-3A85-9FC8322EC0EC}"/>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78" name="Rectangle 3">
            <a:extLst>
              <a:ext uri="{FF2B5EF4-FFF2-40B4-BE49-F238E27FC236}">
                <a16:creationId xmlns:a16="http://schemas.microsoft.com/office/drawing/2014/main" id="{897640F7-33D5-7707-CF3F-701237A1599B}"/>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49179" name="Rectangle 5">
            <a:extLst>
              <a:ext uri="{FF2B5EF4-FFF2-40B4-BE49-F238E27FC236}">
                <a16:creationId xmlns:a16="http://schemas.microsoft.com/office/drawing/2014/main" id="{C85398EF-7D25-895F-DEFA-2B64CDB6AFE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0" name="Rectangle 7">
            <a:extLst>
              <a:ext uri="{FF2B5EF4-FFF2-40B4-BE49-F238E27FC236}">
                <a16:creationId xmlns:a16="http://schemas.microsoft.com/office/drawing/2014/main" id="{455543B3-2B5E-404F-8455-7700777192C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1" name="Rectangle 2">
            <a:extLst>
              <a:ext uri="{FF2B5EF4-FFF2-40B4-BE49-F238E27FC236}">
                <a16:creationId xmlns:a16="http://schemas.microsoft.com/office/drawing/2014/main" id="{D3C2CC20-1010-AD81-785F-34F1F31197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2" name="Rectangle 4">
            <a:extLst>
              <a:ext uri="{FF2B5EF4-FFF2-40B4-BE49-F238E27FC236}">
                <a16:creationId xmlns:a16="http://schemas.microsoft.com/office/drawing/2014/main" id="{1F298764-79BC-998C-748C-B44F02DA78A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3" name="Rectangle 36">
            <a:extLst>
              <a:ext uri="{FF2B5EF4-FFF2-40B4-BE49-F238E27FC236}">
                <a16:creationId xmlns:a16="http://schemas.microsoft.com/office/drawing/2014/main" id="{BC28B888-048E-7975-2C66-D614CFFA3203}"/>
              </a:ext>
            </a:extLst>
          </p:cNvPr>
          <p:cNvSpPr>
            <a:spLocks noChangeArrowheads="1"/>
          </p:cNvSpPr>
          <p:nvPr/>
        </p:nvSpPr>
        <p:spPr bwMode="auto">
          <a:xfrm>
            <a:off x="4495800" y="6324601"/>
            <a:ext cx="5715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US" sz="1400">
                <a:latin typeface="Times New Roman" panose="02020603050405020304" pitchFamily="18" charset="0"/>
                <a:cs typeface="Times New Roman" panose="02020603050405020304" pitchFamily="18" charset="0"/>
              </a:rPr>
              <a:t>Terminal characteristics of cumulatively compounded dc generators</a:t>
            </a:r>
          </a:p>
        </p:txBody>
      </p:sp>
      <p:sp>
        <p:nvSpPr>
          <p:cNvPr id="49184" name="Rectangle 2">
            <a:extLst>
              <a:ext uri="{FF2B5EF4-FFF2-40B4-BE49-F238E27FC236}">
                <a16:creationId xmlns:a16="http://schemas.microsoft.com/office/drawing/2014/main" id="{5243EDA6-6C42-50A0-7749-B7442E06364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5" name="Rectangle 2">
            <a:extLst>
              <a:ext uri="{FF2B5EF4-FFF2-40B4-BE49-F238E27FC236}">
                <a16:creationId xmlns:a16="http://schemas.microsoft.com/office/drawing/2014/main" id="{5249F0F2-8F5B-6C6F-80D3-5ECDE5189B8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9186" name="Rectangle 2">
            <a:extLst>
              <a:ext uri="{FF2B5EF4-FFF2-40B4-BE49-F238E27FC236}">
                <a16:creationId xmlns:a16="http://schemas.microsoft.com/office/drawing/2014/main" id="{34C2A73F-89CD-B7DE-7C39-66E88072244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9187" name="Picture 1">
            <a:extLst>
              <a:ext uri="{FF2B5EF4-FFF2-40B4-BE49-F238E27FC236}">
                <a16:creationId xmlns:a16="http://schemas.microsoft.com/office/drawing/2014/main" id="{354C7183-5C4D-DAA8-EC54-033C9D9AC3E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67200" y="3276600"/>
            <a:ext cx="13033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88" name="Rectangle 4">
            <a:extLst>
              <a:ext uri="{FF2B5EF4-FFF2-40B4-BE49-F238E27FC236}">
                <a16:creationId xmlns:a16="http://schemas.microsoft.com/office/drawing/2014/main" id="{DEA4FCB8-01C6-E2F9-97FD-33264E58EFA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49189" name="Picture 3">
            <a:extLst>
              <a:ext uri="{FF2B5EF4-FFF2-40B4-BE49-F238E27FC236}">
                <a16:creationId xmlns:a16="http://schemas.microsoft.com/office/drawing/2014/main" id="{73F9090A-2909-B410-2DF9-47486B2C6C6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6601" y="3276600"/>
            <a:ext cx="20224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90" name="Picture 39">
            <a:extLst>
              <a:ext uri="{FF2B5EF4-FFF2-40B4-BE49-F238E27FC236}">
                <a16:creationId xmlns:a16="http://schemas.microsoft.com/office/drawing/2014/main" id="{C0AD003E-1EA1-C684-F8DE-02C254CF9E72}"/>
              </a:ext>
            </a:extLst>
          </p:cNvPr>
          <p:cNvPicPr>
            <a:picLocks noChangeAspect="1" noChangeArrowheads="1"/>
          </p:cNvPicPr>
          <p:nvPr/>
        </p:nvPicPr>
        <p:blipFill>
          <a:blip r:embed="rId4">
            <a:lum bright="-10000" contrast="40000"/>
            <a:extLst>
              <a:ext uri="{28A0092B-C50C-407E-A947-70E740481C1C}">
                <a14:useLocalDpi xmlns:a14="http://schemas.microsoft.com/office/drawing/2010/main" val="0"/>
              </a:ext>
            </a:extLst>
          </a:blip>
          <a:srcRect l="4683" t="5907"/>
          <a:stretch>
            <a:fillRect/>
          </a:stretch>
        </p:blipFill>
        <p:spPr bwMode="auto">
          <a:xfrm>
            <a:off x="7086601" y="4419600"/>
            <a:ext cx="284797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8837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D42B-3F7D-7039-3C4E-E3A13E981A29}"/>
            </a:ext>
          </a:extLst>
        </p:cNvPr>
        <p:cNvGrpSpPr/>
        <p:nvPr/>
      </p:nvGrpSpPr>
      <p:grpSpPr>
        <a:xfrm>
          <a:off x="0" y="0"/>
          <a:ext cx="0" cy="0"/>
          <a:chOff x="0" y="0"/>
          <a:chExt cx="0" cy="0"/>
        </a:xfrm>
      </p:grpSpPr>
      <p:sp>
        <p:nvSpPr>
          <p:cNvPr id="50179" name="Title 1">
            <a:extLst>
              <a:ext uri="{FF2B5EF4-FFF2-40B4-BE49-F238E27FC236}">
                <a16:creationId xmlns:a16="http://schemas.microsoft.com/office/drawing/2014/main" id="{858244B8-D551-6F2E-BDC7-6256A8351203}"/>
              </a:ext>
            </a:extLst>
          </p:cNvPr>
          <p:cNvSpPr>
            <a:spLocks noGrp="1"/>
          </p:cNvSpPr>
          <p:nvPr>
            <p:ph type="title"/>
          </p:nvPr>
        </p:nvSpPr>
        <p:spPr>
          <a:xfrm>
            <a:off x="2438400" y="533400"/>
            <a:ext cx="7772400" cy="685800"/>
          </a:xfrm>
        </p:spPr>
        <p:txBody>
          <a:bodyPr/>
          <a:lstStyle/>
          <a:p>
            <a:pPr algn="ctr" eaLnBrk="1" hangingPunct="1"/>
            <a:r>
              <a:rPr lang="en-US" altLang="en-US" sz="3200"/>
              <a:t>The Compound Generator</a:t>
            </a:r>
          </a:p>
        </p:txBody>
      </p:sp>
      <p:sp>
        <p:nvSpPr>
          <p:cNvPr id="50180" name="Rectangle 4">
            <a:extLst>
              <a:ext uri="{FF2B5EF4-FFF2-40B4-BE49-F238E27FC236}">
                <a16:creationId xmlns:a16="http://schemas.microsoft.com/office/drawing/2014/main" id="{046F00B6-A320-71F2-42BE-2CCC4ABEA97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50181" name="Rectangle 6">
            <a:extLst>
              <a:ext uri="{FF2B5EF4-FFF2-40B4-BE49-F238E27FC236}">
                <a16:creationId xmlns:a16="http://schemas.microsoft.com/office/drawing/2014/main" id="{6A155B57-1E46-ACD8-DDFF-FE281F31B66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50182" name="Rectangle 8">
            <a:extLst>
              <a:ext uri="{FF2B5EF4-FFF2-40B4-BE49-F238E27FC236}">
                <a16:creationId xmlns:a16="http://schemas.microsoft.com/office/drawing/2014/main" id="{9794FF65-A166-0355-194B-AB50CB61CA73}"/>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50183" name="Rectangle 9">
            <a:extLst>
              <a:ext uri="{FF2B5EF4-FFF2-40B4-BE49-F238E27FC236}">
                <a16:creationId xmlns:a16="http://schemas.microsoft.com/office/drawing/2014/main" id="{DD2A0445-2C8D-8371-DF45-D4A2E13BC3A5}"/>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4" name="Rectangle 2">
            <a:extLst>
              <a:ext uri="{FF2B5EF4-FFF2-40B4-BE49-F238E27FC236}">
                <a16:creationId xmlns:a16="http://schemas.microsoft.com/office/drawing/2014/main" id="{ECBAB675-DEA9-20AD-1412-D7B48A8D05C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5" name="Rectangle 4">
            <a:extLst>
              <a:ext uri="{FF2B5EF4-FFF2-40B4-BE49-F238E27FC236}">
                <a16:creationId xmlns:a16="http://schemas.microsoft.com/office/drawing/2014/main" id="{3D4AFC4D-0CEE-7875-5885-053713C9F37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6" name="Rectangle 6">
            <a:extLst>
              <a:ext uri="{FF2B5EF4-FFF2-40B4-BE49-F238E27FC236}">
                <a16:creationId xmlns:a16="http://schemas.microsoft.com/office/drawing/2014/main" id="{7FB54559-0EF7-AF55-21BD-76D5DEE633B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7" name="Rectangle 8">
            <a:extLst>
              <a:ext uri="{FF2B5EF4-FFF2-40B4-BE49-F238E27FC236}">
                <a16:creationId xmlns:a16="http://schemas.microsoft.com/office/drawing/2014/main" id="{303E7833-D6F5-4EA2-E76C-542463D1910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8" name="Rectangle 10">
            <a:extLst>
              <a:ext uri="{FF2B5EF4-FFF2-40B4-BE49-F238E27FC236}">
                <a16:creationId xmlns:a16="http://schemas.microsoft.com/office/drawing/2014/main" id="{03061C75-229D-7F96-FE81-6BAD1FB5344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89" name="Rectangle 12">
            <a:extLst>
              <a:ext uri="{FF2B5EF4-FFF2-40B4-BE49-F238E27FC236}">
                <a16:creationId xmlns:a16="http://schemas.microsoft.com/office/drawing/2014/main" id="{CB0575B1-1987-8B03-A8BD-D452B116510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0" name="Rectangle 2">
            <a:extLst>
              <a:ext uri="{FF2B5EF4-FFF2-40B4-BE49-F238E27FC236}">
                <a16:creationId xmlns:a16="http://schemas.microsoft.com/office/drawing/2014/main" id="{234DD45E-BA03-7F3D-924D-5665A099FED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1" name="Rectangle 4">
            <a:extLst>
              <a:ext uri="{FF2B5EF4-FFF2-40B4-BE49-F238E27FC236}">
                <a16:creationId xmlns:a16="http://schemas.microsoft.com/office/drawing/2014/main" id="{6FE88A5A-F0DD-08C9-0D14-76A69F80F3D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2" name="Rectangle 6">
            <a:extLst>
              <a:ext uri="{FF2B5EF4-FFF2-40B4-BE49-F238E27FC236}">
                <a16:creationId xmlns:a16="http://schemas.microsoft.com/office/drawing/2014/main" id="{1030EBAD-8BD3-16D7-9F0C-7FD2702F1B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3" name="Rectangle 8">
            <a:extLst>
              <a:ext uri="{FF2B5EF4-FFF2-40B4-BE49-F238E27FC236}">
                <a16:creationId xmlns:a16="http://schemas.microsoft.com/office/drawing/2014/main" id="{F53F7571-34F9-E55B-6075-A4B211F87CE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4" name="Rectangle 10">
            <a:extLst>
              <a:ext uri="{FF2B5EF4-FFF2-40B4-BE49-F238E27FC236}">
                <a16:creationId xmlns:a16="http://schemas.microsoft.com/office/drawing/2014/main" id="{76853488-C262-58ED-5061-1F75C452F2E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5" name="Rectangle 2">
            <a:extLst>
              <a:ext uri="{FF2B5EF4-FFF2-40B4-BE49-F238E27FC236}">
                <a16:creationId xmlns:a16="http://schemas.microsoft.com/office/drawing/2014/main" id="{185A79B8-9367-C15D-88A8-0ABC4FBF7DF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6" name="Rectangle 4">
            <a:extLst>
              <a:ext uri="{FF2B5EF4-FFF2-40B4-BE49-F238E27FC236}">
                <a16:creationId xmlns:a16="http://schemas.microsoft.com/office/drawing/2014/main" id="{1BEAAB2D-C2A1-D599-3DA4-7D132DD5645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197" name="Rectangle 7">
            <a:extLst>
              <a:ext uri="{FF2B5EF4-FFF2-40B4-BE49-F238E27FC236}">
                <a16:creationId xmlns:a16="http://schemas.microsoft.com/office/drawing/2014/main" id="{57770A7D-769E-7050-6BEE-A4318669076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 name="Content Placeholder 33">
            <a:extLst>
              <a:ext uri="{FF2B5EF4-FFF2-40B4-BE49-F238E27FC236}">
                <a16:creationId xmlns:a16="http://schemas.microsoft.com/office/drawing/2014/main" id="{0E12E438-618D-B882-C0F7-5DCA6106FE56}"/>
              </a:ext>
            </a:extLst>
          </p:cNvPr>
          <p:cNvSpPr>
            <a:spLocks noGrp="1"/>
          </p:cNvSpPr>
          <p:nvPr>
            <p:ph sz="quarter" idx="1"/>
          </p:nvPr>
        </p:nvSpPr>
        <p:spPr>
          <a:xfrm>
            <a:off x="455428" y="1137166"/>
            <a:ext cx="8915400" cy="4953000"/>
          </a:xfrm>
        </p:spPr>
        <p:txBody>
          <a:bodyPr/>
          <a:lstStyle/>
          <a:p>
            <a:pPr indent="0">
              <a:buNone/>
              <a:defRPr/>
            </a:pPr>
            <a:r>
              <a:rPr lang="en-US" sz="2400" dirty="0">
                <a:solidFill>
                  <a:srgbClr val="0070C0"/>
                </a:solidFill>
              </a:rPr>
              <a:t>Graphical Analysis of Cumulatively Compounded DC Generators</a:t>
            </a:r>
            <a:r>
              <a:rPr lang="en-US" sz="2400" dirty="0"/>
              <a:t>  	</a:t>
            </a:r>
          </a:p>
          <a:p>
            <a:pPr indent="0">
              <a:buNone/>
              <a:defRPr/>
            </a:pPr>
            <a:r>
              <a:rPr lang="en-US" sz="2400" dirty="0"/>
              <a:t> The following two equations are the key to graphically describing the terminal characteristics of a cumulatively compounded dc generator.</a:t>
            </a:r>
          </a:p>
          <a:p>
            <a:pPr indent="457200">
              <a:defRPr/>
            </a:pPr>
            <a:r>
              <a:rPr lang="en-US" sz="2400" dirty="0"/>
              <a:t>The equivalent shunt field current </a:t>
            </a:r>
            <a:r>
              <a:rPr lang="en-US" sz="2400" dirty="0" err="1"/>
              <a:t>I</a:t>
            </a:r>
            <a:r>
              <a:rPr lang="en-US" sz="2400" baseline="-25000" dirty="0" err="1"/>
              <a:t>eq</a:t>
            </a:r>
            <a:r>
              <a:rPr lang="en-US" sz="2400" baseline="-25000" dirty="0"/>
              <a:t> ,                                                  </a:t>
            </a:r>
            <a:r>
              <a:rPr lang="en-US" baseline="-25000" dirty="0"/>
              <a:t>a</a:t>
            </a:r>
            <a:r>
              <a:rPr lang="en-US" sz="3200" baseline="-25000" dirty="0"/>
              <a:t>nd</a:t>
            </a:r>
            <a:endParaRPr lang="en-US" sz="2400" dirty="0"/>
          </a:p>
          <a:p>
            <a:pPr indent="457200">
              <a:defRPr/>
            </a:pPr>
            <a:r>
              <a:rPr lang="en-US" sz="2400" dirty="0"/>
              <a:t>the total effective shunt field current </a:t>
            </a:r>
          </a:p>
          <a:p>
            <a:pPr indent="457200">
              <a:defRPr/>
            </a:pPr>
            <a:r>
              <a:rPr lang="en-US" sz="2400" dirty="0"/>
              <a:t> 	This equivalent current </a:t>
            </a:r>
            <a:r>
              <a:rPr lang="en-US" sz="2400" dirty="0" err="1"/>
              <a:t>Ieq</a:t>
            </a:r>
            <a:r>
              <a:rPr lang="en-US" sz="2400" dirty="0"/>
              <a:t> represents a horizontal distance to the left 	or the right of the field resistance line (RF = VT/IF) along the axes of 	the magnetization curve.</a:t>
            </a:r>
          </a:p>
          <a:p>
            <a:pPr indent="457200">
              <a:buNone/>
              <a:defRPr/>
            </a:pPr>
            <a:r>
              <a:rPr lang="en-US" sz="2400" dirty="0">
                <a:solidFill>
                  <a:srgbClr val="0070C0"/>
                </a:solidFill>
              </a:rPr>
              <a:t> </a:t>
            </a:r>
            <a:endParaRPr lang="en-US" sz="2400" dirty="0"/>
          </a:p>
        </p:txBody>
      </p:sp>
      <p:sp>
        <p:nvSpPr>
          <p:cNvPr id="50199" name="Rectangle 2">
            <a:extLst>
              <a:ext uri="{FF2B5EF4-FFF2-40B4-BE49-F238E27FC236}">
                <a16:creationId xmlns:a16="http://schemas.microsoft.com/office/drawing/2014/main" id="{1595AE74-8608-A3C0-0875-F147358FF25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0" name="Rectangle 2">
            <a:extLst>
              <a:ext uri="{FF2B5EF4-FFF2-40B4-BE49-F238E27FC236}">
                <a16:creationId xmlns:a16="http://schemas.microsoft.com/office/drawing/2014/main" id="{D6EBA78D-8F90-9F56-2444-48E2CA4A3EE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1" name="Rectangle 2">
            <a:extLst>
              <a:ext uri="{FF2B5EF4-FFF2-40B4-BE49-F238E27FC236}">
                <a16:creationId xmlns:a16="http://schemas.microsoft.com/office/drawing/2014/main" id="{BD6DE4D4-328B-4A6E-8627-18D698A0AA96}"/>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2" name="Rectangle 3">
            <a:extLst>
              <a:ext uri="{FF2B5EF4-FFF2-40B4-BE49-F238E27FC236}">
                <a16:creationId xmlns:a16="http://schemas.microsoft.com/office/drawing/2014/main" id="{E216F904-4783-9323-BAF9-BD1122092DF7}"/>
              </a:ext>
            </a:extLst>
          </p:cNvPr>
          <p:cNvSpPr>
            <a:spLocks noChangeArrowheads="1"/>
          </p:cNvSpPr>
          <p:nvPr/>
        </p:nvSpPr>
        <p:spPr bwMode="auto">
          <a:xfrm>
            <a:off x="1524001" y="463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endParaRPr lang="en-US" altLang="en-US" sz="1800">
              <a:latin typeface="Arial" panose="020B0604020202020204" pitchFamily="34" charset="0"/>
            </a:endParaRPr>
          </a:p>
        </p:txBody>
      </p:sp>
      <p:sp>
        <p:nvSpPr>
          <p:cNvPr id="50203" name="Rectangle 5">
            <a:extLst>
              <a:ext uri="{FF2B5EF4-FFF2-40B4-BE49-F238E27FC236}">
                <a16:creationId xmlns:a16="http://schemas.microsoft.com/office/drawing/2014/main" id="{F83BC8ED-AAED-ED9F-42D9-76FB8B27D08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4" name="Rectangle 7">
            <a:extLst>
              <a:ext uri="{FF2B5EF4-FFF2-40B4-BE49-F238E27FC236}">
                <a16:creationId xmlns:a16="http://schemas.microsoft.com/office/drawing/2014/main" id="{E04EFDC8-ED2A-92D5-5BDF-D512F0E1E64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5" name="Rectangle 2">
            <a:extLst>
              <a:ext uri="{FF2B5EF4-FFF2-40B4-BE49-F238E27FC236}">
                <a16:creationId xmlns:a16="http://schemas.microsoft.com/office/drawing/2014/main" id="{2B64ABA8-FADD-C459-93A9-7D38702BA0A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6" name="Rectangle 4">
            <a:extLst>
              <a:ext uri="{FF2B5EF4-FFF2-40B4-BE49-F238E27FC236}">
                <a16:creationId xmlns:a16="http://schemas.microsoft.com/office/drawing/2014/main" id="{698D5DAA-D15C-A29E-9821-70BD9B44FAF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7" name="Rectangle 2">
            <a:extLst>
              <a:ext uri="{FF2B5EF4-FFF2-40B4-BE49-F238E27FC236}">
                <a16:creationId xmlns:a16="http://schemas.microsoft.com/office/drawing/2014/main" id="{D53E523E-B518-3825-0961-8E14A0C55B5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8" name="Rectangle 2">
            <a:extLst>
              <a:ext uri="{FF2B5EF4-FFF2-40B4-BE49-F238E27FC236}">
                <a16:creationId xmlns:a16="http://schemas.microsoft.com/office/drawing/2014/main" id="{2211A77A-012B-4223-211C-3091A88E7F9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09" name="Rectangle 2">
            <a:extLst>
              <a:ext uri="{FF2B5EF4-FFF2-40B4-BE49-F238E27FC236}">
                <a16:creationId xmlns:a16="http://schemas.microsoft.com/office/drawing/2014/main" id="{9FE8CF85-6DE4-F51B-E473-ABBC5FCAEDB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10" name="Rectangle 4">
            <a:extLst>
              <a:ext uri="{FF2B5EF4-FFF2-40B4-BE49-F238E27FC236}">
                <a16:creationId xmlns:a16="http://schemas.microsoft.com/office/drawing/2014/main" id="{740D7ACE-C6D7-217E-6B84-160EEC3E749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0211" name="Rectangle 2">
            <a:extLst>
              <a:ext uri="{FF2B5EF4-FFF2-40B4-BE49-F238E27FC236}">
                <a16:creationId xmlns:a16="http://schemas.microsoft.com/office/drawing/2014/main" id="{E8878741-C248-9D91-E28D-5EDD052F30C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50212" name="Picture 1">
            <a:extLst>
              <a:ext uri="{FF2B5EF4-FFF2-40B4-BE49-F238E27FC236}">
                <a16:creationId xmlns:a16="http://schemas.microsoft.com/office/drawing/2014/main" id="{08648920-A0E8-062E-A1C1-8F7341F6E8B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6600" y="2819400"/>
            <a:ext cx="15573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13" name="Rectangle 4">
            <a:extLst>
              <a:ext uri="{FF2B5EF4-FFF2-40B4-BE49-F238E27FC236}">
                <a16:creationId xmlns:a16="http://schemas.microsoft.com/office/drawing/2014/main" id="{9A67E68E-7516-C776-AD53-5325ED0BE06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50214" name="Picture 3">
            <a:extLst>
              <a:ext uri="{FF2B5EF4-FFF2-40B4-BE49-F238E27FC236}">
                <a16:creationId xmlns:a16="http://schemas.microsoft.com/office/drawing/2014/main" id="{821E4B93-FFCA-2C16-CC82-DB752B3C372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62801" y="3429000"/>
            <a:ext cx="1300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15" name="Picture 42">
            <a:extLst>
              <a:ext uri="{FF2B5EF4-FFF2-40B4-BE49-F238E27FC236}">
                <a16:creationId xmlns:a16="http://schemas.microsoft.com/office/drawing/2014/main" id="{95F94B75-6A82-54F1-4D39-8DC3F132D66C}"/>
              </a:ext>
            </a:extLst>
          </p:cNvPr>
          <p:cNvPicPr>
            <a:picLocks noChangeAspect="1" noChangeArrowheads="1"/>
          </p:cNvPicPr>
          <p:nvPr/>
        </p:nvPicPr>
        <p:blipFill>
          <a:blip r:embed="rId4">
            <a:lum bright="-10000" contrast="30000"/>
            <a:extLst>
              <a:ext uri="{28A0092B-C50C-407E-A947-70E740481C1C}">
                <a14:useLocalDpi xmlns:a14="http://schemas.microsoft.com/office/drawing/2010/main" val="0"/>
              </a:ext>
            </a:extLst>
          </a:blip>
          <a:srcRect t="6635"/>
          <a:stretch>
            <a:fillRect/>
          </a:stretch>
        </p:blipFill>
        <p:spPr bwMode="auto">
          <a:xfrm rot="-180000">
            <a:off x="8404224" y="4747697"/>
            <a:ext cx="361315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832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1">
            <a:extLst>
              <a:ext uri="{FF2B5EF4-FFF2-40B4-BE49-F238E27FC236}">
                <a16:creationId xmlns:a16="http://schemas.microsoft.com/office/drawing/2014/main" id="{646A18F2-6BFA-4946-8FEE-6911F2B98FD1}"/>
              </a:ext>
            </a:extLst>
          </p:cNvPr>
          <p:cNvSpPr>
            <a:spLocks noGrp="1"/>
          </p:cNvSpPr>
          <p:nvPr>
            <p:ph type="title"/>
          </p:nvPr>
        </p:nvSpPr>
        <p:spPr>
          <a:xfrm>
            <a:off x="2438400" y="533400"/>
            <a:ext cx="7772400" cy="685800"/>
          </a:xfrm>
        </p:spPr>
        <p:txBody>
          <a:bodyPr/>
          <a:lstStyle/>
          <a:p>
            <a:pPr eaLnBrk="1" hangingPunct="1"/>
            <a:r>
              <a:rPr lang="en-US" altLang="en-US" sz="3200"/>
              <a:t>Commutation Process</a:t>
            </a:r>
          </a:p>
        </p:txBody>
      </p:sp>
      <p:sp>
        <p:nvSpPr>
          <p:cNvPr id="3" name="Content Placeholder 2">
            <a:extLst>
              <a:ext uri="{FF2B5EF4-FFF2-40B4-BE49-F238E27FC236}">
                <a16:creationId xmlns:a16="http://schemas.microsoft.com/office/drawing/2014/main" id="{FDAF781A-7580-4EE2-96DA-E6938310B9EA}"/>
              </a:ext>
            </a:extLst>
          </p:cNvPr>
          <p:cNvSpPr>
            <a:spLocks noGrp="1"/>
          </p:cNvSpPr>
          <p:nvPr>
            <p:ph sz="quarter" idx="1"/>
          </p:nvPr>
        </p:nvSpPr>
        <p:spPr>
          <a:xfrm>
            <a:off x="0" y="1447800"/>
            <a:ext cx="7549116" cy="5029200"/>
          </a:xfrm>
        </p:spPr>
        <p:txBody>
          <a:bodyPr>
            <a:normAutofit/>
          </a:bodyPr>
          <a:lstStyle/>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Commutation is the process of converting the ac voltages and currents in the rotor of a dc machine to dc voltages and currents at its terminals. </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4 loops of this machine are laid into the slots in a special manner.  The “unprimed” end of each loop is the outermost wire in each slot, while the “primed” end of each loop is the innermost wire in the slot directly opposite.</a:t>
            </a:r>
          </a:p>
          <a:p>
            <a:pPr marL="274320" indent="-274320" algn="just">
              <a:spcBef>
                <a:spcPts val="580"/>
              </a:spcBef>
              <a:buFont typeface="Wingdings 2"/>
              <a:buChar char=""/>
              <a:defRPr/>
            </a:pPr>
            <a:endParaRPr lang="en-US" b="1" dirty="0"/>
          </a:p>
          <a:p>
            <a:pPr marL="274320" indent="-274320" algn="just">
              <a:spcBef>
                <a:spcPts val="580"/>
              </a:spcBef>
              <a:buFont typeface="Wingdings 2"/>
              <a:buChar char=""/>
              <a:defRPr/>
            </a:pPr>
            <a:endParaRPr lang="en-US" b="1" dirty="0"/>
          </a:p>
        </p:txBody>
      </p:sp>
      <p:sp>
        <p:nvSpPr>
          <p:cNvPr id="18437" name="Rectangle 4">
            <a:extLst>
              <a:ext uri="{FF2B5EF4-FFF2-40B4-BE49-F238E27FC236}">
                <a16:creationId xmlns:a16="http://schemas.microsoft.com/office/drawing/2014/main" id="{364739F4-DC55-4827-BD58-28067CA3AE5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8438" name="Rectangle 6">
            <a:extLst>
              <a:ext uri="{FF2B5EF4-FFF2-40B4-BE49-F238E27FC236}">
                <a16:creationId xmlns:a16="http://schemas.microsoft.com/office/drawing/2014/main" id="{2A6BD486-5E37-4E01-8933-ED8EE30689F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8439" name="Rectangle 8">
            <a:extLst>
              <a:ext uri="{FF2B5EF4-FFF2-40B4-BE49-F238E27FC236}">
                <a16:creationId xmlns:a16="http://schemas.microsoft.com/office/drawing/2014/main" id="{2BF52F9B-CB90-40A8-A99E-5B1C117C50CB}"/>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8440" name="Rectangle 9">
            <a:extLst>
              <a:ext uri="{FF2B5EF4-FFF2-40B4-BE49-F238E27FC236}">
                <a16:creationId xmlns:a16="http://schemas.microsoft.com/office/drawing/2014/main" id="{41870761-817B-4197-80C1-49674621B032}"/>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2" name="Picture 11">
            <a:extLst>
              <a:ext uri="{FF2B5EF4-FFF2-40B4-BE49-F238E27FC236}">
                <a16:creationId xmlns:a16="http://schemas.microsoft.com/office/drawing/2014/main" id="{4A248D36-B193-4526-8AE5-0DE60B8122C5}"/>
              </a:ext>
            </a:extLst>
          </p:cNvPr>
          <p:cNvPicPr/>
          <p:nvPr/>
        </p:nvPicPr>
        <p:blipFill>
          <a:blip r:embed="rId2">
            <a:duotone>
              <a:prstClr val="black"/>
              <a:schemeClr val="tx2">
                <a:tint val="45000"/>
                <a:satMod val="400000"/>
              </a:schemeClr>
            </a:duotone>
          </a:blip>
          <a:srcRect/>
          <a:stretch>
            <a:fillRect/>
          </a:stretch>
        </p:blipFill>
        <p:spPr bwMode="auto">
          <a:xfrm>
            <a:off x="8686800" y="984766"/>
            <a:ext cx="2885860" cy="2364490"/>
          </a:xfrm>
          <a:prstGeom prst="rect">
            <a:avLst/>
          </a:prstGeom>
          <a:ln>
            <a:noFill/>
          </a:ln>
          <a:effectLst>
            <a:outerShdw blurRad="292100" dist="139700" dir="2700000" algn="tl" rotWithShape="0">
              <a:srgbClr val="333333">
                <a:alpha val="65000"/>
              </a:srgbClr>
            </a:outerShdw>
          </a:effectLst>
        </p:spPr>
      </p:pic>
      <p:pic>
        <p:nvPicPr>
          <p:cNvPr id="18442" name="Picture 12">
            <a:extLst>
              <a:ext uri="{FF2B5EF4-FFF2-40B4-BE49-F238E27FC236}">
                <a16:creationId xmlns:a16="http://schemas.microsoft.com/office/drawing/2014/main" id="{7E7CFA26-5001-4597-B22C-2EF739446C2C}"/>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8197702" y="3508745"/>
            <a:ext cx="3507563" cy="275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a:extLst>
              <a:ext uri="{FF2B5EF4-FFF2-40B4-BE49-F238E27FC236}">
                <a16:creationId xmlns:a16="http://schemas.microsoft.com/office/drawing/2014/main" id="{078FE718-5C12-46D0-88EF-98A4A8C53DE2}"/>
              </a:ext>
            </a:extLst>
          </p:cNvPr>
          <p:cNvSpPr>
            <a:spLocks noGrp="1"/>
          </p:cNvSpPr>
          <p:nvPr>
            <p:ph type="title"/>
          </p:nvPr>
        </p:nvSpPr>
        <p:spPr>
          <a:xfrm>
            <a:off x="2438400" y="533400"/>
            <a:ext cx="7772400" cy="685800"/>
          </a:xfrm>
        </p:spPr>
        <p:txBody>
          <a:bodyPr/>
          <a:lstStyle/>
          <a:p>
            <a:pPr eaLnBrk="1" hangingPunct="1"/>
            <a:r>
              <a:rPr lang="en-US" altLang="en-US" sz="3200"/>
              <a:t>Commutation Process</a:t>
            </a:r>
          </a:p>
        </p:txBody>
      </p:sp>
      <p:sp>
        <p:nvSpPr>
          <p:cNvPr id="3" name="Content Placeholder 2">
            <a:extLst>
              <a:ext uri="{FF2B5EF4-FFF2-40B4-BE49-F238E27FC236}">
                <a16:creationId xmlns:a16="http://schemas.microsoft.com/office/drawing/2014/main" id="{75966929-3E04-4F5D-B76B-C16C31DEF7FF}"/>
              </a:ext>
            </a:extLst>
          </p:cNvPr>
          <p:cNvSpPr>
            <a:spLocks noGrp="1"/>
          </p:cNvSpPr>
          <p:nvPr>
            <p:ph sz="quarter" idx="1"/>
          </p:nvPr>
        </p:nvSpPr>
        <p:spPr>
          <a:xfrm>
            <a:off x="776177" y="1447800"/>
            <a:ext cx="5548423" cy="5029200"/>
          </a:xfrm>
        </p:spPr>
        <p:txBody>
          <a:bodyPr>
            <a:normAutofit/>
          </a:bodyPr>
          <a:lstStyle/>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voltage in each of the 1, 2, 3’ and 4’ ends of the loops is given by:</a:t>
            </a:r>
          </a:p>
          <a:p>
            <a:pPr marL="548640" lvl="1" algn="just">
              <a:spcBef>
                <a:spcPts val="370"/>
              </a:spcBef>
              <a:buFont typeface="Wingdings 2"/>
              <a:buChar char=""/>
              <a:defRPr/>
            </a:pPr>
            <a:r>
              <a:rPr lang="en-US" sz="2800" dirty="0" err="1">
                <a:latin typeface="Arial" panose="020B0604020202020204" pitchFamily="34" charset="0"/>
                <a:cs typeface="Arial" panose="020B0604020202020204" pitchFamily="34" charset="0"/>
              </a:rPr>
              <a:t>e</a:t>
            </a:r>
            <a:r>
              <a:rPr lang="en-US" sz="2000" dirty="0" err="1">
                <a:latin typeface="Arial" panose="020B0604020202020204" pitchFamily="34" charset="0"/>
                <a:cs typeface="Arial" panose="020B0604020202020204" pitchFamily="34" charset="0"/>
              </a:rPr>
              <a:t>ind</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vBl</a:t>
            </a:r>
            <a:r>
              <a:rPr lang="en-US" dirty="0">
                <a:latin typeface="Arial" panose="020B0604020202020204" pitchFamily="34" charset="0"/>
                <a:cs typeface="Arial" panose="020B0604020202020204" pitchFamily="34" charset="0"/>
              </a:rPr>
              <a:t> (+out of page)</a:t>
            </a:r>
          </a:p>
          <a:p>
            <a:pPr marL="274320" indent="-274320" algn="just">
              <a:spcBef>
                <a:spcPts val="58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voltage in each of the 1’, 2’, 3 and 4 ends of the loops is given by:</a:t>
            </a:r>
          </a:p>
          <a:p>
            <a:pPr marL="548640" lvl="1" algn="just">
              <a:spcBef>
                <a:spcPts val="370"/>
              </a:spcBef>
              <a:buFont typeface="Wingdings 2"/>
              <a:buChar char=""/>
              <a:defRPr/>
            </a:pPr>
            <a:r>
              <a:rPr lang="en-US" sz="2800" dirty="0" err="1">
                <a:latin typeface="Arial" panose="020B0604020202020204" pitchFamily="34" charset="0"/>
                <a:cs typeface="Arial" panose="020B0604020202020204" pitchFamily="34" charset="0"/>
              </a:rPr>
              <a:t>e</a:t>
            </a:r>
            <a:r>
              <a:rPr lang="en-US" sz="2000" dirty="0" err="1">
                <a:latin typeface="Arial" panose="020B0604020202020204" pitchFamily="34" charset="0"/>
                <a:cs typeface="Arial" panose="020B0604020202020204" pitchFamily="34" charset="0"/>
              </a:rPr>
              <a:t>ind</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vBl</a:t>
            </a:r>
            <a:r>
              <a:rPr lang="en-US" dirty="0">
                <a:latin typeface="Arial" panose="020B0604020202020204" pitchFamily="34" charset="0"/>
                <a:cs typeface="Arial" panose="020B0604020202020204" pitchFamily="34" charset="0"/>
              </a:rPr>
              <a:t>  (+into page)</a:t>
            </a:r>
          </a:p>
          <a:p>
            <a:pPr marL="548640" lvl="1" algn="just">
              <a:spcBef>
                <a:spcPts val="370"/>
              </a:spcBef>
              <a:buFont typeface="Wingdings 2"/>
              <a:buChar char=""/>
              <a:defRPr/>
            </a:pPr>
            <a:endParaRPr lang="en-US" dirty="0">
              <a:latin typeface="Arial" panose="020B0604020202020204" pitchFamily="34" charset="0"/>
              <a:cs typeface="Arial" panose="020B0604020202020204" pitchFamily="34" charset="0"/>
            </a:endParaRPr>
          </a:p>
          <a:p>
            <a:pPr marL="274320" indent="-274320" algn="just">
              <a:spcBef>
                <a:spcPts val="580"/>
              </a:spcBef>
              <a:buFont typeface="Wingdings 2"/>
              <a:buChar char=""/>
              <a:defRPr/>
            </a:pPr>
            <a:r>
              <a:rPr lang="en-US" dirty="0">
                <a:latin typeface="Arial" panose="020B0604020202020204" pitchFamily="34" charset="0"/>
                <a:cs typeface="Arial" panose="020B0604020202020204" pitchFamily="34" charset="0"/>
              </a:rPr>
              <a:t>the total voltage at the brushes</a:t>
            </a:r>
          </a:p>
          <a:p>
            <a:pPr marL="548640" lvl="1" algn="just">
              <a:spcBef>
                <a:spcPts val="370"/>
              </a:spcBef>
              <a:buFont typeface="Wingdings 2"/>
              <a:buChar char=""/>
              <a:defRPr/>
            </a:pP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E=4e</a:t>
            </a:r>
          </a:p>
          <a:p>
            <a:pPr marL="274320" indent="-274320" algn="just">
              <a:spcBef>
                <a:spcPts val="580"/>
              </a:spcBef>
              <a:buNone/>
              <a:defRPr/>
            </a:pPr>
            <a:endParaRPr lang="en-US" b="1" dirty="0"/>
          </a:p>
          <a:p>
            <a:pPr marL="274320" indent="-274320" algn="just">
              <a:spcBef>
                <a:spcPts val="580"/>
              </a:spcBef>
              <a:buFont typeface="Wingdings 2"/>
              <a:buChar char=""/>
              <a:defRPr/>
            </a:pPr>
            <a:endParaRPr lang="en-US" b="1" dirty="0"/>
          </a:p>
        </p:txBody>
      </p:sp>
      <p:sp>
        <p:nvSpPr>
          <p:cNvPr id="19461" name="Rectangle 4">
            <a:extLst>
              <a:ext uri="{FF2B5EF4-FFF2-40B4-BE49-F238E27FC236}">
                <a16:creationId xmlns:a16="http://schemas.microsoft.com/office/drawing/2014/main" id="{0A1E3290-5AE1-46EB-98BE-E2A3EF12DAA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9462" name="Rectangle 6">
            <a:extLst>
              <a:ext uri="{FF2B5EF4-FFF2-40B4-BE49-F238E27FC236}">
                <a16:creationId xmlns:a16="http://schemas.microsoft.com/office/drawing/2014/main" id="{F4A7BFE7-939D-44EA-A14F-57CC3E9EE08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9463" name="Rectangle 8">
            <a:extLst>
              <a:ext uri="{FF2B5EF4-FFF2-40B4-BE49-F238E27FC236}">
                <a16:creationId xmlns:a16="http://schemas.microsoft.com/office/drawing/2014/main" id="{EBCD36EB-4DF2-46CA-882D-8EE0A514BB7F}"/>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19464" name="Rectangle 9">
            <a:extLst>
              <a:ext uri="{FF2B5EF4-FFF2-40B4-BE49-F238E27FC236}">
                <a16:creationId xmlns:a16="http://schemas.microsoft.com/office/drawing/2014/main" id="{4AA6C114-9A94-428E-902F-CD0BDA0F29F6}"/>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2" name="Picture 11">
            <a:extLst>
              <a:ext uri="{FF2B5EF4-FFF2-40B4-BE49-F238E27FC236}">
                <a16:creationId xmlns:a16="http://schemas.microsoft.com/office/drawing/2014/main" id="{FC49DE99-5903-4DDF-BC14-46601B85D696}"/>
              </a:ext>
            </a:extLst>
          </p:cNvPr>
          <p:cNvPicPr/>
          <p:nvPr/>
        </p:nvPicPr>
        <p:blipFill>
          <a:blip r:embed="rId2">
            <a:duotone>
              <a:prstClr val="black"/>
              <a:schemeClr val="tx2">
                <a:tint val="45000"/>
                <a:satMod val="400000"/>
              </a:schemeClr>
            </a:duotone>
          </a:blip>
          <a:srcRect/>
          <a:stretch>
            <a:fillRect/>
          </a:stretch>
        </p:blipFill>
        <p:spPr bwMode="auto">
          <a:xfrm>
            <a:off x="7985051" y="1140344"/>
            <a:ext cx="3276600" cy="2326758"/>
          </a:xfrm>
          <a:prstGeom prst="rect">
            <a:avLst/>
          </a:prstGeom>
          <a:ln>
            <a:noFill/>
          </a:ln>
          <a:effectLst>
            <a:outerShdw blurRad="292100" dist="139700" dir="2700000" algn="tl" rotWithShape="0">
              <a:srgbClr val="333333">
                <a:alpha val="65000"/>
              </a:srgbClr>
            </a:outerShdw>
          </a:effectLst>
        </p:spPr>
      </p:pic>
      <p:pic>
        <p:nvPicPr>
          <p:cNvPr id="19466" name="Picture 12">
            <a:extLst>
              <a:ext uri="{FF2B5EF4-FFF2-40B4-BE49-F238E27FC236}">
                <a16:creationId xmlns:a16="http://schemas.microsoft.com/office/drawing/2014/main" id="{BDF83F42-C0B1-4DEA-A5B6-36E4DB36A0C8}"/>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7747000" y="4074046"/>
            <a:ext cx="32258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Rectangle 10">
            <a:extLst>
              <a:ext uri="{FF2B5EF4-FFF2-40B4-BE49-F238E27FC236}">
                <a16:creationId xmlns:a16="http://schemas.microsoft.com/office/drawing/2014/main" id="{C2D383BD-44AD-4B1E-9F1B-C446FE9E7AA9}"/>
              </a:ext>
            </a:extLst>
          </p:cNvPr>
          <p:cNvSpPr>
            <a:spLocks noChangeArrowheads="1"/>
          </p:cNvSpPr>
          <p:nvPr/>
        </p:nvSpPr>
        <p:spPr bwMode="auto">
          <a:xfrm>
            <a:off x="7764130" y="3731418"/>
            <a:ext cx="327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GB" altLang="en-US" sz="2400" dirty="0">
                <a:solidFill>
                  <a:srgbClr val="FF0000"/>
                </a:solidFill>
              </a:rPr>
              <a:t>The winding’s connections</a:t>
            </a:r>
            <a:endParaRPr lang="en-US" altLang="en-US" sz="2400"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le 1">
            <a:extLst>
              <a:ext uri="{FF2B5EF4-FFF2-40B4-BE49-F238E27FC236}">
                <a16:creationId xmlns:a16="http://schemas.microsoft.com/office/drawing/2014/main" id="{D2DC9346-A778-49FC-8A53-EFB8A324E04B}"/>
              </a:ext>
            </a:extLst>
          </p:cNvPr>
          <p:cNvSpPr>
            <a:spLocks noGrp="1"/>
          </p:cNvSpPr>
          <p:nvPr>
            <p:ph type="title"/>
          </p:nvPr>
        </p:nvSpPr>
        <p:spPr>
          <a:xfrm>
            <a:off x="2300176" y="878683"/>
            <a:ext cx="7772400" cy="685800"/>
          </a:xfrm>
        </p:spPr>
        <p:txBody>
          <a:bodyPr/>
          <a:lstStyle/>
          <a:p>
            <a:pPr eaLnBrk="1" hangingPunct="1"/>
            <a:r>
              <a:rPr lang="en-US" altLang="en-US" sz="3200" dirty="0"/>
              <a:t>Commutation Process</a:t>
            </a:r>
          </a:p>
        </p:txBody>
      </p:sp>
      <p:sp>
        <p:nvSpPr>
          <p:cNvPr id="20484" name="Rectangle 4">
            <a:extLst>
              <a:ext uri="{FF2B5EF4-FFF2-40B4-BE49-F238E27FC236}">
                <a16:creationId xmlns:a16="http://schemas.microsoft.com/office/drawing/2014/main" id="{F63B69A8-3938-477D-B657-6481DF7B72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0485" name="Rectangle 6">
            <a:extLst>
              <a:ext uri="{FF2B5EF4-FFF2-40B4-BE49-F238E27FC236}">
                <a16:creationId xmlns:a16="http://schemas.microsoft.com/office/drawing/2014/main" id="{EFEC5266-E00D-46A4-984C-8D73530C6CE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0486" name="Rectangle 8">
            <a:extLst>
              <a:ext uri="{FF2B5EF4-FFF2-40B4-BE49-F238E27FC236}">
                <a16:creationId xmlns:a16="http://schemas.microsoft.com/office/drawing/2014/main" id="{8374C16C-4FF2-4F08-8E3D-2D6EBD38B7BB}"/>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0487" name="Rectangle 9">
            <a:extLst>
              <a:ext uri="{FF2B5EF4-FFF2-40B4-BE49-F238E27FC236}">
                <a16:creationId xmlns:a16="http://schemas.microsoft.com/office/drawing/2014/main" id="{92F91D22-E284-4E68-AD4E-89AE9951525D}"/>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0488" name="Rectangle 10">
            <a:extLst>
              <a:ext uri="{FF2B5EF4-FFF2-40B4-BE49-F238E27FC236}">
                <a16:creationId xmlns:a16="http://schemas.microsoft.com/office/drawing/2014/main" id="{87A1E962-9371-460B-9BAF-09D86CE312DF}"/>
              </a:ext>
            </a:extLst>
          </p:cNvPr>
          <p:cNvSpPr>
            <a:spLocks noChangeArrowheads="1"/>
          </p:cNvSpPr>
          <p:nvPr/>
        </p:nvSpPr>
        <p:spPr bwMode="auto">
          <a:xfrm>
            <a:off x="4648200" y="1981201"/>
            <a:ext cx="3505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GB" altLang="en-US" sz="2400">
                <a:solidFill>
                  <a:srgbClr val="FF0000"/>
                </a:solidFill>
              </a:rPr>
              <a:t>The machine at time ωt=45°. </a:t>
            </a:r>
            <a:endParaRPr lang="en-US" altLang="en-US" sz="2400">
              <a:solidFill>
                <a:srgbClr val="FF0000"/>
              </a:solidFill>
            </a:endParaRPr>
          </a:p>
        </p:txBody>
      </p:sp>
      <p:pic>
        <p:nvPicPr>
          <p:cNvPr id="20489" name="Picture 12">
            <a:extLst>
              <a:ext uri="{FF2B5EF4-FFF2-40B4-BE49-F238E27FC236}">
                <a16:creationId xmlns:a16="http://schemas.microsoft.com/office/drawing/2014/main" id="{3A3D59D1-697B-46C2-8DE1-210B6AD7A706}"/>
              </a:ext>
            </a:extLst>
          </p:cNvPr>
          <p:cNvPicPr>
            <a:picLocks noChangeAspect="1" noChangeArrowheads="1"/>
          </p:cNvPicPr>
          <p:nvPr/>
        </p:nvPicPr>
        <p:blipFill>
          <a:blip r:embed="rId2">
            <a:lum contrast="20000"/>
            <a:extLst>
              <a:ext uri="{28A0092B-C50C-407E-A947-70E740481C1C}">
                <a14:useLocalDpi xmlns:a14="http://schemas.microsoft.com/office/drawing/2010/main" val="0"/>
              </a:ext>
            </a:extLst>
          </a:blip>
          <a:srcRect/>
          <a:stretch>
            <a:fillRect/>
          </a:stretch>
        </p:blipFill>
        <p:spPr bwMode="auto">
          <a:xfrm>
            <a:off x="7162801" y="3048001"/>
            <a:ext cx="2620963"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13">
            <a:extLst>
              <a:ext uri="{FF2B5EF4-FFF2-40B4-BE49-F238E27FC236}">
                <a16:creationId xmlns:a16="http://schemas.microsoft.com/office/drawing/2014/main" id="{046A4088-2A3F-4537-A2B9-B8083BC32D45}"/>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l="3650" t="5051" r="5109"/>
          <a:stretch>
            <a:fillRect/>
          </a:stretch>
        </p:blipFill>
        <p:spPr bwMode="auto">
          <a:xfrm>
            <a:off x="2743200" y="2590801"/>
            <a:ext cx="297180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a:extLst>
              <a:ext uri="{FF2B5EF4-FFF2-40B4-BE49-F238E27FC236}">
                <a16:creationId xmlns:a16="http://schemas.microsoft.com/office/drawing/2014/main" id="{385C8EE0-5D24-43DF-8102-C230676E0C88}"/>
              </a:ext>
            </a:extLst>
          </p:cNvPr>
          <p:cNvSpPr>
            <a:spLocks noGrp="1"/>
          </p:cNvSpPr>
          <p:nvPr>
            <p:ph type="title"/>
          </p:nvPr>
        </p:nvSpPr>
        <p:spPr>
          <a:xfrm>
            <a:off x="2438400" y="533400"/>
            <a:ext cx="7772400" cy="685800"/>
          </a:xfrm>
        </p:spPr>
        <p:txBody>
          <a:bodyPr/>
          <a:lstStyle/>
          <a:p>
            <a:pPr eaLnBrk="1" hangingPunct="1"/>
            <a:r>
              <a:rPr lang="en-US" altLang="en-US" sz="3200"/>
              <a:t>Commutation Process</a:t>
            </a:r>
          </a:p>
        </p:txBody>
      </p:sp>
      <p:sp>
        <p:nvSpPr>
          <p:cNvPr id="21508" name="Content Placeholder 2">
            <a:extLst>
              <a:ext uri="{FF2B5EF4-FFF2-40B4-BE49-F238E27FC236}">
                <a16:creationId xmlns:a16="http://schemas.microsoft.com/office/drawing/2014/main" id="{3A8B27A3-D055-4367-A282-801B1CC02420}"/>
              </a:ext>
            </a:extLst>
          </p:cNvPr>
          <p:cNvSpPr>
            <a:spLocks noGrp="1"/>
          </p:cNvSpPr>
          <p:nvPr>
            <p:ph sz="quarter" idx="1"/>
          </p:nvPr>
        </p:nvSpPr>
        <p:spPr>
          <a:xfrm>
            <a:off x="2209800" y="1447800"/>
            <a:ext cx="4114800" cy="5029200"/>
          </a:xfrm>
        </p:spPr>
        <p:txBody>
          <a:bodyPr/>
          <a:lstStyle/>
          <a:p>
            <a:pPr algn="just" eaLnBrk="1" hangingPunct="1">
              <a:lnSpc>
                <a:spcPct val="90000"/>
              </a:lnSpc>
            </a:pPr>
            <a:r>
              <a:rPr lang="en-US" altLang="en-US" dirty="0">
                <a:solidFill>
                  <a:srgbClr val="0070C0"/>
                </a:solidFill>
              </a:rPr>
              <a:t>the 1’, 2, 3, and 4’ ends of the loops are under the north pole face</a:t>
            </a:r>
          </a:p>
          <a:p>
            <a:pPr algn="just" eaLnBrk="1" hangingPunct="1">
              <a:lnSpc>
                <a:spcPct val="90000"/>
              </a:lnSpc>
            </a:pPr>
            <a:endParaRPr lang="en-US" altLang="en-US" sz="1100" dirty="0"/>
          </a:p>
          <a:p>
            <a:pPr algn="just" eaLnBrk="1" hangingPunct="1">
              <a:lnSpc>
                <a:spcPct val="90000"/>
              </a:lnSpc>
            </a:pPr>
            <a:r>
              <a:rPr lang="en-US" altLang="en-US" dirty="0"/>
              <a:t>the 1, 2’, 3’ and 4 ends of the loops are under the south pole face</a:t>
            </a:r>
          </a:p>
          <a:p>
            <a:pPr algn="just" eaLnBrk="1" hangingPunct="1">
              <a:lnSpc>
                <a:spcPct val="90000"/>
              </a:lnSpc>
            </a:pPr>
            <a:endParaRPr lang="en-US" altLang="en-US" sz="1100" dirty="0"/>
          </a:p>
          <a:p>
            <a:pPr algn="just" eaLnBrk="1" hangingPunct="1">
              <a:lnSpc>
                <a:spcPct val="90000"/>
              </a:lnSpc>
            </a:pPr>
            <a:r>
              <a:rPr lang="en-US" altLang="en-US" dirty="0">
                <a:solidFill>
                  <a:srgbClr val="0070C0"/>
                </a:solidFill>
              </a:rPr>
              <a:t>so the terminal voltage E=4e</a:t>
            </a:r>
            <a:endParaRPr lang="en-US" altLang="en-US" dirty="0"/>
          </a:p>
        </p:txBody>
      </p:sp>
      <p:sp>
        <p:nvSpPr>
          <p:cNvPr id="21509" name="Rectangle 4">
            <a:extLst>
              <a:ext uri="{FF2B5EF4-FFF2-40B4-BE49-F238E27FC236}">
                <a16:creationId xmlns:a16="http://schemas.microsoft.com/office/drawing/2014/main" id="{3900616F-DBC7-4475-950C-4A1F1069BA5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1510" name="Rectangle 6">
            <a:extLst>
              <a:ext uri="{FF2B5EF4-FFF2-40B4-BE49-F238E27FC236}">
                <a16:creationId xmlns:a16="http://schemas.microsoft.com/office/drawing/2014/main" id="{739DF4CA-2E7C-4042-81C5-34AB7AF359E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1511" name="Rectangle 8">
            <a:extLst>
              <a:ext uri="{FF2B5EF4-FFF2-40B4-BE49-F238E27FC236}">
                <a16:creationId xmlns:a16="http://schemas.microsoft.com/office/drawing/2014/main" id="{1F411F0E-1E3F-47A2-9618-F1D98B0D405E}"/>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1512" name="Rectangle 9">
            <a:extLst>
              <a:ext uri="{FF2B5EF4-FFF2-40B4-BE49-F238E27FC236}">
                <a16:creationId xmlns:a16="http://schemas.microsoft.com/office/drawing/2014/main" id="{9A330A95-07F7-492A-8CC6-3237621E9C84}"/>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1513" name="Rectangle 10">
            <a:extLst>
              <a:ext uri="{FF2B5EF4-FFF2-40B4-BE49-F238E27FC236}">
                <a16:creationId xmlns:a16="http://schemas.microsoft.com/office/drawing/2014/main" id="{F2890DD8-1890-48E7-BF83-3A613EE12D4C}"/>
              </a:ext>
            </a:extLst>
          </p:cNvPr>
          <p:cNvSpPr>
            <a:spLocks noChangeArrowheads="1"/>
          </p:cNvSpPr>
          <p:nvPr/>
        </p:nvSpPr>
        <p:spPr bwMode="auto">
          <a:xfrm>
            <a:off x="6858000" y="990601"/>
            <a:ext cx="3505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GB" altLang="en-US" sz="2400">
                <a:solidFill>
                  <a:srgbClr val="FF0000"/>
                </a:solidFill>
              </a:rPr>
              <a:t>The machine at time ωt=90°. </a:t>
            </a:r>
            <a:endParaRPr lang="en-US" altLang="en-US" sz="2400">
              <a:solidFill>
                <a:srgbClr val="FF0000"/>
              </a:solidFill>
            </a:endParaRPr>
          </a:p>
        </p:txBody>
      </p:sp>
      <p:pic>
        <p:nvPicPr>
          <p:cNvPr id="16" name="Picture 15">
            <a:extLst>
              <a:ext uri="{FF2B5EF4-FFF2-40B4-BE49-F238E27FC236}">
                <a16:creationId xmlns:a16="http://schemas.microsoft.com/office/drawing/2014/main" id="{AD0C3105-C4BD-4269-A2B3-305211CDD456}"/>
              </a:ext>
            </a:extLst>
          </p:cNvPr>
          <p:cNvPicPr/>
          <p:nvPr/>
        </p:nvPicPr>
        <p:blipFill>
          <a:blip r:embed="rId2">
            <a:duotone>
              <a:prstClr val="black"/>
              <a:schemeClr val="tx2">
                <a:tint val="45000"/>
                <a:satMod val="400000"/>
              </a:schemeClr>
            </a:duotone>
          </a:blip>
          <a:srcRect/>
          <a:stretch>
            <a:fillRect/>
          </a:stretch>
        </p:blipFill>
        <p:spPr bwMode="auto">
          <a:xfrm>
            <a:off x="7924800" y="1447800"/>
            <a:ext cx="1888200" cy="1676400"/>
          </a:xfrm>
          <a:prstGeom prst="rect">
            <a:avLst/>
          </a:prstGeom>
          <a:ln>
            <a:noFill/>
          </a:ln>
          <a:effectLst>
            <a:outerShdw blurRad="292100" dist="139700" dir="2700000" algn="tl" rotWithShape="0">
              <a:srgbClr val="333333">
                <a:alpha val="65000"/>
              </a:srgbClr>
            </a:outerShdw>
          </a:effectLst>
        </p:spPr>
      </p:pic>
      <p:pic>
        <p:nvPicPr>
          <p:cNvPr id="21515" name="Picture 16">
            <a:extLst>
              <a:ext uri="{FF2B5EF4-FFF2-40B4-BE49-F238E27FC236}">
                <a16:creationId xmlns:a16="http://schemas.microsoft.com/office/drawing/2014/main" id="{C63BC470-827B-43AC-8708-FC4EB6810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94" t="4585"/>
          <a:stretch>
            <a:fillRect/>
          </a:stretch>
        </p:blipFill>
        <p:spPr bwMode="auto">
          <a:xfrm>
            <a:off x="7772401" y="3200400"/>
            <a:ext cx="26384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a:extLst>
              <a:ext uri="{FF2B5EF4-FFF2-40B4-BE49-F238E27FC236}">
                <a16:creationId xmlns:a16="http://schemas.microsoft.com/office/drawing/2014/main" id="{8F49251B-5BFD-4D63-B4AB-FF5595E1E710}"/>
              </a:ext>
            </a:extLst>
          </p:cNvPr>
          <p:cNvPicPr/>
          <p:nvPr/>
        </p:nvPicPr>
        <p:blipFill>
          <a:blip r:embed="rId4">
            <a:duotone>
              <a:prstClr val="black"/>
              <a:schemeClr val="accent1">
                <a:tint val="45000"/>
                <a:satMod val="400000"/>
              </a:schemeClr>
            </a:duotone>
          </a:blip>
          <a:srcRect/>
          <a:stretch>
            <a:fillRect/>
          </a:stretch>
        </p:blipFill>
        <p:spPr bwMode="auto">
          <a:xfrm>
            <a:off x="7772400" y="5334000"/>
            <a:ext cx="2438400" cy="12954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a:extLst>
              <a:ext uri="{FF2B5EF4-FFF2-40B4-BE49-F238E27FC236}">
                <a16:creationId xmlns:a16="http://schemas.microsoft.com/office/drawing/2014/main" id="{AEE2B5C6-A9F1-4FB3-BB9B-B4111CB6DBAA}"/>
              </a:ext>
            </a:extLst>
          </p:cNvPr>
          <p:cNvSpPr>
            <a:spLocks noGrp="1"/>
          </p:cNvSpPr>
          <p:nvPr>
            <p:ph type="title"/>
          </p:nvPr>
        </p:nvSpPr>
        <p:spPr>
          <a:xfrm>
            <a:off x="2055628" y="876300"/>
            <a:ext cx="7772400" cy="685800"/>
          </a:xfrm>
        </p:spPr>
        <p:txBody>
          <a:bodyPr/>
          <a:lstStyle/>
          <a:p>
            <a:pPr algn="ctr" eaLnBrk="1" hangingPunct="1"/>
            <a:r>
              <a:rPr lang="en-US" altLang="en-US" sz="3200" dirty="0"/>
              <a:t>Problems with Commutation in Real Machines</a:t>
            </a:r>
          </a:p>
        </p:txBody>
      </p:sp>
      <p:sp>
        <p:nvSpPr>
          <p:cNvPr id="21508" name="Content Placeholder 2">
            <a:extLst>
              <a:ext uri="{FF2B5EF4-FFF2-40B4-BE49-F238E27FC236}">
                <a16:creationId xmlns:a16="http://schemas.microsoft.com/office/drawing/2014/main" id="{9F5E94F8-1F7D-4F12-B753-17B61192294F}"/>
              </a:ext>
            </a:extLst>
          </p:cNvPr>
          <p:cNvSpPr>
            <a:spLocks noGrp="1"/>
          </p:cNvSpPr>
          <p:nvPr>
            <p:ph sz="quarter" idx="1"/>
          </p:nvPr>
        </p:nvSpPr>
        <p:spPr>
          <a:xfrm>
            <a:off x="531627" y="1447800"/>
            <a:ext cx="4040373" cy="5029200"/>
          </a:xfrm>
        </p:spPr>
        <p:txBody>
          <a:bodyPr/>
          <a:lstStyle/>
          <a:p>
            <a:pPr algn="just" eaLnBrk="1" hangingPunct="1">
              <a:lnSpc>
                <a:spcPct val="90000"/>
              </a:lnSpc>
              <a:defRPr/>
            </a:pPr>
            <a:r>
              <a:rPr lang="en-US" dirty="0">
                <a:solidFill>
                  <a:srgbClr val="0070C0"/>
                </a:solidFill>
              </a:rPr>
              <a:t>Armature reaction</a:t>
            </a:r>
          </a:p>
          <a:p>
            <a:pPr algn="just" eaLnBrk="1" hangingPunct="1">
              <a:lnSpc>
                <a:spcPct val="90000"/>
              </a:lnSpc>
              <a:buFont typeface="Wingdings 2" panose="05020102010507070707" pitchFamily="18" charset="2"/>
              <a:buNone/>
              <a:defRPr/>
            </a:pPr>
            <a:r>
              <a:rPr lang="en-US" dirty="0">
                <a:solidFill>
                  <a:srgbClr val="0070C0"/>
                </a:solidFill>
              </a:rPr>
              <a:t>The current though the</a:t>
            </a:r>
          </a:p>
          <a:p>
            <a:pPr algn="just" eaLnBrk="1" hangingPunct="1">
              <a:lnSpc>
                <a:spcPct val="90000"/>
              </a:lnSpc>
              <a:buFont typeface="Wingdings 2" panose="05020102010507070707" pitchFamily="18" charset="2"/>
              <a:buNone/>
              <a:defRPr/>
            </a:pPr>
            <a:r>
              <a:rPr lang="en-US" dirty="0">
                <a:solidFill>
                  <a:srgbClr val="0070C0"/>
                </a:solidFill>
              </a:rPr>
              <a:t>armature  conductors set</a:t>
            </a:r>
          </a:p>
          <a:p>
            <a:pPr algn="just" eaLnBrk="1" hangingPunct="1">
              <a:lnSpc>
                <a:spcPct val="90000"/>
              </a:lnSpc>
              <a:buFont typeface="Wingdings 2" panose="05020102010507070707" pitchFamily="18" charset="2"/>
              <a:buNone/>
              <a:defRPr/>
            </a:pPr>
            <a:r>
              <a:rPr lang="en-US" dirty="0">
                <a:solidFill>
                  <a:srgbClr val="0070C0"/>
                </a:solidFill>
              </a:rPr>
              <a:t>up a magnetic field</a:t>
            </a:r>
          </a:p>
          <a:p>
            <a:pPr algn="just" eaLnBrk="1" hangingPunct="1">
              <a:lnSpc>
                <a:spcPct val="90000"/>
              </a:lnSpc>
              <a:buFont typeface="Wingdings 2" panose="05020102010507070707" pitchFamily="18" charset="2"/>
              <a:buNone/>
              <a:defRPr/>
            </a:pPr>
            <a:r>
              <a:rPr lang="en-US" dirty="0">
                <a:solidFill>
                  <a:srgbClr val="0070C0"/>
                </a:solidFill>
              </a:rPr>
              <a:t>surrounding  it which</a:t>
            </a:r>
          </a:p>
          <a:p>
            <a:pPr algn="just" eaLnBrk="1" hangingPunct="1">
              <a:lnSpc>
                <a:spcPct val="90000"/>
              </a:lnSpc>
              <a:buFont typeface="Wingdings 2" panose="05020102010507070707" pitchFamily="18" charset="2"/>
              <a:buNone/>
              <a:defRPr/>
            </a:pPr>
            <a:r>
              <a:rPr lang="en-US" dirty="0">
                <a:solidFill>
                  <a:srgbClr val="0070C0"/>
                </a:solidFill>
              </a:rPr>
              <a:t>has the following effects</a:t>
            </a:r>
          </a:p>
          <a:p>
            <a:pPr lvl="1" algn="just" eaLnBrk="1" hangingPunct="1">
              <a:lnSpc>
                <a:spcPct val="90000"/>
              </a:lnSpc>
              <a:defRPr/>
            </a:pPr>
            <a:r>
              <a:rPr lang="en-US" dirty="0">
                <a:solidFill>
                  <a:schemeClr val="accent2">
                    <a:lumMod val="75000"/>
                  </a:schemeClr>
                </a:solidFill>
              </a:rPr>
              <a:t>Weakens the main flux</a:t>
            </a:r>
          </a:p>
          <a:p>
            <a:pPr lvl="1" algn="just" eaLnBrk="1" hangingPunct="1">
              <a:lnSpc>
                <a:spcPct val="90000"/>
              </a:lnSpc>
              <a:defRPr/>
            </a:pPr>
            <a:r>
              <a:rPr lang="en-US" dirty="0">
                <a:solidFill>
                  <a:schemeClr val="accent2">
                    <a:lumMod val="75000"/>
                  </a:schemeClr>
                </a:solidFill>
              </a:rPr>
              <a:t>Distorts the main flux</a:t>
            </a:r>
          </a:p>
          <a:p>
            <a:pPr lvl="1" algn="just" eaLnBrk="1" hangingPunct="1">
              <a:lnSpc>
                <a:spcPct val="90000"/>
              </a:lnSpc>
              <a:defRPr/>
            </a:pPr>
            <a:r>
              <a:rPr lang="en-US" dirty="0">
                <a:solidFill>
                  <a:schemeClr val="accent2">
                    <a:lumMod val="75000"/>
                  </a:schemeClr>
                </a:solidFill>
              </a:rPr>
              <a:t>Neutral plan shift</a:t>
            </a:r>
          </a:p>
          <a:p>
            <a:pPr algn="just" eaLnBrk="1" hangingPunct="1">
              <a:lnSpc>
                <a:spcPct val="90000"/>
              </a:lnSpc>
              <a:buFont typeface="Wingdings 2" panose="05020102010507070707" pitchFamily="18" charset="2"/>
              <a:buNone/>
              <a:defRPr/>
            </a:pPr>
            <a:endParaRPr lang="en-US" sz="1100" b="1" dirty="0"/>
          </a:p>
          <a:p>
            <a:pPr algn="just" eaLnBrk="1" hangingPunct="1">
              <a:lnSpc>
                <a:spcPct val="90000"/>
              </a:lnSpc>
              <a:buFont typeface="Wingdings 2" panose="05020102010507070707" pitchFamily="18" charset="2"/>
              <a:buNone/>
              <a:defRPr/>
            </a:pPr>
            <a:endParaRPr lang="en-US" b="1" dirty="0"/>
          </a:p>
        </p:txBody>
      </p:sp>
      <p:sp>
        <p:nvSpPr>
          <p:cNvPr id="22533" name="Rectangle 4">
            <a:extLst>
              <a:ext uri="{FF2B5EF4-FFF2-40B4-BE49-F238E27FC236}">
                <a16:creationId xmlns:a16="http://schemas.microsoft.com/office/drawing/2014/main" id="{9940D624-AAC4-4BB1-8F24-4E02780DCF2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2534" name="Rectangle 6">
            <a:extLst>
              <a:ext uri="{FF2B5EF4-FFF2-40B4-BE49-F238E27FC236}">
                <a16:creationId xmlns:a16="http://schemas.microsoft.com/office/drawing/2014/main" id="{A1672B06-9A68-4BD7-B35F-03CA696DEEF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2535" name="Rectangle 8">
            <a:extLst>
              <a:ext uri="{FF2B5EF4-FFF2-40B4-BE49-F238E27FC236}">
                <a16:creationId xmlns:a16="http://schemas.microsoft.com/office/drawing/2014/main" id="{81E11F35-112E-467A-8B2A-D6A8FCC88D4F}"/>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2536" name="Rectangle 9">
            <a:extLst>
              <a:ext uri="{FF2B5EF4-FFF2-40B4-BE49-F238E27FC236}">
                <a16:creationId xmlns:a16="http://schemas.microsoft.com/office/drawing/2014/main" id="{13B63E7B-1C91-473F-B686-A6836E4D34ED}"/>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3" name="Picture 12">
            <a:extLst>
              <a:ext uri="{FF2B5EF4-FFF2-40B4-BE49-F238E27FC236}">
                <a16:creationId xmlns:a16="http://schemas.microsoft.com/office/drawing/2014/main" id="{663DC381-8118-4B2F-8F88-6EC41017A468}"/>
              </a:ext>
            </a:extLst>
          </p:cNvPr>
          <p:cNvPicPr/>
          <p:nvPr/>
        </p:nvPicPr>
        <p:blipFill>
          <a:blip r:embed="rId2">
            <a:duotone>
              <a:prstClr val="black"/>
              <a:schemeClr val="accent1">
                <a:tint val="45000"/>
                <a:satMod val="400000"/>
              </a:schemeClr>
            </a:duotone>
          </a:blip>
          <a:srcRect/>
          <a:stretch>
            <a:fillRect/>
          </a:stretch>
        </p:blipFill>
        <p:spPr bwMode="auto">
          <a:xfrm>
            <a:off x="6096000" y="1562100"/>
            <a:ext cx="5130211" cy="502919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le 1">
            <a:extLst>
              <a:ext uri="{FF2B5EF4-FFF2-40B4-BE49-F238E27FC236}">
                <a16:creationId xmlns:a16="http://schemas.microsoft.com/office/drawing/2014/main" id="{C4C4462E-75FC-489A-A213-4C51343C16A3}"/>
              </a:ext>
            </a:extLst>
          </p:cNvPr>
          <p:cNvSpPr>
            <a:spLocks noGrp="1"/>
          </p:cNvSpPr>
          <p:nvPr>
            <p:ph type="title"/>
          </p:nvPr>
        </p:nvSpPr>
        <p:spPr>
          <a:xfrm>
            <a:off x="2417135" y="724274"/>
            <a:ext cx="7772400" cy="685800"/>
          </a:xfrm>
        </p:spPr>
        <p:txBody>
          <a:bodyPr/>
          <a:lstStyle/>
          <a:p>
            <a:pPr algn="ctr" eaLnBrk="1" hangingPunct="1"/>
            <a:r>
              <a:rPr lang="en-US" altLang="en-US" sz="3200" dirty="0"/>
              <a:t>Problems with Commutation in Real Machines</a:t>
            </a:r>
          </a:p>
        </p:txBody>
      </p:sp>
      <p:sp>
        <p:nvSpPr>
          <p:cNvPr id="23556" name="Content Placeholder 2">
            <a:extLst>
              <a:ext uri="{FF2B5EF4-FFF2-40B4-BE49-F238E27FC236}">
                <a16:creationId xmlns:a16="http://schemas.microsoft.com/office/drawing/2014/main" id="{3DECB7BE-566A-43EA-AB62-7462DF807EAF}"/>
              </a:ext>
            </a:extLst>
          </p:cNvPr>
          <p:cNvSpPr>
            <a:spLocks noGrp="1"/>
          </p:cNvSpPr>
          <p:nvPr>
            <p:ph sz="quarter" idx="1"/>
          </p:nvPr>
        </p:nvSpPr>
        <p:spPr>
          <a:xfrm>
            <a:off x="2209800" y="1447800"/>
            <a:ext cx="7848600" cy="1447800"/>
          </a:xfrm>
        </p:spPr>
        <p:txBody>
          <a:bodyPr/>
          <a:lstStyle/>
          <a:p>
            <a:pPr algn="just" eaLnBrk="1" hangingPunct="1">
              <a:lnSpc>
                <a:spcPct val="90000"/>
              </a:lnSpc>
            </a:pPr>
            <a:r>
              <a:rPr lang="en-US" altLang="en-US" b="1">
                <a:solidFill>
                  <a:srgbClr val="0070C0"/>
                </a:solidFill>
              </a:rPr>
              <a:t>L(di/dt) Voltage</a:t>
            </a:r>
          </a:p>
          <a:p>
            <a:pPr algn="just" eaLnBrk="1" hangingPunct="1">
              <a:lnSpc>
                <a:spcPct val="90000"/>
              </a:lnSpc>
              <a:buFont typeface="Wingdings 2" panose="05020102010507070707" pitchFamily="18" charset="2"/>
              <a:buNone/>
            </a:pPr>
            <a:r>
              <a:rPr lang="en-US" altLang="en-US" b="1"/>
              <a:t>Occurs in the commutator segments being shorted</a:t>
            </a:r>
          </a:p>
          <a:p>
            <a:pPr algn="just" eaLnBrk="1" hangingPunct="1">
              <a:lnSpc>
                <a:spcPct val="90000"/>
              </a:lnSpc>
              <a:buFont typeface="Wingdings 2" panose="05020102010507070707" pitchFamily="18" charset="2"/>
              <a:buNone/>
            </a:pPr>
            <a:r>
              <a:rPr lang="en-US" altLang="en-US" b="1"/>
              <a:t>out by the brushes &gt; inductive kick</a:t>
            </a:r>
          </a:p>
        </p:txBody>
      </p:sp>
      <p:sp>
        <p:nvSpPr>
          <p:cNvPr id="23557" name="Rectangle 4">
            <a:extLst>
              <a:ext uri="{FF2B5EF4-FFF2-40B4-BE49-F238E27FC236}">
                <a16:creationId xmlns:a16="http://schemas.microsoft.com/office/drawing/2014/main" id="{4F14954A-E0F2-432B-A106-C1156BFF06F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3558" name="Rectangle 6">
            <a:extLst>
              <a:ext uri="{FF2B5EF4-FFF2-40B4-BE49-F238E27FC236}">
                <a16:creationId xmlns:a16="http://schemas.microsoft.com/office/drawing/2014/main" id="{86E70A5F-C20B-4CBE-9740-4C6B09C2F3D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3559" name="Rectangle 8">
            <a:extLst>
              <a:ext uri="{FF2B5EF4-FFF2-40B4-BE49-F238E27FC236}">
                <a16:creationId xmlns:a16="http://schemas.microsoft.com/office/drawing/2014/main" id="{9A429AAB-1961-483F-AC66-1831357C5343}"/>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3560" name="Rectangle 9">
            <a:extLst>
              <a:ext uri="{FF2B5EF4-FFF2-40B4-BE49-F238E27FC236}">
                <a16:creationId xmlns:a16="http://schemas.microsoft.com/office/drawing/2014/main" id="{7DE61575-5469-4D5F-96F9-020BA62C796E}"/>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3561" name="Picture 9">
            <a:extLst>
              <a:ext uri="{FF2B5EF4-FFF2-40B4-BE49-F238E27FC236}">
                <a16:creationId xmlns:a16="http://schemas.microsoft.com/office/drawing/2014/main" id="{FFFB6280-EDE3-4E2A-90D5-DBC2C713AE71}"/>
              </a:ext>
            </a:extLst>
          </p:cNvPr>
          <p:cNvPicPr>
            <a:picLocks noChangeAspect="1" noChangeArrowheads="1"/>
          </p:cNvPicPr>
          <p:nvPr/>
        </p:nvPicPr>
        <p:blipFill>
          <a:blip r:embed="rId2">
            <a:lum contrast="20000"/>
            <a:extLst>
              <a:ext uri="{28A0092B-C50C-407E-A947-70E740481C1C}">
                <a14:useLocalDpi xmlns:a14="http://schemas.microsoft.com/office/drawing/2010/main" val="0"/>
              </a:ext>
            </a:extLst>
          </a:blip>
          <a:srcRect/>
          <a:stretch>
            <a:fillRect/>
          </a:stretch>
        </p:blipFill>
        <p:spPr bwMode="auto">
          <a:xfrm rot="-60000">
            <a:off x="6124575" y="3003551"/>
            <a:ext cx="37528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TextBox 10">
            <a:extLst>
              <a:ext uri="{FF2B5EF4-FFF2-40B4-BE49-F238E27FC236}">
                <a16:creationId xmlns:a16="http://schemas.microsoft.com/office/drawing/2014/main" id="{EF81835C-09E9-474C-9A42-08A1E6E20684}"/>
              </a:ext>
            </a:extLst>
          </p:cNvPr>
          <p:cNvSpPr txBox="1">
            <a:spLocks noChangeArrowheads="1"/>
          </p:cNvSpPr>
          <p:nvPr/>
        </p:nvSpPr>
        <p:spPr bwMode="auto">
          <a:xfrm>
            <a:off x="1828800" y="3352801"/>
            <a:ext cx="4191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2400">
                <a:latin typeface="Arial" panose="020B0604020202020204" pitchFamily="34" charset="0"/>
              </a:rPr>
              <a:t>These effects causes</a:t>
            </a:r>
          </a:p>
          <a:p>
            <a:pPr lvl="1" eaLnBrk="1" hangingPunct="1">
              <a:spcBef>
                <a:spcPct val="0"/>
              </a:spcBef>
              <a:buClrTx/>
              <a:buSzTx/>
              <a:buFont typeface="Arial" panose="020B0604020202020204" pitchFamily="34" charset="0"/>
              <a:buChar char="•"/>
            </a:pPr>
            <a:r>
              <a:rPr lang="en-US" altLang="en-US">
                <a:solidFill>
                  <a:schemeClr val="accent2"/>
                </a:solidFill>
                <a:latin typeface="Arial" panose="020B0604020202020204" pitchFamily="34" charset="0"/>
              </a:rPr>
              <a:t> Arcing and sparking at the brushes</a:t>
            </a:r>
          </a:p>
          <a:p>
            <a:pPr lvl="1" eaLnBrk="1" hangingPunct="1">
              <a:spcBef>
                <a:spcPct val="0"/>
              </a:spcBef>
              <a:buClrTx/>
              <a:buSzTx/>
              <a:buFont typeface="Arial" panose="020B0604020202020204" pitchFamily="34" charset="0"/>
              <a:buChar char="•"/>
            </a:pPr>
            <a:r>
              <a:rPr lang="en-US" altLang="en-US">
                <a:solidFill>
                  <a:schemeClr val="accent2"/>
                </a:solidFill>
                <a:latin typeface="Arial" panose="020B0604020202020204" pitchFamily="34" charset="0"/>
              </a:rPr>
              <a:t>Flashover </a:t>
            </a:r>
          </a:p>
          <a:p>
            <a:pPr lvl="2" eaLnBrk="1" hangingPunct="1">
              <a:spcBef>
                <a:spcPct val="0"/>
              </a:spcBef>
              <a:buClrTx/>
              <a:buSzTx/>
              <a:buFont typeface="Arial" panose="020B0604020202020204" pitchFamily="34" charset="0"/>
              <a:buChar char="•"/>
            </a:pPr>
            <a:r>
              <a:rPr lang="en-US" altLang="en-US" sz="2400">
                <a:solidFill>
                  <a:schemeClr val="accent2"/>
                </a:solidFill>
                <a:latin typeface="Arial" panose="020B0604020202020204" pitchFamily="34" charset="0"/>
              </a:rPr>
              <a:t>Reduce brush life</a:t>
            </a:r>
          </a:p>
          <a:p>
            <a:pPr lvl="2" eaLnBrk="1" hangingPunct="1">
              <a:spcBef>
                <a:spcPct val="0"/>
              </a:spcBef>
              <a:buClrTx/>
              <a:buSzTx/>
              <a:buFont typeface="Arial" panose="020B0604020202020204" pitchFamily="34" charset="0"/>
              <a:buChar char="•"/>
            </a:pPr>
            <a:r>
              <a:rPr lang="en-US" altLang="en-US" sz="2400">
                <a:solidFill>
                  <a:schemeClr val="accent2"/>
                </a:solidFill>
                <a:latin typeface="Arial" panose="020B0604020202020204" pitchFamily="34" charset="0"/>
              </a:rPr>
              <a:t>Pitting of the commutator segment</a:t>
            </a:r>
          </a:p>
          <a:p>
            <a:pPr lvl="1" eaLnBrk="1" hangingPunct="1">
              <a:spcBef>
                <a:spcPct val="0"/>
              </a:spcBef>
              <a:buClrTx/>
              <a:buSzTx/>
              <a:buFont typeface="Arial" panose="020B0604020202020204" pitchFamily="34" charset="0"/>
              <a:buChar char="•"/>
            </a:pPr>
            <a:endParaRPr lang="en-US" altLang="en-US">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1">
            <a:extLst>
              <a:ext uri="{FF2B5EF4-FFF2-40B4-BE49-F238E27FC236}">
                <a16:creationId xmlns:a16="http://schemas.microsoft.com/office/drawing/2014/main" id="{EB7E7D9B-35E7-4A68-9C58-9DB4716EB330}"/>
              </a:ext>
            </a:extLst>
          </p:cNvPr>
          <p:cNvSpPr>
            <a:spLocks noGrp="1"/>
          </p:cNvSpPr>
          <p:nvPr>
            <p:ph type="title"/>
          </p:nvPr>
        </p:nvSpPr>
        <p:spPr>
          <a:xfrm>
            <a:off x="1991833" y="996987"/>
            <a:ext cx="7772400" cy="685800"/>
          </a:xfrm>
        </p:spPr>
        <p:txBody>
          <a:bodyPr/>
          <a:lstStyle/>
          <a:p>
            <a:pPr algn="ctr" eaLnBrk="1" hangingPunct="1"/>
            <a:r>
              <a:rPr lang="en-US" altLang="en-US" sz="3200" dirty="0"/>
              <a:t>Solutions to Problems with Commutation in Real Machines</a:t>
            </a:r>
          </a:p>
        </p:txBody>
      </p:sp>
      <p:sp>
        <p:nvSpPr>
          <p:cNvPr id="24580" name="Content Placeholder 2">
            <a:extLst>
              <a:ext uri="{FF2B5EF4-FFF2-40B4-BE49-F238E27FC236}">
                <a16:creationId xmlns:a16="http://schemas.microsoft.com/office/drawing/2014/main" id="{D73A41DD-99CA-480F-938A-289215343F54}"/>
              </a:ext>
            </a:extLst>
          </p:cNvPr>
          <p:cNvSpPr>
            <a:spLocks noGrp="1"/>
          </p:cNvSpPr>
          <p:nvPr>
            <p:ph sz="quarter" idx="1"/>
          </p:nvPr>
        </p:nvSpPr>
        <p:spPr>
          <a:xfrm>
            <a:off x="1524001" y="2266507"/>
            <a:ext cx="7848600" cy="1447800"/>
          </a:xfrm>
        </p:spPr>
        <p:txBody>
          <a:bodyPr/>
          <a:lstStyle/>
          <a:p>
            <a:pPr eaLnBrk="1" hangingPunct="1"/>
            <a:r>
              <a:rPr lang="en-US" altLang="en-US" b="1" dirty="0"/>
              <a:t>Brush shifting</a:t>
            </a:r>
          </a:p>
          <a:p>
            <a:pPr eaLnBrk="1" hangingPunct="1"/>
            <a:r>
              <a:rPr lang="en-US" altLang="en-US" b="1" dirty="0"/>
              <a:t>Commutating poles or interpoles</a:t>
            </a:r>
          </a:p>
          <a:p>
            <a:pPr eaLnBrk="1" hangingPunct="1"/>
            <a:r>
              <a:rPr lang="en-US" altLang="en-US" b="1" dirty="0"/>
              <a:t>Compensating windings</a:t>
            </a:r>
          </a:p>
        </p:txBody>
      </p:sp>
      <p:sp>
        <p:nvSpPr>
          <p:cNvPr id="24581" name="Rectangle 4">
            <a:extLst>
              <a:ext uri="{FF2B5EF4-FFF2-40B4-BE49-F238E27FC236}">
                <a16:creationId xmlns:a16="http://schemas.microsoft.com/office/drawing/2014/main" id="{868CBDD7-2A5E-495A-8176-5E3B4A46B34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4582" name="Rectangle 6">
            <a:extLst>
              <a:ext uri="{FF2B5EF4-FFF2-40B4-BE49-F238E27FC236}">
                <a16:creationId xmlns:a16="http://schemas.microsoft.com/office/drawing/2014/main" id="{B5EAD518-6688-4DCE-8816-280F9E6C9E0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4583" name="Rectangle 8">
            <a:extLst>
              <a:ext uri="{FF2B5EF4-FFF2-40B4-BE49-F238E27FC236}">
                <a16:creationId xmlns:a16="http://schemas.microsoft.com/office/drawing/2014/main" id="{81C19C3F-A7C5-4E20-9F3A-9D2B17BCF752}"/>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4584" name="Rectangle 9">
            <a:extLst>
              <a:ext uri="{FF2B5EF4-FFF2-40B4-BE49-F238E27FC236}">
                <a16:creationId xmlns:a16="http://schemas.microsoft.com/office/drawing/2014/main" id="{36FDD2CF-8638-4487-8EB4-6048F75F7438}"/>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1">
            <a:extLst>
              <a:ext uri="{FF2B5EF4-FFF2-40B4-BE49-F238E27FC236}">
                <a16:creationId xmlns:a16="http://schemas.microsoft.com/office/drawing/2014/main" id="{E0BC1F09-B7BC-4152-B92F-14B5BEA216DB}"/>
              </a:ext>
            </a:extLst>
          </p:cNvPr>
          <p:cNvSpPr>
            <a:spLocks noGrp="1"/>
          </p:cNvSpPr>
          <p:nvPr>
            <p:ph type="title"/>
          </p:nvPr>
        </p:nvSpPr>
        <p:spPr>
          <a:xfrm>
            <a:off x="2438400" y="533400"/>
            <a:ext cx="7772400" cy="685800"/>
          </a:xfrm>
        </p:spPr>
        <p:txBody>
          <a:bodyPr/>
          <a:lstStyle/>
          <a:p>
            <a:pPr algn="ctr" eaLnBrk="1" hangingPunct="1"/>
            <a:r>
              <a:rPr lang="en-US" altLang="en-US" sz="3200"/>
              <a:t>Solutions to Problems with Commutation in Real Machines</a:t>
            </a:r>
          </a:p>
        </p:txBody>
      </p:sp>
      <p:sp>
        <p:nvSpPr>
          <p:cNvPr id="25604" name="Content Placeholder 2">
            <a:extLst>
              <a:ext uri="{FF2B5EF4-FFF2-40B4-BE49-F238E27FC236}">
                <a16:creationId xmlns:a16="http://schemas.microsoft.com/office/drawing/2014/main" id="{A34414DA-BCC5-4E8A-BC40-A54677A0CE4F}"/>
              </a:ext>
            </a:extLst>
          </p:cNvPr>
          <p:cNvSpPr>
            <a:spLocks noGrp="1"/>
          </p:cNvSpPr>
          <p:nvPr>
            <p:ph sz="quarter" idx="1"/>
          </p:nvPr>
        </p:nvSpPr>
        <p:spPr>
          <a:xfrm>
            <a:off x="317205" y="1421368"/>
            <a:ext cx="5456274" cy="3200400"/>
          </a:xfrm>
        </p:spPr>
        <p:txBody>
          <a:bodyPr/>
          <a:lstStyle/>
          <a:p>
            <a:pPr eaLnBrk="1" hangingPunct="1"/>
            <a:r>
              <a:rPr lang="en-US" altLang="en-US" b="1" dirty="0">
                <a:latin typeface="Arial" panose="020B0604020202020204" pitchFamily="34" charset="0"/>
                <a:cs typeface="Arial" panose="020B0604020202020204" pitchFamily="34" charset="0"/>
              </a:rPr>
              <a:t>Commutating poles or interpoles</a:t>
            </a:r>
          </a:p>
          <a:p>
            <a:pPr eaLnBrk="1" hangingPunct="1"/>
            <a:r>
              <a:rPr lang="en-US" altLang="en-US" dirty="0">
                <a:latin typeface="Arial" panose="020B0604020202020204" pitchFamily="34" charset="0"/>
                <a:cs typeface="Arial" panose="020B0604020202020204" pitchFamily="34" charset="0"/>
              </a:rPr>
              <a:t>It cancels the voltage in the coils undergoing commutation</a:t>
            </a:r>
          </a:p>
          <a:p>
            <a:pPr eaLnBrk="1" hangingPunct="1"/>
            <a:r>
              <a:rPr lang="en-US" altLang="en-US" dirty="0">
                <a:latin typeface="Arial" panose="020B0604020202020204" pitchFamily="34" charset="0"/>
                <a:cs typeface="Arial" panose="020B0604020202020204" pitchFamily="34" charset="0"/>
              </a:rPr>
              <a:t>interpole windings are in series with the rotor windings</a:t>
            </a:r>
          </a:p>
          <a:p>
            <a:pPr eaLnBrk="1" hangingPunct="1"/>
            <a:r>
              <a:rPr lang="en-US" altLang="en-US" dirty="0">
                <a:latin typeface="Arial" panose="020B0604020202020204" pitchFamily="34" charset="0"/>
                <a:cs typeface="Arial" panose="020B0604020202020204" pitchFamily="34" charset="0"/>
              </a:rPr>
              <a:t>as the rotor current </a:t>
            </a:r>
            <a:r>
              <a:rPr lang="en-US" altLang="en-US" dirty="0" err="1">
                <a:latin typeface="Arial" panose="020B0604020202020204" pitchFamily="34" charset="0"/>
                <a:cs typeface="Arial" panose="020B0604020202020204" pitchFamily="34" charset="0"/>
              </a:rPr>
              <a:t>incleases</a:t>
            </a:r>
            <a:r>
              <a:rPr lang="en-US" altLang="en-US" dirty="0">
                <a:latin typeface="Arial" panose="020B0604020202020204" pitchFamily="34" charset="0"/>
                <a:cs typeface="Arial" panose="020B0604020202020204" pitchFamily="34" charset="0"/>
              </a:rPr>
              <a:t> flux produced by interpole also </a:t>
            </a:r>
            <a:r>
              <a:rPr lang="en-US" altLang="en-US" dirty="0" err="1">
                <a:latin typeface="Arial" panose="020B0604020202020204" pitchFamily="34" charset="0"/>
                <a:cs typeface="Arial" panose="020B0604020202020204" pitchFamily="34" charset="0"/>
              </a:rPr>
              <a:t>inceases</a:t>
            </a:r>
            <a:endParaRPr lang="en-US" altLang="en-US" dirty="0">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 producing an </a:t>
            </a:r>
            <a:r>
              <a:rPr lang="en-US" altLang="en-US" dirty="0" err="1">
                <a:latin typeface="Arial" panose="020B0604020202020204" pitchFamily="34" charset="0"/>
                <a:cs typeface="Arial" panose="020B0604020202020204" pitchFamily="34" charset="0"/>
              </a:rPr>
              <a:t>oppssing</a:t>
            </a:r>
            <a:r>
              <a:rPr lang="en-US" altLang="en-US" dirty="0">
                <a:latin typeface="Arial" panose="020B0604020202020204" pitchFamily="34" charset="0"/>
                <a:cs typeface="Arial" panose="020B0604020202020204" pitchFamily="34" charset="0"/>
              </a:rPr>
              <a:t> effect to that of neutral plan shift</a:t>
            </a:r>
          </a:p>
        </p:txBody>
      </p:sp>
      <p:sp>
        <p:nvSpPr>
          <p:cNvPr id="25605" name="Rectangle 4">
            <a:extLst>
              <a:ext uri="{FF2B5EF4-FFF2-40B4-BE49-F238E27FC236}">
                <a16:creationId xmlns:a16="http://schemas.microsoft.com/office/drawing/2014/main" id="{82CDE176-4BD4-47FB-B08E-5B8512D1B54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5606" name="Rectangle 6">
            <a:extLst>
              <a:ext uri="{FF2B5EF4-FFF2-40B4-BE49-F238E27FC236}">
                <a16:creationId xmlns:a16="http://schemas.microsoft.com/office/drawing/2014/main" id="{83E18323-80F3-486B-8AC5-BF2F9AB84EF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5607" name="Rectangle 8">
            <a:extLst>
              <a:ext uri="{FF2B5EF4-FFF2-40B4-BE49-F238E27FC236}">
                <a16:creationId xmlns:a16="http://schemas.microsoft.com/office/drawing/2014/main" id="{397FF477-830D-4336-973D-5DDB1665FFC8}"/>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5608" name="Rectangle 9">
            <a:extLst>
              <a:ext uri="{FF2B5EF4-FFF2-40B4-BE49-F238E27FC236}">
                <a16:creationId xmlns:a16="http://schemas.microsoft.com/office/drawing/2014/main" id="{A5094FA8-D7E5-42DA-9E36-2E1D65020B95}"/>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9" name="Picture 8">
            <a:extLst>
              <a:ext uri="{FF2B5EF4-FFF2-40B4-BE49-F238E27FC236}">
                <a16:creationId xmlns:a16="http://schemas.microsoft.com/office/drawing/2014/main" id="{AF867F51-16C6-432A-9F46-551A8FEA9576}"/>
              </a:ext>
            </a:extLst>
          </p:cNvPr>
          <p:cNvPicPr/>
          <p:nvPr/>
        </p:nvPicPr>
        <p:blipFill>
          <a:blip r:embed="rId2">
            <a:duotone>
              <a:prstClr val="black"/>
              <a:schemeClr val="tx2">
                <a:tint val="45000"/>
                <a:satMod val="400000"/>
              </a:schemeClr>
            </a:duotone>
          </a:blip>
          <a:srcRect l="2564" t="3579"/>
          <a:stretch>
            <a:fillRect/>
          </a:stretch>
        </p:blipFill>
        <p:spPr bwMode="auto">
          <a:xfrm>
            <a:off x="6677246" y="1883737"/>
            <a:ext cx="4382810" cy="369835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a:extLst>
              <a:ext uri="{FF2B5EF4-FFF2-40B4-BE49-F238E27FC236}">
                <a16:creationId xmlns:a16="http://schemas.microsoft.com/office/drawing/2014/main" id="{54C1FE91-5955-44F2-85B7-0717EAD07D98}"/>
              </a:ext>
            </a:extLst>
          </p:cNvPr>
          <p:cNvSpPr>
            <a:spLocks noGrp="1"/>
          </p:cNvSpPr>
          <p:nvPr>
            <p:ph type="title"/>
          </p:nvPr>
        </p:nvSpPr>
        <p:spPr>
          <a:xfrm>
            <a:off x="2119423" y="762000"/>
            <a:ext cx="7772400" cy="685800"/>
          </a:xfrm>
        </p:spPr>
        <p:txBody>
          <a:bodyPr/>
          <a:lstStyle/>
          <a:p>
            <a:pPr algn="ctr" eaLnBrk="1" hangingPunct="1"/>
            <a:r>
              <a:rPr lang="en-US" altLang="en-US" sz="3200" dirty="0"/>
              <a:t>Solutions to Problems with Commutation in Real Machines</a:t>
            </a:r>
          </a:p>
        </p:txBody>
      </p:sp>
      <p:sp>
        <p:nvSpPr>
          <p:cNvPr id="26628" name="Content Placeholder 2">
            <a:extLst>
              <a:ext uri="{FF2B5EF4-FFF2-40B4-BE49-F238E27FC236}">
                <a16:creationId xmlns:a16="http://schemas.microsoft.com/office/drawing/2014/main" id="{D8433517-9774-4B9B-974B-5822A686818C}"/>
              </a:ext>
            </a:extLst>
          </p:cNvPr>
          <p:cNvSpPr>
            <a:spLocks noGrp="1"/>
          </p:cNvSpPr>
          <p:nvPr>
            <p:ph sz="quarter" idx="1"/>
          </p:nvPr>
        </p:nvSpPr>
        <p:spPr>
          <a:xfrm>
            <a:off x="412898" y="1828800"/>
            <a:ext cx="4953000" cy="3200400"/>
          </a:xfrm>
        </p:spPr>
        <p:txBody>
          <a:bodyPr/>
          <a:lstStyle/>
          <a:p>
            <a:pPr eaLnBrk="1" hangingPunct="1"/>
            <a:r>
              <a:rPr lang="en-US" altLang="en-US" b="1" dirty="0"/>
              <a:t>Compensating winding</a:t>
            </a:r>
          </a:p>
          <a:p>
            <a:pPr eaLnBrk="1" hangingPunct="1"/>
            <a:r>
              <a:rPr lang="en-US" altLang="en-US" dirty="0">
                <a:solidFill>
                  <a:schemeClr val="accent2"/>
                </a:solidFill>
              </a:rPr>
              <a:t>Solves the problem of flux weakening and neutral plane shift</a:t>
            </a:r>
          </a:p>
          <a:p>
            <a:pPr eaLnBrk="1" hangingPunct="1"/>
            <a:r>
              <a:rPr lang="en-US" altLang="en-US" dirty="0">
                <a:solidFill>
                  <a:srgbClr val="0070C0"/>
                </a:solidFill>
              </a:rPr>
              <a:t>Compensating windings are in series with the rotor windings</a:t>
            </a:r>
          </a:p>
          <a:p>
            <a:pPr eaLnBrk="1" hangingPunct="1"/>
            <a:r>
              <a:rPr lang="en-US" altLang="en-US" dirty="0">
                <a:solidFill>
                  <a:schemeClr val="accent2"/>
                </a:solidFill>
              </a:rPr>
              <a:t>placing in slots carved in the faces of the poles parallel to the rotor conductors </a:t>
            </a:r>
          </a:p>
        </p:txBody>
      </p:sp>
      <p:sp>
        <p:nvSpPr>
          <p:cNvPr id="26629" name="Rectangle 4">
            <a:extLst>
              <a:ext uri="{FF2B5EF4-FFF2-40B4-BE49-F238E27FC236}">
                <a16:creationId xmlns:a16="http://schemas.microsoft.com/office/drawing/2014/main" id="{6F1C38E4-3659-41BC-AE24-E30AC0348A2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6630" name="Rectangle 6">
            <a:extLst>
              <a:ext uri="{FF2B5EF4-FFF2-40B4-BE49-F238E27FC236}">
                <a16:creationId xmlns:a16="http://schemas.microsoft.com/office/drawing/2014/main" id="{F5121A14-562A-43B6-A29F-5520A6E7556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6631" name="Rectangle 8">
            <a:extLst>
              <a:ext uri="{FF2B5EF4-FFF2-40B4-BE49-F238E27FC236}">
                <a16:creationId xmlns:a16="http://schemas.microsoft.com/office/drawing/2014/main" id="{2C0FBC02-430A-4336-846A-BF25DCDAB676}"/>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6632" name="Rectangle 9">
            <a:extLst>
              <a:ext uri="{FF2B5EF4-FFF2-40B4-BE49-F238E27FC236}">
                <a16:creationId xmlns:a16="http://schemas.microsoft.com/office/drawing/2014/main" id="{B817B2F5-B7BA-4B14-83D7-DB4679A26048}"/>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10" name="Picture 9">
            <a:extLst>
              <a:ext uri="{FF2B5EF4-FFF2-40B4-BE49-F238E27FC236}">
                <a16:creationId xmlns:a16="http://schemas.microsoft.com/office/drawing/2014/main" id="{1492DCF8-550F-40CC-8834-54CA3E5E9B21}"/>
              </a:ext>
            </a:extLst>
          </p:cNvPr>
          <p:cNvPicPr/>
          <p:nvPr/>
        </p:nvPicPr>
        <p:blipFill>
          <a:blip r:embed="rId2">
            <a:duotone>
              <a:prstClr val="black"/>
              <a:schemeClr val="tx2">
                <a:tint val="45000"/>
                <a:satMod val="400000"/>
              </a:schemeClr>
            </a:duotone>
          </a:blip>
          <a:srcRect l="41286" r="5769" b="52820"/>
          <a:stretch>
            <a:fillRect/>
          </a:stretch>
        </p:blipFill>
        <p:spPr bwMode="auto">
          <a:xfrm>
            <a:off x="7474688" y="1447800"/>
            <a:ext cx="3762154" cy="2475614"/>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B99E979D-5219-4B9C-A980-1290DE8010F8}"/>
              </a:ext>
            </a:extLst>
          </p:cNvPr>
          <p:cNvPicPr/>
          <p:nvPr/>
        </p:nvPicPr>
        <p:blipFill>
          <a:blip r:embed="rId2">
            <a:duotone>
              <a:prstClr val="black"/>
              <a:schemeClr val="tx2">
                <a:tint val="45000"/>
                <a:satMod val="400000"/>
              </a:schemeClr>
            </a:duotone>
          </a:blip>
          <a:srcRect l="23841" t="50000" r="34402" b="7109"/>
          <a:stretch>
            <a:fillRect/>
          </a:stretch>
        </p:blipFill>
        <p:spPr bwMode="auto">
          <a:xfrm>
            <a:off x="7942521" y="4152014"/>
            <a:ext cx="2962939" cy="236574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2248-8E64-8B95-5863-4093FB9E9DB2}"/>
              </a:ext>
            </a:extLst>
          </p:cNvPr>
          <p:cNvSpPr>
            <a:spLocks noGrp="1"/>
          </p:cNvSpPr>
          <p:nvPr>
            <p:ph type="title"/>
          </p:nvPr>
        </p:nvSpPr>
        <p:spPr/>
        <p:txBody>
          <a:bodyPr/>
          <a:lstStyle/>
          <a:p>
            <a:endParaRPr lang="en-IN" dirty="0"/>
          </a:p>
        </p:txBody>
      </p:sp>
      <p:sp>
        <p:nvSpPr>
          <p:cNvPr id="5" name="Slide Number Placeholder 4">
            <a:extLst>
              <a:ext uri="{FF2B5EF4-FFF2-40B4-BE49-F238E27FC236}">
                <a16:creationId xmlns:a16="http://schemas.microsoft.com/office/drawing/2014/main" id="{E9B94890-05C4-6A0D-C653-A09848922AD0}"/>
              </a:ext>
            </a:extLst>
          </p:cNvPr>
          <p:cNvSpPr>
            <a:spLocks noGrp="1"/>
          </p:cNvSpPr>
          <p:nvPr>
            <p:ph type="sldNum" sz="quarter" idx="12"/>
          </p:nvPr>
        </p:nvSpPr>
        <p:spPr/>
        <p:txBody>
          <a:bodyPr/>
          <a:lstStyle/>
          <a:p>
            <a:pPr>
              <a:defRPr/>
            </a:pPr>
            <a:fld id="{2CAEAD87-B00F-40C6-B2B5-EDBAC0055298}" type="slidenum">
              <a:rPr lang="en-US" altLang="en-US" smtClean="0"/>
              <a:pPr>
                <a:defRPr/>
              </a:pPr>
              <a:t>37</a:t>
            </a:fld>
            <a:endParaRPr lang="en-US" altLang="en-US"/>
          </a:p>
        </p:txBody>
      </p:sp>
      <p:sp>
        <p:nvSpPr>
          <p:cNvPr id="6" name="Title 1">
            <a:extLst>
              <a:ext uri="{FF2B5EF4-FFF2-40B4-BE49-F238E27FC236}">
                <a16:creationId xmlns:a16="http://schemas.microsoft.com/office/drawing/2014/main" id="{DB194E92-83EC-9720-B1F4-AFA55FD7BFDA}"/>
              </a:ext>
            </a:extLst>
          </p:cNvPr>
          <p:cNvSpPr txBox="1">
            <a:spLocks/>
          </p:cNvSpPr>
          <p:nvPr/>
        </p:nvSpPr>
        <p:spPr>
          <a:xfrm>
            <a:off x="2209800" y="2638647"/>
            <a:ext cx="7772400" cy="68580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3200" dirty="0"/>
              <a:t>DC Motor</a:t>
            </a:r>
          </a:p>
        </p:txBody>
      </p:sp>
    </p:spTree>
    <p:extLst>
      <p:ext uri="{BB962C8B-B14F-4D97-AF65-F5344CB8AC3E}">
        <p14:creationId xmlns:p14="http://schemas.microsoft.com/office/powerpoint/2010/main" val="3519150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BD57F40-F408-4CD8-85B9-11E41D629604}"/>
              </a:ext>
            </a:extLst>
          </p:cNvPr>
          <p:cNvSpPr/>
          <p:nvPr/>
        </p:nvSpPr>
        <p:spPr>
          <a:xfrm>
            <a:off x="6324600" y="3124200"/>
            <a:ext cx="4114800" cy="16002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 name="Rectangle 15">
            <a:extLst>
              <a:ext uri="{FF2B5EF4-FFF2-40B4-BE49-F238E27FC236}">
                <a16:creationId xmlns:a16="http://schemas.microsoft.com/office/drawing/2014/main" id="{9C0C239E-A60B-42A7-AB33-06EF40F9CFFC}"/>
              </a:ext>
            </a:extLst>
          </p:cNvPr>
          <p:cNvSpPr/>
          <p:nvPr/>
        </p:nvSpPr>
        <p:spPr>
          <a:xfrm>
            <a:off x="6324600" y="1905000"/>
            <a:ext cx="4114800" cy="12954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7657" name="Title 1">
            <a:extLst>
              <a:ext uri="{FF2B5EF4-FFF2-40B4-BE49-F238E27FC236}">
                <a16:creationId xmlns:a16="http://schemas.microsoft.com/office/drawing/2014/main" id="{09244782-159F-407F-9781-F52C4C1A66F7}"/>
              </a:ext>
            </a:extLst>
          </p:cNvPr>
          <p:cNvSpPr>
            <a:spLocks noGrp="1"/>
          </p:cNvSpPr>
          <p:nvPr>
            <p:ph type="title"/>
          </p:nvPr>
        </p:nvSpPr>
        <p:spPr>
          <a:xfrm>
            <a:off x="2438400" y="533400"/>
            <a:ext cx="7772400" cy="685800"/>
          </a:xfrm>
        </p:spPr>
        <p:txBody>
          <a:bodyPr/>
          <a:lstStyle/>
          <a:p>
            <a:pPr algn="ctr" eaLnBrk="1" hangingPunct="1"/>
            <a:r>
              <a:rPr lang="en-US" altLang="en-US" sz="3200"/>
              <a:t>The Internal Generated Voltage Equations Of Real Machines</a:t>
            </a:r>
          </a:p>
        </p:txBody>
      </p:sp>
      <p:sp>
        <p:nvSpPr>
          <p:cNvPr id="21508" name="Content Placeholder 2">
            <a:extLst>
              <a:ext uri="{FF2B5EF4-FFF2-40B4-BE49-F238E27FC236}">
                <a16:creationId xmlns:a16="http://schemas.microsoft.com/office/drawing/2014/main" id="{E91750EE-772B-4428-8BD5-C94B4D8EA4B7}"/>
              </a:ext>
            </a:extLst>
          </p:cNvPr>
          <p:cNvSpPr>
            <a:spLocks noGrp="1"/>
          </p:cNvSpPr>
          <p:nvPr>
            <p:ph sz="quarter" idx="1"/>
          </p:nvPr>
        </p:nvSpPr>
        <p:spPr>
          <a:xfrm>
            <a:off x="2209800" y="1447800"/>
            <a:ext cx="4191000" cy="3200400"/>
          </a:xfrm>
        </p:spPr>
        <p:txBody>
          <a:bodyPr/>
          <a:lstStyle/>
          <a:p>
            <a:pPr indent="0">
              <a:spcBef>
                <a:spcPts val="0"/>
              </a:spcBef>
              <a:buNone/>
              <a:defRPr/>
            </a:pPr>
            <a:r>
              <a:rPr lang="en-US" sz="2400" b="1" dirty="0"/>
              <a:t>The induced voltage in any given machine depends on three factors:</a:t>
            </a:r>
          </a:p>
          <a:p>
            <a:pPr eaLnBrk="1" hangingPunct="1">
              <a:defRPr/>
            </a:pPr>
            <a:r>
              <a:rPr lang="en-US" dirty="0">
                <a:solidFill>
                  <a:srgbClr val="0070C0"/>
                </a:solidFill>
              </a:rPr>
              <a:t>The flux Φ in the machine</a:t>
            </a:r>
          </a:p>
          <a:p>
            <a:pPr eaLnBrk="1" hangingPunct="1">
              <a:defRPr/>
            </a:pPr>
            <a:r>
              <a:rPr lang="en-US" dirty="0">
                <a:solidFill>
                  <a:srgbClr val="0070C0"/>
                </a:solidFill>
              </a:rPr>
              <a:t>The speed ω of the machine's rotor</a:t>
            </a:r>
          </a:p>
          <a:p>
            <a:pPr eaLnBrk="1" hangingPunct="1">
              <a:defRPr/>
            </a:pPr>
            <a:r>
              <a:rPr lang="en-US" dirty="0">
                <a:solidFill>
                  <a:srgbClr val="0070C0"/>
                </a:solidFill>
              </a:rPr>
              <a:t>A constant depending on the construction of the machine</a:t>
            </a:r>
          </a:p>
        </p:txBody>
      </p:sp>
      <p:sp>
        <p:nvSpPr>
          <p:cNvPr id="27659" name="Rectangle 4">
            <a:extLst>
              <a:ext uri="{FF2B5EF4-FFF2-40B4-BE49-F238E27FC236}">
                <a16:creationId xmlns:a16="http://schemas.microsoft.com/office/drawing/2014/main" id="{259E28AA-B13C-457E-A0B3-8729719EB9E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7660" name="Rectangle 6">
            <a:extLst>
              <a:ext uri="{FF2B5EF4-FFF2-40B4-BE49-F238E27FC236}">
                <a16:creationId xmlns:a16="http://schemas.microsoft.com/office/drawing/2014/main" id="{6650BF30-15BE-4372-BBB8-E42B7A81688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7661" name="Rectangle 8">
            <a:extLst>
              <a:ext uri="{FF2B5EF4-FFF2-40B4-BE49-F238E27FC236}">
                <a16:creationId xmlns:a16="http://schemas.microsoft.com/office/drawing/2014/main" id="{703F68F6-32B8-4DD8-8305-5719A9062050}"/>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7662" name="Rectangle 9">
            <a:extLst>
              <a:ext uri="{FF2B5EF4-FFF2-40B4-BE49-F238E27FC236}">
                <a16:creationId xmlns:a16="http://schemas.microsoft.com/office/drawing/2014/main" id="{ACE45564-DE3A-4D39-828B-A89E54C2D549}"/>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663" name="Rectangle 11">
            <a:extLst>
              <a:ext uri="{FF2B5EF4-FFF2-40B4-BE49-F238E27FC236}">
                <a16:creationId xmlns:a16="http://schemas.microsoft.com/office/drawing/2014/main" id="{2DE943BC-76FF-404A-A5F4-F51698E1961D}"/>
              </a:ext>
            </a:extLst>
          </p:cNvPr>
          <p:cNvSpPr>
            <a:spLocks noChangeArrowheads="1"/>
          </p:cNvSpPr>
          <p:nvPr/>
        </p:nvSpPr>
        <p:spPr bwMode="auto">
          <a:xfrm>
            <a:off x="2057400" y="5334001"/>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Arial" panose="020B0604020202020204" pitchFamily="34" charset="0"/>
              </a:rPr>
              <a:t>The voltage out of a real machine = </a:t>
            </a:r>
            <a:r>
              <a:rPr lang="en-US" altLang="en-US" sz="1800">
                <a:solidFill>
                  <a:srgbClr val="FF0000"/>
                </a:solidFill>
                <a:latin typeface="Arial" panose="020B0604020202020204" pitchFamily="34" charset="0"/>
              </a:rPr>
              <a:t>the number of conductors</a:t>
            </a:r>
            <a:r>
              <a:rPr lang="en-US" altLang="en-US" sz="1800">
                <a:latin typeface="Arial" panose="020B0604020202020204" pitchFamily="34" charset="0"/>
              </a:rPr>
              <a:t> </a:t>
            </a:r>
            <a:r>
              <a:rPr lang="en-US" altLang="en-US" sz="1800">
                <a:solidFill>
                  <a:srgbClr val="FF0000"/>
                </a:solidFill>
                <a:latin typeface="Arial" panose="020B0604020202020204" pitchFamily="34" charset="0"/>
              </a:rPr>
              <a:t>per current path </a:t>
            </a:r>
            <a:r>
              <a:rPr lang="en-US" altLang="en-US" sz="1800">
                <a:latin typeface="Arial" panose="020B0604020202020204" pitchFamily="34" charset="0"/>
              </a:rPr>
              <a:t>x </a:t>
            </a:r>
            <a:r>
              <a:rPr lang="en-US" altLang="en-US" sz="1800">
                <a:solidFill>
                  <a:srgbClr val="FF0000"/>
                </a:solidFill>
                <a:latin typeface="Arial" panose="020B0604020202020204" pitchFamily="34" charset="0"/>
              </a:rPr>
              <a:t>the voltage on each conductor</a:t>
            </a:r>
          </a:p>
        </p:txBody>
      </p:sp>
      <p:sp>
        <p:nvSpPr>
          <p:cNvPr id="27664" name="Rectangle 2">
            <a:extLst>
              <a:ext uri="{FF2B5EF4-FFF2-40B4-BE49-F238E27FC236}">
                <a16:creationId xmlns:a16="http://schemas.microsoft.com/office/drawing/2014/main" id="{44276426-C9F4-4E72-9D5A-90F8D9D1ED8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7665" name="Rectangle 4">
            <a:extLst>
              <a:ext uri="{FF2B5EF4-FFF2-40B4-BE49-F238E27FC236}">
                <a16:creationId xmlns:a16="http://schemas.microsoft.com/office/drawing/2014/main" id="{04FE4BE4-FD34-4D98-AAE3-0C4B78D67D1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7666" name="Picture 3">
            <a:extLst>
              <a:ext uri="{FF2B5EF4-FFF2-40B4-BE49-F238E27FC236}">
                <a16:creationId xmlns:a16="http://schemas.microsoft.com/office/drawing/2014/main" id="{C5518E04-8B9D-4D7F-B44E-E8584A76B81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3201" y="2209800"/>
            <a:ext cx="37004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7" name="Rectangle 6">
            <a:extLst>
              <a:ext uri="{FF2B5EF4-FFF2-40B4-BE49-F238E27FC236}">
                <a16:creationId xmlns:a16="http://schemas.microsoft.com/office/drawing/2014/main" id="{C8A9B6C0-D24B-451B-B973-39ADA2CF426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7668" name="Picture 5">
            <a:extLst>
              <a:ext uri="{FF2B5EF4-FFF2-40B4-BE49-F238E27FC236}">
                <a16:creationId xmlns:a16="http://schemas.microsoft.com/office/drawing/2014/main" id="{A9BF3E09-112D-42D2-8E8B-940E6826F51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29400" y="3581400"/>
            <a:ext cx="16589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9" name="Rectangle 8">
            <a:extLst>
              <a:ext uri="{FF2B5EF4-FFF2-40B4-BE49-F238E27FC236}">
                <a16:creationId xmlns:a16="http://schemas.microsoft.com/office/drawing/2014/main" id="{2DB0B366-E785-4990-8A91-4CD7F8FC134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7670" name="Picture 7">
            <a:extLst>
              <a:ext uri="{FF2B5EF4-FFF2-40B4-BE49-F238E27FC236}">
                <a16:creationId xmlns:a16="http://schemas.microsoft.com/office/drawing/2014/main" id="{63196BFD-0DE1-4158-8039-23B99FF65A5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44000" y="3962400"/>
            <a:ext cx="7572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1" name="Rectangle 21">
            <a:extLst>
              <a:ext uri="{FF2B5EF4-FFF2-40B4-BE49-F238E27FC236}">
                <a16:creationId xmlns:a16="http://schemas.microsoft.com/office/drawing/2014/main" id="{73CC0468-45D4-4DA9-8780-D02DFFE4BEF6}"/>
              </a:ext>
            </a:extLst>
          </p:cNvPr>
          <p:cNvSpPr>
            <a:spLocks noChangeArrowheads="1"/>
          </p:cNvSpPr>
          <p:nvPr/>
        </p:nvSpPr>
        <p:spPr bwMode="auto">
          <a:xfrm>
            <a:off x="6400800" y="4648200"/>
            <a:ext cx="388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solidFill>
                  <a:srgbClr val="FF0000"/>
                </a:solidFill>
                <a:latin typeface="Arial" panose="020B0604020202020204" pitchFamily="34" charset="0"/>
              </a:rPr>
              <a:t>the voltage equation in terms of rpm</a:t>
            </a:r>
          </a:p>
        </p:txBody>
      </p:sp>
      <p:sp>
        <p:nvSpPr>
          <p:cNvPr id="23" name="Rectangle 22">
            <a:extLst>
              <a:ext uri="{FF2B5EF4-FFF2-40B4-BE49-F238E27FC236}">
                <a16:creationId xmlns:a16="http://schemas.microsoft.com/office/drawing/2014/main" id="{AC35900C-8E6B-41CD-8F15-B01DD9DE488D}"/>
              </a:ext>
            </a:extLst>
          </p:cNvPr>
          <p:cNvSpPr/>
          <p:nvPr/>
        </p:nvSpPr>
        <p:spPr>
          <a:xfrm>
            <a:off x="6324600" y="5029200"/>
            <a:ext cx="4114800" cy="16002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7675" name="Rectangle 10">
            <a:extLst>
              <a:ext uri="{FF2B5EF4-FFF2-40B4-BE49-F238E27FC236}">
                <a16:creationId xmlns:a16="http://schemas.microsoft.com/office/drawing/2014/main" id="{03880479-EE04-4EE2-84CE-5D73D8A7396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7676" name="Picture 9">
            <a:extLst>
              <a:ext uri="{FF2B5EF4-FFF2-40B4-BE49-F238E27FC236}">
                <a16:creationId xmlns:a16="http://schemas.microsoft.com/office/drawing/2014/main" id="{8D0E4BA4-DA0A-4CBB-A430-E33D56911685}"/>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29400" y="5584825"/>
            <a:ext cx="1828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7" name="Rectangle 12">
            <a:extLst>
              <a:ext uri="{FF2B5EF4-FFF2-40B4-BE49-F238E27FC236}">
                <a16:creationId xmlns:a16="http://schemas.microsoft.com/office/drawing/2014/main" id="{C1421005-6230-4470-A183-BD11CCEA60C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7678" name="Picture 11">
            <a:extLst>
              <a:ext uri="{FF2B5EF4-FFF2-40B4-BE49-F238E27FC236}">
                <a16:creationId xmlns:a16="http://schemas.microsoft.com/office/drawing/2014/main" id="{0DAED604-C9EC-4244-B5AE-E5AD5D03395D}"/>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96401" y="5791200"/>
            <a:ext cx="8112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A97CB21-F801-44A5-AB3E-B6852455E4B4}"/>
              </a:ext>
            </a:extLst>
          </p:cNvPr>
          <p:cNvSpPr/>
          <p:nvPr/>
        </p:nvSpPr>
        <p:spPr>
          <a:xfrm>
            <a:off x="6400800" y="3581400"/>
            <a:ext cx="4114800" cy="9144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 name="Rectangle 15">
            <a:extLst>
              <a:ext uri="{FF2B5EF4-FFF2-40B4-BE49-F238E27FC236}">
                <a16:creationId xmlns:a16="http://schemas.microsoft.com/office/drawing/2014/main" id="{E4028B7B-C684-40F1-904E-0F077942991C}"/>
              </a:ext>
            </a:extLst>
          </p:cNvPr>
          <p:cNvSpPr/>
          <p:nvPr/>
        </p:nvSpPr>
        <p:spPr>
          <a:xfrm>
            <a:off x="6330507" y="1905000"/>
            <a:ext cx="4114800" cy="16002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8681" name="Title 1">
            <a:extLst>
              <a:ext uri="{FF2B5EF4-FFF2-40B4-BE49-F238E27FC236}">
                <a16:creationId xmlns:a16="http://schemas.microsoft.com/office/drawing/2014/main" id="{4CD92359-6C31-4E99-99DF-0C64961D09B3}"/>
              </a:ext>
            </a:extLst>
          </p:cNvPr>
          <p:cNvSpPr>
            <a:spLocks noGrp="1"/>
          </p:cNvSpPr>
          <p:nvPr>
            <p:ph type="title"/>
          </p:nvPr>
        </p:nvSpPr>
        <p:spPr>
          <a:xfrm>
            <a:off x="2438400" y="533400"/>
            <a:ext cx="7772400" cy="685800"/>
          </a:xfrm>
        </p:spPr>
        <p:txBody>
          <a:bodyPr/>
          <a:lstStyle/>
          <a:p>
            <a:pPr algn="ctr" eaLnBrk="1" hangingPunct="1"/>
            <a:r>
              <a:rPr lang="en-US" altLang="en-US" sz="3200"/>
              <a:t>The Induce Torque Equations Of Real Machines</a:t>
            </a:r>
          </a:p>
        </p:txBody>
      </p:sp>
      <p:sp>
        <p:nvSpPr>
          <p:cNvPr id="21508" name="Content Placeholder 2">
            <a:extLst>
              <a:ext uri="{FF2B5EF4-FFF2-40B4-BE49-F238E27FC236}">
                <a16:creationId xmlns:a16="http://schemas.microsoft.com/office/drawing/2014/main" id="{C953AC3F-9DC2-440C-840D-370557FA6C34}"/>
              </a:ext>
            </a:extLst>
          </p:cNvPr>
          <p:cNvSpPr>
            <a:spLocks noGrp="1"/>
          </p:cNvSpPr>
          <p:nvPr>
            <p:ph sz="quarter" idx="1"/>
          </p:nvPr>
        </p:nvSpPr>
        <p:spPr>
          <a:xfrm>
            <a:off x="1127051" y="1447799"/>
            <a:ext cx="5273749" cy="3651767"/>
          </a:xfrm>
        </p:spPr>
        <p:txBody>
          <a:bodyPr/>
          <a:lstStyle/>
          <a:p>
            <a:pPr indent="0">
              <a:spcBef>
                <a:spcPts val="0"/>
              </a:spcBef>
              <a:buNone/>
              <a:defRPr/>
            </a:pPr>
            <a:r>
              <a:rPr lang="en-US" sz="2400" b="1" dirty="0"/>
              <a:t>The torque in any dc machine depends on three factors:</a:t>
            </a:r>
          </a:p>
          <a:p>
            <a:pPr eaLnBrk="1" hangingPunct="1">
              <a:defRPr/>
            </a:pPr>
            <a:r>
              <a:rPr lang="en-US" dirty="0">
                <a:solidFill>
                  <a:srgbClr val="0070C0"/>
                </a:solidFill>
              </a:rPr>
              <a:t>The flux Φ in the machine</a:t>
            </a:r>
          </a:p>
          <a:p>
            <a:pPr eaLnBrk="1" hangingPunct="1">
              <a:defRPr/>
            </a:pPr>
            <a:r>
              <a:rPr lang="en-US" dirty="0">
                <a:solidFill>
                  <a:srgbClr val="0070C0"/>
                </a:solidFill>
              </a:rPr>
              <a:t>The armature (or rotor) current I</a:t>
            </a:r>
            <a:r>
              <a:rPr lang="en-US" sz="2000" dirty="0">
                <a:solidFill>
                  <a:srgbClr val="0070C0"/>
                </a:solidFill>
              </a:rPr>
              <a:t>A</a:t>
            </a:r>
            <a:r>
              <a:rPr lang="en-US" dirty="0">
                <a:solidFill>
                  <a:srgbClr val="0070C0"/>
                </a:solidFill>
              </a:rPr>
              <a:t> in the machine </a:t>
            </a:r>
          </a:p>
          <a:p>
            <a:pPr eaLnBrk="1" hangingPunct="1">
              <a:defRPr/>
            </a:pPr>
            <a:r>
              <a:rPr lang="en-US" dirty="0">
                <a:solidFill>
                  <a:srgbClr val="0070C0"/>
                </a:solidFill>
              </a:rPr>
              <a:t>A constant depending on the construction of the machine</a:t>
            </a:r>
          </a:p>
        </p:txBody>
      </p:sp>
      <p:sp>
        <p:nvSpPr>
          <p:cNvPr id="28683" name="Rectangle 4">
            <a:extLst>
              <a:ext uri="{FF2B5EF4-FFF2-40B4-BE49-F238E27FC236}">
                <a16:creationId xmlns:a16="http://schemas.microsoft.com/office/drawing/2014/main" id="{8A69081C-51F6-4E62-901F-5AC597773A5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8684" name="Rectangle 6">
            <a:extLst>
              <a:ext uri="{FF2B5EF4-FFF2-40B4-BE49-F238E27FC236}">
                <a16:creationId xmlns:a16="http://schemas.microsoft.com/office/drawing/2014/main" id="{34E2316B-F652-4B4E-BCD7-D0345B02CA6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8685" name="Rectangle 8">
            <a:extLst>
              <a:ext uri="{FF2B5EF4-FFF2-40B4-BE49-F238E27FC236}">
                <a16:creationId xmlns:a16="http://schemas.microsoft.com/office/drawing/2014/main" id="{9820C0F0-843E-401D-92B0-0295A984F2FC}"/>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8686" name="Rectangle 9">
            <a:extLst>
              <a:ext uri="{FF2B5EF4-FFF2-40B4-BE49-F238E27FC236}">
                <a16:creationId xmlns:a16="http://schemas.microsoft.com/office/drawing/2014/main" id="{B7D29245-BA81-4008-B3C8-4FD2E1394370}"/>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87" name="Rectangle 11">
            <a:extLst>
              <a:ext uri="{FF2B5EF4-FFF2-40B4-BE49-F238E27FC236}">
                <a16:creationId xmlns:a16="http://schemas.microsoft.com/office/drawing/2014/main" id="{D01C6475-3D96-4C60-94A7-F01295BF707A}"/>
              </a:ext>
            </a:extLst>
          </p:cNvPr>
          <p:cNvSpPr>
            <a:spLocks noChangeArrowheads="1"/>
          </p:cNvSpPr>
          <p:nvPr/>
        </p:nvSpPr>
        <p:spPr bwMode="auto">
          <a:xfrm>
            <a:off x="2057400" y="5334001"/>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Arial" panose="020B0604020202020204" pitchFamily="34" charset="0"/>
              </a:rPr>
              <a:t>The torque on the armature of a real machine =</a:t>
            </a:r>
            <a:r>
              <a:rPr lang="en-US" altLang="en-US" sz="1800">
                <a:solidFill>
                  <a:srgbClr val="FF0000"/>
                </a:solidFill>
                <a:latin typeface="Arial" panose="020B0604020202020204" pitchFamily="34" charset="0"/>
              </a:rPr>
              <a:t>the number of conductors Z</a:t>
            </a:r>
            <a:r>
              <a:rPr lang="en-US" altLang="en-US" sz="1800">
                <a:latin typeface="Arial" panose="020B0604020202020204" pitchFamily="34" charset="0"/>
              </a:rPr>
              <a:t> x </a:t>
            </a:r>
            <a:r>
              <a:rPr lang="en-US" altLang="en-US" sz="1800">
                <a:solidFill>
                  <a:srgbClr val="FF0000"/>
                </a:solidFill>
                <a:latin typeface="Arial" panose="020B0604020202020204" pitchFamily="34" charset="0"/>
              </a:rPr>
              <a:t>the torque on each conductor</a:t>
            </a:r>
          </a:p>
        </p:txBody>
      </p:sp>
      <p:sp>
        <p:nvSpPr>
          <p:cNvPr id="28688" name="Rectangle 2">
            <a:extLst>
              <a:ext uri="{FF2B5EF4-FFF2-40B4-BE49-F238E27FC236}">
                <a16:creationId xmlns:a16="http://schemas.microsoft.com/office/drawing/2014/main" id="{00C95437-AC3C-4942-B26B-7CCFA73CEB1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89" name="Rectangle 4">
            <a:extLst>
              <a:ext uri="{FF2B5EF4-FFF2-40B4-BE49-F238E27FC236}">
                <a16:creationId xmlns:a16="http://schemas.microsoft.com/office/drawing/2014/main" id="{2FBD44F1-B4C2-4439-8798-3DF4F06C388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90" name="Rectangle 6">
            <a:extLst>
              <a:ext uri="{FF2B5EF4-FFF2-40B4-BE49-F238E27FC236}">
                <a16:creationId xmlns:a16="http://schemas.microsoft.com/office/drawing/2014/main" id="{177E18F3-D5B4-4B5B-B565-A75F7878BAC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91" name="Rectangle 8">
            <a:extLst>
              <a:ext uri="{FF2B5EF4-FFF2-40B4-BE49-F238E27FC236}">
                <a16:creationId xmlns:a16="http://schemas.microsoft.com/office/drawing/2014/main" id="{9AD863C5-03E6-4630-A3FA-04F973A4A96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3" name="Rectangle 22">
            <a:extLst>
              <a:ext uri="{FF2B5EF4-FFF2-40B4-BE49-F238E27FC236}">
                <a16:creationId xmlns:a16="http://schemas.microsoft.com/office/drawing/2014/main" id="{11A960C1-1565-4788-B45D-66789C2A93CC}"/>
              </a:ext>
            </a:extLst>
          </p:cNvPr>
          <p:cNvSpPr/>
          <p:nvPr/>
        </p:nvSpPr>
        <p:spPr>
          <a:xfrm>
            <a:off x="6324600" y="4495800"/>
            <a:ext cx="4114800" cy="16002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8695" name="Rectangle 10">
            <a:extLst>
              <a:ext uri="{FF2B5EF4-FFF2-40B4-BE49-F238E27FC236}">
                <a16:creationId xmlns:a16="http://schemas.microsoft.com/office/drawing/2014/main" id="{28B024D6-E73F-4C02-9C97-0087941E3DE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96" name="Rectangle 12">
            <a:extLst>
              <a:ext uri="{FF2B5EF4-FFF2-40B4-BE49-F238E27FC236}">
                <a16:creationId xmlns:a16="http://schemas.microsoft.com/office/drawing/2014/main" id="{71614871-4B10-461E-B522-2769FC0AEE2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8697" name="Rectangle 2">
            <a:extLst>
              <a:ext uri="{FF2B5EF4-FFF2-40B4-BE49-F238E27FC236}">
                <a16:creationId xmlns:a16="http://schemas.microsoft.com/office/drawing/2014/main" id="{421B692B-85D2-4E34-B917-B9EACE7523C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8698" name="Picture 1">
            <a:extLst>
              <a:ext uri="{FF2B5EF4-FFF2-40B4-BE49-F238E27FC236}">
                <a16:creationId xmlns:a16="http://schemas.microsoft.com/office/drawing/2014/main" id="{3072D538-AAF0-4598-B778-61963ED2EC2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9925" y="2209800"/>
            <a:ext cx="25066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9" name="Rectangle 4">
            <a:extLst>
              <a:ext uri="{FF2B5EF4-FFF2-40B4-BE49-F238E27FC236}">
                <a16:creationId xmlns:a16="http://schemas.microsoft.com/office/drawing/2014/main" id="{128AD080-31D7-48F1-8B83-F000D6EED9E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8700" name="Picture 3">
            <a:extLst>
              <a:ext uri="{FF2B5EF4-FFF2-40B4-BE49-F238E27FC236}">
                <a16:creationId xmlns:a16="http://schemas.microsoft.com/office/drawing/2014/main" id="{755277E6-D724-4E14-815F-CC23A31ACAB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96400" y="2743200"/>
            <a:ext cx="7572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1" name="Rectangle 6">
            <a:extLst>
              <a:ext uri="{FF2B5EF4-FFF2-40B4-BE49-F238E27FC236}">
                <a16:creationId xmlns:a16="http://schemas.microsoft.com/office/drawing/2014/main" id="{C62A947B-5244-4C2C-8F3C-5B82BFE8AC5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8702" name="Picture 5">
            <a:extLst>
              <a:ext uri="{FF2B5EF4-FFF2-40B4-BE49-F238E27FC236}">
                <a16:creationId xmlns:a16="http://schemas.microsoft.com/office/drawing/2014/main" id="{87DF014B-8A8F-4343-ACA7-3959D549E40C}"/>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34200" y="3886200"/>
            <a:ext cx="1320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3" name="Rectangle 8">
            <a:extLst>
              <a:ext uri="{FF2B5EF4-FFF2-40B4-BE49-F238E27FC236}">
                <a16:creationId xmlns:a16="http://schemas.microsoft.com/office/drawing/2014/main" id="{00F7364E-32BE-4183-8CC4-977818A1DAE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8704" name="Picture 7">
            <a:extLst>
              <a:ext uri="{FF2B5EF4-FFF2-40B4-BE49-F238E27FC236}">
                <a16:creationId xmlns:a16="http://schemas.microsoft.com/office/drawing/2014/main" id="{AB093603-CAC8-43C2-A5C9-CFFDB72EF0FC}"/>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81801" y="5334000"/>
            <a:ext cx="29829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5" name="Rectangle 10">
            <a:extLst>
              <a:ext uri="{FF2B5EF4-FFF2-40B4-BE49-F238E27FC236}">
                <a16:creationId xmlns:a16="http://schemas.microsoft.com/office/drawing/2014/main" id="{F2AAFD2F-C0BE-416F-B813-F45CA41881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8706" name="Picture 9">
            <a:extLst>
              <a:ext uri="{FF2B5EF4-FFF2-40B4-BE49-F238E27FC236}">
                <a16:creationId xmlns:a16="http://schemas.microsoft.com/office/drawing/2014/main" id="{94706630-719F-424F-AD3A-0CEDA00246D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81800" y="4876800"/>
            <a:ext cx="31892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28ECC69-B77A-46CC-818D-5C4ECEBF5A2F}"/>
              </a:ext>
            </a:extLst>
          </p:cNvPr>
          <p:cNvSpPr/>
          <p:nvPr/>
        </p:nvSpPr>
        <p:spPr>
          <a:xfrm>
            <a:off x="7315200" y="2362200"/>
            <a:ext cx="3124200" cy="9144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 name="Rectangle 15">
            <a:extLst>
              <a:ext uri="{FF2B5EF4-FFF2-40B4-BE49-F238E27FC236}">
                <a16:creationId xmlns:a16="http://schemas.microsoft.com/office/drawing/2014/main" id="{2A1E3D98-D07E-4827-B8BE-C2882FFB60CE}"/>
              </a:ext>
            </a:extLst>
          </p:cNvPr>
          <p:cNvSpPr/>
          <p:nvPr/>
        </p:nvSpPr>
        <p:spPr>
          <a:xfrm>
            <a:off x="3810000" y="4343400"/>
            <a:ext cx="2133600" cy="15240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9705" name="Title 1">
            <a:extLst>
              <a:ext uri="{FF2B5EF4-FFF2-40B4-BE49-F238E27FC236}">
                <a16:creationId xmlns:a16="http://schemas.microsoft.com/office/drawing/2014/main" id="{DD06CF53-C476-4193-97B2-1A8A9FD25FF5}"/>
              </a:ext>
            </a:extLst>
          </p:cNvPr>
          <p:cNvSpPr>
            <a:spLocks noGrp="1"/>
          </p:cNvSpPr>
          <p:nvPr>
            <p:ph type="title"/>
          </p:nvPr>
        </p:nvSpPr>
        <p:spPr>
          <a:xfrm>
            <a:off x="2438400" y="533400"/>
            <a:ext cx="7772400" cy="685800"/>
          </a:xfrm>
        </p:spPr>
        <p:txBody>
          <a:bodyPr/>
          <a:lstStyle/>
          <a:p>
            <a:pPr algn="ctr" eaLnBrk="1" hangingPunct="1"/>
            <a:r>
              <a:rPr lang="en-US" altLang="en-US" sz="3200" dirty="0"/>
              <a:t>Power Flow and Losses in DC Machines</a:t>
            </a:r>
          </a:p>
        </p:txBody>
      </p:sp>
      <p:sp>
        <p:nvSpPr>
          <p:cNvPr id="29706" name="Content Placeholder 2">
            <a:extLst>
              <a:ext uri="{FF2B5EF4-FFF2-40B4-BE49-F238E27FC236}">
                <a16:creationId xmlns:a16="http://schemas.microsoft.com/office/drawing/2014/main" id="{178DBC05-E9FF-4942-BAB5-44E134B033D8}"/>
              </a:ext>
            </a:extLst>
          </p:cNvPr>
          <p:cNvSpPr>
            <a:spLocks noGrp="1"/>
          </p:cNvSpPr>
          <p:nvPr>
            <p:ph sz="quarter" idx="1"/>
          </p:nvPr>
        </p:nvSpPr>
        <p:spPr>
          <a:xfrm>
            <a:off x="2209800" y="1371600"/>
            <a:ext cx="5638800" cy="3200400"/>
          </a:xfrm>
        </p:spPr>
        <p:txBody>
          <a:bodyPr/>
          <a:lstStyle/>
          <a:p>
            <a:pPr eaLnBrk="1" hangingPunct="1"/>
            <a:r>
              <a:rPr lang="en-US" altLang="en-US" sz="2400">
                <a:solidFill>
                  <a:schemeClr val="accent1"/>
                </a:solidFill>
              </a:rPr>
              <a:t>Electrical or copper losses (I</a:t>
            </a:r>
            <a:r>
              <a:rPr lang="en-US" altLang="en-US" sz="2400" baseline="30000">
                <a:solidFill>
                  <a:schemeClr val="accent1"/>
                </a:solidFill>
              </a:rPr>
              <a:t>2</a:t>
            </a:r>
            <a:r>
              <a:rPr lang="en-US" altLang="en-US" sz="2400">
                <a:solidFill>
                  <a:schemeClr val="accent1"/>
                </a:solidFill>
              </a:rPr>
              <a:t> R losses)</a:t>
            </a:r>
          </a:p>
          <a:p>
            <a:pPr eaLnBrk="1" hangingPunct="1"/>
            <a:r>
              <a:rPr lang="en-US" altLang="en-US" sz="2400">
                <a:solidFill>
                  <a:schemeClr val="accent1"/>
                </a:solidFill>
              </a:rPr>
              <a:t>Brush losses</a:t>
            </a:r>
          </a:p>
          <a:p>
            <a:pPr eaLnBrk="1" hangingPunct="1"/>
            <a:r>
              <a:rPr lang="en-US" altLang="en-US" sz="2400">
                <a:solidFill>
                  <a:schemeClr val="accent1"/>
                </a:solidFill>
              </a:rPr>
              <a:t>Core losses</a:t>
            </a:r>
          </a:p>
          <a:p>
            <a:pPr eaLnBrk="1" hangingPunct="1"/>
            <a:r>
              <a:rPr lang="en-US" altLang="en-US" sz="2400">
                <a:solidFill>
                  <a:schemeClr val="accent1"/>
                </a:solidFill>
              </a:rPr>
              <a:t>Mechanical losses</a:t>
            </a:r>
          </a:p>
          <a:p>
            <a:pPr eaLnBrk="1" hangingPunct="1"/>
            <a:r>
              <a:rPr lang="en-US" altLang="en-US" sz="2400">
                <a:solidFill>
                  <a:schemeClr val="accent1"/>
                </a:solidFill>
              </a:rPr>
              <a:t>Stray load losses</a:t>
            </a:r>
          </a:p>
        </p:txBody>
      </p:sp>
      <p:sp>
        <p:nvSpPr>
          <p:cNvPr id="29707" name="Rectangle 4">
            <a:extLst>
              <a:ext uri="{FF2B5EF4-FFF2-40B4-BE49-F238E27FC236}">
                <a16:creationId xmlns:a16="http://schemas.microsoft.com/office/drawing/2014/main" id="{7353E633-B654-4B50-8261-7845CBC2EB3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9708" name="Rectangle 6">
            <a:extLst>
              <a:ext uri="{FF2B5EF4-FFF2-40B4-BE49-F238E27FC236}">
                <a16:creationId xmlns:a16="http://schemas.microsoft.com/office/drawing/2014/main" id="{E88963A4-A5E3-4D8E-B980-35A8B482BEF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9709" name="Rectangle 8">
            <a:extLst>
              <a:ext uri="{FF2B5EF4-FFF2-40B4-BE49-F238E27FC236}">
                <a16:creationId xmlns:a16="http://schemas.microsoft.com/office/drawing/2014/main" id="{BE4ABC81-C019-433C-AB7F-5F67C43BA104}"/>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29710" name="Rectangle 9">
            <a:extLst>
              <a:ext uri="{FF2B5EF4-FFF2-40B4-BE49-F238E27FC236}">
                <a16:creationId xmlns:a16="http://schemas.microsoft.com/office/drawing/2014/main" id="{404BC9E8-819C-4C42-B6C7-ABA6A5EB6B8F}"/>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11" name="Rectangle 2">
            <a:extLst>
              <a:ext uri="{FF2B5EF4-FFF2-40B4-BE49-F238E27FC236}">
                <a16:creationId xmlns:a16="http://schemas.microsoft.com/office/drawing/2014/main" id="{AE37CE45-0371-42E6-8ACF-0D3A6DE4A0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12" name="Rectangle 4">
            <a:extLst>
              <a:ext uri="{FF2B5EF4-FFF2-40B4-BE49-F238E27FC236}">
                <a16:creationId xmlns:a16="http://schemas.microsoft.com/office/drawing/2014/main" id="{FE953009-A036-4B6F-B03F-9C472A06812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13" name="Rectangle 6">
            <a:extLst>
              <a:ext uri="{FF2B5EF4-FFF2-40B4-BE49-F238E27FC236}">
                <a16:creationId xmlns:a16="http://schemas.microsoft.com/office/drawing/2014/main" id="{6DB5AD95-EB23-4514-AA64-11E702E8722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14" name="Rectangle 8">
            <a:extLst>
              <a:ext uri="{FF2B5EF4-FFF2-40B4-BE49-F238E27FC236}">
                <a16:creationId xmlns:a16="http://schemas.microsoft.com/office/drawing/2014/main" id="{FEA3D4F7-8B07-47B5-90F7-4D157AA109B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3" name="Rectangle 22">
            <a:extLst>
              <a:ext uri="{FF2B5EF4-FFF2-40B4-BE49-F238E27FC236}">
                <a16:creationId xmlns:a16="http://schemas.microsoft.com/office/drawing/2014/main" id="{B1409836-D6CB-4D8F-AE35-3AD184D05A67}"/>
              </a:ext>
            </a:extLst>
          </p:cNvPr>
          <p:cNvSpPr/>
          <p:nvPr/>
        </p:nvSpPr>
        <p:spPr>
          <a:xfrm>
            <a:off x="6096000" y="4114800"/>
            <a:ext cx="4343400" cy="2209800"/>
          </a:xfrm>
          <a:prstGeom prst="rect">
            <a:avLst/>
          </a:prstGeom>
          <a:solidFill>
            <a:schemeClr val="tx2">
              <a:lumMod val="20000"/>
              <a:lumOff val="80000"/>
            </a:schemeClr>
          </a:solidFill>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9718" name="Rectangle 10">
            <a:extLst>
              <a:ext uri="{FF2B5EF4-FFF2-40B4-BE49-F238E27FC236}">
                <a16:creationId xmlns:a16="http://schemas.microsoft.com/office/drawing/2014/main" id="{773CBE70-25EF-4307-89EF-5524957DC12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19" name="Rectangle 12">
            <a:extLst>
              <a:ext uri="{FF2B5EF4-FFF2-40B4-BE49-F238E27FC236}">
                <a16:creationId xmlns:a16="http://schemas.microsoft.com/office/drawing/2014/main" id="{B1F09C16-34B9-4CE1-86E6-6F9324A07F8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0" name="Rectangle 2">
            <a:extLst>
              <a:ext uri="{FF2B5EF4-FFF2-40B4-BE49-F238E27FC236}">
                <a16:creationId xmlns:a16="http://schemas.microsoft.com/office/drawing/2014/main" id="{B4F71248-3BD0-4FC1-BF88-AD4892F7502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1" name="Rectangle 4">
            <a:extLst>
              <a:ext uri="{FF2B5EF4-FFF2-40B4-BE49-F238E27FC236}">
                <a16:creationId xmlns:a16="http://schemas.microsoft.com/office/drawing/2014/main" id="{AA51D221-B392-4ABB-9C08-D70EB1ED217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2" name="Rectangle 6">
            <a:extLst>
              <a:ext uri="{FF2B5EF4-FFF2-40B4-BE49-F238E27FC236}">
                <a16:creationId xmlns:a16="http://schemas.microsoft.com/office/drawing/2014/main" id="{E6D078EB-BDA4-43FA-9183-E28E8F078E7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3" name="Rectangle 8">
            <a:extLst>
              <a:ext uri="{FF2B5EF4-FFF2-40B4-BE49-F238E27FC236}">
                <a16:creationId xmlns:a16="http://schemas.microsoft.com/office/drawing/2014/main" id="{BB3C7AEB-9F7A-4AF7-91AA-7BEEB2E0CD6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4" name="Rectangle 10">
            <a:extLst>
              <a:ext uri="{FF2B5EF4-FFF2-40B4-BE49-F238E27FC236}">
                <a16:creationId xmlns:a16="http://schemas.microsoft.com/office/drawing/2014/main" id="{CAD5E161-0805-402E-8491-949CFDF64D5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25" name="Rectangle 28">
            <a:extLst>
              <a:ext uri="{FF2B5EF4-FFF2-40B4-BE49-F238E27FC236}">
                <a16:creationId xmlns:a16="http://schemas.microsoft.com/office/drawing/2014/main" id="{47D72028-E7E3-4F93-A7AC-871EF9BA52AA}"/>
              </a:ext>
            </a:extLst>
          </p:cNvPr>
          <p:cNvSpPr>
            <a:spLocks noChangeArrowheads="1"/>
          </p:cNvSpPr>
          <p:nvPr/>
        </p:nvSpPr>
        <p:spPr bwMode="auto">
          <a:xfrm>
            <a:off x="2209800" y="4648200"/>
            <a:ext cx="16716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a:latin typeface="Arial" panose="020B0604020202020204" pitchFamily="34" charset="0"/>
              </a:rPr>
              <a:t>Armature loss:</a:t>
            </a:r>
          </a:p>
          <a:p>
            <a:pPr eaLnBrk="1" hangingPunct="1">
              <a:spcBef>
                <a:spcPct val="0"/>
              </a:spcBef>
              <a:buClrTx/>
              <a:buSzTx/>
              <a:buFontTx/>
              <a:buNone/>
            </a:pPr>
            <a:endParaRPr lang="en-US" altLang="en-US" sz="1000">
              <a:latin typeface="Arial" panose="020B0604020202020204" pitchFamily="34" charset="0"/>
            </a:endParaRPr>
          </a:p>
          <a:p>
            <a:pPr eaLnBrk="1" hangingPunct="1">
              <a:spcBef>
                <a:spcPct val="0"/>
              </a:spcBef>
              <a:buClrTx/>
              <a:buSzTx/>
              <a:buFontTx/>
              <a:buNone/>
            </a:pPr>
            <a:r>
              <a:rPr lang="en-US" altLang="en-US" sz="1800">
                <a:latin typeface="Arial" panose="020B0604020202020204" pitchFamily="34" charset="0"/>
              </a:rPr>
              <a:t>Field loss: </a:t>
            </a:r>
          </a:p>
        </p:txBody>
      </p:sp>
      <p:sp>
        <p:nvSpPr>
          <p:cNvPr id="29726" name="Rectangle 29">
            <a:extLst>
              <a:ext uri="{FF2B5EF4-FFF2-40B4-BE49-F238E27FC236}">
                <a16:creationId xmlns:a16="http://schemas.microsoft.com/office/drawing/2014/main" id="{FBFD4A77-305E-45BB-B769-508AB2BB05FE}"/>
              </a:ext>
            </a:extLst>
          </p:cNvPr>
          <p:cNvSpPr>
            <a:spLocks noChangeArrowheads="1"/>
          </p:cNvSpPr>
          <p:nvPr/>
        </p:nvSpPr>
        <p:spPr bwMode="auto">
          <a:xfrm>
            <a:off x="2209800" y="3962401"/>
            <a:ext cx="251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2400" b="1">
                <a:solidFill>
                  <a:srgbClr val="0070C0"/>
                </a:solidFill>
                <a:latin typeface="Arial" panose="020B0604020202020204" pitchFamily="34" charset="0"/>
              </a:rPr>
              <a:t>Copper losses </a:t>
            </a:r>
          </a:p>
        </p:txBody>
      </p:sp>
      <p:sp>
        <p:nvSpPr>
          <p:cNvPr id="29727" name="Rectangle 2">
            <a:extLst>
              <a:ext uri="{FF2B5EF4-FFF2-40B4-BE49-F238E27FC236}">
                <a16:creationId xmlns:a16="http://schemas.microsoft.com/office/drawing/2014/main" id="{657D4A36-3005-4340-839A-DF6123B2875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9728" name="Picture 1">
            <a:extLst>
              <a:ext uri="{FF2B5EF4-FFF2-40B4-BE49-F238E27FC236}">
                <a16:creationId xmlns:a16="http://schemas.microsoft.com/office/drawing/2014/main" id="{E2970A87-9C0D-42B8-832D-595ED712354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67200" y="4724400"/>
            <a:ext cx="1079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9" name="Rectangle 4">
            <a:extLst>
              <a:ext uri="{FF2B5EF4-FFF2-40B4-BE49-F238E27FC236}">
                <a16:creationId xmlns:a16="http://schemas.microsoft.com/office/drawing/2014/main" id="{43307E7E-581E-4C5A-8A39-08B3C6C5BAB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9730" name="Picture 3">
            <a:extLst>
              <a:ext uri="{FF2B5EF4-FFF2-40B4-BE49-F238E27FC236}">
                <a16:creationId xmlns:a16="http://schemas.microsoft.com/office/drawing/2014/main" id="{6F111288-3352-4335-91CD-590D734025A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91001" y="5181600"/>
            <a:ext cx="10969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1" name="Rectangle 35">
            <a:extLst>
              <a:ext uri="{FF2B5EF4-FFF2-40B4-BE49-F238E27FC236}">
                <a16:creationId xmlns:a16="http://schemas.microsoft.com/office/drawing/2014/main" id="{49C53C0D-3256-441C-8909-94E59B45828C}"/>
              </a:ext>
            </a:extLst>
          </p:cNvPr>
          <p:cNvSpPr>
            <a:spLocks noChangeArrowheads="1"/>
          </p:cNvSpPr>
          <p:nvPr/>
        </p:nvSpPr>
        <p:spPr bwMode="auto">
          <a:xfrm>
            <a:off x="7772401" y="1828801"/>
            <a:ext cx="2117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2400" b="1">
                <a:solidFill>
                  <a:srgbClr val="0070C0"/>
                </a:solidFill>
                <a:latin typeface="Arial" panose="020B0604020202020204" pitchFamily="34" charset="0"/>
              </a:rPr>
              <a:t>Brush losses</a:t>
            </a:r>
            <a:endParaRPr lang="en-US" altLang="en-US" sz="2400">
              <a:solidFill>
                <a:srgbClr val="0070C0"/>
              </a:solidFill>
              <a:latin typeface="Arial" panose="020B0604020202020204" pitchFamily="34" charset="0"/>
            </a:endParaRPr>
          </a:p>
        </p:txBody>
      </p:sp>
      <p:sp>
        <p:nvSpPr>
          <p:cNvPr id="29732" name="Rectangle 7">
            <a:extLst>
              <a:ext uri="{FF2B5EF4-FFF2-40B4-BE49-F238E27FC236}">
                <a16:creationId xmlns:a16="http://schemas.microsoft.com/office/drawing/2014/main" id="{3F3709BF-C33D-40FE-9ACC-FE869913159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9733" name="Picture 6">
            <a:extLst>
              <a:ext uri="{FF2B5EF4-FFF2-40B4-BE49-F238E27FC236}">
                <a16:creationId xmlns:a16="http://schemas.microsoft.com/office/drawing/2014/main" id="{97CD65B4-FAB6-4AEB-825A-5DDBD5F851D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058150" y="2590800"/>
            <a:ext cx="14668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4" name="Rectangle 38">
            <a:extLst>
              <a:ext uri="{FF2B5EF4-FFF2-40B4-BE49-F238E27FC236}">
                <a16:creationId xmlns:a16="http://schemas.microsoft.com/office/drawing/2014/main" id="{E44918AA-D732-4DA2-9E70-6FA89CBBA807}"/>
              </a:ext>
            </a:extLst>
          </p:cNvPr>
          <p:cNvSpPr>
            <a:spLocks noChangeArrowheads="1"/>
          </p:cNvSpPr>
          <p:nvPr/>
        </p:nvSpPr>
        <p:spPr bwMode="auto">
          <a:xfrm>
            <a:off x="7162800" y="3581401"/>
            <a:ext cx="22240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2800" b="1">
                <a:solidFill>
                  <a:srgbClr val="0070C0"/>
                </a:solidFill>
                <a:latin typeface="Arial" panose="020B0604020202020204" pitchFamily="34" charset="0"/>
              </a:rPr>
              <a:t>Core losses</a:t>
            </a:r>
            <a:endParaRPr lang="en-US" altLang="en-US" sz="2800">
              <a:solidFill>
                <a:srgbClr val="0070C0"/>
              </a:solidFill>
              <a:latin typeface="Arial" panose="020B0604020202020204" pitchFamily="34" charset="0"/>
            </a:endParaRPr>
          </a:p>
        </p:txBody>
      </p:sp>
      <p:sp>
        <p:nvSpPr>
          <p:cNvPr id="29735" name="Rectangle 39">
            <a:extLst>
              <a:ext uri="{FF2B5EF4-FFF2-40B4-BE49-F238E27FC236}">
                <a16:creationId xmlns:a16="http://schemas.microsoft.com/office/drawing/2014/main" id="{E345C8B4-D007-4239-9775-84582A463ADB}"/>
              </a:ext>
            </a:extLst>
          </p:cNvPr>
          <p:cNvSpPr>
            <a:spLocks noChangeArrowheads="1"/>
          </p:cNvSpPr>
          <p:nvPr/>
        </p:nvSpPr>
        <p:spPr bwMode="auto">
          <a:xfrm>
            <a:off x="6400800" y="4495801"/>
            <a:ext cx="3810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b="1">
                <a:latin typeface="Arial" panose="020B0604020202020204" pitchFamily="34" charset="0"/>
              </a:rPr>
              <a:t>the hysteresis losses and eddy current losses occurring in the metal of the motor. These losses vary as B</a:t>
            </a:r>
            <a:r>
              <a:rPr lang="en-US" altLang="en-US" sz="1800" b="1" baseline="30000">
                <a:latin typeface="Arial" panose="020B0604020202020204" pitchFamily="34" charset="0"/>
              </a:rPr>
              <a:t>2</a:t>
            </a:r>
            <a:r>
              <a:rPr lang="en-US" altLang="en-US" sz="1800" b="1">
                <a:latin typeface="Arial" panose="020B0604020202020204" pitchFamily="34" charset="0"/>
              </a:rPr>
              <a:t> and, for the rotor, as the (n</a:t>
            </a:r>
            <a:r>
              <a:rPr lang="en-US" altLang="en-US" sz="1800" b="1" baseline="30000">
                <a:latin typeface="Arial" panose="020B0604020202020204" pitchFamily="34" charset="0"/>
              </a:rPr>
              <a:t>1.5</a:t>
            </a:r>
            <a:r>
              <a:rPr lang="en-US" altLang="en-US" sz="1800" b="1">
                <a:latin typeface="Arial" panose="020B0604020202020204" pitchFamily="34"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1">
            <a:extLst>
              <a:ext uri="{FF2B5EF4-FFF2-40B4-BE49-F238E27FC236}">
                <a16:creationId xmlns:a16="http://schemas.microsoft.com/office/drawing/2014/main" id="{9A58AF59-7BA1-460F-8ADF-707CFD1AA559}"/>
              </a:ext>
            </a:extLst>
          </p:cNvPr>
          <p:cNvSpPr>
            <a:spLocks noGrp="1"/>
          </p:cNvSpPr>
          <p:nvPr>
            <p:ph type="title"/>
          </p:nvPr>
        </p:nvSpPr>
        <p:spPr>
          <a:xfrm>
            <a:off x="2438400" y="533400"/>
            <a:ext cx="7772400" cy="685800"/>
          </a:xfrm>
        </p:spPr>
        <p:txBody>
          <a:bodyPr/>
          <a:lstStyle/>
          <a:p>
            <a:pPr algn="ctr" eaLnBrk="1" hangingPunct="1"/>
            <a:r>
              <a:rPr lang="en-US" altLang="en-US" sz="3200"/>
              <a:t>Power Flow and Losses in DC Machines</a:t>
            </a:r>
          </a:p>
        </p:txBody>
      </p:sp>
      <p:sp>
        <p:nvSpPr>
          <p:cNvPr id="30724" name="Rectangle 4">
            <a:extLst>
              <a:ext uri="{FF2B5EF4-FFF2-40B4-BE49-F238E27FC236}">
                <a16:creationId xmlns:a16="http://schemas.microsoft.com/office/drawing/2014/main" id="{970DE01D-A7F6-423F-B1B7-C91E3969A2A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0725" name="Rectangle 6">
            <a:extLst>
              <a:ext uri="{FF2B5EF4-FFF2-40B4-BE49-F238E27FC236}">
                <a16:creationId xmlns:a16="http://schemas.microsoft.com/office/drawing/2014/main" id="{55C3AAB8-DC25-4FA1-B511-3E89006F254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0726" name="Rectangle 8">
            <a:extLst>
              <a:ext uri="{FF2B5EF4-FFF2-40B4-BE49-F238E27FC236}">
                <a16:creationId xmlns:a16="http://schemas.microsoft.com/office/drawing/2014/main" id="{0B68985C-9044-4992-96E3-9614E3E95519}"/>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0727" name="Rectangle 9">
            <a:extLst>
              <a:ext uri="{FF2B5EF4-FFF2-40B4-BE49-F238E27FC236}">
                <a16:creationId xmlns:a16="http://schemas.microsoft.com/office/drawing/2014/main" id="{E377B4CF-1DBA-4C13-AF62-FDA96F6F50CF}"/>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28" name="Rectangle 2">
            <a:extLst>
              <a:ext uri="{FF2B5EF4-FFF2-40B4-BE49-F238E27FC236}">
                <a16:creationId xmlns:a16="http://schemas.microsoft.com/office/drawing/2014/main" id="{543E9561-2C55-43FA-AD62-50F06C0CF06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29" name="Rectangle 4">
            <a:extLst>
              <a:ext uri="{FF2B5EF4-FFF2-40B4-BE49-F238E27FC236}">
                <a16:creationId xmlns:a16="http://schemas.microsoft.com/office/drawing/2014/main" id="{82BA4563-AC23-42D4-B03A-7C68E007F50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0" name="Rectangle 6">
            <a:extLst>
              <a:ext uri="{FF2B5EF4-FFF2-40B4-BE49-F238E27FC236}">
                <a16:creationId xmlns:a16="http://schemas.microsoft.com/office/drawing/2014/main" id="{D2B75264-18B0-4CA6-8626-1709A4A1A7A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1" name="Rectangle 8">
            <a:extLst>
              <a:ext uri="{FF2B5EF4-FFF2-40B4-BE49-F238E27FC236}">
                <a16:creationId xmlns:a16="http://schemas.microsoft.com/office/drawing/2014/main" id="{588EBFCE-3230-47B0-AF83-1C46DB68483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2" name="Rectangle 10">
            <a:extLst>
              <a:ext uri="{FF2B5EF4-FFF2-40B4-BE49-F238E27FC236}">
                <a16:creationId xmlns:a16="http://schemas.microsoft.com/office/drawing/2014/main" id="{3D760B05-5E56-402A-B88F-DF1E7293FF8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3" name="Rectangle 12">
            <a:extLst>
              <a:ext uri="{FF2B5EF4-FFF2-40B4-BE49-F238E27FC236}">
                <a16:creationId xmlns:a16="http://schemas.microsoft.com/office/drawing/2014/main" id="{C005EEDF-D8D4-407B-8209-CDF025AFDCB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4" name="Rectangle 2">
            <a:extLst>
              <a:ext uri="{FF2B5EF4-FFF2-40B4-BE49-F238E27FC236}">
                <a16:creationId xmlns:a16="http://schemas.microsoft.com/office/drawing/2014/main" id="{24BA6989-4773-4416-903B-71313E12DAA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5" name="Rectangle 4">
            <a:extLst>
              <a:ext uri="{FF2B5EF4-FFF2-40B4-BE49-F238E27FC236}">
                <a16:creationId xmlns:a16="http://schemas.microsoft.com/office/drawing/2014/main" id="{8BE3449E-4435-4D7D-B2A1-7C62B7BB5E2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6" name="Rectangle 6">
            <a:extLst>
              <a:ext uri="{FF2B5EF4-FFF2-40B4-BE49-F238E27FC236}">
                <a16:creationId xmlns:a16="http://schemas.microsoft.com/office/drawing/2014/main" id="{34E7DBDC-6903-4DC6-94E8-AE264490DAB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7" name="Rectangle 8">
            <a:extLst>
              <a:ext uri="{FF2B5EF4-FFF2-40B4-BE49-F238E27FC236}">
                <a16:creationId xmlns:a16="http://schemas.microsoft.com/office/drawing/2014/main" id="{BDFF2377-F5E4-43E8-97EA-DF9ED9575F4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8" name="Rectangle 10">
            <a:extLst>
              <a:ext uri="{FF2B5EF4-FFF2-40B4-BE49-F238E27FC236}">
                <a16:creationId xmlns:a16="http://schemas.microsoft.com/office/drawing/2014/main" id="{69B07D39-71B6-43D2-9496-21354E54367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39" name="Rectangle 2">
            <a:extLst>
              <a:ext uri="{FF2B5EF4-FFF2-40B4-BE49-F238E27FC236}">
                <a16:creationId xmlns:a16="http://schemas.microsoft.com/office/drawing/2014/main" id="{421FE66B-C789-4B96-AC7E-82040FE00BB3}"/>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40" name="Rectangle 4">
            <a:extLst>
              <a:ext uri="{FF2B5EF4-FFF2-40B4-BE49-F238E27FC236}">
                <a16:creationId xmlns:a16="http://schemas.microsoft.com/office/drawing/2014/main" id="{34159F6D-4B99-44CD-8C61-00B5487E6C0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41" name="Rectangle 7">
            <a:extLst>
              <a:ext uri="{FF2B5EF4-FFF2-40B4-BE49-F238E27FC236}">
                <a16:creationId xmlns:a16="http://schemas.microsoft.com/office/drawing/2014/main" id="{F19E04D4-EF41-4F9E-88B2-AA3BC4D88CD9}"/>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0742" name="Content Placeholder 33">
            <a:extLst>
              <a:ext uri="{FF2B5EF4-FFF2-40B4-BE49-F238E27FC236}">
                <a16:creationId xmlns:a16="http://schemas.microsoft.com/office/drawing/2014/main" id="{DA9B75C5-9F77-46DB-80C1-CD3F115B4B3A}"/>
              </a:ext>
            </a:extLst>
          </p:cNvPr>
          <p:cNvSpPr>
            <a:spLocks noGrp="1"/>
          </p:cNvSpPr>
          <p:nvPr>
            <p:ph sz="quarter" idx="1"/>
          </p:nvPr>
        </p:nvSpPr>
        <p:spPr>
          <a:xfrm>
            <a:off x="2286000" y="1524000"/>
            <a:ext cx="4876800" cy="2971800"/>
          </a:xfrm>
        </p:spPr>
        <p:txBody>
          <a:bodyPr/>
          <a:lstStyle/>
          <a:p>
            <a:pPr indent="0">
              <a:buNone/>
            </a:pPr>
            <a:r>
              <a:rPr lang="en-US" altLang="en-US" sz="2400" b="1">
                <a:solidFill>
                  <a:srgbClr val="0070C0"/>
                </a:solidFill>
                <a:latin typeface="Arial" panose="020B0604020202020204" pitchFamily="34" charset="0"/>
                <a:cs typeface="Arial" panose="020B0604020202020204" pitchFamily="34" charset="0"/>
              </a:rPr>
              <a:t>Mechanical losses</a:t>
            </a:r>
          </a:p>
          <a:p>
            <a:pPr indent="0"/>
            <a:r>
              <a:rPr lang="en-US" altLang="en-US" sz="2400"/>
              <a:t>Friction losses are losses caused by the friction of the bearings in the machine</a:t>
            </a:r>
          </a:p>
          <a:p>
            <a:pPr indent="0"/>
            <a:r>
              <a:rPr lang="en-US" altLang="en-US" sz="2400">
                <a:solidFill>
                  <a:srgbClr val="0070C0"/>
                </a:solidFill>
              </a:rPr>
              <a:t>Windage losses are caused by the friction between the moving parts of the machine and the air inside the motor's casing</a:t>
            </a:r>
            <a:r>
              <a:rPr lang="en-US" altLang="en-US" sz="2400" b="1">
                <a:solidFill>
                  <a:srgbClr val="0070C0"/>
                </a:solidFill>
                <a:latin typeface="Arial" panose="020B0604020202020204" pitchFamily="34" charset="0"/>
                <a:cs typeface="Arial" panose="020B0604020202020204" pitchFamily="34" charset="0"/>
              </a:rPr>
              <a:t> </a:t>
            </a:r>
            <a:endParaRPr lang="en-US" altLang="en-US" sz="2400">
              <a:solidFill>
                <a:srgbClr val="0070C0"/>
              </a:solidFill>
              <a:latin typeface="Arial" panose="020B0604020202020204" pitchFamily="34" charset="0"/>
              <a:cs typeface="Arial" panose="020B0604020202020204" pitchFamily="34" charset="0"/>
            </a:endParaRPr>
          </a:p>
          <a:p>
            <a:pPr indent="0">
              <a:buNone/>
            </a:pPr>
            <a:endParaRPr lang="en-US" altLang="en-US"/>
          </a:p>
        </p:txBody>
      </p:sp>
      <p:sp>
        <p:nvSpPr>
          <p:cNvPr id="38" name="Content Placeholder 33">
            <a:extLst>
              <a:ext uri="{FF2B5EF4-FFF2-40B4-BE49-F238E27FC236}">
                <a16:creationId xmlns:a16="http://schemas.microsoft.com/office/drawing/2014/main" id="{C557CD73-865A-410D-BF5E-C2A32A871F4B}"/>
              </a:ext>
            </a:extLst>
          </p:cNvPr>
          <p:cNvSpPr txBox="1">
            <a:spLocks/>
          </p:cNvSpPr>
          <p:nvPr/>
        </p:nvSpPr>
        <p:spPr bwMode="auto">
          <a:xfrm>
            <a:off x="2209800" y="4495800"/>
            <a:ext cx="4876800" cy="2971800"/>
          </a:xfrm>
          <a:prstGeom prst="rect">
            <a:avLst/>
          </a:prstGeom>
          <a:noFill/>
          <a:ln w="9525">
            <a:noFill/>
            <a:miter lim="800000"/>
            <a:headEnd/>
            <a:tailEnd/>
          </a:ln>
        </p:spPr>
        <p:txBody>
          <a:bodyPr/>
          <a:lstStyle/>
          <a:p>
            <a:pPr marL="273050">
              <a:spcBef>
                <a:spcPts val="575"/>
              </a:spcBef>
              <a:buClr>
                <a:schemeClr val="accent1"/>
              </a:buClr>
              <a:buSzPct val="85000"/>
              <a:defRPr/>
            </a:pPr>
            <a:r>
              <a:rPr lang="en-US" sz="2400" b="1" dirty="0">
                <a:solidFill>
                  <a:srgbClr val="0070C0"/>
                </a:solidFill>
                <a:cs typeface="Arial" pitchFamily="34" charset="0"/>
              </a:rPr>
              <a:t>Stray losses </a:t>
            </a:r>
          </a:p>
          <a:p>
            <a:pPr marL="273050">
              <a:spcBef>
                <a:spcPts val="575"/>
              </a:spcBef>
              <a:buClr>
                <a:schemeClr val="accent1"/>
              </a:buClr>
              <a:buSzPct val="85000"/>
              <a:buFont typeface="Wingdings 2" pitchFamily="18" charset="2"/>
              <a:buChar char=""/>
              <a:defRPr/>
            </a:pPr>
            <a:r>
              <a:rPr lang="en-US" sz="2400" dirty="0"/>
              <a:t>Unknown losses</a:t>
            </a:r>
          </a:p>
          <a:p>
            <a:pPr marL="273050">
              <a:spcBef>
                <a:spcPts val="575"/>
              </a:spcBef>
              <a:buClr>
                <a:schemeClr val="accent1"/>
              </a:buClr>
              <a:buSzPct val="85000"/>
              <a:buFont typeface="Wingdings 2" pitchFamily="18" charset="2"/>
              <a:buChar char=""/>
              <a:defRPr/>
            </a:pPr>
            <a:r>
              <a:rPr lang="en-US" sz="2400" dirty="0">
                <a:cs typeface="Arial" pitchFamily="34" charset="0"/>
              </a:rPr>
              <a:t>By convention to be 1 percent of full load</a:t>
            </a:r>
          </a:p>
          <a:p>
            <a:pPr marL="273050">
              <a:spcBef>
                <a:spcPts val="575"/>
              </a:spcBef>
              <a:buClr>
                <a:schemeClr val="accent1"/>
              </a:buClr>
              <a:buSzPct val="85000"/>
              <a:defRPr/>
            </a:pPr>
            <a:endParaRPr lang="en-US" sz="2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a:extLst>
              <a:ext uri="{FF2B5EF4-FFF2-40B4-BE49-F238E27FC236}">
                <a16:creationId xmlns:a16="http://schemas.microsoft.com/office/drawing/2014/main" id="{079C6D20-E7A7-4697-B341-6C64BCD31D03}"/>
              </a:ext>
            </a:extLst>
          </p:cNvPr>
          <p:cNvSpPr>
            <a:spLocks noGrp="1"/>
          </p:cNvSpPr>
          <p:nvPr>
            <p:ph type="title"/>
          </p:nvPr>
        </p:nvSpPr>
        <p:spPr>
          <a:xfrm>
            <a:off x="2133600" y="800100"/>
            <a:ext cx="7772400" cy="685800"/>
          </a:xfrm>
        </p:spPr>
        <p:txBody>
          <a:bodyPr/>
          <a:lstStyle/>
          <a:p>
            <a:pPr algn="ctr" eaLnBrk="1" hangingPunct="1"/>
            <a:r>
              <a:rPr lang="en-US" altLang="en-US" sz="3200" dirty="0"/>
              <a:t>The Power-Flow Diagram</a:t>
            </a:r>
          </a:p>
        </p:txBody>
      </p:sp>
      <p:sp>
        <p:nvSpPr>
          <p:cNvPr id="31748" name="Rectangle 4">
            <a:extLst>
              <a:ext uri="{FF2B5EF4-FFF2-40B4-BE49-F238E27FC236}">
                <a16:creationId xmlns:a16="http://schemas.microsoft.com/office/drawing/2014/main" id="{61F7DA5B-4FEB-4999-8FBA-7B16340BB72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1749" name="Rectangle 6">
            <a:extLst>
              <a:ext uri="{FF2B5EF4-FFF2-40B4-BE49-F238E27FC236}">
                <a16:creationId xmlns:a16="http://schemas.microsoft.com/office/drawing/2014/main" id="{DA1F6CC9-9E37-4A46-AD02-05633B28DA11}"/>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1750" name="Rectangle 8">
            <a:extLst>
              <a:ext uri="{FF2B5EF4-FFF2-40B4-BE49-F238E27FC236}">
                <a16:creationId xmlns:a16="http://schemas.microsoft.com/office/drawing/2014/main" id="{829EACF7-E122-48E6-AA76-480159C8228A}"/>
              </a:ext>
            </a:extLst>
          </p:cNvPr>
          <p:cNvSpPr>
            <a:spLocks noChangeArrowheads="1"/>
          </p:cNvSpPr>
          <p:nvPr/>
        </p:nvSpPr>
        <p:spPr bwMode="auto">
          <a:xfrm>
            <a:off x="1752601" y="6535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p>
        </p:txBody>
      </p:sp>
      <p:sp>
        <p:nvSpPr>
          <p:cNvPr id="31751" name="Rectangle 9">
            <a:extLst>
              <a:ext uri="{FF2B5EF4-FFF2-40B4-BE49-F238E27FC236}">
                <a16:creationId xmlns:a16="http://schemas.microsoft.com/office/drawing/2014/main" id="{BCC8E319-041A-41E2-9D0E-7B1E03830283}"/>
              </a:ext>
            </a:extLst>
          </p:cNvPr>
          <p:cNvSpPr>
            <a:spLocks noChangeArrowheads="1"/>
          </p:cNvSpPr>
          <p:nvPr/>
        </p:nvSpPr>
        <p:spPr bwMode="auto">
          <a:xfrm>
            <a:off x="1524001" y="6154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2" name="Rectangle 2">
            <a:extLst>
              <a:ext uri="{FF2B5EF4-FFF2-40B4-BE49-F238E27FC236}">
                <a16:creationId xmlns:a16="http://schemas.microsoft.com/office/drawing/2014/main" id="{253C9871-2F67-487F-8423-859E47FC622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3" name="Rectangle 4">
            <a:extLst>
              <a:ext uri="{FF2B5EF4-FFF2-40B4-BE49-F238E27FC236}">
                <a16:creationId xmlns:a16="http://schemas.microsoft.com/office/drawing/2014/main" id="{60084829-738C-4BAB-9E60-55BA4457A03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4" name="Rectangle 6">
            <a:extLst>
              <a:ext uri="{FF2B5EF4-FFF2-40B4-BE49-F238E27FC236}">
                <a16:creationId xmlns:a16="http://schemas.microsoft.com/office/drawing/2014/main" id="{4860D8C8-CFB8-4126-AD89-B7EA301FA90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5" name="Rectangle 8">
            <a:extLst>
              <a:ext uri="{FF2B5EF4-FFF2-40B4-BE49-F238E27FC236}">
                <a16:creationId xmlns:a16="http://schemas.microsoft.com/office/drawing/2014/main" id="{70F26438-0D7C-4C15-868E-584A93CF8A5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6" name="Rectangle 10">
            <a:extLst>
              <a:ext uri="{FF2B5EF4-FFF2-40B4-BE49-F238E27FC236}">
                <a16:creationId xmlns:a16="http://schemas.microsoft.com/office/drawing/2014/main" id="{B792B316-968B-42B3-9744-E5D17ED3F438}"/>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7" name="Rectangle 12">
            <a:extLst>
              <a:ext uri="{FF2B5EF4-FFF2-40B4-BE49-F238E27FC236}">
                <a16:creationId xmlns:a16="http://schemas.microsoft.com/office/drawing/2014/main" id="{63C0DEC7-1275-4B3E-9CDB-37F7A2D99C3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8" name="Rectangle 2">
            <a:extLst>
              <a:ext uri="{FF2B5EF4-FFF2-40B4-BE49-F238E27FC236}">
                <a16:creationId xmlns:a16="http://schemas.microsoft.com/office/drawing/2014/main" id="{0659B9F0-5AE4-48C2-85B0-2C2C94F36F0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59" name="Rectangle 4">
            <a:extLst>
              <a:ext uri="{FF2B5EF4-FFF2-40B4-BE49-F238E27FC236}">
                <a16:creationId xmlns:a16="http://schemas.microsoft.com/office/drawing/2014/main" id="{7E85249F-C7DA-4EC9-BC16-F97C65FED296}"/>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0" name="Rectangle 6">
            <a:extLst>
              <a:ext uri="{FF2B5EF4-FFF2-40B4-BE49-F238E27FC236}">
                <a16:creationId xmlns:a16="http://schemas.microsoft.com/office/drawing/2014/main" id="{B0548135-DDF8-4AEE-96EE-D44D004E4C3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1" name="Rectangle 8">
            <a:extLst>
              <a:ext uri="{FF2B5EF4-FFF2-40B4-BE49-F238E27FC236}">
                <a16:creationId xmlns:a16="http://schemas.microsoft.com/office/drawing/2014/main" id="{D85AB777-BEAE-4E75-90E1-20239E0C775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2" name="Rectangle 10">
            <a:extLst>
              <a:ext uri="{FF2B5EF4-FFF2-40B4-BE49-F238E27FC236}">
                <a16:creationId xmlns:a16="http://schemas.microsoft.com/office/drawing/2014/main" id="{FEE2C88B-4FC1-41C1-9DEF-FB5F84077C2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3" name="Rectangle 2">
            <a:extLst>
              <a:ext uri="{FF2B5EF4-FFF2-40B4-BE49-F238E27FC236}">
                <a16:creationId xmlns:a16="http://schemas.microsoft.com/office/drawing/2014/main" id="{6C074B7A-BC92-4B51-AD9D-288A8557099E}"/>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4" name="Rectangle 4">
            <a:extLst>
              <a:ext uri="{FF2B5EF4-FFF2-40B4-BE49-F238E27FC236}">
                <a16:creationId xmlns:a16="http://schemas.microsoft.com/office/drawing/2014/main" id="{4FF8C556-9B7D-4F27-8DCF-0DC76F1476DA}"/>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31765" name="Rectangle 7">
            <a:extLst>
              <a:ext uri="{FF2B5EF4-FFF2-40B4-BE49-F238E27FC236}">
                <a16:creationId xmlns:a16="http://schemas.microsoft.com/office/drawing/2014/main" id="{140B5F16-6D39-4E6C-9E4C-7CC0B9E5980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25" name="Picture 24">
            <a:extLst>
              <a:ext uri="{FF2B5EF4-FFF2-40B4-BE49-F238E27FC236}">
                <a16:creationId xmlns:a16="http://schemas.microsoft.com/office/drawing/2014/main" id="{79DF8142-E08F-4575-8821-EAC70723FD15}"/>
              </a:ext>
            </a:extLst>
          </p:cNvPr>
          <p:cNvPicPr/>
          <p:nvPr/>
        </p:nvPicPr>
        <p:blipFill>
          <a:blip r:embed="rId2">
            <a:duotone>
              <a:prstClr val="black"/>
              <a:schemeClr val="tx2">
                <a:tint val="45000"/>
                <a:satMod val="400000"/>
              </a:schemeClr>
            </a:duotone>
          </a:blip>
          <a:srcRect l="801" t="3887" r="2404" b="2120"/>
          <a:stretch>
            <a:fillRect/>
          </a:stretch>
        </p:blipFill>
        <p:spPr bwMode="auto">
          <a:xfrm rot="21540000">
            <a:off x="345665" y="2062334"/>
            <a:ext cx="5420616" cy="3309032"/>
          </a:xfrm>
          <a:prstGeom prst="rect">
            <a:avLst/>
          </a:prstGeom>
          <a:ln>
            <a:noFill/>
          </a:ln>
          <a:effectLst>
            <a:outerShdw blurRad="292100" dist="139700" dir="2700000" algn="tl" rotWithShape="0">
              <a:srgbClr val="333333">
                <a:alpha val="65000"/>
              </a:srgbClr>
            </a:outerShdw>
          </a:effectLst>
        </p:spPr>
      </p:pic>
      <p:pic>
        <p:nvPicPr>
          <p:cNvPr id="26" name="Picture 25">
            <a:extLst>
              <a:ext uri="{FF2B5EF4-FFF2-40B4-BE49-F238E27FC236}">
                <a16:creationId xmlns:a16="http://schemas.microsoft.com/office/drawing/2014/main" id="{E23496FC-9112-4465-A224-015CB949BC4F}"/>
              </a:ext>
            </a:extLst>
          </p:cNvPr>
          <p:cNvPicPr/>
          <p:nvPr/>
        </p:nvPicPr>
        <p:blipFill>
          <a:blip r:embed="rId3">
            <a:duotone>
              <a:prstClr val="black"/>
              <a:schemeClr val="accent1">
                <a:tint val="45000"/>
                <a:satMod val="400000"/>
              </a:schemeClr>
            </a:duotone>
          </a:blip>
          <a:srcRect l="1820"/>
          <a:stretch>
            <a:fillRect/>
          </a:stretch>
        </p:blipFill>
        <p:spPr bwMode="auto">
          <a:xfrm rot="21540000">
            <a:off x="6275655" y="3310653"/>
            <a:ext cx="5756789" cy="3082677"/>
          </a:xfrm>
          <a:prstGeom prst="rect">
            <a:avLst/>
          </a:prstGeom>
          <a:ln>
            <a:noFill/>
          </a:ln>
          <a:effectLst>
            <a:outerShdw blurRad="292100" dist="139700" dir="2700000" algn="tl" rotWithShape="0">
              <a:srgbClr val="333333">
                <a:alpha val="65000"/>
              </a:srgbClr>
            </a:outerShdw>
          </a:effectLst>
        </p:spPr>
      </p:pic>
      <p:sp>
        <p:nvSpPr>
          <p:cNvPr id="31768" name="Rectangle 26">
            <a:extLst>
              <a:ext uri="{FF2B5EF4-FFF2-40B4-BE49-F238E27FC236}">
                <a16:creationId xmlns:a16="http://schemas.microsoft.com/office/drawing/2014/main" id="{C156652D-4D3A-49DD-A857-8563CC33D6A8}"/>
              </a:ext>
            </a:extLst>
          </p:cNvPr>
          <p:cNvSpPr>
            <a:spLocks noChangeArrowheads="1"/>
          </p:cNvSpPr>
          <p:nvPr/>
        </p:nvSpPr>
        <p:spPr bwMode="auto">
          <a:xfrm>
            <a:off x="1018652" y="1439584"/>
            <a:ext cx="381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latin typeface="Arial" panose="020B0604020202020204" pitchFamily="34" charset="0"/>
              </a:rPr>
              <a:t>Power-flow diagrams for Generator</a:t>
            </a:r>
          </a:p>
        </p:txBody>
      </p:sp>
      <p:sp>
        <p:nvSpPr>
          <p:cNvPr id="31769" name="Rectangle 27">
            <a:extLst>
              <a:ext uri="{FF2B5EF4-FFF2-40B4-BE49-F238E27FC236}">
                <a16:creationId xmlns:a16="http://schemas.microsoft.com/office/drawing/2014/main" id="{01088F94-9FE5-4927-95E7-8F13A67FC68F}"/>
              </a:ext>
            </a:extLst>
          </p:cNvPr>
          <p:cNvSpPr>
            <a:spLocks noChangeArrowheads="1"/>
          </p:cNvSpPr>
          <p:nvPr/>
        </p:nvSpPr>
        <p:spPr bwMode="auto">
          <a:xfrm>
            <a:off x="7363350" y="2370211"/>
            <a:ext cx="358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US" sz="1800" dirty="0">
                <a:solidFill>
                  <a:srgbClr val="0070C0"/>
                </a:solidFill>
                <a:latin typeface="Arial" panose="020B0604020202020204" pitchFamily="34" charset="0"/>
              </a:rPr>
              <a:t>Power-flow diagrams for Motor.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8732</TotalTime>
  <Words>2263</Words>
  <Application>Microsoft Office PowerPoint</Application>
  <PresentationFormat>Widescreen</PresentationFormat>
  <Paragraphs>271</Paragraphs>
  <Slides>42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Aptos</vt:lpstr>
      <vt:lpstr>Arial</vt:lpstr>
      <vt:lpstr>Calibri</vt:lpstr>
      <vt:lpstr>Times New Roman</vt:lpstr>
      <vt:lpstr>Wingdings 2</vt:lpstr>
      <vt:lpstr>Office Theme</vt:lpstr>
      <vt:lpstr>Visio</vt:lpstr>
      <vt:lpstr>DC Machine</vt:lpstr>
      <vt:lpstr>PowerPoint Presentation</vt:lpstr>
      <vt:lpstr>Direct Current (DC) Machines Fundamentals</vt:lpstr>
      <vt:lpstr>DC Machine Construction</vt:lpstr>
      <vt:lpstr>DC Machine Construction</vt:lpstr>
      <vt:lpstr>DC Machine Construction</vt:lpstr>
      <vt:lpstr>DC Machine Construction</vt:lpstr>
      <vt:lpstr>EMF Equation of DC Generator</vt:lpstr>
      <vt:lpstr>PowerPoint Presentation</vt:lpstr>
      <vt:lpstr>PowerPoint Presentation</vt:lpstr>
      <vt:lpstr>PowerPoint Presentation</vt:lpstr>
      <vt:lpstr>Type of DC GENERATORS</vt:lpstr>
      <vt:lpstr>The Equivalent Circuit of a DC Generator</vt:lpstr>
      <vt:lpstr>Magnetizing curve of a DC Generator &amp; performance</vt:lpstr>
      <vt:lpstr>The Separately Excited Generator</vt:lpstr>
      <vt:lpstr>The Separately Excited Generator</vt:lpstr>
      <vt:lpstr>The Separately Excited Generator</vt:lpstr>
      <vt:lpstr>The Shunt Generator</vt:lpstr>
      <vt:lpstr>Shunt Generator</vt:lpstr>
      <vt:lpstr> Shunt Generator</vt:lpstr>
      <vt:lpstr>Shunt Generator</vt:lpstr>
      <vt:lpstr>Shunt Generator</vt:lpstr>
      <vt:lpstr>SERIES DC GENERATOR</vt:lpstr>
      <vt:lpstr>SERIES DC GENERATOR</vt:lpstr>
      <vt:lpstr>CUMULATIVELY COMPOUNDED DC GENERATOR</vt:lpstr>
      <vt:lpstr>The Compound Generator</vt:lpstr>
      <vt:lpstr>The Compound Generator</vt:lpstr>
      <vt:lpstr>Commutation Process</vt:lpstr>
      <vt:lpstr>Commutation Process</vt:lpstr>
      <vt:lpstr>Commutation Process</vt:lpstr>
      <vt:lpstr>Commutation Process</vt:lpstr>
      <vt:lpstr>Problems with Commutation in Real Machines</vt:lpstr>
      <vt:lpstr>Problems with Commutation in Real Machines</vt:lpstr>
      <vt:lpstr>Solutions to Problems with Commutation in Real Machines</vt:lpstr>
      <vt:lpstr>Solutions to Problems with Commutation in Real Machines</vt:lpstr>
      <vt:lpstr>Solutions to Problems with Commutation in Real Machines</vt:lpstr>
      <vt:lpstr>PowerPoint Presentation</vt:lpstr>
      <vt:lpstr>The Internal Generated Voltage Equations Of Real Machines</vt:lpstr>
      <vt:lpstr>The Induce Torque Equations Of Real Machines</vt:lpstr>
      <vt:lpstr>Power Flow and Losses in DC Machines</vt:lpstr>
      <vt:lpstr>Power Flow and Losses in DC Machines</vt:lpstr>
      <vt:lpstr>The Power-Flow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Ashish Kumar [MU - Jaipur]</dc:creator>
  <cp:lastModifiedBy>Dr. Vinay Gupta [MU - Jaipur]</cp:lastModifiedBy>
  <cp:revision>10</cp:revision>
  <dcterms:created xsi:type="dcterms:W3CDTF">2025-10-01T15:47:58Z</dcterms:created>
  <dcterms:modified xsi:type="dcterms:W3CDTF">2026-08-19T10:30:29Z</dcterms:modified>
</cp:coreProperties>
</file>