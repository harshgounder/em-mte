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N01 opener. Tell the student: this file covers construction + working + loss overview. The full EMF derivation is N02, equivalent circuits N04. Sources: 1ph deck slides 1-13/32-33, notes pages 383-385/394/402, A1 Q1/Q20.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grammar: marks are components. The A1-01 answer shape is the 5-step skeleton on the right. The KEY DISTINCTION card prevents a whole class of wrong-answer losses (students import mechanical losses from the DC machine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A1-01 part 1. The drawing is the marks anchor: yoke, limb, LV, HV, insulation, bushings, tank. Sources: 1ph deck slides 4-9 (construction), notes 383-385. CRGO + lamination thickness 0.27-0.35 mm named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slide 9 wording verbatim: 'In core type the winding surrounds the core. In shell type the core surrounds the winding.' The single-phase shell-type construction shows (a) the 3-limb core with windings on the middle leg (deck figure b/c). Label checklist for exam drawing: limbs, winding placement, flux path arrows.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slides 5-8: concentric/sandwich coil types, LV next to core reasoning, thick/few vs thin/many turns. This slide answers 'explain the winding arrangement' follow-ups in A1-01.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answer to A1-18 (why laminated core) and the 'reduce the losses' half of A1-20. The t-squared line is the marks point. Deck slide 32 gives both formulas; notes give the laminations/silicon-steel reduction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A1-01 part 2 + A1-02 preview. The 6-step story is the written answer skeleton. Full EMF derivation is N02; this slide names Faraday and shows the formula as a preview. Sources: 1ph deck slides 10-12 (Faraday + flux sine + 90 deg emf lag), notes 386-387.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graph labels the 90-degree lag between flux and induced emf (deck slides 11-12). The right graph is the classic DC failure picture. This slide also plants A1-17's seed: at no load the primary draws only the small magnetising + core-loss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A1-20 first half. Formulas from 1ph deck slide 32 + notes 397/402. The hysteresis loop with Bm, Br, Hc labels is the drawn-graph marks. Preview of N09 (losses + kVA full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A1-20 second half + A1-19. The kVA argument is one of the guaranteed reasoning questions (notes page 394 gives the exact argument). Reduction methods verbatim from notes 419 losses page (eddy -&gt; laminations, hysteresis -&gt; silicon steel).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examinable prose. The student should be able to rewrite this from memory after two passes. Every claim here is sourced from the decks/notes; nothing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The memory dump is the cold-reproduction artifact: student writes it on blank paper and repairs only failed lines. Next files: N02 (EMF equation derivation), N04 (equivalent circuits), N07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B33"/>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400" b="1" spc="200" kern="0" dirty="0">
                <a:solidFill>
                  <a:srgbClr val="D9822B"/>
                </a:solidFill>
                <a:latin typeface="Cambria" pitchFamily="34" charset="0"/>
                <a:ea typeface="Cambria" pitchFamily="34" charset="-122"/>
                <a:cs typeface="Cambria" pitchFamily="34" charset="-120"/>
              </a:rPr>
              <a:t>ELC2104  |  ELECTRICAL MACHINES  |  MTE</a:t>
            </a:r>
            <a:endParaRPr lang="en-US" sz="1400" dirty="0"/>
          </a:p>
        </p:txBody>
      </p:sp>
      <p:sp>
        <p:nvSpPr>
          <p:cNvPr id="3" name="Text 1"/>
          <p:cNvSpPr/>
          <p:nvPr/>
        </p:nvSpPr>
        <p:spPr>
          <a:xfrm>
            <a:off x="548640" y="1005840"/>
            <a:ext cx="109728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N01: Single Phase Transformer</a:t>
            </a:r>
            <a:endParaRPr lang="en-US" sz="4400" dirty="0"/>
          </a:p>
        </p:txBody>
      </p:sp>
      <p:sp>
        <p:nvSpPr>
          <p:cNvPr id="4" name="Text 2"/>
          <p:cNvSpPr/>
          <p:nvPr/>
        </p:nvSpPr>
        <p:spPr>
          <a:xfrm>
            <a:off x="548640" y="1828800"/>
            <a:ext cx="10972800" cy="457200"/>
          </a:xfrm>
          <a:prstGeom prst="rect">
            <a:avLst/>
          </a:prstGeom>
          <a:noFill/>
          <a:ln/>
        </p:spPr>
        <p:txBody>
          <a:bodyPr wrap="square" lIns="0" tIns="0" rIns="0" bIns="0" rtlCol="0" anchor="ctr"/>
          <a:lstStyle/>
          <a:p>
            <a:pPr indent="0" marL="0">
              <a:buNone/>
            </a:pPr>
            <a:r>
              <a:rPr lang="en-US" sz="2200" dirty="0">
                <a:solidFill>
                  <a:srgbClr val="D8CFC6"/>
                </a:solidFill>
                <a:latin typeface="Cambria" pitchFamily="34" charset="0"/>
                <a:ea typeface="Cambria" pitchFamily="34" charset="-122"/>
                <a:cs typeface="Cambria" pitchFamily="34" charset="-120"/>
              </a:rPr>
              <a:t>Construction, Working Principle, and Losses</a:t>
            </a:r>
            <a:endParaRPr lang="en-US" sz="2200" dirty="0"/>
          </a:p>
        </p:txBody>
      </p:sp>
      <p:sp>
        <p:nvSpPr>
          <p:cNvPr id="5" name="Text 3"/>
          <p:cNvSpPr/>
          <p:nvPr/>
        </p:nvSpPr>
        <p:spPr>
          <a:xfrm>
            <a:off x="548640" y="2468880"/>
            <a:ext cx="10789920" cy="548640"/>
          </a:xfrm>
          <a:prstGeom prst="rect">
            <a:avLst/>
          </a:prstGeom>
          <a:noFill/>
          <a:ln/>
        </p:spPr>
        <p:txBody>
          <a:bodyPr wrap="square" lIns="0" tIns="0" rIns="0" bIns="0" rtlCol="0" anchor="ctr"/>
          <a:lstStyle/>
          <a:p>
            <a:pPr indent="0" marL="0">
              <a:buNone/>
            </a:pPr>
            <a:r>
              <a:rPr lang="en-US" sz="1400" i="1" dirty="0">
                <a:solidFill>
                  <a:srgbClr val="BFB6AC"/>
                </a:solidFill>
                <a:latin typeface="Calibri" pitchFamily="34" charset="0"/>
                <a:ea typeface="Calibri" pitchFamily="34" charset="-122"/>
                <a:cs typeface="Calibri" pitchFamily="34" charset="-120"/>
              </a:rPr>
              <a:t>Built to be EXPLAINED in the paper, not just recited. Every part has a function, every function has a one-line reason, every graph has a label checklist.</a:t>
            </a:r>
            <a:endParaRPr lang="en-US" sz="1400" dirty="0"/>
          </a:p>
        </p:txBody>
      </p:sp>
      <p:sp>
        <p:nvSpPr>
          <p:cNvPr id="6" name="Shape 4"/>
          <p:cNvSpPr/>
          <p:nvPr/>
        </p:nvSpPr>
        <p:spPr>
          <a:xfrm>
            <a:off x="548640" y="3291840"/>
            <a:ext cx="11064240" cy="1371600"/>
          </a:xfrm>
          <a:prstGeom prst="roundRect">
            <a:avLst>
              <a:gd name="adj" fmla="val 5333"/>
            </a:avLst>
          </a:prstGeom>
          <a:solidFill>
            <a:srgbClr val="323945"/>
          </a:solidFill>
          <a:ln/>
          <a:effectLst>
            <a:outerShdw sx="100000" sy="100000" kx="0" ky="0" algn="bl" rotWithShape="0" blurRad="38100" dist="12700" dir="5400000">
              <a:srgbClr val="BBBBBB">
                <a:alpha val="35000"/>
              </a:srgbClr>
            </a:outerShdw>
          </a:effectLst>
        </p:spPr>
      </p:sp>
      <p:sp>
        <p:nvSpPr>
          <p:cNvPr id="7" name="Text 5"/>
          <p:cNvSpPr/>
          <p:nvPr/>
        </p:nvSpPr>
        <p:spPr>
          <a:xfrm>
            <a:off x="777240" y="3429000"/>
            <a:ext cx="10607040" cy="1143000"/>
          </a:xfrm>
          <a:prstGeom prst="rect">
            <a:avLst/>
          </a:prstGeom>
          <a:noFill/>
          <a:ln/>
        </p:spPr>
        <p:txBody>
          <a:bodyPr wrap="square" lIns="0" tIns="0" rIns="0" bIns="0" rtlCol="0" anchor="t"/>
          <a:lstStyle/>
          <a:p>
            <a:pPr indent="0" marL="0">
              <a:buNone/>
            </a:pPr>
            <a:r>
              <a:rPr lang="en-US" sz="1300" b="1" dirty="0">
                <a:solidFill>
                  <a:srgbClr val="D9822B"/>
                </a:solidFill>
                <a:latin typeface="Calibri" pitchFamily="34" charset="0"/>
                <a:ea typeface="Calibri" pitchFamily="34" charset="-122"/>
                <a:cs typeface="Calibri" pitchFamily="34" charset="-120"/>
              </a:rPr>
              <a:t>QUESTION SHAPES THIS FILE ANSWERS
</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A1-01: </a:t>
            </a:r>
            <a:pPr indent="0" marL="0">
              <a:buNone/>
            </a:pPr>
            <a:r>
              <a:rPr lang="en-US" sz="1300" dirty="0">
                <a:solidFill>
                  <a:srgbClr val="E3DCD4"/>
                </a:solidFill>
                <a:latin typeface="Calibri" pitchFamily="34" charset="0"/>
                <a:ea typeface="Calibri" pitchFamily="34" charset="-122"/>
                <a:cs typeface="Calibri" pitchFamily="34" charset="-120"/>
              </a:rPr>
              <a:t>Explain the construction and working of a single phase transformer.
</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A1-20: </a:t>
            </a:r>
            <a:pPr indent="0" marL="0">
              <a:buNone/>
            </a:pPr>
            <a:r>
              <a:rPr lang="en-US" sz="1300" dirty="0">
                <a:solidFill>
                  <a:srgbClr val="E3DCD4"/>
                </a:solidFill>
                <a:latin typeface="Calibri" pitchFamily="34" charset="0"/>
                <a:ea typeface="Calibri" pitchFamily="34" charset="-122"/>
                <a:cs typeface="Calibri" pitchFamily="34" charset="-120"/>
              </a:rPr>
              <a:t>List the losses in a transformer and explain how to reduce them.</a:t>
            </a:r>
            <a:endParaRPr lang="en-US" sz="1300" dirty="0"/>
          </a:p>
        </p:txBody>
      </p:sp>
      <p:sp>
        <p:nvSpPr>
          <p:cNvPr id="8" name="Text 6"/>
          <p:cNvSpPr/>
          <p:nvPr/>
        </p:nvSpPr>
        <p:spPr>
          <a:xfrm>
            <a:off x="548640" y="5029200"/>
            <a:ext cx="10972800" cy="365760"/>
          </a:xfrm>
          <a:prstGeom prst="rect">
            <a:avLst/>
          </a:prstGeom>
          <a:noFill/>
          <a:ln/>
        </p:spPr>
        <p:txBody>
          <a:bodyPr wrap="square" lIns="0" tIns="0" rIns="0" bIns="0" rtlCol="0" anchor="ctr"/>
          <a:lstStyle/>
          <a:p>
            <a:pPr indent="0" marL="0">
              <a:buNone/>
            </a:pPr>
            <a:r>
              <a:rPr lang="en-US" sz="1200" i="1" dirty="0">
                <a:solidFill>
                  <a:srgbClr val="9C948B"/>
                </a:solidFill>
                <a:latin typeface="Calibri" pitchFamily="34" charset="0"/>
                <a:ea typeface="Calibri" pitchFamily="34" charset="-122"/>
                <a:cs typeface="Calibri" pitchFamily="34" charset="-120"/>
              </a:rPr>
              <a:t>Honest note: understanding beats rereading. After each slide, close it and say the explanation out loud once.</a:t>
            </a:r>
            <a:endParaRPr lang="en-US" sz="1200" dirty="0"/>
          </a:p>
        </p:txBody>
      </p:sp>
      <p:sp>
        <p:nvSpPr>
          <p:cNvPr id="9" name="Text 7"/>
          <p:cNvSpPr/>
          <p:nvPr/>
        </p:nvSpPr>
        <p:spPr>
          <a:xfrm>
            <a:off x="548640" y="6217920"/>
            <a:ext cx="10972800" cy="274320"/>
          </a:xfrm>
          <a:prstGeom prst="rect">
            <a:avLst/>
          </a:prstGeom>
          <a:noFill/>
          <a:ln/>
        </p:spPr>
        <p:txBody>
          <a:bodyPr wrap="square" lIns="0" tIns="0" rIns="0" bIns="0" rtlCol="0" anchor="ctr"/>
          <a:lstStyle/>
          <a:p>
            <a:pPr indent="0" marL="0">
              <a:buNone/>
            </a:pPr>
            <a:r>
              <a:rPr lang="en-US" sz="1000" dirty="0">
                <a:solidFill>
                  <a:srgbClr val="7A736B"/>
                </a:solidFill>
                <a:latin typeface="Calibri" pitchFamily="34" charset="0"/>
                <a:ea typeface="Calibri" pitchFamily="34" charset="-122"/>
                <a:cs typeface="Calibri" pitchFamily="34" charset="-120"/>
              </a:rPr>
              <a:t>EM-MTE notes set  |  N01 of N25  |  source-verified against LMS decks + handwritten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2800" b="1" dirty="0">
                <a:solidFill>
                  <a:srgbClr val="8C4A2F"/>
                </a:solidFill>
                <a:latin typeface="Cambria" pitchFamily="34" charset="0"/>
                <a:ea typeface="Cambria" pitchFamily="34" charset="-122"/>
                <a:cs typeface="Cambria" pitchFamily="34" charset="-120"/>
              </a:rPr>
              <a:t>Question shape and the mark grammar</a:t>
            </a:r>
            <a:endParaRPr lang="en-US" sz="2800" dirty="0"/>
          </a:p>
        </p:txBody>
      </p:sp>
      <p:sp>
        <p:nvSpPr>
          <p:cNvPr id="3" name="Shape 1"/>
          <p:cNvSpPr/>
          <p:nvPr/>
        </p:nvSpPr>
        <p:spPr>
          <a:xfrm>
            <a:off x="457200" y="914400"/>
            <a:ext cx="2011680" cy="292608"/>
          </a:xfrm>
          <a:prstGeom prst="roundRect">
            <a:avLst>
              <a:gd name="adj" fmla="val 50000"/>
            </a:avLst>
          </a:prstGeom>
          <a:solidFill>
            <a:srgbClr val="8C4A2F"/>
          </a:solidFill>
          <a:ln/>
        </p:spPr>
      </p:sp>
      <p:sp>
        <p:nvSpPr>
          <p:cNvPr id="4" name="Text 2"/>
          <p:cNvSpPr/>
          <p:nvPr/>
        </p:nvSpPr>
        <p:spPr>
          <a:xfrm>
            <a:off x="457200" y="914400"/>
            <a:ext cx="2011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mbria" pitchFamily="34" charset="0"/>
                <a:ea typeface="Cambria" pitchFamily="34" charset="-122"/>
                <a:cs typeface="Cambria" pitchFamily="34" charset="-120"/>
              </a:rPr>
              <a:t>READ THIS FIRST</a:t>
            </a:r>
            <a:endParaRPr lang="en-US" sz="1100" dirty="0"/>
          </a:p>
        </p:txBody>
      </p:sp>
      <p:sp>
        <p:nvSpPr>
          <p:cNvPr id="5" name="Shape 3"/>
          <p:cNvSpPr/>
          <p:nvPr/>
        </p:nvSpPr>
        <p:spPr>
          <a:xfrm>
            <a:off x="457200" y="1371600"/>
            <a:ext cx="5577840" cy="2377440"/>
          </a:xfrm>
          <a:prstGeom prst="roundRect">
            <a:avLst>
              <a:gd name="adj" fmla="val 3077"/>
            </a:avLst>
          </a:prstGeom>
          <a:solidFill>
            <a:srgbClr val="F6F4F1"/>
          </a:solidFill>
          <a:ln/>
          <a:effectLst>
            <a:outerShdw sx="100000" sy="100000" kx="0" ky="0" algn="bl" rotWithShape="0" blurRad="38100" dist="12700" dir="5400000">
              <a:srgbClr val="BBBBBB">
                <a:alpha val="35000"/>
              </a:srgbClr>
            </a:outerShdw>
          </a:effectLst>
        </p:spPr>
      </p:sp>
      <p:sp>
        <p:nvSpPr>
          <p:cNvPr id="6" name="Text 4"/>
          <p:cNvSpPr/>
          <p:nvPr/>
        </p:nvSpPr>
        <p:spPr>
          <a:xfrm>
            <a:off x="685800" y="1554480"/>
            <a:ext cx="5120640" cy="2011680"/>
          </a:xfrm>
          <a:prstGeom prst="rect">
            <a:avLst/>
          </a:prstGeom>
          <a:noFill/>
          <a:ln/>
        </p:spPr>
        <p:txBody>
          <a:bodyPr wrap="square" lIns="0" tIns="0" rIns="0" bIns="0" rtlCol="0" anchor="t"/>
          <a:lstStyle/>
          <a:p>
            <a:pPr indent="0" marL="0">
              <a:buNone/>
            </a:pPr>
            <a:r>
              <a:rPr lang="en-US" sz="1400" b="1" dirty="0">
                <a:solidFill>
                  <a:srgbClr val="8C4A2F"/>
                </a:solidFill>
                <a:latin typeface="Calibri" pitchFamily="34" charset="0"/>
                <a:ea typeface="Calibri" pitchFamily="34" charset="-122"/>
                <a:cs typeface="Calibri" pitchFamily="34" charset="-120"/>
              </a:rPr>
              <a:t>A1-01 (the big one): </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Explain the construction and working of a single phase transformer.
</a:t>
            </a:r>
            <a:endParaRPr lang="en-US" sz="1400" dirty="0"/>
          </a:p>
          <a:p>
            <a:pPr indent="0" marL="0">
              <a:buNone/>
            </a:pPr>
            <a:r>
              <a:rPr lang="en-US" sz="1400" b="1" dirty="0">
                <a:solidFill>
                  <a:srgbClr val="8C4A2F"/>
                </a:solidFill>
                <a:latin typeface="Calibri" pitchFamily="34" charset="0"/>
                <a:ea typeface="Calibri" pitchFamily="34" charset="-122"/>
                <a:cs typeface="Calibri" pitchFamily="34" charset="-120"/>
              </a:rPr>
              <a:t>A1-20: </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What are the losses in a transformer? Explain the methods to reduce them.</a:t>
            </a:r>
            <a:endParaRPr lang="en-US" sz="1400" dirty="0"/>
          </a:p>
        </p:txBody>
      </p:sp>
      <p:sp>
        <p:nvSpPr>
          <p:cNvPr id="7" name="Shape 5"/>
          <p:cNvSpPr/>
          <p:nvPr/>
        </p:nvSpPr>
        <p:spPr>
          <a:xfrm>
            <a:off x="6309360" y="1371600"/>
            <a:ext cx="5394960" cy="2377440"/>
          </a:xfrm>
          <a:prstGeom prst="roundRect">
            <a:avLst>
              <a:gd name="adj" fmla="val 3077"/>
            </a:avLst>
          </a:prstGeom>
          <a:solidFill>
            <a:srgbClr val="EDE7E0"/>
          </a:solidFill>
          <a:ln/>
          <a:effectLst>
            <a:outerShdw sx="100000" sy="100000" kx="0" ky="0" algn="bl" rotWithShape="0" blurRad="38100" dist="12700" dir="5400000">
              <a:srgbClr val="BBBBBB">
                <a:alpha val="35000"/>
              </a:srgbClr>
            </a:outerShdw>
          </a:effectLst>
        </p:spPr>
      </p:sp>
      <p:sp>
        <p:nvSpPr>
          <p:cNvPr id="8" name="Text 6"/>
          <p:cNvSpPr/>
          <p:nvPr/>
        </p:nvSpPr>
        <p:spPr>
          <a:xfrm>
            <a:off x="6492240" y="1554480"/>
            <a:ext cx="5029200" cy="2011680"/>
          </a:xfrm>
          <a:prstGeom prst="rect">
            <a:avLst/>
          </a:prstGeom>
          <a:noFill/>
          <a:ln/>
        </p:spPr>
        <p:txBody>
          <a:bodyPr wrap="square" lIns="0" tIns="0" rIns="0" bIns="0" rtlCol="0" anchor="t"/>
          <a:lstStyle/>
          <a:p>
            <a:pPr indent="0" marL="0">
              <a:spcAft>
                <a:spcPts val="600"/>
              </a:spcAft>
              <a:buNone/>
            </a:pPr>
            <a:r>
              <a:rPr lang="en-US" sz="1300" b="1" dirty="0">
                <a:solidFill>
                  <a:srgbClr val="8C4A2F"/>
                </a:solidFill>
                <a:latin typeface="Calibri" pitchFamily="34" charset="0"/>
                <a:ea typeface="Calibri" pitchFamily="34" charset="-122"/>
                <a:cs typeface="Calibri" pitchFamily="34" charset="-120"/>
              </a:rPr>
              <a:t>WHAT TO WRITE (mark components, in order)
</a:t>
            </a:r>
            <a:endParaRPr lang="en-US" sz="1250" dirty="0"/>
          </a:p>
          <a:p>
            <a:pPr marL="342900" indent="-342900">
              <a:spcAft>
                <a:spcPts val="400"/>
              </a:spcAft>
              <a:buSzPct val="100000"/>
              <a:buChar char="•"/>
            </a:pPr>
            <a:r>
              <a:rPr lang="en-US" sz="1250" dirty="0">
                <a:solidFill>
                  <a:srgbClr val="2B2B2B"/>
                </a:solidFill>
                <a:latin typeface="Calibri" pitchFamily="34" charset="0"/>
                <a:ea typeface="Calibri" pitchFamily="34" charset="-122"/>
                <a:cs typeface="Calibri" pitchFamily="34" charset="-120"/>
              </a:rPr>
              <a:t>1. One-line definition (transformer = static machine, mutual induction)</a:t>
            </a:r>
            <a:endParaRPr lang="en-US" sz="1250" dirty="0"/>
          </a:p>
          <a:p>
            <a:pPr marL="342900" indent="-342900">
              <a:spcAft>
                <a:spcPts val="400"/>
              </a:spcAft>
              <a:buSzPct val="100000"/>
              <a:buChar char="•"/>
            </a:pPr>
            <a:r>
              <a:rPr lang="en-US" sz="1250" dirty="0">
                <a:solidFill>
                  <a:srgbClr val="2B2B2B"/>
                </a:solidFill>
                <a:latin typeface="Calibri" pitchFamily="34" charset="0"/>
                <a:ea typeface="Calibri" pitchFamily="34" charset="-122"/>
                <a:cs typeface="Calibri" pitchFamily="34" charset="-120"/>
              </a:rPr>
              <a:t>2. The construction diagram, fully labeled (diagram marks)</a:t>
            </a:r>
            <a:endParaRPr lang="en-US" sz="1250" dirty="0"/>
          </a:p>
          <a:p>
            <a:pPr marL="342900" indent="-342900">
              <a:spcAft>
                <a:spcPts val="400"/>
              </a:spcAft>
              <a:buSzPct val="100000"/>
              <a:buChar char="•"/>
            </a:pPr>
            <a:r>
              <a:rPr lang="en-US" sz="1250" dirty="0">
                <a:solidFill>
                  <a:srgbClr val="2B2B2B"/>
                </a:solidFill>
                <a:latin typeface="Calibri" pitchFamily="34" charset="0"/>
                <a:ea typeface="Calibri" pitchFamily="34" charset="-122"/>
                <a:cs typeface="Calibri" pitchFamily="34" charset="-120"/>
              </a:rPr>
              <a:t>3. Each part + its function in one line (2 marks live here)</a:t>
            </a:r>
            <a:endParaRPr lang="en-US" sz="1250" dirty="0"/>
          </a:p>
          <a:p>
            <a:pPr marL="342900" indent="-342900">
              <a:spcAft>
                <a:spcPts val="400"/>
              </a:spcAft>
              <a:buSzPct val="100000"/>
              <a:buChar char="•"/>
            </a:pPr>
            <a:r>
              <a:rPr lang="en-US" sz="1250" dirty="0">
                <a:solidFill>
                  <a:srgbClr val="2B2B2B"/>
                </a:solidFill>
                <a:latin typeface="Calibri" pitchFamily="34" charset="0"/>
                <a:ea typeface="Calibri" pitchFamily="34" charset="-122"/>
                <a:cs typeface="Calibri" pitchFamily="34" charset="-120"/>
              </a:rPr>
              <a:t>4. Working: the 6-step flux story + Faraday's law named</a:t>
            </a:r>
            <a:endParaRPr lang="en-US" sz="1250" dirty="0"/>
          </a:p>
          <a:p>
            <a:pPr marL="342900" indent="-342900">
              <a:spcAft>
                <a:spcPts val="400"/>
              </a:spcAft>
              <a:buSzPct val="100000"/>
              <a:buChar char="•"/>
            </a:pPr>
            <a:r>
              <a:rPr lang="en-US" sz="1250" dirty="0">
                <a:solidFill>
                  <a:srgbClr val="2B2B2B"/>
                </a:solidFill>
                <a:latin typeface="Calibri" pitchFamily="34" charset="0"/>
                <a:ea typeface="Calibri" pitchFamily="34" charset="-122"/>
                <a:cs typeface="Calibri" pitchFamily="34" charset="-120"/>
              </a:rPr>
              <a:t>5. One-line conclusion (voltage transforms, frequency does not)</a:t>
            </a:r>
            <a:endParaRPr lang="en-US" sz="1250" dirty="0"/>
          </a:p>
        </p:txBody>
      </p:sp>
      <p:sp>
        <p:nvSpPr>
          <p:cNvPr id="9" name="Shape 7"/>
          <p:cNvSpPr/>
          <p:nvPr/>
        </p:nvSpPr>
        <p:spPr>
          <a:xfrm>
            <a:off x="457200" y="3977640"/>
            <a:ext cx="11247120" cy="1234440"/>
          </a:xfrm>
          <a:prstGeom prst="roundRect">
            <a:avLst>
              <a:gd name="adj" fmla="val 5926"/>
            </a:avLst>
          </a:prstGeom>
          <a:solidFill>
            <a:srgbClr val="F6F4F1"/>
          </a:solidFill>
          <a:ln/>
          <a:effectLst>
            <a:outerShdw sx="100000" sy="100000" kx="0" ky="0" algn="bl" rotWithShape="0" blurRad="38100" dist="12700" dir="5400000">
              <a:srgbClr val="BBBBBB">
                <a:alpha val="35000"/>
              </a:srgbClr>
            </a:outerShdw>
          </a:effectLst>
        </p:spPr>
      </p:sp>
      <p:sp>
        <p:nvSpPr>
          <p:cNvPr id="10" name="Text 8"/>
          <p:cNvSpPr/>
          <p:nvPr/>
        </p:nvSpPr>
        <p:spPr>
          <a:xfrm>
            <a:off x="685800" y="4160520"/>
            <a:ext cx="10789920" cy="868680"/>
          </a:xfrm>
          <a:prstGeom prst="rect">
            <a:avLst/>
          </a:prstGeom>
          <a:noFill/>
          <a:ln/>
        </p:spPr>
        <p:txBody>
          <a:bodyPr wrap="square" lIns="0" tIns="0" rIns="0" bIns="0" rtlCol="0" anchor="t"/>
          <a:lstStyle/>
          <a:p>
            <a:pPr indent="0" marL="0">
              <a:buNone/>
            </a:pPr>
            <a:r>
              <a:rPr lang="en-US" sz="1300" b="1" dirty="0">
                <a:solidFill>
                  <a:srgbClr val="B3382C"/>
                </a:solidFill>
                <a:latin typeface="Calibri" pitchFamily="34" charset="0"/>
                <a:ea typeface="Calibri" pitchFamily="34" charset="-122"/>
                <a:cs typeface="Calibri" pitchFamily="34" charset="-120"/>
              </a:rPr>
              <a:t>KEY DISTINCTION  </a:t>
            </a:r>
            <a:pPr indent="0" marL="0">
              <a:buNone/>
            </a:pPr>
            <a:r>
              <a:rPr lang="en-US" sz="1350" dirty="0">
                <a:solidFill>
                  <a:srgbClr val="2B2B2B"/>
                </a:solidFill>
                <a:latin typeface="Calibri" pitchFamily="34" charset="0"/>
                <a:ea typeface="Calibri" pitchFamily="34" charset="-122"/>
                <a:cs typeface="Calibri" pitchFamily="34" charset="-120"/>
              </a:rPr>
              <a:t>A transformer has NO rotating part and NO air gap: it is a static device. So it has no mechanical (friction/windage) losses at all. Its entire loss story is copper + iron. A DC machine problem's 'mechanical losses' never apply here.</a:t>
            </a:r>
            <a:endParaRPr lang="en-US" sz="1300" dirty="0"/>
          </a:p>
        </p:txBody>
      </p:sp>
      <p:sp>
        <p:nvSpPr>
          <p:cNvPr id="11" name="Shape 9"/>
          <p:cNvSpPr/>
          <p:nvPr/>
        </p:nvSpPr>
        <p:spPr>
          <a:xfrm>
            <a:off x="8138160" y="5577840"/>
            <a:ext cx="0" cy="640080"/>
          </a:xfrm>
          <a:prstGeom prst="line">
            <a:avLst/>
          </a:prstGeom>
          <a:noFill/>
          <a:ln w="25400">
            <a:solidFill>
              <a:srgbClr val="262B33"/>
            </a:solidFill>
            <a:prstDash val="solid"/>
          </a:ln>
        </p:spPr>
      </p:sp>
      <p:sp>
        <p:nvSpPr>
          <p:cNvPr id="12" name="Shape 10"/>
          <p:cNvSpPr/>
          <p:nvPr/>
        </p:nvSpPr>
        <p:spPr>
          <a:xfrm>
            <a:off x="8366760" y="5577840"/>
            <a:ext cx="0" cy="640080"/>
          </a:xfrm>
          <a:prstGeom prst="line">
            <a:avLst/>
          </a:prstGeom>
          <a:noFill/>
          <a:ln w="25400">
            <a:solidFill>
              <a:srgbClr val="262B33"/>
            </a:solidFill>
            <a:prstDash val="solid"/>
          </a:ln>
        </p:spPr>
      </p:sp>
      <p:sp>
        <p:nvSpPr>
          <p:cNvPr id="13" name="Shape 11"/>
          <p:cNvSpPr/>
          <p:nvPr/>
        </p:nvSpPr>
        <p:spPr>
          <a:xfrm>
            <a:off x="8915400" y="5577840"/>
            <a:ext cx="0" cy="640080"/>
          </a:xfrm>
          <a:prstGeom prst="line">
            <a:avLst/>
          </a:prstGeom>
          <a:noFill/>
          <a:ln w="25400">
            <a:solidFill>
              <a:srgbClr val="262B33"/>
            </a:solidFill>
            <a:prstDash val="solid"/>
          </a:ln>
        </p:spPr>
      </p:sp>
      <p:sp>
        <p:nvSpPr>
          <p:cNvPr id="14" name="Shape 12"/>
          <p:cNvSpPr/>
          <p:nvPr/>
        </p:nvSpPr>
        <p:spPr>
          <a:xfrm>
            <a:off x="9144000" y="5577840"/>
            <a:ext cx="0" cy="640080"/>
          </a:xfrm>
          <a:prstGeom prst="line">
            <a:avLst/>
          </a:prstGeom>
          <a:noFill/>
          <a:ln w="25400">
            <a:solidFill>
              <a:srgbClr val="262B33"/>
            </a:solidFill>
            <a:prstDash val="solid"/>
          </a:ln>
        </p:spPr>
      </p:sp>
      <p:sp>
        <p:nvSpPr>
          <p:cNvPr id="15" name="Shape 13"/>
          <p:cNvSpPr/>
          <p:nvPr/>
        </p:nvSpPr>
        <p:spPr>
          <a:xfrm>
            <a:off x="8595360" y="5897880"/>
            <a:ext cx="274320" cy="0"/>
          </a:xfrm>
          <a:prstGeom prst="line">
            <a:avLst/>
          </a:prstGeom>
          <a:noFill/>
          <a:ln w="25400">
            <a:solidFill>
              <a:srgbClr val="7D868F"/>
            </a:solidFill>
            <a:prstDash val="solid"/>
          </a:ln>
        </p:spPr>
      </p:sp>
      <p:sp>
        <p:nvSpPr>
          <p:cNvPr id="16" name="Shape 14"/>
          <p:cNvSpPr/>
          <p:nvPr/>
        </p:nvSpPr>
        <p:spPr>
          <a:xfrm>
            <a:off x="7635240" y="5897880"/>
            <a:ext cx="457200" cy="0"/>
          </a:xfrm>
          <a:prstGeom prst="line">
            <a:avLst/>
          </a:prstGeom>
          <a:noFill/>
          <a:ln w="25400">
            <a:solidFill>
              <a:srgbClr val="D9822B"/>
            </a:solidFill>
            <a:prstDash val="solid"/>
            <a:tailEnd type="triangle"/>
          </a:ln>
        </p:spPr>
      </p:sp>
      <p:sp>
        <p:nvSpPr>
          <p:cNvPr id="17" name="Shape 15"/>
          <p:cNvSpPr/>
          <p:nvPr/>
        </p:nvSpPr>
        <p:spPr>
          <a:xfrm>
            <a:off x="9235440" y="5897880"/>
            <a:ext cx="457200" cy="0"/>
          </a:xfrm>
          <a:prstGeom prst="line">
            <a:avLst/>
          </a:prstGeom>
          <a:noFill/>
          <a:ln w="25400">
            <a:solidFill>
              <a:srgbClr val="D9822B"/>
            </a:solidFill>
            <a:prstDash val="solid"/>
            <a:tailEnd type="triangle"/>
          </a:ln>
        </p:spPr>
      </p:sp>
      <p:sp>
        <p:nvSpPr>
          <p:cNvPr id="18" name="Text 16"/>
          <p:cNvSpPr/>
          <p:nvPr/>
        </p:nvSpPr>
        <p:spPr>
          <a:xfrm>
            <a:off x="7315200" y="5532120"/>
            <a:ext cx="914400" cy="274320"/>
          </a:xfrm>
          <a:prstGeom prst="rect">
            <a:avLst/>
          </a:prstGeom>
          <a:noFill/>
          <a:ln/>
        </p:spPr>
        <p:txBody>
          <a:bodyPr wrap="square" lIns="0" tIns="0" rIns="0" bIns="0" rtlCol="0" anchor="ctr"/>
          <a:lstStyle/>
          <a:p>
            <a:pPr algn="ctr" indent="0" marL="0">
              <a:buNone/>
            </a:pPr>
            <a:r>
              <a:rPr lang="en-US" sz="1000" dirty="0">
                <a:solidFill>
                  <a:srgbClr val="6B6B6B"/>
                </a:solidFill>
                <a:latin typeface="Calibri" pitchFamily="34" charset="0"/>
                <a:ea typeface="Calibri" pitchFamily="34" charset="-122"/>
                <a:cs typeface="Calibri" pitchFamily="34" charset="-120"/>
              </a:rPr>
              <a:t>~ V1</a:t>
            </a:r>
            <a:endParaRPr lang="en-US" sz="1000" dirty="0"/>
          </a:p>
        </p:txBody>
      </p:sp>
      <p:sp>
        <p:nvSpPr>
          <p:cNvPr id="19" name="Text 17"/>
          <p:cNvSpPr/>
          <p:nvPr/>
        </p:nvSpPr>
        <p:spPr>
          <a:xfrm>
            <a:off x="9326880" y="5532120"/>
            <a:ext cx="914400" cy="274320"/>
          </a:xfrm>
          <a:prstGeom prst="rect">
            <a:avLst/>
          </a:prstGeom>
          <a:noFill/>
          <a:ln/>
        </p:spPr>
        <p:txBody>
          <a:bodyPr wrap="square" lIns="0" tIns="0" rIns="0" bIns="0" rtlCol="0" anchor="ctr"/>
          <a:lstStyle/>
          <a:p>
            <a:pPr algn="ctr" indent="0" marL="0">
              <a:buNone/>
            </a:pPr>
            <a:r>
              <a:rPr lang="en-US" sz="1000" dirty="0">
                <a:solidFill>
                  <a:srgbClr val="6B6B6B"/>
                </a:solidFill>
                <a:latin typeface="Calibri" pitchFamily="34" charset="0"/>
                <a:ea typeface="Calibri" pitchFamily="34" charset="-122"/>
                <a:cs typeface="Calibri" pitchFamily="34" charset="-120"/>
              </a:rPr>
              <a:t>V2 ~</a:t>
            </a:r>
            <a:endParaRPr lang="en-US" sz="1000" dirty="0"/>
          </a:p>
        </p:txBody>
      </p:sp>
      <p:sp>
        <p:nvSpPr>
          <p:cNvPr id="20" name="Text 18"/>
          <p:cNvSpPr/>
          <p:nvPr/>
        </p:nvSpPr>
        <p:spPr>
          <a:xfrm>
            <a:off x="8138160" y="6263640"/>
            <a:ext cx="1280160" cy="274320"/>
          </a:xfrm>
          <a:prstGeom prst="rect">
            <a:avLst/>
          </a:prstGeom>
          <a:noFill/>
          <a:ln/>
        </p:spPr>
        <p:txBody>
          <a:bodyPr wrap="square" lIns="0" tIns="0" rIns="0" bIns="0" rtlCol="0" anchor="ctr"/>
          <a:lstStyle/>
          <a:p>
            <a:pPr algn="ctr" indent="0" marL="0">
              <a:buNone/>
            </a:pPr>
            <a:r>
              <a:rPr lang="en-US" sz="900" dirty="0">
                <a:solidFill>
                  <a:srgbClr val="6B6B6B"/>
                </a:solidFill>
                <a:latin typeface="Calibri" pitchFamily="34" charset="0"/>
                <a:ea typeface="Calibri" pitchFamily="34" charset="-122"/>
                <a:cs typeface="Calibri" pitchFamily="34" charset="-120"/>
              </a:rPr>
              <a:t>circuit symbol</a:t>
            </a:r>
            <a:endParaRPr lang="en-US" sz="900" dirty="0"/>
          </a:p>
        </p:txBody>
      </p:sp>
      <p:sp>
        <p:nvSpPr>
          <p:cNvPr id="21" name="Text 19"/>
          <p:cNvSpPr/>
          <p:nvPr/>
        </p:nvSpPr>
        <p:spPr>
          <a:xfrm>
            <a:off x="457200" y="5760720"/>
            <a:ext cx="7315200" cy="640080"/>
          </a:xfrm>
          <a:prstGeom prst="rect">
            <a:avLst/>
          </a:prstGeom>
          <a:noFill/>
          <a:ln/>
        </p:spPr>
        <p:txBody>
          <a:bodyPr wrap="square" lIns="0" tIns="0" rIns="0" bIns="0" rtlCol="0" anchor="ctr"/>
          <a:lstStyle/>
          <a:p>
            <a:pPr indent="0" marL="0">
              <a:buNone/>
            </a:pPr>
            <a:r>
              <a:rPr lang="en-US" sz="1300" b="1" i="1" dirty="0">
                <a:solidFill>
                  <a:srgbClr val="8C4A2F"/>
                </a:solidFill>
                <a:latin typeface="Cambria" pitchFamily="34" charset="0"/>
                <a:ea typeface="Cambria" pitchFamily="34" charset="-122"/>
                <a:cs typeface="Cambria" pitchFamily="34" charset="-120"/>
              </a:rPr>
              <a:t>One-line conclusion to memorize: definition, labeled diagram, part functions, Faraday, conclusion. In that order, every time.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2800" b="1" dirty="0">
                <a:solidFill>
                  <a:srgbClr val="8C4A2F"/>
                </a:solidFill>
                <a:latin typeface="Cambria" pitchFamily="34" charset="0"/>
                <a:ea typeface="Cambria" pitchFamily="34" charset="-122"/>
                <a:cs typeface="Cambria" pitchFamily="34" charset="-120"/>
              </a:rPr>
              <a:t>Construction: the parts and their jobs</a:t>
            </a:r>
            <a:endParaRPr lang="en-US" sz="2800" dirty="0"/>
          </a:p>
        </p:txBody>
      </p:sp>
      <p:sp>
        <p:nvSpPr>
          <p:cNvPr id="3" name="Shape 1"/>
          <p:cNvSpPr/>
          <p:nvPr/>
        </p:nvSpPr>
        <p:spPr>
          <a:xfrm>
            <a:off x="457200" y="914400"/>
            <a:ext cx="2651760" cy="292608"/>
          </a:xfrm>
          <a:prstGeom prst="roundRect">
            <a:avLst>
              <a:gd name="adj" fmla="val 50000"/>
            </a:avLst>
          </a:prstGeom>
          <a:solidFill>
            <a:srgbClr val="8C4A2F"/>
          </a:solidFill>
          <a:ln/>
        </p:spPr>
      </p:sp>
      <p:sp>
        <p:nvSpPr>
          <p:cNvPr id="4" name="Text 2"/>
          <p:cNvSpPr/>
          <p:nvPr/>
        </p:nvSpPr>
        <p:spPr>
          <a:xfrm>
            <a:off x="457200" y="914400"/>
            <a:ext cx="265176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mbria" pitchFamily="34" charset="0"/>
                <a:ea typeface="Cambria" pitchFamily="34" charset="-122"/>
                <a:cs typeface="Cambria" pitchFamily="34" charset="-120"/>
              </a:rPr>
              <a:t>ROTE 1  |  CONSTRUCTION</a:t>
            </a:r>
            <a:endParaRPr lang="en-US" sz="1100" dirty="0"/>
          </a:p>
        </p:txBody>
      </p:sp>
      <p:sp>
        <p:nvSpPr>
          <p:cNvPr id="5" name="Shape 3"/>
          <p:cNvSpPr/>
          <p:nvPr/>
        </p:nvSpPr>
        <p:spPr>
          <a:xfrm>
            <a:off x="6858000" y="1325880"/>
            <a:ext cx="4846320" cy="5029200"/>
          </a:xfrm>
          <a:prstGeom prst="roundRect">
            <a:avLst>
              <a:gd name="adj" fmla="val 1509"/>
            </a:avLst>
          </a:prstGeom>
          <a:solidFill>
            <a:srgbClr val="FFFFFF"/>
          </a:solidFill>
          <a:ln/>
          <a:effectLst>
            <a:outerShdw sx="100000" sy="100000" kx="0" ky="0" algn="bl" rotWithShape="0" blurRad="38100" dist="12700" dir="5400000">
              <a:srgbClr val="BBBBBB">
                <a:alpha val="35000"/>
              </a:srgbClr>
            </a:outerShdw>
          </a:effectLst>
        </p:spPr>
      </p:sp>
      <p:sp>
        <p:nvSpPr>
          <p:cNvPr id="6" name="Shape 4"/>
          <p:cNvSpPr/>
          <p:nvPr/>
        </p:nvSpPr>
        <p:spPr>
          <a:xfrm>
            <a:off x="7589520" y="1691640"/>
            <a:ext cx="3291840" cy="457200"/>
          </a:xfrm>
          <a:prstGeom prst="rect">
            <a:avLst/>
          </a:prstGeom>
          <a:solidFill>
            <a:srgbClr val="7D868F"/>
          </a:solidFill>
          <a:ln w="12700">
            <a:solidFill>
              <a:srgbClr val="262B33"/>
            </a:solidFill>
            <a:prstDash val="solid"/>
          </a:ln>
        </p:spPr>
      </p:sp>
      <p:sp>
        <p:nvSpPr>
          <p:cNvPr id="7" name="Shape 5"/>
          <p:cNvSpPr/>
          <p:nvPr/>
        </p:nvSpPr>
        <p:spPr>
          <a:xfrm>
            <a:off x="7589520" y="5349240"/>
            <a:ext cx="3291840" cy="457200"/>
          </a:xfrm>
          <a:prstGeom prst="rect">
            <a:avLst/>
          </a:prstGeom>
          <a:solidFill>
            <a:srgbClr val="7D868F"/>
          </a:solidFill>
          <a:ln w="12700">
            <a:solidFill>
              <a:srgbClr val="262B33"/>
            </a:solidFill>
            <a:prstDash val="solid"/>
          </a:ln>
        </p:spPr>
      </p:sp>
      <p:sp>
        <p:nvSpPr>
          <p:cNvPr id="8" name="Text 6"/>
          <p:cNvSpPr/>
          <p:nvPr/>
        </p:nvSpPr>
        <p:spPr>
          <a:xfrm>
            <a:off x="8869680" y="1463040"/>
            <a:ext cx="1097280" cy="274320"/>
          </a:xfrm>
          <a:prstGeom prst="rect">
            <a:avLst/>
          </a:prstGeom>
          <a:noFill/>
          <a:ln/>
        </p:spPr>
        <p:txBody>
          <a:bodyPr wrap="square" lIns="0" tIns="0" rIns="0" bIns="0" rtlCol="0" anchor="ctr"/>
          <a:lstStyle/>
          <a:p>
            <a:pPr algn="ctr" indent="0" marL="0">
              <a:buNone/>
            </a:pPr>
            <a:r>
              <a:rPr lang="en-US" sz="1000" b="1" dirty="0">
                <a:solidFill>
                  <a:srgbClr val="8C4A2F"/>
                </a:solidFill>
                <a:latin typeface="Calibri" pitchFamily="34" charset="0"/>
                <a:ea typeface="Calibri" pitchFamily="34" charset="-122"/>
                <a:cs typeface="Calibri" pitchFamily="34" charset="-120"/>
              </a:rPr>
              <a:t>yoke</a:t>
            </a:r>
            <a:endParaRPr lang="en-US" sz="1000" dirty="0"/>
          </a:p>
        </p:txBody>
      </p:sp>
      <p:sp>
        <p:nvSpPr>
          <p:cNvPr id="9" name="Text 7"/>
          <p:cNvSpPr/>
          <p:nvPr/>
        </p:nvSpPr>
        <p:spPr>
          <a:xfrm>
            <a:off x="8778240" y="5852160"/>
            <a:ext cx="1280160" cy="274320"/>
          </a:xfrm>
          <a:prstGeom prst="rect">
            <a:avLst/>
          </a:prstGeom>
          <a:noFill/>
          <a:ln/>
        </p:spPr>
        <p:txBody>
          <a:bodyPr wrap="square" lIns="0" tIns="0" rIns="0" bIns="0" rtlCol="0" anchor="ctr"/>
          <a:lstStyle/>
          <a:p>
            <a:pPr algn="ctr" indent="0" marL="0">
              <a:buNone/>
            </a:pPr>
            <a:r>
              <a:rPr lang="en-US" sz="1000" b="1" dirty="0">
                <a:solidFill>
                  <a:srgbClr val="8C4A2F"/>
                </a:solidFill>
                <a:latin typeface="Calibri" pitchFamily="34" charset="0"/>
                <a:ea typeface="Calibri" pitchFamily="34" charset="-122"/>
                <a:cs typeface="Calibri" pitchFamily="34" charset="-120"/>
              </a:rPr>
              <a:t>yoke</a:t>
            </a:r>
            <a:endParaRPr lang="en-US" sz="1000" dirty="0"/>
          </a:p>
        </p:txBody>
      </p:sp>
      <p:sp>
        <p:nvSpPr>
          <p:cNvPr id="10" name="Shape 8"/>
          <p:cNvSpPr/>
          <p:nvPr/>
        </p:nvSpPr>
        <p:spPr>
          <a:xfrm>
            <a:off x="7589520" y="2148840"/>
            <a:ext cx="548640" cy="3200400"/>
          </a:xfrm>
          <a:prstGeom prst="rect">
            <a:avLst/>
          </a:prstGeom>
          <a:solidFill>
            <a:srgbClr val="7D868F"/>
          </a:solidFill>
          <a:ln w="12700">
            <a:solidFill>
              <a:srgbClr val="262B33"/>
            </a:solidFill>
            <a:prstDash val="solid"/>
          </a:ln>
        </p:spPr>
      </p:sp>
      <p:sp>
        <p:nvSpPr>
          <p:cNvPr id="11" name="Shape 9"/>
          <p:cNvSpPr/>
          <p:nvPr/>
        </p:nvSpPr>
        <p:spPr>
          <a:xfrm>
            <a:off x="10332720" y="2148840"/>
            <a:ext cx="548640" cy="3200400"/>
          </a:xfrm>
          <a:prstGeom prst="rect">
            <a:avLst/>
          </a:prstGeom>
          <a:solidFill>
            <a:srgbClr val="7D868F"/>
          </a:solidFill>
          <a:ln w="12700">
            <a:solidFill>
              <a:srgbClr val="262B33"/>
            </a:solidFill>
            <a:prstDash val="solid"/>
          </a:ln>
        </p:spPr>
      </p:sp>
      <p:sp>
        <p:nvSpPr>
          <p:cNvPr id="12" name="Shape 10"/>
          <p:cNvSpPr/>
          <p:nvPr/>
        </p:nvSpPr>
        <p:spPr>
          <a:xfrm>
            <a:off x="7086600" y="2697480"/>
            <a:ext cx="457200" cy="2103120"/>
          </a:xfrm>
          <a:prstGeom prst="roundRect">
            <a:avLst>
              <a:gd name="adj" fmla="val 12000"/>
            </a:avLst>
          </a:prstGeom>
          <a:solidFill>
            <a:srgbClr val="8C4A2F"/>
          </a:solidFill>
          <a:ln w="12700">
            <a:solidFill>
              <a:srgbClr val="8C4A2F"/>
            </a:solidFill>
            <a:prstDash val="solid"/>
          </a:ln>
        </p:spPr>
      </p:sp>
      <p:sp>
        <p:nvSpPr>
          <p:cNvPr id="13" name="Text 11"/>
          <p:cNvSpPr/>
          <p:nvPr/>
        </p:nvSpPr>
        <p:spPr>
          <a:xfrm>
            <a:off x="7086600" y="2697480"/>
            <a:ext cx="457200" cy="21031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HV</a:t>
            </a:r>
            <a:endParaRPr lang="en-US" sz="1100" dirty="0"/>
          </a:p>
        </p:txBody>
      </p:sp>
      <p:sp>
        <p:nvSpPr>
          <p:cNvPr id="14" name="Shape 12"/>
          <p:cNvSpPr/>
          <p:nvPr/>
        </p:nvSpPr>
        <p:spPr>
          <a:xfrm>
            <a:off x="7589520" y="2788920"/>
            <a:ext cx="320040" cy="1920240"/>
          </a:xfrm>
          <a:prstGeom prst="roundRect">
            <a:avLst>
              <a:gd name="adj" fmla="val 17143"/>
            </a:avLst>
          </a:prstGeom>
          <a:solidFill>
            <a:srgbClr val="D9822B"/>
          </a:solidFill>
          <a:ln w="12700">
            <a:solidFill>
              <a:srgbClr val="8C4A2F"/>
            </a:solidFill>
            <a:prstDash val="solid"/>
          </a:ln>
        </p:spPr>
      </p:sp>
      <p:sp>
        <p:nvSpPr>
          <p:cNvPr id="15" name="Text 13"/>
          <p:cNvSpPr/>
          <p:nvPr/>
        </p:nvSpPr>
        <p:spPr>
          <a:xfrm>
            <a:off x="7589520" y="2788920"/>
            <a:ext cx="320040" cy="192024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LV</a:t>
            </a:r>
            <a:endParaRPr lang="en-US" sz="1100" dirty="0"/>
          </a:p>
        </p:txBody>
      </p:sp>
      <p:sp>
        <p:nvSpPr>
          <p:cNvPr id="16" name="Shape 14"/>
          <p:cNvSpPr/>
          <p:nvPr/>
        </p:nvSpPr>
        <p:spPr>
          <a:xfrm>
            <a:off x="10332720" y="2788920"/>
            <a:ext cx="320040" cy="1920240"/>
          </a:xfrm>
          <a:prstGeom prst="roundRect">
            <a:avLst>
              <a:gd name="adj" fmla="val 17143"/>
            </a:avLst>
          </a:prstGeom>
          <a:solidFill>
            <a:srgbClr val="D9822B"/>
          </a:solidFill>
          <a:ln w="12700">
            <a:solidFill>
              <a:srgbClr val="8C4A2F"/>
            </a:solidFill>
            <a:prstDash val="solid"/>
          </a:ln>
        </p:spPr>
      </p:sp>
      <p:sp>
        <p:nvSpPr>
          <p:cNvPr id="17" name="Text 15"/>
          <p:cNvSpPr/>
          <p:nvPr/>
        </p:nvSpPr>
        <p:spPr>
          <a:xfrm>
            <a:off x="10332720" y="2788920"/>
            <a:ext cx="320040" cy="192024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LV</a:t>
            </a:r>
            <a:endParaRPr lang="en-US" sz="1100" dirty="0"/>
          </a:p>
        </p:txBody>
      </p:sp>
      <p:sp>
        <p:nvSpPr>
          <p:cNvPr id="18" name="Shape 16"/>
          <p:cNvSpPr/>
          <p:nvPr/>
        </p:nvSpPr>
        <p:spPr>
          <a:xfrm>
            <a:off x="10698480" y="2697480"/>
            <a:ext cx="457200" cy="2103120"/>
          </a:xfrm>
          <a:prstGeom prst="roundRect">
            <a:avLst>
              <a:gd name="adj" fmla="val 12000"/>
            </a:avLst>
          </a:prstGeom>
          <a:solidFill>
            <a:srgbClr val="8C4A2F"/>
          </a:solidFill>
          <a:ln w="12700">
            <a:solidFill>
              <a:srgbClr val="8C4A2F"/>
            </a:solidFill>
            <a:prstDash val="solid"/>
          </a:ln>
        </p:spPr>
      </p:sp>
      <p:sp>
        <p:nvSpPr>
          <p:cNvPr id="19" name="Text 17"/>
          <p:cNvSpPr/>
          <p:nvPr/>
        </p:nvSpPr>
        <p:spPr>
          <a:xfrm>
            <a:off x="10698480" y="2697480"/>
            <a:ext cx="457200" cy="210312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HV</a:t>
            </a:r>
            <a:endParaRPr lang="en-US" sz="1100" dirty="0"/>
          </a:p>
        </p:txBody>
      </p:sp>
      <p:sp>
        <p:nvSpPr>
          <p:cNvPr id="20" name="Shape 18"/>
          <p:cNvSpPr/>
          <p:nvPr/>
        </p:nvSpPr>
        <p:spPr>
          <a:xfrm>
            <a:off x="7406640" y="2514600"/>
            <a:ext cx="0" cy="2468880"/>
          </a:xfrm>
          <a:prstGeom prst="line">
            <a:avLst/>
          </a:prstGeom>
          <a:noFill/>
          <a:ln w="12700">
            <a:solidFill>
              <a:srgbClr val="444444"/>
            </a:solidFill>
            <a:prstDash val="dash"/>
          </a:ln>
        </p:spPr>
      </p:sp>
      <p:sp>
        <p:nvSpPr>
          <p:cNvPr id="21" name="Shape 19"/>
          <p:cNvSpPr/>
          <p:nvPr/>
        </p:nvSpPr>
        <p:spPr>
          <a:xfrm>
            <a:off x="11109960" y="2514600"/>
            <a:ext cx="0" cy="2468880"/>
          </a:xfrm>
          <a:prstGeom prst="line">
            <a:avLst/>
          </a:prstGeom>
          <a:noFill/>
          <a:ln w="12700">
            <a:solidFill>
              <a:srgbClr val="444444"/>
            </a:solidFill>
            <a:prstDash val="dash"/>
          </a:ln>
        </p:spPr>
      </p:sp>
      <p:sp>
        <p:nvSpPr>
          <p:cNvPr id="22" name="Shape 20"/>
          <p:cNvSpPr/>
          <p:nvPr/>
        </p:nvSpPr>
        <p:spPr>
          <a:xfrm>
            <a:off x="7132320" y="1463040"/>
            <a:ext cx="228600" cy="411480"/>
          </a:xfrm>
          <a:prstGeom prst="roundRect">
            <a:avLst>
              <a:gd name="adj" fmla="val 32000"/>
            </a:avLst>
          </a:prstGeom>
          <a:solidFill>
            <a:srgbClr val="D9D2C8"/>
          </a:solidFill>
          <a:ln w="12700">
            <a:solidFill>
              <a:srgbClr val="6B6B6B"/>
            </a:solidFill>
            <a:prstDash val="solid"/>
          </a:ln>
        </p:spPr>
      </p:sp>
      <p:sp>
        <p:nvSpPr>
          <p:cNvPr id="23" name="Shape 21"/>
          <p:cNvSpPr/>
          <p:nvPr/>
        </p:nvSpPr>
        <p:spPr>
          <a:xfrm>
            <a:off x="11064240" y="1463040"/>
            <a:ext cx="228600" cy="411480"/>
          </a:xfrm>
          <a:prstGeom prst="roundRect">
            <a:avLst>
              <a:gd name="adj" fmla="val 32000"/>
            </a:avLst>
          </a:prstGeom>
          <a:solidFill>
            <a:srgbClr val="D9D2C8"/>
          </a:solidFill>
          <a:ln w="12700">
            <a:solidFill>
              <a:srgbClr val="6B6B6B"/>
            </a:solidFill>
            <a:prstDash val="solid"/>
          </a:ln>
        </p:spPr>
      </p:sp>
      <p:sp>
        <p:nvSpPr>
          <p:cNvPr id="24" name="Text 22"/>
          <p:cNvSpPr/>
          <p:nvPr/>
        </p:nvSpPr>
        <p:spPr>
          <a:xfrm>
            <a:off x="6858000" y="1371600"/>
            <a:ext cx="1371600" cy="274320"/>
          </a:xfrm>
          <a:prstGeom prst="rect">
            <a:avLst/>
          </a:prstGeom>
          <a:noFill/>
          <a:ln/>
        </p:spPr>
        <p:txBody>
          <a:bodyPr wrap="square" lIns="0" tIns="0" rIns="0" bIns="0" rtlCol="0" anchor="ctr"/>
          <a:lstStyle/>
          <a:p>
            <a:pPr algn="ctr" indent="0" marL="0">
              <a:buNone/>
            </a:pPr>
            <a:r>
              <a:rPr lang="en-US" sz="900" dirty="0">
                <a:solidFill>
                  <a:srgbClr val="6B6B6B"/>
                </a:solidFill>
                <a:latin typeface="Calibri" pitchFamily="34" charset="0"/>
                <a:ea typeface="Calibri" pitchFamily="34" charset="-122"/>
                <a:cs typeface="Calibri" pitchFamily="34" charset="-120"/>
              </a:rPr>
              <a:t>bushing</a:t>
            </a:r>
            <a:endParaRPr lang="en-US" sz="900" dirty="0"/>
          </a:p>
        </p:txBody>
      </p:sp>
      <p:sp>
        <p:nvSpPr>
          <p:cNvPr id="25" name="Text 23"/>
          <p:cNvSpPr/>
          <p:nvPr/>
        </p:nvSpPr>
        <p:spPr>
          <a:xfrm>
            <a:off x="10241280" y="1371600"/>
            <a:ext cx="1371600" cy="274320"/>
          </a:xfrm>
          <a:prstGeom prst="rect">
            <a:avLst/>
          </a:prstGeom>
          <a:noFill/>
          <a:ln/>
        </p:spPr>
        <p:txBody>
          <a:bodyPr wrap="square" lIns="0" tIns="0" rIns="0" bIns="0" rtlCol="0" anchor="ctr"/>
          <a:lstStyle/>
          <a:p>
            <a:pPr algn="ctr" indent="0" marL="0">
              <a:buNone/>
            </a:pPr>
            <a:r>
              <a:rPr lang="en-US" sz="900" dirty="0">
                <a:solidFill>
                  <a:srgbClr val="6B6B6B"/>
                </a:solidFill>
                <a:latin typeface="Calibri" pitchFamily="34" charset="0"/>
                <a:ea typeface="Calibri" pitchFamily="34" charset="-122"/>
                <a:cs typeface="Calibri" pitchFamily="34" charset="-120"/>
              </a:rPr>
              <a:t>bushing</a:t>
            </a:r>
            <a:endParaRPr lang="en-US" sz="900" dirty="0"/>
          </a:p>
        </p:txBody>
      </p:sp>
      <p:sp>
        <p:nvSpPr>
          <p:cNvPr id="26" name="Text 24"/>
          <p:cNvSpPr/>
          <p:nvPr/>
        </p:nvSpPr>
        <p:spPr>
          <a:xfrm>
            <a:off x="8778240" y="2971800"/>
            <a:ext cx="1005840" cy="274320"/>
          </a:xfrm>
          <a:prstGeom prst="rect">
            <a:avLst/>
          </a:prstGeom>
          <a:noFill/>
          <a:ln/>
        </p:spPr>
        <p:txBody>
          <a:bodyPr wrap="square" lIns="0" tIns="0" rIns="0" bIns="0" rtlCol="0" anchor="ctr"/>
          <a:lstStyle/>
          <a:p>
            <a:pPr algn="ctr" indent="0" marL="0">
              <a:buNone/>
            </a:pPr>
            <a:r>
              <a:rPr lang="en-US" sz="1000" b="1" dirty="0">
                <a:solidFill>
                  <a:srgbClr val="262B33"/>
                </a:solidFill>
                <a:latin typeface="Calibri" pitchFamily="34" charset="0"/>
                <a:ea typeface="Calibri" pitchFamily="34" charset="-122"/>
                <a:cs typeface="Calibri" pitchFamily="34" charset="-120"/>
              </a:rPr>
              <a:t>limb (core)</a:t>
            </a:r>
            <a:endParaRPr lang="en-US" sz="1000" dirty="0"/>
          </a:p>
        </p:txBody>
      </p:sp>
      <p:sp>
        <p:nvSpPr>
          <p:cNvPr id="27" name="Shape 25"/>
          <p:cNvSpPr/>
          <p:nvPr/>
        </p:nvSpPr>
        <p:spPr>
          <a:xfrm>
            <a:off x="8321040" y="2377440"/>
            <a:ext cx="1828800" cy="0"/>
          </a:xfrm>
          <a:prstGeom prst="line">
            <a:avLst/>
          </a:prstGeom>
          <a:noFill/>
          <a:ln w="25400">
            <a:solidFill>
              <a:srgbClr val="B3382C"/>
            </a:solidFill>
            <a:prstDash val="dash"/>
            <a:tailEnd type="triangle"/>
          </a:ln>
        </p:spPr>
      </p:sp>
      <p:sp>
        <p:nvSpPr>
          <p:cNvPr id="28" name="Shape 26"/>
          <p:cNvSpPr/>
          <p:nvPr/>
        </p:nvSpPr>
        <p:spPr>
          <a:xfrm>
            <a:off x="9966960" y="5212080"/>
            <a:ext cx="-1828800" cy="0"/>
          </a:xfrm>
          <a:prstGeom prst="line">
            <a:avLst/>
          </a:prstGeom>
          <a:noFill/>
          <a:ln w="25400">
            <a:solidFill>
              <a:srgbClr val="B3382C"/>
            </a:solidFill>
            <a:prstDash val="dash"/>
            <a:tailEnd type="triangle"/>
          </a:ln>
        </p:spPr>
      </p:sp>
      <p:sp>
        <p:nvSpPr>
          <p:cNvPr id="29" name="Text 27"/>
          <p:cNvSpPr/>
          <p:nvPr/>
        </p:nvSpPr>
        <p:spPr>
          <a:xfrm>
            <a:off x="8503920" y="2103120"/>
            <a:ext cx="1645920" cy="274320"/>
          </a:xfrm>
          <a:prstGeom prst="rect">
            <a:avLst/>
          </a:prstGeom>
          <a:noFill/>
          <a:ln/>
        </p:spPr>
        <p:txBody>
          <a:bodyPr wrap="square" lIns="0" tIns="0" rIns="0" bIns="0" rtlCol="0" anchor="ctr"/>
          <a:lstStyle/>
          <a:p>
            <a:pPr algn="ctr" indent="0" marL="0">
              <a:buNone/>
            </a:pPr>
            <a:r>
              <a:rPr lang="en-US" sz="900" dirty="0">
                <a:solidFill>
                  <a:srgbClr val="B3382C"/>
                </a:solidFill>
                <a:latin typeface="Calibri" pitchFamily="34" charset="0"/>
                <a:ea typeface="Calibri" pitchFamily="34" charset="-122"/>
                <a:cs typeface="Calibri" pitchFamily="34" charset="-120"/>
              </a:rPr>
              <a:t>mutual flux (dashed)</a:t>
            </a:r>
            <a:endParaRPr lang="en-US" sz="900" dirty="0"/>
          </a:p>
        </p:txBody>
      </p:sp>
      <p:sp>
        <p:nvSpPr>
          <p:cNvPr id="30" name="Text 28"/>
          <p:cNvSpPr/>
          <p:nvPr/>
        </p:nvSpPr>
        <p:spPr>
          <a:xfrm>
            <a:off x="8366760" y="3337560"/>
            <a:ext cx="1737360" cy="274320"/>
          </a:xfrm>
          <a:prstGeom prst="rect">
            <a:avLst/>
          </a:prstGeom>
          <a:noFill/>
          <a:ln/>
        </p:spPr>
        <p:txBody>
          <a:bodyPr wrap="square" lIns="0" tIns="0" rIns="0" bIns="0" rtlCol="0" anchor="ctr"/>
          <a:lstStyle/>
          <a:p>
            <a:pPr algn="ctr" indent="0" marL="0">
              <a:buNone/>
            </a:pPr>
            <a:r>
              <a:rPr lang="en-US" sz="950" dirty="0">
                <a:solidFill>
                  <a:srgbClr val="262B33"/>
                </a:solidFill>
                <a:latin typeface="Calibri" pitchFamily="34" charset="0"/>
                <a:ea typeface="Calibri" pitchFamily="34" charset="-122"/>
                <a:cs typeface="Calibri" pitchFamily="34" charset="-120"/>
              </a:rPr>
              <a:t>laminated core</a:t>
            </a:r>
            <a:endParaRPr lang="en-US" sz="950" dirty="0"/>
          </a:p>
          <a:p>
            <a:pPr algn="ctr" indent="0" marL="0">
              <a:buNone/>
            </a:pPr>
            <a:r>
              <a:rPr lang="en-US" sz="950" dirty="0">
                <a:solidFill>
                  <a:srgbClr val="262B33"/>
                </a:solidFill>
                <a:latin typeface="Calibri" pitchFamily="34" charset="0"/>
                <a:ea typeface="Calibri" pitchFamily="34" charset="-122"/>
                <a:cs typeface="Calibri" pitchFamily="34" charset="-120"/>
              </a:rPr>
              <a:t>(CRGO steel sheets)</a:t>
            </a:r>
            <a:endParaRPr lang="en-US" sz="950" dirty="0"/>
          </a:p>
        </p:txBody>
      </p:sp>
      <p:sp>
        <p:nvSpPr>
          <p:cNvPr id="31" name="Text 29"/>
          <p:cNvSpPr/>
          <p:nvPr/>
        </p:nvSpPr>
        <p:spPr>
          <a:xfrm>
            <a:off x="6949440" y="5989320"/>
            <a:ext cx="4663440" cy="320040"/>
          </a:xfrm>
          <a:prstGeom prst="rect">
            <a:avLst/>
          </a:prstGeom>
          <a:noFill/>
          <a:ln/>
        </p:spPr>
        <p:txBody>
          <a:bodyPr wrap="square" lIns="0" tIns="0" rIns="0" bIns="0" rtlCol="0" anchor="ctr"/>
          <a:lstStyle/>
          <a:p>
            <a:pPr algn="ctr" indent="0" marL="0">
              <a:buNone/>
            </a:pPr>
            <a:r>
              <a:rPr lang="en-US" sz="1000" i="1" dirty="0">
                <a:solidFill>
                  <a:srgbClr val="6B6B6B"/>
                </a:solidFill>
                <a:latin typeface="Calibri" pitchFamily="34" charset="0"/>
                <a:ea typeface="Calibri" pitchFamily="34" charset="-122"/>
                <a:cs typeface="Calibri" pitchFamily="34" charset="-120"/>
              </a:rPr>
              <a:t>Front view, core-type. Windings on BOTH limbs. LV winding sits next to the limb, HV outside it.</a:t>
            </a:r>
            <a:endParaRPr lang="en-US" sz="1000" dirty="0"/>
          </a:p>
        </p:txBody>
      </p:sp>
      <p:sp>
        <p:nvSpPr>
          <p:cNvPr id="32" name="Shape 30"/>
          <p:cNvSpPr/>
          <p:nvPr/>
        </p:nvSpPr>
        <p:spPr>
          <a:xfrm>
            <a:off x="457200" y="1371600"/>
            <a:ext cx="6126480" cy="1078992"/>
          </a:xfrm>
          <a:prstGeom prst="roundRect">
            <a:avLst>
              <a:gd name="adj" fmla="val 6780"/>
            </a:avLst>
          </a:prstGeom>
          <a:solidFill>
            <a:srgbClr val="F6F4F1"/>
          </a:solidFill>
          <a:ln/>
          <a:effectLst>
            <a:outerShdw sx="100000" sy="100000" kx="0" ky="0" algn="bl" rotWithShape="0" blurRad="38100" dist="12700" dir="5400000">
              <a:srgbClr val="BBBBBB">
                <a:alpha val="35000"/>
              </a:srgbClr>
            </a:outerShdw>
          </a:effectLst>
        </p:spPr>
      </p:sp>
      <p:sp>
        <p:nvSpPr>
          <p:cNvPr id="33" name="Text 31"/>
          <p:cNvSpPr/>
          <p:nvPr/>
        </p:nvSpPr>
        <p:spPr>
          <a:xfrm>
            <a:off x="640080" y="1444752"/>
            <a:ext cx="5806440" cy="914400"/>
          </a:xfrm>
          <a:prstGeom prst="rect">
            <a:avLst/>
          </a:prstGeom>
          <a:noFill/>
          <a:ln/>
        </p:spPr>
        <p:txBody>
          <a:bodyPr wrap="square" lIns="0" tIns="0" rIns="0" bIns="0" rtlCol="0" anchor="t"/>
          <a:lstStyle/>
          <a:p>
            <a:pPr indent="0" marL="0">
              <a:buNone/>
            </a:pPr>
            <a:r>
              <a:rPr lang="en-US" sz="1250" b="1" dirty="0">
                <a:solidFill>
                  <a:srgbClr val="8C4A2F"/>
                </a:solidFill>
                <a:latin typeface="Calibri" pitchFamily="34" charset="0"/>
                <a:ea typeface="Calibri" pitchFamily="34" charset="-122"/>
                <a:cs typeface="Calibri" pitchFamily="34" charset="-120"/>
              </a:rPr>
              <a:t>Magnetic core + yoke  </a:t>
            </a:r>
            <a:pPr indent="0" marL="0">
              <a:buNone/>
            </a:pPr>
            <a:r>
              <a:rPr lang="en-US" sz="1150" dirty="0">
                <a:solidFill>
                  <a:srgbClr val="2B2B2B"/>
                </a:solidFill>
                <a:latin typeface="Calibri" pitchFamily="34" charset="0"/>
                <a:ea typeface="Calibri" pitchFamily="34" charset="-122"/>
                <a:cs typeface="Calibri" pitchFamily="34" charset="-120"/>
              </a:rPr>
              <a:t>Laminated CRGO (cold-rolled grain-oriented) steel. The limbs carry the windings; the yoke closes the flux path so flux has one low-reluctance loop. Also the mechanical frame.</a:t>
            </a:r>
            <a:endParaRPr lang="en-US" sz="1250" dirty="0"/>
          </a:p>
        </p:txBody>
      </p:sp>
      <p:sp>
        <p:nvSpPr>
          <p:cNvPr id="34" name="Shape 32"/>
          <p:cNvSpPr/>
          <p:nvPr/>
        </p:nvSpPr>
        <p:spPr>
          <a:xfrm>
            <a:off x="457200" y="2560320"/>
            <a:ext cx="6126480" cy="1078992"/>
          </a:xfrm>
          <a:prstGeom prst="roundRect">
            <a:avLst>
              <a:gd name="adj" fmla="val 6780"/>
            </a:avLst>
          </a:prstGeom>
          <a:solidFill>
            <a:srgbClr val="F6F4F1"/>
          </a:solidFill>
          <a:ln/>
          <a:effectLst>
            <a:outerShdw sx="100000" sy="100000" kx="0" ky="0" algn="bl" rotWithShape="0" blurRad="38100" dist="12700" dir="5400000">
              <a:srgbClr val="BBBBBB">
                <a:alpha val="35000"/>
              </a:srgbClr>
            </a:outerShdw>
          </a:effectLst>
        </p:spPr>
      </p:sp>
      <p:sp>
        <p:nvSpPr>
          <p:cNvPr id="35" name="Text 33"/>
          <p:cNvSpPr/>
          <p:nvPr/>
        </p:nvSpPr>
        <p:spPr>
          <a:xfrm>
            <a:off x="640080" y="2633472"/>
            <a:ext cx="5806440" cy="914400"/>
          </a:xfrm>
          <a:prstGeom prst="rect">
            <a:avLst/>
          </a:prstGeom>
          <a:noFill/>
          <a:ln/>
        </p:spPr>
        <p:txBody>
          <a:bodyPr wrap="square" lIns="0" tIns="0" rIns="0" bIns="0" rtlCol="0" anchor="t"/>
          <a:lstStyle/>
          <a:p>
            <a:pPr indent="0" marL="0">
              <a:buNone/>
            </a:pPr>
            <a:r>
              <a:rPr lang="en-US" sz="1250" b="1" dirty="0">
                <a:solidFill>
                  <a:srgbClr val="8C4A2F"/>
                </a:solidFill>
                <a:latin typeface="Calibri" pitchFamily="34" charset="0"/>
                <a:ea typeface="Calibri" pitchFamily="34" charset="-122"/>
                <a:cs typeface="Calibri" pitchFamily="34" charset="-120"/>
              </a:rPr>
              <a:t>Windings (LV + HV)  </a:t>
            </a:r>
            <a:pPr indent="0" marL="0">
              <a:buNone/>
            </a:pPr>
            <a:r>
              <a:rPr lang="en-US" sz="1150" dirty="0">
                <a:solidFill>
                  <a:srgbClr val="2B2B2B"/>
                </a:solidFill>
                <a:latin typeface="Calibri" pitchFamily="34" charset="0"/>
                <a:ea typeface="Calibri" pitchFamily="34" charset="-122"/>
                <a:cs typeface="Calibri" pitchFamily="34" charset="-120"/>
              </a:rPr>
              <a:t>Primary and secondary, insulated copper. LV: fewer turns of thick wire. HV: more turns of thin wire. Wound concentrically: LV nearest the limb, HV over it (insulation cost is lowest this way).</a:t>
            </a:r>
            <a:endParaRPr lang="en-US" sz="1250" dirty="0"/>
          </a:p>
        </p:txBody>
      </p:sp>
      <p:sp>
        <p:nvSpPr>
          <p:cNvPr id="36" name="Shape 34"/>
          <p:cNvSpPr/>
          <p:nvPr/>
        </p:nvSpPr>
        <p:spPr>
          <a:xfrm>
            <a:off x="457200" y="3749040"/>
            <a:ext cx="6126480" cy="1078992"/>
          </a:xfrm>
          <a:prstGeom prst="roundRect">
            <a:avLst>
              <a:gd name="adj" fmla="val 6780"/>
            </a:avLst>
          </a:prstGeom>
          <a:solidFill>
            <a:srgbClr val="F6F4F1"/>
          </a:solidFill>
          <a:ln/>
          <a:effectLst>
            <a:outerShdw sx="100000" sy="100000" kx="0" ky="0" algn="bl" rotWithShape="0" blurRad="38100" dist="12700" dir="5400000">
              <a:srgbClr val="BBBBBB">
                <a:alpha val="35000"/>
              </a:srgbClr>
            </a:outerShdw>
          </a:effectLst>
        </p:spPr>
      </p:sp>
      <p:sp>
        <p:nvSpPr>
          <p:cNvPr id="37" name="Text 35"/>
          <p:cNvSpPr/>
          <p:nvPr/>
        </p:nvSpPr>
        <p:spPr>
          <a:xfrm>
            <a:off x="640080" y="3822192"/>
            <a:ext cx="5806440" cy="914400"/>
          </a:xfrm>
          <a:prstGeom prst="rect">
            <a:avLst/>
          </a:prstGeom>
          <a:noFill/>
          <a:ln/>
        </p:spPr>
        <p:txBody>
          <a:bodyPr wrap="square" lIns="0" tIns="0" rIns="0" bIns="0" rtlCol="0" anchor="t"/>
          <a:lstStyle/>
          <a:p>
            <a:pPr indent="0" marL="0">
              <a:buNone/>
            </a:pPr>
            <a:r>
              <a:rPr lang="en-US" sz="1250" b="1" dirty="0">
                <a:solidFill>
                  <a:srgbClr val="8C4A2F"/>
                </a:solidFill>
                <a:latin typeface="Calibri" pitchFamily="34" charset="0"/>
                <a:ea typeface="Calibri" pitchFamily="34" charset="-122"/>
                <a:cs typeface="Calibri" pitchFamily="34" charset="-120"/>
              </a:rPr>
              <a:t>Insulation  </a:t>
            </a:r>
            <a:pPr indent="0" marL="0">
              <a:buNone/>
            </a:pPr>
            <a:r>
              <a:rPr lang="en-US" sz="1150" dirty="0">
                <a:solidFill>
                  <a:srgbClr val="2B2B2B"/>
                </a:solidFill>
                <a:latin typeface="Calibri" pitchFamily="34" charset="0"/>
                <a:ea typeface="Calibri" pitchFamily="34" charset="-122"/>
                <a:cs typeface="Calibri" pitchFamily="34" charset="-120"/>
              </a:rPr>
              <a:t>Enamel on conductors, pressboard/paper between windings and core, transformer oil in the tank. The HV winding sits OUTSIDE because that is where the biggest insulation distance to earth is cheapest.</a:t>
            </a:r>
            <a:endParaRPr lang="en-US" sz="1250" dirty="0"/>
          </a:p>
        </p:txBody>
      </p:sp>
      <p:sp>
        <p:nvSpPr>
          <p:cNvPr id="38" name="Shape 36"/>
          <p:cNvSpPr/>
          <p:nvPr/>
        </p:nvSpPr>
        <p:spPr>
          <a:xfrm>
            <a:off x="457200" y="4937760"/>
            <a:ext cx="6126480" cy="1078992"/>
          </a:xfrm>
          <a:prstGeom prst="roundRect">
            <a:avLst>
              <a:gd name="adj" fmla="val 6780"/>
            </a:avLst>
          </a:prstGeom>
          <a:solidFill>
            <a:srgbClr val="F6F4F1"/>
          </a:solidFill>
          <a:ln/>
          <a:effectLst>
            <a:outerShdw sx="100000" sy="100000" kx="0" ky="0" algn="bl" rotWithShape="0" blurRad="38100" dist="12700" dir="5400000">
              <a:srgbClr val="BBBBBB">
                <a:alpha val="35000"/>
              </a:srgbClr>
            </a:outerShdw>
          </a:effectLst>
        </p:spPr>
      </p:sp>
      <p:sp>
        <p:nvSpPr>
          <p:cNvPr id="39" name="Text 37"/>
          <p:cNvSpPr/>
          <p:nvPr/>
        </p:nvSpPr>
        <p:spPr>
          <a:xfrm>
            <a:off x="640080" y="5010912"/>
            <a:ext cx="5806440" cy="914400"/>
          </a:xfrm>
          <a:prstGeom prst="rect">
            <a:avLst/>
          </a:prstGeom>
          <a:noFill/>
          <a:ln/>
        </p:spPr>
        <p:txBody>
          <a:bodyPr wrap="square" lIns="0" tIns="0" rIns="0" bIns="0" rtlCol="0" anchor="t"/>
          <a:lstStyle/>
          <a:p>
            <a:pPr indent="0" marL="0">
              <a:buNone/>
            </a:pPr>
            <a:r>
              <a:rPr lang="en-US" sz="1250" b="1" dirty="0">
                <a:solidFill>
                  <a:srgbClr val="8C4A2F"/>
                </a:solidFill>
                <a:latin typeface="Calibri" pitchFamily="34" charset="0"/>
                <a:ea typeface="Calibri" pitchFamily="34" charset="-122"/>
                <a:cs typeface="Calibri" pitchFamily="34" charset="-120"/>
              </a:rPr>
              <a:t>Tank, oil, accessories  </a:t>
            </a:r>
            <a:pPr indent="0" marL="0">
              <a:buNone/>
            </a:pPr>
            <a:r>
              <a:rPr lang="en-US" sz="1150" dirty="0">
                <a:solidFill>
                  <a:srgbClr val="2B2B2B"/>
                </a:solidFill>
                <a:latin typeface="Calibri" pitchFamily="34" charset="0"/>
                <a:ea typeface="Calibri" pitchFamily="34" charset="-122"/>
                <a:cs typeface="Calibri" pitchFamily="34" charset="-120"/>
              </a:rPr>
              <a:t>Sheet-steel tank with transformer oil: cools and insulates. Conservator takes up oil expansion. Bushings bring terminals out of the tank. Silica-gel breather dries the air. These add up to a large share of total weight.</a:t>
            </a:r>
            <a:endParaRPr lang="en-US" sz="1250" dirty="0"/>
          </a:p>
        </p:txBody>
      </p:sp>
      <p:sp>
        <p:nvSpPr>
          <p:cNvPr id="40" name="Text 38"/>
          <p:cNvSpPr/>
          <p:nvPr/>
        </p:nvSpPr>
        <p:spPr>
          <a:xfrm>
            <a:off x="457200" y="6172200"/>
            <a:ext cx="6400800" cy="457200"/>
          </a:xfrm>
          <a:prstGeom prst="rect">
            <a:avLst/>
          </a:prstGeom>
          <a:noFill/>
          <a:ln/>
        </p:spPr>
        <p:txBody>
          <a:bodyPr wrap="square" lIns="0" tIns="0" rIns="0" bIns="0" rtlCol="0" anchor="ctr"/>
          <a:lstStyle/>
          <a:p>
            <a:pPr indent="0" marL="0">
              <a:buNone/>
            </a:pPr>
            <a:r>
              <a:rPr lang="en-US" sz="1200" b="1" i="1" dirty="0">
                <a:solidFill>
                  <a:srgbClr val="8C4A2F"/>
                </a:solidFill>
                <a:latin typeface="Cambria" pitchFamily="34" charset="0"/>
                <a:ea typeface="Cambria" pitchFamily="34" charset="-122"/>
                <a:cs typeface="Cambria" pitchFamily="34" charset="-120"/>
              </a:rPr>
              <a:t>One-line conclusion: core gives the flux path, windings give the voltage, insulation and oil keep them apart and cool.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2800" b="1" dirty="0">
                <a:solidFill>
                  <a:srgbClr val="8C4A2F"/>
                </a:solidFill>
                <a:latin typeface="Cambria" pitchFamily="34" charset="0"/>
                <a:ea typeface="Cambria" pitchFamily="34" charset="-122"/>
                <a:cs typeface="Cambria" pitchFamily="34" charset="-120"/>
              </a:rPr>
              <a:t>Core type vs shell type</a:t>
            </a:r>
            <a:endParaRPr lang="en-US" sz="2800" dirty="0"/>
          </a:p>
        </p:txBody>
      </p:sp>
      <p:sp>
        <p:nvSpPr>
          <p:cNvPr id="3" name="Shape 1"/>
          <p:cNvSpPr/>
          <p:nvPr/>
        </p:nvSpPr>
        <p:spPr>
          <a:xfrm>
            <a:off x="457200" y="914400"/>
            <a:ext cx="2926080" cy="292608"/>
          </a:xfrm>
          <a:prstGeom prst="roundRect">
            <a:avLst>
              <a:gd name="adj" fmla="val 50000"/>
            </a:avLst>
          </a:prstGeom>
          <a:solidFill>
            <a:srgbClr val="8C4A2F"/>
          </a:solidFill>
          <a:ln/>
        </p:spPr>
      </p:sp>
      <p:sp>
        <p:nvSpPr>
          <p:cNvPr id="4" name="Text 2"/>
          <p:cNvSpPr/>
          <p:nvPr/>
        </p:nvSpPr>
        <p:spPr>
          <a:xfrm>
            <a:off x="457200" y="914400"/>
            <a:ext cx="29260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mbria" pitchFamily="34" charset="0"/>
                <a:ea typeface="Cambria" pitchFamily="34" charset="-122"/>
                <a:cs typeface="Cambria" pitchFamily="34" charset="-120"/>
              </a:rPr>
              <a:t>ROTE 1  |  TWO CONSTRUCTIONS</a:t>
            </a:r>
            <a:endParaRPr lang="en-US" sz="1100" dirty="0"/>
          </a:p>
        </p:txBody>
      </p:sp>
      <p:sp>
        <p:nvSpPr>
          <p:cNvPr id="5" name="Shape 3"/>
          <p:cNvSpPr/>
          <p:nvPr/>
        </p:nvSpPr>
        <p:spPr>
          <a:xfrm>
            <a:off x="457200" y="1417320"/>
            <a:ext cx="3749040" cy="3017520"/>
          </a:xfrm>
          <a:prstGeom prst="roundRect">
            <a:avLst>
              <a:gd name="adj" fmla="val 2424"/>
            </a:avLst>
          </a:prstGeom>
          <a:solidFill>
            <a:srgbClr val="FFFFFF"/>
          </a:solidFill>
          <a:ln/>
          <a:effectLst>
            <a:outerShdw sx="100000" sy="100000" kx="0" ky="0" algn="bl" rotWithShape="0" blurRad="38100" dist="12700" dir="5400000">
              <a:srgbClr val="BBBBBB">
                <a:alpha val="35000"/>
              </a:srgbClr>
            </a:outerShdw>
          </a:effectLst>
        </p:spPr>
      </p:sp>
      <p:sp>
        <p:nvSpPr>
          <p:cNvPr id="6" name="Shape 4"/>
          <p:cNvSpPr/>
          <p:nvPr/>
        </p:nvSpPr>
        <p:spPr>
          <a:xfrm>
            <a:off x="1188720" y="1691640"/>
            <a:ext cx="2286000" cy="320040"/>
          </a:xfrm>
          <a:prstGeom prst="rect">
            <a:avLst/>
          </a:prstGeom>
          <a:solidFill>
            <a:srgbClr val="7D868F"/>
          </a:solidFill>
          <a:ln w="12700">
            <a:solidFill>
              <a:srgbClr val="262B33"/>
            </a:solidFill>
            <a:prstDash val="solid"/>
          </a:ln>
        </p:spPr>
      </p:sp>
      <p:sp>
        <p:nvSpPr>
          <p:cNvPr id="7" name="Shape 5"/>
          <p:cNvSpPr/>
          <p:nvPr/>
        </p:nvSpPr>
        <p:spPr>
          <a:xfrm>
            <a:off x="1188720" y="3657600"/>
            <a:ext cx="2286000" cy="320040"/>
          </a:xfrm>
          <a:prstGeom prst="rect">
            <a:avLst/>
          </a:prstGeom>
          <a:solidFill>
            <a:srgbClr val="7D868F"/>
          </a:solidFill>
          <a:ln w="12700">
            <a:solidFill>
              <a:srgbClr val="262B33"/>
            </a:solidFill>
            <a:prstDash val="solid"/>
          </a:ln>
        </p:spPr>
      </p:sp>
      <p:sp>
        <p:nvSpPr>
          <p:cNvPr id="8" name="Shape 6"/>
          <p:cNvSpPr/>
          <p:nvPr/>
        </p:nvSpPr>
        <p:spPr>
          <a:xfrm>
            <a:off x="1188720" y="2011680"/>
            <a:ext cx="365760" cy="1645920"/>
          </a:xfrm>
          <a:prstGeom prst="rect">
            <a:avLst/>
          </a:prstGeom>
          <a:solidFill>
            <a:srgbClr val="7D868F"/>
          </a:solidFill>
          <a:ln w="12700">
            <a:solidFill>
              <a:srgbClr val="262B33"/>
            </a:solidFill>
            <a:prstDash val="solid"/>
          </a:ln>
        </p:spPr>
      </p:sp>
      <p:sp>
        <p:nvSpPr>
          <p:cNvPr id="9" name="Shape 7"/>
          <p:cNvSpPr/>
          <p:nvPr/>
        </p:nvSpPr>
        <p:spPr>
          <a:xfrm>
            <a:off x="3108960" y="2011680"/>
            <a:ext cx="365760" cy="1645920"/>
          </a:xfrm>
          <a:prstGeom prst="rect">
            <a:avLst/>
          </a:prstGeom>
          <a:solidFill>
            <a:srgbClr val="7D868F"/>
          </a:solidFill>
          <a:ln w="12700">
            <a:solidFill>
              <a:srgbClr val="262B33"/>
            </a:solidFill>
            <a:prstDash val="solid"/>
          </a:ln>
        </p:spPr>
      </p:sp>
      <p:sp>
        <p:nvSpPr>
          <p:cNvPr id="10" name="Shape 8"/>
          <p:cNvSpPr/>
          <p:nvPr/>
        </p:nvSpPr>
        <p:spPr>
          <a:xfrm>
            <a:off x="731520" y="2286000"/>
            <a:ext cx="365760" cy="1097280"/>
          </a:xfrm>
          <a:prstGeom prst="roundRect">
            <a:avLst>
              <a:gd name="adj" fmla="val 15000"/>
            </a:avLst>
          </a:prstGeom>
          <a:solidFill>
            <a:srgbClr val="8C4A2F"/>
          </a:solidFill>
          <a:ln w="12700">
            <a:solidFill>
              <a:srgbClr val="8C4A2F"/>
            </a:solidFill>
            <a:prstDash val="solid"/>
          </a:ln>
        </p:spPr>
      </p:sp>
      <p:sp>
        <p:nvSpPr>
          <p:cNvPr id="11" name="Text 9"/>
          <p:cNvSpPr/>
          <p:nvPr/>
        </p:nvSpPr>
        <p:spPr>
          <a:xfrm>
            <a:off x="731520" y="2286000"/>
            <a:ext cx="365760" cy="10972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HV</a:t>
            </a:r>
            <a:endParaRPr lang="en-US" sz="1100" dirty="0"/>
          </a:p>
        </p:txBody>
      </p:sp>
      <p:sp>
        <p:nvSpPr>
          <p:cNvPr id="12" name="Shape 10"/>
          <p:cNvSpPr/>
          <p:nvPr/>
        </p:nvSpPr>
        <p:spPr>
          <a:xfrm>
            <a:off x="3200400" y="2286000"/>
            <a:ext cx="365760" cy="1097280"/>
          </a:xfrm>
          <a:prstGeom prst="roundRect">
            <a:avLst>
              <a:gd name="adj" fmla="val 15000"/>
            </a:avLst>
          </a:prstGeom>
          <a:solidFill>
            <a:srgbClr val="8C4A2F"/>
          </a:solidFill>
          <a:ln w="12700">
            <a:solidFill>
              <a:srgbClr val="8C4A2F"/>
            </a:solidFill>
            <a:prstDash val="solid"/>
          </a:ln>
        </p:spPr>
      </p:sp>
      <p:sp>
        <p:nvSpPr>
          <p:cNvPr id="13" name="Text 11"/>
          <p:cNvSpPr/>
          <p:nvPr/>
        </p:nvSpPr>
        <p:spPr>
          <a:xfrm>
            <a:off x="3200400" y="2286000"/>
            <a:ext cx="365760" cy="10972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HV</a:t>
            </a:r>
            <a:endParaRPr lang="en-US" sz="1100" dirty="0"/>
          </a:p>
        </p:txBody>
      </p:sp>
      <p:sp>
        <p:nvSpPr>
          <p:cNvPr id="14" name="Shape 12"/>
          <p:cNvSpPr/>
          <p:nvPr/>
        </p:nvSpPr>
        <p:spPr>
          <a:xfrm>
            <a:off x="1188720" y="2331720"/>
            <a:ext cx="274320" cy="1005840"/>
          </a:xfrm>
          <a:prstGeom prst="roundRect">
            <a:avLst>
              <a:gd name="adj" fmla="val 20000"/>
            </a:avLst>
          </a:prstGeom>
          <a:solidFill>
            <a:srgbClr val="D9822B"/>
          </a:solidFill>
          <a:ln w="12700">
            <a:solidFill>
              <a:srgbClr val="8C4A2F"/>
            </a:solidFill>
            <a:prstDash val="solid"/>
          </a:ln>
        </p:spPr>
      </p:sp>
      <p:sp>
        <p:nvSpPr>
          <p:cNvPr id="15" name="Text 13"/>
          <p:cNvSpPr/>
          <p:nvPr/>
        </p:nvSpPr>
        <p:spPr>
          <a:xfrm>
            <a:off x="1188720" y="2331720"/>
            <a:ext cx="27432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LV</a:t>
            </a:r>
            <a:endParaRPr lang="en-US" sz="1100" dirty="0"/>
          </a:p>
        </p:txBody>
      </p:sp>
      <p:sp>
        <p:nvSpPr>
          <p:cNvPr id="16" name="Shape 14"/>
          <p:cNvSpPr/>
          <p:nvPr/>
        </p:nvSpPr>
        <p:spPr>
          <a:xfrm>
            <a:off x="3108960" y="2331720"/>
            <a:ext cx="274320" cy="1005840"/>
          </a:xfrm>
          <a:prstGeom prst="roundRect">
            <a:avLst>
              <a:gd name="adj" fmla="val 20000"/>
            </a:avLst>
          </a:prstGeom>
          <a:solidFill>
            <a:srgbClr val="D9822B"/>
          </a:solidFill>
          <a:ln w="12700">
            <a:solidFill>
              <a:srgbClr val="8C4A2F"/>
            </a:solidFill>
            <a:prstDash val="solid"/>
          </a:ln>
        </p:spPr>
      </p:sp>
      <p:sp>
        <p:nvSpPr>
          <p:cNvPr id="17" name="Text 15"/>
          <p:cNvSpPr/>
          <p:nvPr/>
        </p:nvSpPr>
        <p:spPr>
          <a:xfrm>
            <a:off x="3108960" y="2331720"/>
            <a:ext cx="27432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LV</a:t>
            </a:r>
            <a:endParaRPr lang="en-US" sz="1100" dirty="0"/>
          </a:p>
        </p:txBody>
      </p:sp>
      <p:sp>
        <p:nvSpPr>
          <p:cNvPr id="18" name="Shape 16"/>
          <p:cNvSpPr/>
          <p:nvPr/>
        </p:nvSpPr>
        <p:spPr>
          <a:xfrm>
            <a:off x="1645920" y="1828800"/>
            <a:ext cx="1371600" cy="0"/>
          </a:xfrm>
          <a:prstGeom prst="line">
            <a:avLst/>
          </a:prstGeom>
          <a:noFill/>
          <a:ln w="25400">
            <a:solidFill>
              <a:srgbClr val="B3382C"/>
            </a:solidFill>
            <a:prstDash val="dash"/>
            <a:tailEnd type="triangle"/>
          </a:ln>
        </p:spPr>
      </p:sp>
      <p:sp>
        <p:nvSpPr>
          <p:cNvPr id="19" name="Shape 17"/>
          <p:cNvSpPr/>
          <p:nvPr/>
        </p:nvSpPr>
        <p:spPr>
          <a:xfrm>
            <a:off x="2926080" y="3840480"/>
            <a:ext cx="-1371600" cy="0"/>
          </a:xfrm>
          <a:prstGeom prst="line">
            <a:avLst/>
          </a:prstGeom>
          <a:noFill/>
          <a:ln w="25400">
            <a:solidFill>
              <a:srgbClr val="B3382C"/>
            </a:solidFill>
            <a:prstDash val="dash"/>
            <a:tailEnd type="triangle"/>
          </a:ln>
        </p:spPr>
      </p:sp>
      <p:sp>
        <p:nvSpPr>
          <p:cNvPr id="20" name="Text 18"/>
          <p:cNvSpPr/>
          <p:nvPr/>
        </p:nvSpPr>
        <p:spPr>
          <a:xfrm>
            <a:off x="548640" y="4480560"/>
            <a:ext cx="3566160" cy="457200"/>
          </a:xfrm>
          <a:prstGeom prst="rect">
            <a:avLst/>
          </a:prstGeom>
          <a:noFill/>
          <a:ln/>
        </p:spPr>
        <p:txBody>
          <a:bodyPr wrap="square" lIns="0" tIns="0" rIns="0" bIns="0" rtlCol="0" anchor="ctr"/>
          <a:lstStyle/>
          <a:p>
            <a:pPr algn="ctr" indent="0" marL="0">
              <a:buNone/>
            </a:pPr>
            <a:r>
              <a:rPr lang="en-US" sz="1100" b="1" dirty="0">
                <a:solidFill>
                  <a:srgbClr val="2B2B2B"/>
                </a:solidFill>
                <a:latin typeface="Calibri" pitchFamily="34" charset="0"/>
                <a:ea typeface="Calibri" pitchFamily="34" charset="-122"/>
                <a:cs typeface="Calibri" pitchFamily="34" charset="-120"/>
              </a:rPr>
              <a:t>CORE TYPE</a:t>
            </a:r>
            <a:endParaRPr lang="en-US" sz="1100" dirty="0"/>
          </a:p>
          <a:p>
            <a:pPr algn="ctr" indent="0" marL="0">
              <a:buNone/>
            </a:pPr>
            <a:r>
              <a:rPr lang="en-US" sz="1100" b="1" dirty="0">
                <a:solidFill>
                  <a:srgbClr val="2B2B2B"/>
                </a:solidFill>
                <a:latin typeface="Calibri" pitchFamily="34" charset="0"/>
                <a:ea typeface="Calibri" pitchFamily="34" charset="-122"/>
                <a:cs typeface="Calibri" pitchFamily="34" charset="-120"/>
              </a:rPr>
              <a:t>winding surrounds the core. Windings on BOTH limbs.</a:t>
            </a:r>
            <a:endParaRPr lang="en-US" sz="1100" dirty="0"/>
          </a:p>
        </p:txBody>
      </p:sp>
      <p:sp>
        <p:nvSpPr>
          <p:cNvPr id="21" name="Shape 19"/>
          <p:cNvSpPr/>
          <p:nvPr/>
        </p:nvSpPr>
        <p:spPr>
          <a:xfrm>
            <a:off x="4480560" y="1417320"/>
            <a:ext cx="3749040" cy="3017520"/>
          </a:xfrm>
          <a:prstGeom prst="roundRect">
            <a:avLst>
              <a:gd name="adj" fmla="val 2424"/>
            </a:avLst>
          </a:prstGeom>
          <a:solidFill>
            <a:srgbClr val="FFFFFF"/>
          </a:solidFill>
          <a:ln/>
          <a:effectLst>
            <a:outerShdw sx="100000" sy="100000" kx="0" ky="0" algn="bl" rotWithShape="0" blurRad="38100" dist="12700" dir="5400000">
              <a:srgbClr val="BBBBBB">
                <a:alpha val="35000"/>
              </a:srgbClr>
            </a:outerShdw>
          </a:effectLst>
        </p:spPr>
      </p:sp>
      <p:sp>
        <p:nvSpPr>
          <p:cNvPr id="22" name="Shape 20"/>
          <p:cNvSpPr/>
          <p:nvPr/>
        </p:nvSpPr>
        <p:spPr>
          <a:xfrm>
            <a:off x="5029200" y="1691640"/>
            <a:ext cx="2651760" cy="320040"/>
          </a:xfrm>
          <a:prstGeom prst="rect">
            <a:avLst/>
          </a:prstGeom>
          <a:solidFill>
            <a:srgbClr val="7D868F"/>
          </a:solidFill>
          <a:ln w="12700">
            <a:solidFill>
              <a:srgbClr val="262B33"/>
            </a:solidFill>
            <a:prstDash val="solid"/>
          </a:ln>
        </p:spPr>
      </p:sp>
      <p:sp>
        <p:nvSpPr>
          <p:cNvPr id="23" name="Shape 21"/>
          <p:cNvSpPr/>
          <p:nvPr/>
        </p:nvSpPr>
        <p:spPr>
          <a:xfrm>
            <a:off x="5029200" y="3657600"/>
            <a:ext cx="2651760" cy="320040"/>
          </a:xfrm>
          <a:prstGeom prst="rect">
            <a:avLst/>
          </a:prstGeom>
          <a:solidFill>
            <a:srgbClr val="7D868F"/>
          </a:solidFill>
          <a:ln w="12700">
            <a:solidFill>
              <a:srgbClr val="262B33"/>
            </a:solidFill>
            <a:prstDash val="solid"/>
          </a:ln>
        </p:spPr>
      </p:sp>
      <p:sp>
        <p:nvSpPr>
          <p:cNvPr id="24" name="Shape 22"/>
          <p:cNvSpPr/>
          <p:nvPr/>
        </p:nvSpPr>
        <p:spPr>
          <a:xfrm>
            <a:off x="5029200" y="2011680"/>
            <a:ext cx="320040" cy="1645920"/>
          </a:xfrm>
          <a:prstGeom prst="rect">
            <a:avLst/>
          </a:prstGeom>
          <a:solidFill>
            <a:srgbClr val="7D868F"/>
          </a:solidFill>
          <a:ln w="12700">
            <a:solidFill>
              <a:srgbClr val="262B33"/>
            </a:solidFill>
            <a:prstDash val="solid"/>
          </a:ln>
        </p:spPr>
      </p:sp>
      <p:sp>
        <p:nvSpPr>
          <p:cNvPr id="25" name="Shape 23"/>
          <p:cNvSpPr/>
          <p:nvPr/>
        </p:nvSpPr>
        <p:spPr>
          <a:xfrm>
            <a:off x="7360920" y="2011680"/>
            <a:ext cx="320040" cy="1645920"/>
          </a:xfrm>
          <a:prstGeom prst="rect">
            <a:avLst/>
          </a:prstGeom>
          <a:solidFill>
            <a:srgbClr val="7D868F"/>
          </a:solidFill>
          <a:ln w="12700">
            <a:solidFill>
              <a:srgbClr val="262B33"/>
            </a:solidFill>
            <a:prstDash val="solid"/>
          </a:ln>
        </p:spPr>
      </p:sp>
      <p:sp>
        <p:nvSpPr>
          <p:cNvPr id="26" name="Shape 24"/>
          <p:cNvSpPr/>
          <p:nvPr/>
        </p:nvSpPr>
        <p:spPr>
          <a:xfrm>
            <a:off x="6172200" y="2011680"/>
            <a:ext cx="365760" cy="1645920"/>
          </a:xfrm>
          <a:prstGeom prst="rect">
            <a:avLst/>
          </a:prstGeom>
          <a:solidFill>
            <a:srgbClr val="7D868F"/>
          </a:solidFill>
          <a:ln w="12700">
            <a:solidFill>
              <a:srgbClr val="262B33"/>
            </a:solidFill>
            <a:prstDash val="solid"/>
          </a:ln>
        </p:spPr>
      </p:sp>
      <p:sp>
        <p:nvSpPr>
          <p:cNvPr id="27" name="Shape 25"/>
          <p:cNvSpPr/>
          <p:nvPr/>
        </p:nvSpPr>
        <p:spPr>
          <a:xfrm>
            <a:off x="5852160" y="2286000"/>
            <a:ext cx="274320" cy="1097280"/>
          </a:xfrm>
          <a:prstGeom prst="roundRect">
            <a:avLst>
              <a:gd name="adj" fmla="val 20000"/>
            </a:avLst>
          </a:prstGeom>
          <a:solidFill>
            <a:srgbClr val="8C4A2F"/>
          </a:solidFill>
          <a:ln w="12700">
            <a:solidFill>
              <a:srgbClr val="8C4A2F"/>
            </a:solidFill>
            <a:prstDash val="solid"/>
          </a:ln>
        </p:spPr>
      </p:sp>
      <p:sp>
        <p:nvSpPr>
          <p:cNvPr id="28" name="Text 26"/>
          <p:cNvSpPr/>
          <p:nvPr/>
        </p:nvSpPr>
        <p:spPr>
          <a:xfrm>
            <a:off x="5852160" y="2286000"/>
            <a:ext cx="274320" cy="10972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HV</a:t>
            </a:r>
            <a:endParaRPr lang="en-US" sz="1100" dirty="0"/>
          </a:p>
        </p:txBody>
      </p:sp>
      <p:sp>
        <p:nvSpPr>
          <p:cNvPr id="29" name="Shape 27"/>
          <p:cNvSpPr/>
          <p:nvPr/>
        </p:nvSpPr>
        <p:spPr>
          <a:xfrm>
            <a:off x="6583680" y="2286000"/>
            <a:ext cx="274320" cy="1097280"/>
          </a:xfrm>
          <a:prstGeom prst="roundRect">
            <a:avLst>
              <a:gd name="adj" fmla="val 20000"/>
            </a:avLst>
          </a:prstGeom>
          <a:solidFill>
            <a:srgbClr val="8C4A2F"/>
          </a:solidFill>
          <a:ln w="12700">
            <a:solidFill>
              <a:srgbClr val="8C4A2F"/>
            </a:solidFill>
            <a:prstDash val="solid"/>
          </a:ln>
        </p:spPr>
      </p:sp>
      <p:sp>
        <p:nvSpPr>
          <p:cNvPr id="30" name="Text 28"/>
          <p:cNvSpPr/>
          <p:nvPr/>
        </p:nvSpPr>
        <p:spPr>
          <a:xfrm>
            <a:off x="6583680" y="2286000"/>
            <a:ext cx="274320" cy="109728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HV</a:t>
            </a:r>
            <a:endParaRPr lang="en-US" sz="1100" dirty="0"/>
          </a:p>
        </p:txBody>
      </p:sp>
      <p:sp>
        <p:nvSpPr>
          <p:cNvPr id="31" name="Shape 29"/>
          <p:cNvSpPr/>
          <p:nvPr/>
        </p:nvSpPr>
        <p:spPr>
          <a:xfrm>
            <a:off x="6172200" y="2331720"/>
            <a:ext cx="274320" cy="1005840"/>
          </a:xfrm>
          <a:prstGeom prst="roundRect">
            <a:avLst>
              <a:gd name="adj" fmla="val 20000"/>
            </a:avLst>
          </a:prstGeom>
          <a:solidFill>
            <a:srgbClr val="D9822B"/>
          </a:solidFill>
          <a:ln w="12700">
            <a:solidFill>
              <a:srgbClr val="8C4A2F"/>
            </a:solidFill>
            <a:prstDash val="solid"/>
          </a:ln>
        </p:spPr>
      </p:sp>
      <p:sp>
        <p:nvSpPr>
          <p:cNvPr id="32" name="Text 30"/>
          <p:cNvSpPr/>
          <p:nvPr/>
        </p:nvSpPr>
        <p:spPr>
          <a:xfrm>
            <a:off x="6172200" y="2331720"/>
            <a:ext cx="27432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LV</a:t>
            </a:r>
            <a:endParaRPr lang="en-US" sz="1100" dirty="0"/>
          </a:p>
        </p:txBody>
      </p:sp>
      <p:sp>
        <p:nvSpPr>
          <p:cNvPr id="33" name="Shape 31"/>
          <p:cNvSpPr/>
          <p:nvPr/>
        </p:nvSpPr>
        <p:spPr>
          <a:xfrm>
            <a:off x="5486400" y="1828800"/>
            <a:ext cx="914400" cy="0"/>
          </a:xfrm>
          <a:prstGeom prst="line">
            <a:avLst/>
          </a:prstGeom>
          <a:noFill/>
          <a:ln w="25400">
            <a:solidFill>
              <a:srgbClr val="B3382C"/>
            </a:solidFill>
            <a:prstDash val="dash"/>
            <a:tailEnd type="triangle"/>
          </a:ln>
        </p:spPr>
      </p:sp>
      <p:sp>
        <p:nvSpPr>
          <p:cNvPr id="34" name="Shape 32"/>
          <p:cNvSpPr/>
          <p:nvPr/>
        </p:nvSpPr>
        <p:spPr>
          <a:xfrm>
            <a:off x="6949440" y="3840480"/>
            <a:ext cx="-914400" cy="0"/>
          </a:xfrm>
          <a:prstGeom prst="line">
            <a:avLst/>
          </a:prstGeom>
          <a:noFill/>
          <a:ln w="25400">
            <a:solidFill>
              <a:srgbClr val="B3382C"/>
            </a:solidFill>
            <a:prstDash val="dash"/>
            <a:tailEnd type="triangle"/>
          </a:ln>
        </p:spPr>
      </p:sp>
      <p:sp>
        <p:nvSpPr>
          <p:cNvPr id="35" name="Text 33"/>
          <p:cNvSpPr/>
          <p:nvPr/>
        </p:nvSpPr>
        <p:spPr>
          <a:xfrm>
            <a:off x="4937760" y="1828800"/>
            <a:ext cx="822960" cy="274320"/>
          </a:xfrm>
          <a:prstGeom prst="rect">
            <a:avLst/>
          </a:prstGeom>
          <a:noFill/>
          <a:ln/>
        </p:spPr>
        <p:txBody>
          <a:bodyPr wrap="square" lIns="0" tIns="0" rIns="0" bIns="0" rtlCol="0" anchor="ctr"/>
          <a:lstStyle/>
          <a:p>
            <a:pPr algn="ctr" indent="0" marL="0">
              <a:buNone/>
            </a:pPr>
            <a:r>
              <a:rPr lang="en-US" sz="850" dirty="0">
                <a:solidFill>
                  <a:srgbClr val="B3382C"/>
                </a:solidFill>
                <a:latin typeface="Calibri" pitchFamily="34" charset="0"/>
                <a:ea typeface="Calibri" pitchFamily="34" charset="-122"/>
                <a:cs typeface="Calibri" pitchFamily="34" charset="-120"/>
              </a:rPr>
              <a:t>return path</a:t>
            </a:r>
            <a:endParaRPr lang="en-US" sz="850" dirty="0"/>
          </a:p>
        </p:txBody>
      </p:sp>
      <p:sp>
        <p:nvSpPr>
          <p:cNvPr id="36" name="Text 34"/>
          <p:cNvSpPr/>
          <p:nvPr/>
        </p:nvSpPr>
        <p:spPr>
          <a:xfrm>
            <a:off x="4572000" y="4480560"/>
            <a:ext cx="3566160" cy="548640"/>
          </a:xfrm>
          <a:prstGeom prst="rect">
            <a:avLst/>
          </a:prstGeom>
          <a:noFill/>
          <a:ln/>
        </p:spPr>
        <p:txBody>
          <a:bodyPr wrap="square" lIns="0" tIns="0" rIns="0" bIns="0" rtlCol="0" anchor="ctr"/>
          <a:lstStyle/>
          <a:p>
            <a:pPr algn="ctr" indent="0" marL="0">
              <a:buNone/>
            </a:pPr>
            <a:r>
              <a:rPr lang="en-US" sz="1100" b="1" dirty="0">
                <a:solidFill>
                  <a:srgbClr val="2B2B2B"/>
                </a:solidFill>
                <a:latin typeface="Calibri" pitchFamily="34" charset="0"/>
                <a:ea typeface="Calibri" pitchFamily="34" charset="-122"/>
                <a:cs typeface="Calibri" pitchFamily="34" charset="-120"/>
              </a:rPr>
              <a:t>SHELL TYPE</a:t>
            </a:r>
            <a:endParaRPr lang="en-US" sz="1100" dirty="0"/>
          </a:p>
          <a:p>
            <a:pPr algn="ctr" indent="0" marL="0">
              <a:buNone/>
            </a:pPr>
            <a:r>
              <a:rPr lang="en-US" sz="1100" b="1" dirty="0">
                <a:solidFill>
                  <a:srgbClr val="2B2B2B"/>
                </a:solidFill>
                <a:latin typeface="Calibri" pitchFamily="34" charset="0"/>
                <a:ea typeface="Calibri" pitchFamily="34" charset="-122"/>
                <a:cs typeface="Calibri" pitchFamily="34" charset="-120"/>
              </a:rPr>
              <a:t>core surrounds the winding. Windings only on the CENTER limb; flux splits into two return paths.</a:t>
            </a:r>
            <a:endParaRPr lang="en-US" sz="1100" dirty="0"/>
          </a:p>
        </p:txBody>
      </p:sp>
      <p:sp>
        <p:nvSpPr>
          <p:cNvPr id="37" name="Shape 35"/>
          <p:cNvSpPr/>
          <p:nvPr/>
        </p:nvSpPr>
        <p:spPr>
          <a:xfrm>
            <a:off x="8503920" y="1417320"/>
            <a:ext cx="3200400" cy="4480560"/>
          </a:xfrm>
          <a:prstGeom prst="roundRect">
            <a:avLst>
              <a:gd name="adj" fmla="val 2286"/>
            </a:avLst>
          </a:prstGeom>
          <a:solidFill>
            <a:srgbClr val="EDE7E0"/>
          </a:solidFill>
          <a:ln/>
          <a:effectLst>
            <a:outerShdw sx="100000" sy="100000" kx="0" ky="0" algn="bl" rotWithShape="0" blurRad="38100" dist="12700" dir="5400000">
              <a:srgbClr val="BBBBBB">
                <a:alpha val="35000"/>
              </a:srgbClr>
            </a:outerShdw>
          </a:effectLst>
        </p:spPr>
      </p:sp>
      <p:sp>
        <p:nvSpPr>
          <p:cNvPr id="38" name="Text 36"/>
          <p:cNvSpPr/>
          <p:nvPr/>
        </p:nvSpPr>
        <p:spPr>
          <a:xfrm>
            <a:off x="8686800" y="1554480"/>
            <a:ext cx="2880360" cy="4206240"/>
          </a:xfrm>
          <a:prstGeom prst="rect">
            <a:avLst/>
          </a:prstGeom>
          <a:noFill/>
          <a:ln/>
        </p:spPr>
        <p:txBody>
          <a:bodyPr wrap="square" lIns="0" tIns="0" rIns="0" bIns="0" rtlCol="0" anchor="t"/>
          <a:lstStyle/>
          <a:p>
            <a:pPr indent="0" marL="0">
              <a:buNone/>
            </a:pPr>
            <a:r>
              <a:rPr lang="en-US" sz="1300" b="1" dirty="0">
                <a:solidFill>
                  <a:srgbClr val="8C4A2F"/>
                </a:solidFill>
                <a:latin typeface="Calibri" pitchFamily="34" charset="0"/>
                <a:ea typeface="Calibri" pitchFamily="34" charset="-122"/>
                <a:cs typeface="Calibri" pitchFamily="34" charset="-120"/>
              </a:rPr>
              <a:t>QUICK COMPARE
</a:t>
            </a:r>
            <a:endParaRPr lang="en-US" sz="1300" dirty="0"/>
          </a:p>
          <a:p>
            <a:pPr indent="0" marL="0">
              <a:buNone/>
            </a:pPr>
            <a:r>
              <a:rPr lang="en-US" sz="1300" b="1" dirty="0">
                <a:solidFill>
                  <a:srgbClr val="2B2B2B"/>
                </a:solidFill>
                <a:latin typeface="Calibri" pitchFamily="34" charset="0"/>
                <a:ea typeface="Calibri" pitchFamily="34" charset="-122"/>
                <a:cs typeface="Calibri" pitchFamily="34" charset="-120"/>
              </a:rPr>
              <a:t>Flux path
</a:t>
            </a:r>
            <a:endParaRPr lang="en-US" sz="1300" dirty="0"/>
          </a:p>
          <a:p>
            <a:pPr indent="0" marL="0">
              <a:buNone/>
            </a:pPr>
            <a:r>
              <a:rPr lang="en-US" sz="1100" dirty="0">
                <a:solidFill>
                  <a:srgbClr val="2B2B2B"/>
                </a:solidFill>
                <a:latin typeface="Calibri" pitchFamily="34" charset="0"/>
                <a:ea typeface="Calibri" pitchFamily="34" charset="-122"/>
                <a:cs typeface="Calibri" pitchFamily="34" charset="-120"/>
              </a:rPr>
              <a:t>core: one loop through 2 limbs. shell: splits through 2 outer limbs.
</a:t>
            </a:r>
            <a:endParaRPr lang="en-US" sz="1300" dirty="0"/>
          </a:p>
          <a:p>
            <a:pPr indent="0" marL="0">
              <a:buNone/>
            </a:pPr>
            <a:r>
              <a:rPr lang="en-US" sz="1300" b="1" dirty="0">
                <a:solidFill>
                  <a:srgbClr val="2B2B2B"/>
                </a:solidFill>
                <a:latin typeface="Calibri" pitchFamily="34" charset="0"/>
                <a:ea typeface="Calibri" pitchFamily="34" charset="-122"/>
                <a:cs typeface="Calibri" pitchFamily="34" charset="-120"/>
              </a:rPr>
              <a:t>Windings
</a:t>
            </a:r>
            <a:endParaRPr lang="en-US" sz="1300" dirty="0"/>
          </a:p>
          <a:p>
            <a:pPr indent="0" marL="0">
              <a:buNone/>
            </a:pPr>
            <a:r>
              <a:rPr lang="en-US" sz="1100" dirty="0">
                <a:solidFill>
                  <a:srgbClr val="2B2B2B"/>
                </a:solidFill>
                <a:latin typeface="Calibri" pitchFamily="34" charset="0"/>
                <a:ea typeface="Calibri" pitchFamily="34" charset="-122"/>
                <a:cs typeface="Calibri" pitchFamily="34" charset="-120"/>
              </a:rPr>
              <a:t>core: concentric, on both limbs. shell: sandwich, on center limb only.
</a:t>
            </a:r>
            <a:endParaRPr lang="en-US" sz="1300" dirty="0"/>
          </a:p>
          <a:p>
            <a:pPr indent="0" marL="0">
              <a:buNone/>
            </a:pPr>
            <a:r>
              <a:rPr lang="en-US" sz="1300" b="1" dirty="0">
                <a:solidFill>
                  <a:srgbClr val="2B2B2B"/>
                </a:solidFill>
                <a:latin typeface="Calibri" pitchFamily="34" charset="0"/>
                <a:ea typeface="Calibri" pitchFamily="34" charset="-122"/>
                <a:cs typeface="Calibri" pitchFamily="34" charset="-120"/>
              </a:rPr>
              <a:t>Insulation
</a:t>
            </a:r>
            <a:endParaRPr lang="en-US" sz="1300" dirty="0"/>
          </a:p>
          <a:p>
            <a:pPr indent="0" marL="0">
              <a:buNone/>
            </a:pPr>
            <a:r>
              <a:rPr lang="en-US" sz="1100" dirty="0">
                <a:solidFill>
                  <a:srgbClr val="2B2B2B"/>
                </a:solidFill>
                <a:latin typeface="Calibri" pitchFamily="34" charset="0"/>
                <a:ea typeface="Calibri" pitchFamily="34" charset="-122"/>
                <a:cs typeface="Calibri" pitchFamily="34" charset="-120"/>
              </a:rPr>
              <a:t>core type: easier HV insulation, more insulation volume. shell: windings shielded by outer limbs.
</a:t>
            </a:r>
            <a:endParaRPr lang="en-US" sz="1300" dirty="0"/>
          </a:p>
          <a:p>
            <a:pPr indent="0" marL="0">
              <a:buNone/>
            </a:pPr>
            <a:r>
              <a:rPr lang="en-US" sz="1300" b="1" dirty="0">
                <a:solidFill>
                  <a:srgbClr val="2B2B2B"/>
                </a:solidFill>
                <a:latin typeface="Calibri" pitchFamily="34" charset="0"/>
                <a:ea typeface="Calibri" pitchFamily="34" charset="-122"/>
                <a:cs typeface="Calibri" pitchFamily="34" charset="-120"/>
              </a:rPr>
              <a:t>Used for
</a:t>
            </a:r>
            <a:endParaRPr lang="en-US" sz="1300" dirty="0"/>
          </a:p>
          <a:p>
            <a:pPr indent="0" marL="0">
              <a:buNone/>
            </a:pPr>
            <a:r>
              <a:rPr lang="en-US" sz="1100" dirty="0">
                <a:solidFill>
                  <a:srgbClr val="2B2B2B"/>
                </a:solidFill>
                <a:latin typeface="Calibri" pitchFamily="34" charset="0"/>
                <a:ea typeface="Calibri" pitchFamily="34" charset="-122"/>
                <a:cs typeface="Calibri" pitchFamily="34" charset="-120"/>
              </a:rPr>
              <a:t>core type: high voltage, power transformers. shell type: low voltage, high current, small transformers.</a:t>
            </a:r>
            <a:endParaRPr lang="en-US" sz="1300" dirty="0"/>
          </a:p>
        </p:txBody>
      </p:sp>
      <p:sp>
        <p:nvSpPr>
          <p:cNvPr id="39" name="Text 37"/>
          <p:cNvSpPr/>
          <p:nvPr/>
        </p:nvSpPr>
        <p:spPr>
          <a:xfrm>
            <a:off x="457200" y="5120640"/>
            <a:ext cx="7772400" cy="640080"/>
          </a:xfrm>
          <a:prstGeom prst="rect">
            <a:avLst/>
          </a:prstGeom>
          <a:noFill/>
          <a:ln/>
        </p:spPr>
        <p:txBody>
          <a:bodyPr wrap="square" lIns="0" tIns="0" rIns="0" bIns="0" rtlCol="0" anchor="ctr"/>
          <a:lstStyle/>
          <a:p>
            <a:pPr indent="0" marL="0">
              <a:buNone/>
            </a:pPr>
            <a:r>
              <a:rPr lang="en-US" sz="1250" b="1" i="1" dirty="0">
                <a:solidFill>
                  <a:srgbClr val="8C4A2F"/>
                </a:solidFill>
                <a:latin typeface="Cambria" pitchFamily="34" charset="0"/>
                <a:ea typeface="Cambria" pitchFamily="34" charset="-122"/>
                <a:cs typeface="Cambria" pitchFamily="34" charset="-120"/>
              </a:rPr>
              <a:t>One-line conclusion: core type = winding around core (HV-friendly). Shell type = core around winding (LV high-current, mechanically protected).</a:t>
            </a:r>
            <a:endParaRPr lang="en-US" sz="1250" dirty="0"/>
          </a:p>
        </p:txBody>
      </p:sp>
      <p:sp>
        <p:nvSpPr>
          <p:cNvPr id="40" name="Text 38"/>
          <p:cNvSpPr/>
          <p:nvPr/>
        </p:nvSpPr>
        <p:spPr>
          <a:xfrm>
            <a:off x="457200" y="5943600"/>
            <a:ext cx="7772400" cy="365760"/>
          </a:xfrm>
          <a:prstGeom prst="rect">
            <a:avLst/>
          </a:prstGeom>
          <a:noFill/>
          <a:ln/>
        </p:spPr>
        <p:txBody>
          <a:bodyPr wrap="square" lIns="0" tIns="0" rIns="0" bIns="0" rtlCol="0" anchor="ctr"/>
          <a:lstStyle/>
          <a:p>
            <a:pPr indent="0" marL="0">
              <a:buNone/>
            </a:pPr>
            <a:r>
              <a:rPr lang="en-US" sz="1100" dirty="0">
                <a:solidFill>
                  <a:srgbClr val="6B6B6B"/>
                </a:solidFill>
                <a:latin typeface="Calibri" pitchFamily="34" charset="0"/>
                <a:ea typeface="Calibri" pitchFamily="34" charset="-122"/>
                <a:cs typeface="Calibri" pitchFamily="34" charset="-120"/>
              </a:rPr>
              <a:t>Draw labels the examiner wants: number of limbs, where the windings sit, and the flux path direction.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2800" b="1" dirty="0">
                <a:solidFill>
                  <a:srgbClr val="8C4A2F"/>
                </a:solidFill>
                <a:latin typeface="Cambria" pitchFamily="34" charset="0"/>
                <a:ea typeface="Cambria" pitchFamily="34" charset="-122"/>
                <a:cs typeface="Cambria" pitchFamily="34" charset="-120"/>
              </a:rPr>
              <a:t>Windings: why LV is inside and HV is outside</a:t>
            </a:r>
            <a:endParaRPr lang="en-US" sz="2800" dirty="0"/>
          </a:p>
        </p:txBody>
      </p:sp>
      <p:sp>
        <p:nvSpPr>
          <p:cNvPr id="3" name="Shape 1"/>
          <p:cNvSpPr/>
          <p:nvPr/>
        </p:nvSpPr>
        <p:spPr>
          <a:xfrm>
            <a:off x="457200" y="914400"/>
            <a:ext cx="3108960" cy="292608"/>
          </a:xfrm>
          <a:prstGeom prst="roundRect">
            <a:avLst>
              <a:gd name="adj" fmla="val 50000"/>
            </a:avLst>
          </a:prstGeom>
          <a:solidFill>
            <a:srgbClr val="8C4A2F"/>
          </a:solidFill>
          <a:ln/>
        </p:spPr>
      </p:sp>
      <p:sp>
        <p:nvSpPr>
          <p:cNvPr id="4" name="Text 2"/>
          <p:cNvSpPr/>
          <p:nvPr/>
        </p:nvSpPr>
        <p:spPr>
          <a:xfrm>
            <a:off x="457200" y="914400"/>
            <a:ext cx="310896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mbria" pitchFamily="34" charset="0"/>
                <a:ea typeface="Cambria" pitchFamily="34" charset="-122"/>
                <a:cs typeface="Cambria" pitchFamily="34" charset="-120"/>
              </a:rPr>
              <a:t>ROTE 1  |  WINDING DETAIL</a:t>
            </a:r>
            <a:endParaRPr lang="en-US" sz="1100" dirty="0"/>
          </a:p>
        </p:txBody>
      </p:sp>
      <p:sp>
        <p:nvSpPr>
          <p:cNvPr id="5" name="Shape 3"/>
          <p:cNvSpPr/>
          <p:nvPr/>
        </p:nvSpPr>
        <p:spPr>
          <a:xfrm>
            <a:off x="457200" y="1417320"/>
            <a:ext cx="4754880" cy="4206240"/>
          </a:xfrm>
          <a:prstGeom prst="roundRect">
            <a:avLst>
              <a:gd name="adj" fmla="val 1739"/>
            </a:avLst>
          </a:prstGeom>
          <a:solidFill>
            <a:srgbClr val="FFFFFF"/>
          </a:solidFill>
          <a:ln/>
          <a:effectLst>
            <a:outerShdw sx="100000" sy="100000" kx="0" ky="0" algn="bl" rotWithShape="0" blurRad="38100" dist="12700" dir="5400000">
              <a:srgbClr val="BBBBBB">
                <a:alpha val="35000"/>
              </a:srgbClr>
            </a:outerShdw>
          </a:effectLst>
        </p:spPr>
      </p:sp>
      <p:sp>
        <p:nvSpPr>
          <p:cNvPr id="6" name="Shape 4"/>
          <p:cNvSpPr/>
          <p:nvPr/>
        </p:nvSpPr>
        <p:spPr>
          <a:xfrm>
            <a:off x="2057400" y="2286000"/>
            <a:ext cx="1554480" cy="1554480"/>
          </a:xfrm>
          <a:prstGeom prst="ellipse">
            <a:avLst/>
          </a:prstGeom>
          <a:solidFill>
            <a:srgbClr val="7D868F"/>
          </a:solidFill>
          <a:ln w="19050">
            <a:solidFill>
              <a:srgbClr val="262B33"/>
            </a:solidFill>
            <a:prstDash val="solid"/>
          </a:ln>
        </p:spPr>
      </p:sp>
      <p:sp>
        <p:nvSpPr>
          <p:cNvPr id="7" name="Text 5"/>
          <p:cNvSpPr/>
          <p:nvPr/>
        </p:nvSpPr>
        <p:spPr>
          <a:xfrm>
            <a:off x="2057400" y="2834640"/>
            <a:ext cx="1554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core limb</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(section)</a:t>
            </a:r>
            <a:endParaRPr lang="en-US" sz="1000" dirty="0"/>
          </a:p>
        </p:txBody>
      </p:sp>
      <p:sp>
        <p:nvSpPr>
          <p:cNvPr id="8" name="Shape 6"/>
          <p:cNvSpPr/>
          <p:nvPr/>
        </p:nvSpPr>
        <p:spPr>
          <a:xfrm>
            <a:off x="1691640" y="1920240"/>
            <a:ext cx="2286000" cy="2286000"/>
          </a:xfrm>
          <a:prstGeom prst="ellipse">
            <a:avLst/>
          </a:prstGeom>
          <a:ln w="76200">
            <a:solidFill>
              <a:srgbClr val="D9822B"/>
            </a:solidFill>
            <a:prstDash val="solid"/>
          </a:ln>
        </p:spPr>
      </p:sp>
      <p:sp>
        <p:nvSpPr>
          <p:cNvPr id="9" name="Shape 7"/>
          <p:cNvSpPr/>
          <p:nvPr/>
        </p:nvSpPr>
        <p:spPr>
          <a:xfrm>
            <a:off x="1234440" y="1600200"/>
            <a:ext cx="3200400" cy="2926080"/>
          </a:xfrm>
          <a:prstGeom prst="ellipse">
            <a:avLst/>
          </a:prstGeom>
          <a:ln w="76200">
            <a:solidFill>
              <a:srgbClr val="8C4A2F"/>
            </a:solidFill>
            <a:prstDash val="solid"/>
          </a:ln>
        </p:spPr>
      </p:sp>
      <p:sp>
        <p:nvSpPr>
          <p:cNvPr id="10" name="Text 8"/>
          <p:cNvSpPr/>
          <p:nvPr/>
        </p:nvSpPr>
        <p:spPr>
          <a:xfrm>
            <a:off x="3611880" y="1965960"/>
            <a:ext cx="1371600" cy="274320"/>
          </a:xfrm>
          <a:prstGeom prst="rect">
            <a:avLst/>
          </a:prstGeom>
          <a:noFill/>
          <a:ln/>
        </p:spPr>
        <p:txBody>
          <a:bodyPr wrap="square" lIns="0" tIns="0" rIns="0" bIns="0" rtlCol="0" anchor="ctr"/>
          <a:lstStyle/>
          <a:p>
            <a:pPr algn="ctr" indent="0" marL="0">
              <a:buNone/>
            </a:pPr>
            <a:r>
              <a:rPr lang="en-US" sz="950" b="1" dirty="0">
                <a:solidFill>
                  <a:srgbClr val="D9822B"/>
                </a:solidFill>
                <a:latin typeface="Calibri" pitchFamily="34" charset="0"/>
                <a:ea typeface="Calibri" pitchFamily="34" charset="-122"/>
                <a:cs typeface="Calibri" pitchFamily="34" charset="-120"/>
              </a:rPr>
              <a:t>LV winding</a:t>
            </a:r>
            <a:endParaRPr lang="en-US" sz="950" dirty="0"/>
          </a:p>
          <a:p>
            <a:pPr algn="ctr" indent="0" marL="0">
              <a:buNone/>
            </a:pPr>
            <a:r>
              <a:rPr lang="en-US" sz="950" b="1" dirty="0">
                <a:solidFill>
                  <a:srgbClr val="D9822B"/>
                </a:solidFill>
                <a:latin typeface="Calibri" pitchFamily="34" charset="0"/>
                <a:ea typeface="Calibri" pitchFamily="34" charset="-122"/>
                <a:cs typeface="Calibri" pitchFamily="34" charset="-120"/>
              </a:rPr>
              <a:t>(thick wire,</a:t>
            </a:r>
            <a:endParaRPr lang="en-US" sz="950" dirty="0"/>
          </a:p>
          <a:p>
            <a:pPr algn="ctr" indent="0" marL="0">
              <a:buNone/>
            </a:pPr>
            <a:r>
              <a:rPr lang="en-US" sz="950" b="1" dirty="0">
                <a:solidFill>
                  <a:srgbClr val="D9822B"/>
                </a:solidFill>
                <a:latin typeface="Calibri" pitchFamily="34" charset="0"/>
                <a:ea typeface="Calibri" pitchFamily="34" charset="-122"/>
                <a:cs typeface="Calibri" pitchFamily="34" charset="-120"/>
              </a:rPr>
              <a:t>few turns)</a:t>
            </a:r>
            <a:endParaRPr lang="en-US" sz="950" dirty="0"/>
          </a:p>
        </p:txBody>
      </p:sp>
      <p:sp>
        <p:nvSpPr>
          <p:cNvPr id="11" name="Text 9"/>
          <p:cNvSpPr/>
          <p:nvPr/>
        </p:nvSpPr>
        <p:spPr>
          <a:xfrm>
            <a:off x="3977640" y="1417320"/>
            <a:ext cx="1280160" cy="274320"/>
          </a:xfrm>
          <a:prstGeom prst="rect">
            <a:avLst/>
          </a:prstGeom>
          <a:noFill/>
          <a:ln/>
        </p:spPr>
        <p:txBody>
          <a:bodyPr wrap="square" lIns="0" tIns="0" rIns="0" bIns="0" rtlCol="0" anchor="ctr"/>
          <a:lstStyle/>
          <a:p>
            <a:pPr algn="ctr" indent="0" marL="0">
              <a:buNone/>
            </a:pPr>
            <a:r>
              <a:rPr lang="en-US" sz="950" b="1" dirty="0">
                <a:solidFill>
                  <a:srgbClr val="8C4A2F"/>
                </a:solidFill>
                <a:latin typeface="Calibri" pitchFamily="34" charset="0"/>
                <a:ea typeface="Calibri" pitchFamily="34" charset="-122"/>
                <a:cs typeface="Calibri" pitchFamily="34" charset="-120"/>
              </a:rPr>
              <a:t>HV winding</a:t>
            </a:r>
            <a:endParaRPr lang="en-US" sz="950" dirty="0"/>
          </a:p>
          <a:p>
            <a:pPr algn="ctr" indent="0" marL="0">
              <a:buNone/>
            </a:pPr>
            <a:r>
              <a:rPr lang="en-US" sz="950" b="1" dirty="0">
                <a:solidFill>
                  <a:srgbClr val="8C4A2F"/>
                </a:solidFill>
                <a:latin typeface="Calibri" pitchFamily="34" charset="0"/>
                <a:ea typeface="Calibri" pitchFamily="34" charset="-122"/>
                <a:cs typeface="Calibri" pitchFamily="34" charset="-120"/>
              </a:rPr>
              <a:t>(thin wire,</a:t>
            </a:r>
            <a:endParaRPr lang="en-US" sz="950" dirty="0"/>
          </a:p>
          <a:p>
            <a:pPr algn="ctr" indent="0" marL="0">
              <a:buNone/>
            </a:pPr>
            <a:r>
              <a:rPr lang="en-US" sz="950" b="1" dirty="0">
                <a:solidFill>
                  <a:srgbClr val="8C4A2F"/>
                </a:solidFill>
                <a:latin typeface="Calibri" pitchFamily="34" charset="0"/>
                <a:ea typeface="Calibri" pitchFamily="34" charset="-122"/>
                <a:cs typeface="Calibri" pitchFamily="34" charset="-120"/>
              </a:rPr>
              <a:t>many turns)</a:t>
            </a:r>
            <a:endParaRPr lang="en-US" sz="950" dirty="0"/>
          </a:p>
        </p:txBody>
      </p:sp>
      <p:sp>
        <p:nvSpPr>
          <p:cNvPr id="12" name="Shape 10"/>
          <p:cNvSpPr/>
          <p:nvPr/>
        </p:nvSpPr>
        <p:spPr>
          <a:xfrm>
            <a:off x="4160520" y="2286000"/>
            <a:ext cx="-411480" cy="274320"/>
          </a:xfrm>
          <a:prstGeom prst="line">
            <a:avLst/>
          </a:prstGeom>
          <a:noFill/>
          <a:ln w="25400">
            <a:solidFill>
              <a:srgbClr val="444444"/>
            </a:solidFill>
            <a:prstDash val="dash"/>
            <a:tailEnd type="triangle"/>
          </a:ln>
        </p:spPr>
      </p:sp>
      <p:sp>
        <p:nvSpPr>
          <p:cNvPr id="13" name="Shape 11"/>
          <p:cNvSpPr/>
          <p:nvPr/>
        </p:nvSpPr>
        <p:spPr>
          <a:xfrm>
            <a:off x="4389120" y="1783080"/>
            <a:ext cx="-274320" cy="91440"/>
          </a:xfrm>
          <a:prstGeom prst="line">
            <a:avLst/>
          </a:prstGeom>
          <a:noFill/>
          <a:ln w="25400">
            <a:solidFill>
              <a:srgbClr val="444444"/>
            </a:solidFill>
            <a:prstDash val="dash"/>
            <a:tailEnd type="triangle"/>
          </a:ln>
        </p:spPr>
      </p:sp>
      <p:sp>
        <p:nvSpPr>
          <p:cNvPr id="14" name="Text 12"/>
          <p:cNvSpPr/>
          <p:nvPr/>
        </p:nvSpPr>
        <p:spPr>
          <a:xfrm>
            <a:off x="914400" y="4572000"/>
            <a:ext cx="3840480" cy="274320"/>
          </a:xfrm>
          <a:prstGeom prst="rect">
            <a:avLst/>
          </a:prstGeom>
          <a:noFill/>
          <a:ln/>
        </p:spPr>
        <p:txBody>
          <a:bodyPr wrap="square" lIns="0" tIns="0" rIns="0" bIns="0" rtlCol="0" anchor="ctr"/>
          <a:lstStyle/>
          <a:p>
            <a:pPr algn="ctr" indent="0" marL="0">
              <a:buNone/>
            </a:pPr>
            <a:r>
              <a:rPr lang="en-US" sz="900" dirty="0">
                <a:solidFill>
                  <a:srgbClr val="6B6B6B"/>
                </a:solidFill>
                <a:latin typeface="Calibri" pitchFamily="34" charset="0"/>
                <a:ea typeface="Calibri" pitchFamily="34" charset="-122"/>
                <a:cs typeface="Calibri" pitchFamily="34" charset="-120"/>
              </a:rPr>
              <a:t>insulation between every layer, and to earth</a:t>
            </a:r>
            <a:endParaRPr lang="en-US" sz="900" dirty="0"/>
          </a:p>
        </p:txBody>
      </p:sp>
      <p:sp>
        <p:nvSpPr>
          <p:cNvPr id="15" name="Text 13"/>
          <p:cNvSpPr/>
          <p:nvPr/>
        </p:nvSpPr>
        <p:spPr>
          <a:xfrm>
            <a:off x="548640" y="4937760"/>
            <a:ext cx="4572000" cy="320040"/>
          </a:xfrm>
          <a:prstGeom prst="rect">
            <a:avLst/>
          </a:prstGeom>
          <a:noFill/>
          <a:ln/>
        </p:spPr>
        <p:txBody>
          <a:bodyPr wrap="square" lIns="0" tIns="0" rIns="0" bIns="0" rtlCol="0" anchor="ctr"/>
          <a:lstStyle/>
          <a:p>
            <a:pPr algn="ctr" indent="0" marL="0">
              <a:buNone/>
            </a:pPr>
            <a:r>
              <a:rPr lang="en-US" sz="1050" i="1" dirty="0">
                <a:solidFill>
                  <a:srgbClr val="6B6B6B"/>
                </a:solidFill>
                <a:latin typeface="Calibri" pitchFamily="34" charset="0"/>
                <a:ea typeface="Calibri" pitchFamily="34" charset="-122"/>
                <a:cs typeface="Calibri" pitchFamily="34" charset="-120"/>
              </a:rPr>
              <a:t>Limb cross-section (concentric windings)</a:t>
            </a:r>
            <a:endParaRPr lang="en-US" sz="1050" dirty="0"/>
          </a:p>
        </p:txBody>
      </p:sp>
      <p:sp>
        <p:nvSpPr>
          <p:cNvPr id="16" name="Shape 14"/>
          <p:cNvSpPr/>
          <p:nvPr/>
        </p:nvSpPr>
        <p:spPr>
          <a:xfrm>
            <a:off x="5486400" y="1417320"/>
            <a:ext cx="6217920" cy="1234440"/>
          </a:xfrm>
          <a:prstGeom prst="roundRect">
            <a:avLst>
              <a:gd name="adj" fmla="val 5926"/>
            </a:avLst>
          </a:prstGeom>
          <a:solidFill>
            <a:srgbClr val="F6F4F1"/>
          </a:solidFill>
          <a:ln/>
          <a:effectLst>
            <a:outerShdw sx="100000" sy="100000" kx="0" ky="0" algn="bl" rotWithShape="0" blurRad="38100" dist="12700" dir="5400000">
              <a:srgbClr val="BBBBBB">
                <a:alpha val="35000"/>
              </a:srgbClr>
            </a:outerShdw>
          </a:effectLst>
        </p:spPr>
      </p:sp>
      <p:sp>
        <p:nvSpPr>
          <p:cNvPr id="17" name="Text 15"/>
          <p:cNvSpPr/>
          <p:nvPr/>
        </p:nvSpPr>
        <p:spPr>
          <a:xfrm>
            <a:off x="5669280" y="1536192"/>
            <a:ext cx="5852160" cy="1005840"/>
          </a:xfrm>
          <a:prstGeom prst="rect">
            <a:avLst/>
          </a:prstGeom>
          <a:noFill/>
          <a:ln/>
        </p:spPr>
        <p:txBody>
          <a:bodyPr wrap="square" lIns="0" tIns="0" rIns="0" bIns="0" rtlCol="0" anchor="t"/>
          <a:lstStyle/>
          <a:p>
            <a:pPr indent="0" marL="0">
              <a:buNone/>
            </a:pPr>
            <a:r>
              <a:rPr lang="en-US" sz="1250" b="1" dirty="0">
                <a:solidFill>
                  <a:srgbClr val="8C4A2F"/>
                </a:solidFill>
                <a:latin typeface="Calibri" pitchFamily="34" charset="0"/>
                <a:ea typeface="Calibri" pitchFamily="34" charset="-122"/>
                <a:cs typeface="Calibri" pitchFamily="34" charset="-120"/>
              </a:rPr>
              <a:t>LV winding: </a:t>
            </a:r>
            <a:pPr indent="0" marL="0">
              <a:buNone/>
            </a:pPr>
            <a:r>
              <a:rPr lang="en-US" sz="1250" dirty="0">
                <a:solidFill>
                  <a:srgbClr val="2B2B2B"/>
                </a:solidFill>
                <a:latin typeface="Calibri" pitchFamily="34" charset="0"/>
                <a:ea typeface="Calibri" pitchFamily="34" charset="-122"/>
                <a:cs typeface="Calibri" pitchFamily="34" charset="-120"/>
              </a:rPr>
              <a:t>few turns of THICK wire (high current, low voltage). Placed next to the limb.
</a:t>
            </a:r>
            <a:pPr indent="0" marL="0">
              <a:buNone/>
            </a:pPr>
            <a:r>
              <a:rPr lang="en-US" sz="1250" b="1" dirty="0">
                <a:solidFill>
                  <a:srgbClr val="8C4A2F"/>
                </a:solidFill>
                <a:latin typeface="Calibri" pitchFamily="34" charset="0"/>
                <a:ea typeface="Calibri" pitchFamily="34" charset="-122"/>
                <a:cs typeface="Calibri" pitchFamily="34" charset="-120"/>
              </a:rPr>
              <a:t>HV winding: </a:t>
            </a:r>
            <a:pPr indent="0" marL="0">
              <a:buNone/>
            </a:pPr>
            <a:r>
              <a:rPr lang="en-US" sz="1250" dirty="0">
                <a:solidFill>
                  <a:srgbClr val="2B2B2B"/>
                </a:solidFill>
                <a:latin typeface="Calibri" pitchFamily="34" charset="0"/>
                <a:ea typeface="Calibri" pitchFamily="34" charset="-122"/>
                <a:cs typeface="Calibri" pitchFamily="34" charset="-120"/>
              </a:rPr>
              <a:t>many turns of THIN wire (low current, high voltage). Placed over the LV winding.</a:t>
            </a:r>
            <a:endParaRPr lang="en-US" sz="1250" dirty="0"/>
          </a:p>
        </p:txBody>
      </p:sp>
      <p:sp>
        <p:nvSpPr>
          <p:cNvPr id="18" name="Shape 16"/>
          <p:cNvSpPr/>
          <p:nvPr/>
        </p:nvSpPr>
        <p:spPr>
          <a:xfrm>
            <a:off x="5486400" y="2834640"/>
            <a:ext cx="6217920" cy="1371600"/>
          </a:xfrm>
          <a:prstGeom prst="roundRect">
            <a:avLst>
              <a:gd name="adj" fmla="val 5333"/>
            </a:avLst>
          </a:prstGeom>
          <a:solidFill>
            <a:srgbClr val="F6F4F1"/>
          </a:solidFill>
          <a:ln/>
          <a:effectLst>
            <a:outerShdw sx="100000" sy="100000" kx="0" ky="0" algn="bl" rotWithShape="0" blurRad="38100" dist="12700" dir="5400000">
              <a:srgbClr val="BBBBBB">
                <a:alpha val="35000"/>
              </a:srgbClr>
            </a:outerShdw>
          </a:effectLst>
        </p:spPr>
      </p:sp>
      <p:sp>
        <p:nvSpPr>
          <p:cNvPr id="19" name="Text 17"/>
          <p:cNvSpPr/>
          <p:nvPr/>
        </p:nvSpPr>
        <p:spPr>
          <a:xfrm>
            <a:off x="5669280" y="2944368"/>
            <a:ext cx="5852160" cy="1188720"/>
          </a:xfrm>
          <a:prstGeom prst="rect">
            <a:avLst/>
          </a:prstGeom>
          <a:noFill/>
          <a:ln/>
        </p:spPr>
        <p:txBody>
          <a:bodyPr wrap="square" lIns="0" tIns="0" rIns="0" bIns="0" rtlCol="0" anchor="t"/>
          <a:lstStyle/>
          <a:p>
            <a:pPr indent="0" marL="0">
              <a:spcAft>
                <a:spcPts val="500"/>
              </a:spcAft>
              <a:buNone/>
            </a:pPr>
            <a:r>
              <a:rPr lang="en-US" sz="1250" b="1" dirty="0">
                <a:solidFill>
                  <a:srgbClr val="B3382C"/>
                </a:solidFill>
                <a:latin typeface="Calibri" pitchFamily="34" charset="0"/>
                <a:ea typeface="Calibri" pitchFamily="34" charset="-122"/>
                <a:cs typeface="Calibri" pitchFamily="34" charset="-120"/>
              </a:rPr>
              <a:t>WHY this order (the explain-the-reason marks)
</a:t>
            </a:r>
            <a:endParaRPr lang="en-US" sz="1250" dirty="0"/>
          </a:p>
          <a:p>
            <a:pPr indent="0" marL="0">
              <a:buNone/>
            </a:pPr>
            <a:r>
              <a:rPr lang="en-US" sz="1200" dirty="0">
                <a:solidFill>
                  <a:srgbClr val="2B2B2B"/>
                </a:solidFill>
                <a:latin typeface="Calibri" pitchFamily="34" charset="0"/>
                <a:ea typeface="Calibri" pitchFamily="34" charset="-122"/>
                <a:cs typeface="Calibri" pitchFamily="34" charset="-120"/>
              </a:rPr>
              <a:t>The core is at earth potential. The LV winding has a small voltage, so it needs only thin insulation to the core. The HV winding is then insulated from the LV, and since HV sits outside, its insulation to the tank/earth has the longest path. Total insulation volume is minimum this way.</a:t>
            </a:r>
            <a:endParaRPr lang="en-US" sz="1250" dirty="0"/>
          </a:p>
        </p:txBody>
      </p:sp>
      <p:sp>
        <p:nvSpPr>
          <p:cNvPr id="20" name="Shape 18"/>
          <p:cNvSpPr/>
          <p:nvPr/>
        </p:nvSpPr>
        <p:spPr>
          <a:xfrm>
            <a:off x="5486400" y="4389120"/>
            <a:ext cx="3017520" cy="1234440"/>
          </a:xfrm>
          <a:prstGeom prst="roundRect">
            <a:avLst>
              <a:gd name="adj" fmla="val 5926"/>
            </a:avLst>
          </a:prstGeom>
          <a:solidFill>
            <a:srgbClr val="EDE7E0"/>
          </a:solidFill>
          <a:ln/>
          <a:effectLst>
            <a:outerShdw sx="100000" sy="100000" kx="0" ky="0" algn="bl" rotWithShape="0" blurRad="38100" dist="12700" dir="5400000">
              <a:srgbClr val="BBBBBB">
                <a:alpha val="35000"/>
              </a:srgbClr>
            </a:outerShdw>
          </a:effectLst>
        </p:spPr>
      </p:sp>
      <p:sp>
        <p:nvSpPr>
          <p:cNvPr id="21" name="Text 19"/>
          <p:cNvSpPr/>
          <p:nvPr/>
        </p:nvSpPr>
        <p:spPr>
          <a:xfrm>
            <a:off x="5669280" y="4480560"/>
            <a:ext cx="2697480" cy="1051560"/>
          </a:xfrm>
          <a:prstGeom prst="rect">
            <a:avLst/>
          </a:prstGeom>
          <a:noFill/>
          <a:ln/>
        </p:spPr>
        <p:txBody>
          <a:bodyPr wrap="square" lIns="0" tIns="0" rIns="0" bIns="0" rtlCol="0" anchor="t"/>
          <a:lstStyle/>
          <a:p>
            <a:pPr indent="0" marL="0">
              <a:buNone/>
            </a:pPr>
            <a:r>
              <a:rPr lang="en-US" sz="1200" b="1" dirty="0">
                <a:solidFill>
                  <a:srgbClr val="8C4A2F"/>
                </a:solidFill>
                <a:latin typeface="Calibri" pitchFamily="34" charset="0"/>
                <a:ea typeface="Calibri" pitchFamily="34" charset="-122"/>
                <a:cs typeface="Calibri" pitchFamily="34" charset="-120"/>
              </a:rPr>
              <a:t>COIL TYPES
</a:t>
            </a:r>
            <a:endParaRPr lang="en-US" sz="1200" dirty="0"/>
          </a:p>
          <a:p>
            <a:pPr indent="0" marL="0">
              <a:buNone/>
            </a:pPr>
            <a:r>
              <a:rPr lang="en-US" sz="1100" dirty="0">
                <a:solidFill>
                  <a:srgbClr val="2B2B2B"/>
                </a:solidFill>
                <a:latin typeface="Calibri" pitchFamily="34" charset="0"/>
                <a:ea typeface="Calibri" pitchFamily="34" charset="-122"/>
                <a:cs typeface="Calibri" pitchFamily="34" charset="-120"/>
              </a:rPr>
              <a:t>Concentric: cylindrical, LV inside HV (core type). Sandwich: discs of LV and HV stacked alternately (shell type).</a:t>
            </a:r>
            <a:endParaRPr lang="en-US" sz="1200" dirty="0"/>
          </a:p>
        </p:txBody>
      </p:sp>
      <p:sp>
        <p:nvSpPr>
          <p:cNvPr id="22" name="Shape 20"/>
          <p:cNvSpPr/>
          <p:nvPr/>
        </p:nvSpPr>
        <p:spPr>
          <a:xfrm>
            <a:off x="8686800" y="4389120"/>
            <a:ext cx="3017520" cy="1234440"/>
          </a:xfrm>
          <a:prstGeom prst="roundRect">
            <a:avLst>
              <a:gd name="adj" fmla="val 5926"/>
            </a:avLst>
          </a:prstGeom>
          <a:solidFill>
            <a:srgbClr val="EDE7E0"/>
          </a:solidFill>
          <a:ln/>
          <a:effectLst>
            <a:outerShdw sx="100000" sy="100000" kx="0" ky="0" algn="bl" rotWithShape="0" blurRad="38100" dist="12700" dir="5400000">
              <a:srgbClr val="BBBBBB">
                <a:alpha val="35000"/>
              </a:srgbClr>
            </a:outerShdw>
          </a:effectLst>
        </p:spPr>
      </p:sp>
      <p:sp>
        <p:nvSpPr>
          <p:cNvPr id="23" name="Text 21"/>
          <p:cNvSpPr/>
          <p:nvPr/>
        </p:nvSpPr>
        <p:spPr>
          <a:xfrm>
            <a:off x="8869680" y="4480560"/>
            <a:ext cx="2697480" cy="1051560"/>
          </a:xfrm>
          <a:prstGeom prst="rect">
            <a:avLst/>
          </a:prstGeom>
          <a:noFill/>
          <a:ln/>
        </p:spPr>
        <p:txBody>
          <a:bodyPr wrap="square" lIns="0" tIns="0" rIns="0" bIns="0" rtlCol="0" anchor="t"/>
          <a:lstStyle/>
          <a:p>
            <a:pPr indent="0" marL="0">
              <a:buNone/>
            </a:pPr>
            <a:r>
              <a:rPr lang="en-US" sz="1200" b="1" dirty="0">
                <a:solidFill>
                  <a:srgbClr val="8C4A2F"/>
                </a:solidFill>
                <a:latin typeface="Calibri" pitchFamily="34" charset="0"/>
                <a:ea typeface="Calibri" pitchFamily="34" charset="-122"/>
                <a:cs typeface="Calibri" pitchFamily="34" charset="-120"/>
              </a:rPr>
              <a:t>TURNS LAW (preview of N02)
</a:t>
            </a:r>
            <a:endParaRPr lang="en-US" sz="1200" dirty="0"/>
          </a:p>
          <a:p>
            <a:pPr indent="0" marL="0">
              <a:buNone/>
            </a:pPr>
            <a:r>
              <a:rPr lang="en-US" sz="1100" dirty="0">
                <a:solidFill>
                  <a:srgbClr val="2B2B2B"/>
                </a:solidFill>
                <a:latin typeface="Courier New" pitchFamily="34" charset="0"/>
                <a:ea typeface="Courier New" pitchFamily="34" charset="-122"/>
                <a:cs typeface="Courier New" pitchFamily="34" charset="-120"/>
              </a:rPr>
              <a:t>E1/E2 = N1/N2 = a. Voltage transforms with turns, frequency never changes.</a:t>
            </a:r>
            <a:endParaRPr lang="en-US" sz="1200" dirty="0"/>
          </a:p>
        </p:txBody>
      </p:sp>
      <p:sp>
        <p:nvSpPr>
          <p:cNvPr id="24" name="Text 22"/>
          <p:cNvSpPr/>
          <p:nvPr/>
        </p:nvSpPr>
        <p:spPr>
          <a:xfrm>
            <a:off x="457200" y="5897880"/>
            <a:ext cx="11247120" cy="457200"/>
          </a:xfrm>
          <a:prstGeom prst="rect">
            <a:avLst/>
          </a:prstGeom>
          <a:noFill/>
          <a:ln/>
        </p:spPr>
        <p:txBody>
          <a:bodyPr wrap="square" lIns="0" tIns="0" rIns="0" bIns="0" rtlCol="0" anchor="ctr"/>
          <a:lstStyle/>
          <a:p>
            <a:pPr indent="0" marL="0">
              <a:buNone/>
            </a:pPr>
            <a:r>
              <a:rPr lang="en-US" sz="1250" b="1" i="1" dirty="0">
                <a:solidFill>
                  <a:srgbClr val="8C4A2F"/>
                </a:solidFill>
                <a:latin typeface="Cambria" pitchFamily="34" charset="0"/>
                <a:ea typeface="Cambria" pitchFamily="34" charset="-122"/>
                <a:cs typeface="Cambria" pitchFamily="34" charset="-120"/>
              </a:rPr>
              <a:t>One-line conclusion: LV thick-and-few inside, HV thin-and-many outside: minimum insulation, same flux.</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2800" b="1" dirty="0">
                <a:solidFill>
                  <a:srgbClr val="8C4A2F"/>
                </a:solidFill>
                <a:latin typeface="Cambria" pitchFamily="34" charset="0"/>
                <a:ea typeface="Cambria" pitchFamily="34" charset="-122"/>
                <a:cs typeface="Cambria" pitchFamily="34" charset="-120"/>
              </a:rPr>
              <a:t>Why laminated? (the eddy-current story)</a:t>
            </a:r>
            <a:endParaRPr lang="en-US" sz="2800" dirty="0"/>
          </a:p>
        </p:txBody>
      </p:sp>
      <p:sp>
        <p:nvSpPr>
          <p:cNvPr id="3" name="Shape 1"/>
          <p:cNvSpPr/>
          <p:nvPr/>
        </p:nvSpPr>
        <p:spPr>
          <a:xfrm>
            <a:off x="457200" y="914400"/>
            <a:ext cx="3017520" cy="292608"/>
          </a:xfrm>
          <a:prstGeom prst="roundRect">
            <a:avLst>
              <a:gd name="adj" fmla="val 50000"/>
            </a:avLst>
          </a:prstGeom>
          <a:solidFill>
            <a:srgbClr val="8C4A2F"/>
          </a:solidFill>
          <a:ln/>
        </p:spPr>
      </p:sp>
      <p:sp>
        <p:nvSpPr>
          <p:cNvPr id="4" name="Text 2"/>
          <p:cNvSpPr/>
          <p:nvPr/>
        </p:nvSpPr>
        <p:spPr>
          <a:xfrm>
            <a:off x="457200" y="914400"/>
            <a:ext cx="301752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mbria" pitchFamily="34" charset="0"/>
                <a:ea typeface="Cambria" pitchFamily="34" charset="-122"/>
                <a:cs typeface="Cambria" pitchFamily="34" charset="-120"/>
              </a:rPr>
              <a:t>ROTE 1  |  THE WHY LAYER</a:t>
            </a:r>
            <a:endParaRPr lang="en-US" sz="1100" dirty="0"/>
          </a:p>
        </p:txBody>
      </p:sp>
      <p:sp>
        <p:nvSpPr>
          <p:cNvPr id="5" name="Shape 3"/>
          <p:cNvSpPr/>
          <p:nvPr/>
        </p:nvSpPr>
        <p:spPr>
          <a:xfrm>
            <a:off x="457200" y="1417320"/>
            <a:ext cx="3291840" cy="3108960"/>
          </a:xfrm>
          <a:prstGeom prst="roundRect">
            <a:avLst>
              <a:gd name="adj" fmla="val 2353"/>
            </a:avLst>
          </a:prstGeom>
          <a:solidFill>
            <a:srgbClr val="FFFFFF"/>
          </a:solidFill>
          <a:ln/>
          <a:effectLst>
            <a:outerShdw sx="100000" sy="100000" kx="0" ky="0" algn="bl" rotWithShape="0" blurRad="38100" dist="12700" dir="5400000">
              <a:srgbClr val="BBBBBB">
                <a:alpha val="35000"/>
              </a:srgbClr>
            </a:outerShdw>
          </a:effectLst>
        </p:spPr>
      </p:sp>
      <p:sp>
        <p:nvSpPr>
          <p:cNvPr id="6" name="Shape 4"/>
          <p:cNvSpPr/>
          <p:nvPr/>
        </p:nvSpPr>
        <p:spPr>
          <a:xfrm>
            <a:off x="1005840" y="1920240"/>
            <a:ext cx="2194560" cy="1645920"/>
          </a:xfrm>
          <a:prstGeom prst="rect">
            <a:avLst/>
          </a:prstGeom>
          <a:solidFill>
            <a:srgbClr val="7D868F"/>
          </a:solidFill>
          <a:ln w="19050">
            <a:solidFill>
              <a:srgbClr val="262B33"/>
            </a:solidFill>
            <a:prstDash val="solid"/>
          </a:ln>
        </p:spPr>
      </p:sp>
      <p:sp>
        <p:nvSpPr>
          <p:cNvPr id="7" name="Shape 5"/>
          <p:cNvSpPr/>
          <p:nvPr/>
        </p:nvSpPr>
        <p:spPr>
          <a:xfrm>
            <a:off x="1463040" y="2194560"/>
            <a:ext cx="1280160" cy="1097280"/>
          </a:xfrm>
          <a:prstGeom prst="ellipse">
            <a:avLst/>
          </a:prstGeom>
          <a:ln w="31750">
            <a:solidFill>
              <a:srgbClr val="B3382C"/>
            </a:solidFill>
            <a:prstDash val="solid"/>
            <a:tailEnd type="triangle"/>
          </a:ln>
        </p:spPr>
      </p:sp>
      <p:sp>
        <p:nvSpPr>
          <p:cNvPr id="8" name="Text 6"/>
          <p:cNvSpPr/>
          <p:nvPr/>
        </p:nvSpPr>
        <p:spPr>
          <a:xfrm>
            <a:off x="548640" y="3931920"/>
            <a:ext cx="3108960" cy="457200"/>
          </a:xfrm>
          <a:prstGeom prst="rect">
            <a:avLst/>
          </a:prstGeom>
          <a:noFill/>
          <a:ln/>
        </p:spPr>
        <p:txBody>
          <a:bodyPr wrap="square" lIns="0" tIns="0" rIns="0" bIns="0" rtlCol="0" anchor="t"/>
          <a:lstStyle/>
          <a:p>
            <a:pPr algn="ctr" indent="0" marL="0">
              <a:buNone/>
            </a:pPr>
            <a:r>
              <a:rPr lang="en-US" sz="950" b="1" dirty="0">
                <a:solidFill>
                  <a:srgbClr val="B3382C"/>
                </a:solidFill>
                <a:latin typeface="Calibri" pitchFamily="34" charset="0"/>
                <a:ea typeface="Calibri" pitchFamily="34" charset="-122"/>
                <a:cs typeface="Calibri" pitchFamily="34" charset="-120"/>
              </a:rPr>
              <a:t>SOLID core: large eddy-current loops free to circulate</a:t>
            </a:r>
            <a:endParaRPr lang="en-US" sz="950" dirty="0"/>
          </a:p>
        </p:txBody>
      </p:sp>
      <p:sp>
        <p:nvSpPr>
          <p:cNvPr id="9" name="Text 7"/>
          <p:cNvSpPr/>
          <p:nvPr/>
        </p:nvSpPr>
        <p:spPr>
          <a:xfrm>
            <a:off x="548640" y="1481328"/>
            <a:ext cx="3108960" cy="274320"/>
          </a:xfrm>
          <a:prstGeom prst="rect">
            <a:avLst/>
          </a:prstGeom>
          <a:noFill/>
          <a:ln/>
        </p:spPr>
        <p:txBody>
          <a:bodyPr wrap="square" lIns="0" tIns="0" rIns="0" bIns="0" rtlCol="0" anchor="ctr"/>
          <a:lstStyle/>
          <a:p>
            <a:pPr algn="ctr" indent="0" marL="0">
              <a:buNone/>
            </a:pPr>
            <a:r>
              <a:rPr lang="en-US" sz="950" i="1" dirty="0">
                <a:solidFill>
                  <a:srgbClr val="6B6B6B"/>
                </a:solidFill>
                <a:latin typeface="Calibri" pitchFamily="34" charset="0"/>
                <a:ea typeface="Calibri" pitchFamily="34" charset="-122"/>
                <a:cs typeface="Calibri" pitchFamily="34" charset="-120"/>
              </a:rPr>
              <a:t>big loops = big I2R heating</a:t>
            </a:r>
            <a:endParaRPr lang="en-US" sz="950" dirty="0"/>
          </a:p>
        </p:txBody>
      </p:sp>
      <p:sp>
        <p:nvSpPr>
          <p:cNvPr id="10" name="Shape 8"/>
          <p:cNvSpPr/>
          <p:nvPr/>
        </p:nvSpPr>
        <p:spPr>
          <a:xfrm>
            <a:off x="3931920" y="1417320"/>
            <a:ext cx="3291840" cy="3108960"/>
          </a:xfrm>
          <a:prstGeom prst="roundRect">
            <a:avLst>
              <a:gd name="adj" fmla="val 2353"/>
            </a:avLst>
          </a:prstGeom>
          <a:solidFill>
            <a:srgbClr val="FFFFFF"/>
          </a:solidFill>
          <a:ln/>
          <a:effectLst>
            <a:outerShdw sx="100000" sy="100000" kx="0" ky="0" algn="bl" rotWithShape="0" blurRad="38100" dist="12700" dir="5400000">
              <a:srgbClr val="BBBBBB">
                <a:alpha val="35000"/>
              </a:srgbClr>
            </a:outerShdw>
          </a:effectLst>
        </p:spPr>
      </p:sp>
      <p:sp>
        <p:nvSpPr>
          <p:cNvPr id="11" name="Shape 9"/>
          <p:cNvSpPr/>
          <p:nvPr/>
        </p:nvSpPr>
        <p:spPr>
          <a:xfrm>
            <a:off x="4480560" y="1920240"/>
            <a:ext cx="2194560" cy="219456"/>
          </a:xfrm>
          <a:prstGeom prst="rect">
            <a:avLst/>
          </a:prstGeom>
          <a:solidFill>
            <a:srgbClr val="7D868F"/>
          </a:solidFill>
          <a:ln w="9525">
            <a:solidFill>
              <a:srgbClr val="262B33"/>
            </a:solidFill>
            <a:prstDash val="solid"/>
          </a:ln>
        </p:spPr>
      </p:sp>
      <p:sp>
        <p:nvSpPr>
          <p:cNvPr id="12" name="Shape 10"/>
          <p:cNvSpPr/>
          <p:nvPr/>
        </p:nvSpPr>
        <p:spPr>
          <a:xfrm>
            <a:off x="4480560" y="2194560"/>
            <a:ext cx="2194560" cy="219456"/>
          </a:xfrm>
          <a:prstGeom prst="rect">
            <a:avLst/>
          </a:prstGeom>
          <a:solidFill>
            <a:srgbClr val="7D868F"/>
          </a:solidFill>
          <a:ln w="9525">
            <a:solidFill>
              <a:srgbClr val="262B33"/>
            </a:solidFill>
            <a:prstDash val="solid"/>
          </a:ln>
        </p:spPr>
      </p:sp>
      <p:sp>
        <p:nvSpPr>
          <p:cNvPr id="13" name="Shape 11"/>
          <p:cNvSpPr/>
          <p:nvPr/>
        </p:nvSpPr>
        <p:spPr>
          <a:xfrm>
            <a:off x="4480560" y="2468880"/>
            <a:ext cx="2194560" cy="219456"/>
          </a:xfrm>
          <a:prstGeom prst="rect">
            <a:avLst/>
          </a:prstGeom>
          <a:solidFill>
            <a:srgbClr val="7D868F"/>
          </a:solidFill>
          <a:ln w="9525">
            <a:solidFill>
              <a:srgbClr val="262B33"/>
            </a:solidFill>
            <a:prstDash val="solid"/>
          </a:ln>
        </p:spPr>
      </p:sp>
      <p:sp>
        <p:nvSpPr>
          <p:cNvPr id="14" name="Shape 12"/>
          <p:cNvSpPr/>
          <p:nvPr/>
        </p:nvSpPr>
        <p:spPr>
          <a:xfrm>
            <a:off x="4480560" y="2743200"/>
            <a:ext cx="2194560" cy="219456"/>
          </a:xfrm>
          <a:prstGeom prst="rect">
            <a:avLst/>
          </a:prstGeom>
          <a:solidFill>
            <a:srgbClr val="7D868F"/>
          </a:solidFill>
          <a:ln w="9525">
            <a:solidFill>
              <a:srgbClr val="262B33"/>
            </a:solidFill>
            <a:prstDash val="solid"/>
          </a:ln>
        </p:spPr>
      </p:sp>
      <p:sp>
        <p:nvSpPr>
          <p:cNvPr id="15" name="Shape 13"/>
          <p:cNvSpPr/>
          <p:nvPr/>
        </p:nvSpPr>
        <p:spPr>
          <a:xfrm>
            <a:off x="4480560" y="3017520"/>
            <a:ext cx="2194560" cy="219456"/>
          </a:xfrm>
          <a:prstGeom prst="rect">
            <a:avLst/>
          </a:prstGeom>
          <a:solidFill>
            <a:srgbClr val="7D868F"/>
          </a:solidFill>
          <a:ln w="9525">
            <a:solidFill>
              <a:srgbClr val="262B33"/>
            </a:solidFill>
            <a:prstDash val="solid"/>
          </a:ln>
        </p:spPr>
      </p:sp>
      <p:sp>
        <p:nvSpPr>
          <p:cNvPr id="16" name="Shape 14"/>
          <p:cNvSpPr/>
          <p:nvPr/>
        </p:nvSpPr>
        <p:spPr>
          <a:xfrm>
            <a:off x="4480560" y="3291840"/>
            <a:ext cx="2194560" cy="219456"/>
          </a:xfrm>
          <a:prstGeom prst="rect">
            <a:avLst/>
          </a:prstGeom>
          <a:solidFill>
            <a:srgbClr val="7D868F"/>
          </a:solidFill>
          <a:ln w="9525">
            <a:solidFill>
              <a:srgbClr val="262B33"/>
            </a:solidFill>
            <a:prstDash val="solid"/>
          </a:ln>
        </p:spPr>
      </p:sp>
      <p:sp>
        <p:nvSpPr>
          <p:cNvPr id="17" name="Shape 15"/>
          <p:cNvSpPr/>
          <p:nvPr/>
        </p:nvSpPr>
        <p:spPr>
          <a:xfrm>
            <a:off x="4892040" y="1965960"/>
            <a:ext cx="457200" cy="182880"/>
          </a:xfrm>
          <a:prstGeom prst="ellipse">
            <a:avLst/>
          </a:prstGeom>
          <a:ln w="19050">
            <a:solidFill>
              <a:srgbClr val="B3382C"/>
            </a:solidFill>
            <a:prstDash val="solid"/>
            <a:tailEnd type="triangle"/>
          </a:ln>
        </p:spPr>
      </p:sp>
      <p:sp>
        <p:nvSpPr>
          <p:cNvPr id="18" name="Shape 16"/>
          <p:cNvSpPr/>
          <p:nvPr/>
        </p:nvSpPr>
        <p:spPr>
          <a:xfrm>
            <a:off x="5760720" y="2514600"/>
            <a:ext cx="457200" cy="182880"/>
          </a:xfrm>
          <a:prstGeom prst="ellipse">
            <a:avLst/>
          </a:prstGeom>
          <a:ln w="19050">
            <a:solidFill>
              <a:srgbClr val="B3382C"/>
            </a:solidFill>
            <a:prstDash val="solid"/>
            <a:tailEnd type="triangle"/>
          </a:ln>
        </p:spPr>
      </p:sp>
      <p:sp>
        <p:nvSpPr>
          <p:cNvPr id="19" name="Text 17"/>
          <p:cNvSpPr/>
          <p:nvPr/>
        </p:nvSpPr>
        <p:spPr>
          <a:xfrm>
            <a:off x="4023360" y="3931920"/>
            <a:ext cx="3108960" cy="457200"/>
          </a:xfrm>
          <a:prstGeom prst="rect">
            <a:avLst/>
          </a:prstGeom>
          <a:noFill/>
          <a:ln/>
        </p:spPr>
        <p:txBody>
          <a:bodyPr wrap="square" lIns="0" tIns="0" rIns="0" bIns="0" rtlCol="0" anchor="t"/>
          <a:lstStyle/>
          <a:p>
            <a:pPr algn="ctr" indent="0" marL="0">
              <a:buNone/>
            </a:pPr>
            <a:r>
              <a:rPr lang="en-US" sz="950" b="1" dirty="0">
                <a:solidFill>
                  <a:srgbClr val="8C4A2F"/>
                </a:solidFill>
                <a:latin typeface="Calibri" pitchFamily="34" charset="0"/>
                <a:ea typeface="Calibri" pitchFamily="34" charset="-122"/>
                <a:cs typeface="Calibri" pitchFamily="34" charset="-120"/>
              </a:rPr>
              <a:t>LAMINATED core: loops trapped inside one thin sheet (thickness t)</a:t>
            </a:r>
            <a:endParaRPr lang="en-US" sz="950" dirty="0"/>
          </a:p>
        </p:txBody>
      </p:sp>
      <p:sp>
        <p:nvSpPr>
          <p:cNvPr id="20" name="Text 18"/>
          <p:cNvSpPr/>
          <p:nvPr/>
        </p:nvSpPr>
        <p:spPr>
          <a:xfrm>
            <a:off x="4023360" y="1481328"/>
            <a:ext cx="3108960" cy="274320"/>
          </a:xfrm>
          <a:prstGeom prst="rect">
            <a:avLst/>
          </a:prstGeom>
          <a:noFill/>
          <a:ln/>
        </p:spPr>
        <p:txBody>
          <a:bodyPr wrap="square" lIns="0" tIns="0" rIns="0" bIns="0" rtlCol="0" anchor="ctr"/>
          <a:lstStyle/>
          <a:p>
            <a:pPr algn="ctr" indent="0" marL="0">
              <a:buNone/>
            </a:pPr>
            <a:r>
              <a:rPr lang="en-US" sz="950" i="1" dirty="0">
                <a:solidFill>
                  <a:srgbClr val="6B6B6B"/>
                </a:solidFill>
                <a:latin typeface="Calibri" pitchFamily="34" charset="0"/>
                <a:ea typeface="Calibri" pitchFamily="34" charset="-122"/>
                <a:cs typeface="Calibri" pitchFamily="34" charset="-120"/>
              </a:rPr>
              <a:t>insulation between sheets blocks the loops</a:t>
            </a:r>
            <a:endParaRPr lang="en-US" sz="950" dirty="0"/>
          </a:p>
        </p:txBody>
      </p:sp>
      <p:sp>
        <p:nvSpPr>
          <p:cNvPr id="21" name="Shape 19"/>
          <p:cNvSpPr/>
          <p:nvPr/>
        </p:nvSpPr>
        <p:spPr>
          <a:xfrm>
            <a:off x="7406640" y="1417320"/>
            <a:ext cx="4297680" cy="3108960"/>
          </a:xfrm>
          <a:prstGeom prst="roundRect">
            <a:avLst>
              <a:gd name="adj" fmla="val 2353"/>
            </a:avLst>
          </a:prstGeom>
          <a:solidFill>
            <a:srgbClr val="EDE7E0"/>
          </a:solidFill>
          <a:ln/>
          <a:effectLst>
            <a:outerShdw sx="100000" sy="100000" kx="0" ky="0" algn="bl" rotWithShape="0" blurRad="38100" dist="12700" dir="5400000">
              <a:srgbClr val="BBBBBB">
                <a:alpha val="35000"/>
              </a:srgbClr>
            </a:outerShdw>
          </a:effectLst>
        </p:spPr>
      </p:sp>
      <p:sp>
        <p:nvSpPr>
          <p:cNvPr id="22" name="Text 20"/>
          <p:cNvSpPr/>
          <p:nvPr/>
        </p:nvSpPr>
        <p:spPr>
          <a:xfrm>
            <a:off x="7589520" y="1554480"/>
            <a:ext cx="3977640" cy="2834640"/>
          </a:xfrm>
          <a:prstGeom prst="rect">
            <a:avLst/>
          </a:prstGeom>
          <a:noFill/>
          <a:ln/>
        </p:spPr>
        <p:txBody>
          <a:bodyPr wrap="square" lIns="0" tIns="0" rIns="0" bIns="0" rtlCol="0" anchor="t"/>
          <a:lstStyle/>
          <a:p>
            <a:pPr indent="0" marL="0">
              <a:buNone/>
            </a:pPr>
            <a:r>
              <a:rPr lang="en-US" sz="1300" b="1" dirty="0">
                <a:solidFill>
                  <a:srgbClr val="8C4A2F"/>
                </a:solidFill>
                <a:latin typeface="Calibri" pitchFamily="34" charset="0"/>
                <a:ea typeface="Calibri" pitchFamily="34" charset="-122"/>
                <a:cs typeface="Calibri" pitchFamily="34" charset="-120"/>
              </a:rPr>
              <a:t>THE TWO IRON-LOSS FORMULAS
</a:t>
            </a:r>
            <a:endParaRPr lang="en-US" sz="1300" dirty="0"/>
          </a:p>
          <a:p>
            <a:pPr indent="0" marL="0">
              <a:buNone/>
            </a:pPr>
            <a:r>
              <a:rPr lang="en-US" sz="1300" dirty="0">
                <a:solidFill>
                  <a:srgbClr val="2B2B2B"/>
                </a:solidFill>
                <a:latin typeface="Courier New" pitchFamily="34" charset="0"/>
                <a:ea typeface="Courier New" pitchFamily="34" charset="-122"/>
                <a:cs typeface="Courier New" pitchFamily="34" charset="-120"/>
              </a:rPr>
              <a:t>P_hysteresis = kh x f x Bm^1.6
</a:t>
            </a:r>
            <a:endParaRPr lang="en-US" sz="1300" dirty="0"/>
          </a:p>
          <a:p>
            <a:pPr indent="0" marL="0">
              <a:buNone/>
            </a:pPr>
            <a:r>
              <a:rPr lang="en-US" sz="1100" dirty="0">
                <a:solidFill>
                  <a:srgbClr val="2B2B2B"/>
                </a:solidFill>
                <a:latin typeface="Calibri" pitchFamily="34" charset="0"/>
                <a:ea typeface="Calibri" pitchFamily="34" charset="-122"/>
                <a:cs typeface="Calibri" pitchFamily="34" charset="-120"/>
              </a:rPr>
              <a:t>cut it with better steel: CRGO / silicon steel has a narrow B-H loop, so less energy lost per cycle.
</a:t>
            </a:r>
            <a:endParaRPr lang="en-US" sz="1300" dirty="0"/>
          </a:p>
          <a:p>
            <a:pPr indent="0" marL="0">
              <a:buNone/>
            </a:pPr>
            <a:r>
              <a:rPr lang="en-US" sz="1300" dirty="0">
                <a:solidFill>
                  <a:srgbClr val="2B2B2B"/>
                </a:solidFill>
                <a:latin typeface="Courier New" pitchFamily="34" charset="0"/>
                <a:ea typeface="Courier New" pitchFamily="34" charset="-122"/>
                <a:cs typeface="Courier New" pitchFamily="34" charset="-120"/>
              </a:rPr>
              <a:t>P_eddy = ke x f2 x Bm2 x t2
</a:t>
            </a:r>
            <a:endParaRPr lang="en-US" sz="1300" dirty="0"/>
          </a:p>
          <a:p>
            <a:pPr indent="0" marL="0">
              <a:buNone/>
            </a:pPr>
            <a:r>
              <a:rPr lang="en-US" sz="1100" dirty="0">
                <a:solidFill>
                  <a:srgbClr val="2B2B2B"/>
                </a:solidFill>
                <a:latin typeface="Calibri" pitchFamily="34" charset="0"/>
                <a:ea typeface="Calibri" pitchFamily="34" charset="-122"/>
                <a:cs typeface="Calibri" pitchFamily="34" charset="-120"/>
              </a:rPr>
              <a:t>cut it by laminating: t = sheet thickness, and the loss falls with t SQUARED. 0.27-0.35 mm sheets, insulated from each other.</a:t>
            </a:r>
            <a:endParaRPr lang="en-US" sz="1300" dirty="0"/>
          </a:p>
        </p:txBody>
      </p:sp>
      <p:sp>
        <p:nvSpPr>
          <p:cNvPr id="23" name="Shape 21"/>
          <p:cNvSpPr/>
          <p:nvPr/>
        </p:nvSpPr>
        <p:spPr>
          <a:xfrm>
            <a:off x="457200" y="4709160"/>
            <a:ext cx="2743200" cy="1417320"/>
          </a:xfrm>
          <a:prstGeom prst="roundRect">
            <a:avLst>
              <a:gd name="adj" fmla="val 5161"/>
            </a:avLst>
          </a:prstGeom>
          <a:solidFill>
            <a:srgbClr val="F6F4F1"/>
          </a:solidFill>
          <a:ln/>
          <a:effectLst>
            <a:outerShdw sx="100000" sy="100000" kx="0" ky="0" algn="bl" rotWithShape="0" blurRad="38100" dist="12700" dir="5400000">
              <a:srgbClr val="BBBBBB">
                <a:alpha val="35000"/>
              </a:srgbClr>
            </a:outerShdw>
          </a:effectLst>
        </p:spPr>
      </p:sp>
      <p:sp>
        <p:nvSpPr>
          <p:cNvPr id="24" name="Text 22"/>
          <p:cNvSpPr/>
          <p:nvPr/>
        </p:nvSpPr>
        <p:spPr>
          <a:xfrm>
            <a:off x="594360" y="4800600"/>
            <a:ext cx="2514600" cy="1234440"/>
          </a:xfrm>
          <a:prstGeom prst="rect">
            <a:avLst/>
          </a:prstGeom>
          <a:noFill/>
          <a:ln/>
        </p:spPr>
        <p:txBody>
          <a:bodyPr wrap="square" lIns="0" tIns="0" rIns="0" bIns="0" rtlCol="0" anchor="t"/>
          <a:lstStyle/>
          <a:p>
            <a:pPr indent="0" marL="0">
              <a:buNone/>
            </a:pPr>
            <a:r>
              <a:rPr lang="en-US" sz="1150" b="1" dirty="0">
                <a:solidFill>
                  <a:srgbClr val="8C4A2F"/>
                </a:solidFill>
                <a:latin typeface="Calibri" pitchFamily="34" charset="0"/>
                <a:ea typeface="Calibri" pitchFamily="34" charset="-122"/>
                <a:cs typeface="Calibri" pitchFamily="34" charset="-120"/>
              </a:rPr>
              <a:t>Why CRGO steel?
</a:t>
            </a:r>
            <a:endParaRPr lang="en-US" sz="1150" dirty="0"/>
          </a:p>
          <a:p>
            <a:pPr indent="0" marL="0">
              <a:buNone/>
            </a:pPr>
            <a:r>
              <a:rPr lang="en-US" sz="1050" dirty="0">
                <a:solidFill>
                  <a:srgbClr val="2B2B2B"/>
                </a:solidFill>
                <a:latin typeface="Calibri" pitchFamily="34" charset="0"/>
                <a:ea typeface="Calibri" pitchFamily="34" charset="-122"/>
                <a:cs typeface="Calibri" pitchFamily="34" charset="-120"/>
              </a:rPr>
              <a:t>Narrow hysteresis loop: less energy dissipated per magnetisation cycle.</a:t>
            </a:r>
            <a:endParaRPr lang="en-US" sz="1150" dirty="0"/>
          </a:p>
        </p:txBody>
      </p:sp>
      <p:sp>
        <p:nvSpPr>
          <p:cNvPr id="25" name="Shape 23"/>
          <p:cNvSpPr/>
          <p:nvPr/>
        </p:nvSpPr>
        <p:spPr>
          <a:xfrm>
            <a:off x="3337560" y="4709160"/>
            <a:ext cx="2743200" cy="1417320"/>
          </a:xfrm>
          <a:prstGeom prst="roundRect">
            <a:avLst>
              <a:gd name="adj" fmla="val 5161"/>
            </a:avLst>
          </a:prstGeom>
          <a:solidFill>
            <a:srgbClr val="F6F4F1"/>
          </a:solidFill>
          <a:ln/>
          <a:effectLst>
            <a:outerShdw sx="100000" sy="100000" kx="0" ky="0" algn="bl" rotWithShape="0" blurRad="38100" dist="12700" dir="5400000">
              <a:srgbClr val="BBBBBB">
                <a:alpha val="35000"/>
              </a:srgbClr>
            </a:outerShdw>
          </a:effectLst>
        </p:spPr>
      </p:sp>
      <p:sp>
        <p:nvSpPr>
          <p:cNvPr id="26" name="Text 24"/>
          <p:cNvSpPr/>
          <p:nvPr/>
        </p:nvSpPr>
        <p:spPr>
          <a:xfrm>
            <a:off x="3474720" y="4800600"/>
            <a:ext cx="2514600" cy="1234440"/>
          </a:xfrm>
          <a:prstGeom prst="rect">
            <a:avLst/>
          </a:prstGeom>
          <a:noFill/>
          <a:ln/>
        </p:spPr>
        <p:txBody>
          <a:bodyPr wrap="square" lIns="0" tIns="0" rIns="0" bIns="0" rtlCol="0" anchor="t"/>
          <a:lstStyle/>
          <a:p>
            <a:pPr indent="0" marL="0">
              <a:buNone/>
            </a:pPr>
            <a:r>
              <a:rPr lang="en-US" sz="1150" b="1" dirty="0">
                <a:solidFill>
                  <a:srgbClr val="8C4A2F"/>
                </a:solidFill>
                <a:latin typeface="Calibri" pitchFamily="34" charset="0"/>
                <a:ea typeface="Calibri" pitchFamily="34" charset="-122"/>
                <a:cs typeface="Calibri" pitchFamily="34" charset="-120"/>
              </a:rPr>
              <a:t>Why a yoke?
</a:t>
            </a:r>
            <a:endParaRPr lang="en-US" sz="1150" dirty="0"/>
          </a:p>
          <a:p>
            <a:pPr indent="0" marL="0">
              <a:buNone/>
            </a:pPr>
            <a:r>
              <a:rPr lang="en-US" sz="1050" dirty="0">
                <a:solidFill>
                  <a:srgbClr val="2B2B2B"/>
                </a:solidFill>
                <a:latin typeface="Calibri" pitchFamily="34" charset="0"/>
                <a:ea typeface="Calibri" pitchFamily="34" charset="-122"/>
                <a:cs typeface="Calibri" pitchFamily="34" charset="-120"/>
              </a:rPr>
              <a:t>Closes the magnetic circuit so the flux has one continuous low-reluctance path; also mechanically braces the limbs.</a:t>
            </a:r>
            <a:endParaRPr lang="en-US" sz="1150" dirty="0"/>
          </a:p>
        </p:txBody>
      </p:sp>
      <p:sp>
        <p:nvSpPr>
          <p:cNvPr id="27" name="Shape 25"/>
          <p:cNvSpPr/>
          <p:nvPr/>
        </p:nvSpPr>
        <p:spPr>
          <a:xfrm>
            <a:off x="6217920" y="4709160"/>
            <a:ext cx="2743200" cy="1417320"/>
          </a:xfrm>
          <a:prstGeom prst="roundRect">
            <a:avLst>
              <a:gd name="adj" fmla="val 5161"/>
            </a:avLst>
          </a:prstGeom>
          <a:solidFill>
            <a:srgbClr val="F6F4F1"/>
          </a:solidFill>
          <a:ln/>
          <a:effectLst>
            <a:outerShdw sx="100000" sy="100000" kx="0" ky="0" algn="bl" rotWithShape="0" blurRad="38100" dist="12700" dir="5400000">
              <a:srgbClr val="BBBBBB">
                <a:alpha val="35000"/>
              </a:srgbClr>
            </a:outerShdw>
          </a:effectLst>
        </p:spPr>
      </p:sp>
      <p:sp>
        <p:nvSpPr>
          <p:cNvPr id="28" name="Text 26"/>
          <p:cNvSpPr/>
          <p:nvPr/>
        </p:nvSpPr>
        <p:spPr>
          <a:xfrm>
            <a:off x="6355080" y="4800600"/>
            <a:ext cx="2514600" cy="1234440"/>
          </a:xfrm>
          <a:prstGeom prst="rect">
            <a:avLst/>
          </a:prstGeom>
          <a:noFill/>
          <a:ln/>
        </p:spPr>
        <p:txBody>
          <a:bodyPr wrap="square" lIns="0" tIns="0" rIns="0" bIns="0" rtlCol="0" anchor="t"/>
          <a:lstStyle/>
          <a:p>
            <a:pPr indent="0" marL="0">
              <a:buNone/>
            </a:pPr>
            <a:r>
              <a:rPr lang="en-US" sz="1150" b="1" dirty="0">
                <a:solidFill>
                  <a:srgbClr val="8C4A2F"/>
                </a:solidFill>
                <a:latin typeface="Calibri" pitchFamily="34" charset="0"/>
                <a:ea typeface="Calibri" pitchFamily="34" charset="-122"/>
                <a:cs typeface="Calibri" pitchFamily="34" charset="-120"/>
              </a:rPr>
              <a:t>Why oil + conservator?
</a:t>
            </a:r>
            <a:endParaRPr lang="en-US" sz="1150" dirty="0"/>
          </a:p>
          <a:p>
            <a:pPr indent="0" marL="0">
              <a:buNone/>
            </a:pPr>
            <a:r>
              <a:rPr lang="en-US" sz="1050" dirty="0">
                <a:solidFill>
                  <a:srgbClr val="2B2B2B"/>
                </a:solidFill>
                <a:latin typeface="Calibri" pitchFamily="34" charset="0"/>
                <a:ea typeface="Calibri" pitchFamily="34" charset="-122"/>
                <a:cs typeface="Calibri" pitchFamily="34" charset="-120"/>
              </a:rPr>
              <a:t>Oil insulates and cools; the conservator gives the oil room to expand so the tank never over-pressures.</a:t>
            </a:r>
            <a:endParaRPr lang="en-US" sz="1150" dirty="0"/>
          </a:p>
        </p:txBody>
      </p:sp>
      <p:sp>
        <p:nvSpPr>
          <p:cNvPr id="29" name="Shape 27"/>
          <p:cNvSpPr/>
          <p:nvPr/>
        </p:nvSpPr>
        <p:spPr>
          <a:xfrm>
            <a:off x="9098280" y="4709160"/>
            <a:ext cx="2743200" cy="1417320"/>
          </a:xfrm>
          <a:prstGeom prst="roundRect">
            <a:avLst>
              <a:gd name="adj" fmla="val 5161"/>
            </a:avLst>
          </a:prstGeom>
          <a:solidFill>
            <a:srgbClr val="F6F4F1"/>
          </a:solidFill>
          <a:ln/>
          <a:effectLst>
            <a:outerShdw sx="100000" sy="100000" kx="0" ky="0" algn="bl" rotWithShape="0" blurRad="38100" dist="12700" dir="5400000">
              <a:srgbClr val="BBBBBB">
                <a:alpha val="35000"/>
              </a:srgbClr>
            </a:outerShdw>
          </a:effectLst>
        </p:spPr>
      </p:sp>
      <p:sp>
        <p:nvSpPr>
          <p:cNvPr id="30" name="Text 28"/>
          <p:cNvSpPr/>
          <p:nvPr/>
        </p:nvSpPr>
        <p:spPr>
          <a:xfrm>
            <a:off x="9235440" y="4800600"/>
            <a:ext cx="2514600" cy="1234440"/>
          </a:xfrm>
          <a:prstGeom prst="rect">
            <a:avLst/>
          </a:prstGeom>
          <a:noFill/>
          <a:ln/>
        </p:spPr>
        <p:txBody>
          <a:bodyPr wrap="square" lIns="0" tIns="0" rIns="0" bIns="0" rtlCol="0" anchor="t"/>
          <a:lstStyle/>
          <a:p>
            <a:pPr indent="0" marL="0">
              <a:buNone/>
            </a:pPr>
            <a:r>
              <a:rPr lang="en-US" sz="1150" b="1" dirty="0">
                <a:solidFill>
                  <a:srgbClr val="8C4A2F"/>
                </a:solidFill>
                <a:latin typeface="Calibri" pitchFamily="34" charset="0"/>
                <a:ea typeface="Calibri" pitchFamily="34" charset="-122"/>
                <a:cs typeface="Calibri" pitchFamily="34" charset="-120"/>
              </a:rPr>
              <a:t>Why a breather?
</a:t>
            </a:r>
            <a:endParaRPr lang="en-US" sz="1150" dirty="0"/>
          </a:p>
          <a:p>
            <a:pPr indent="0" marL="0">
              <a:buNone/>
            </a:pPr>
            <a:r>
              <a:rPr lang="en-US" sz="1050" dirty="0">
                <a:solidFill>
                  <a:srgbClr val="2B2B2B"/>
                </a:solidFill>
                <a:latin typeface="Calibri" pitchFamily="34" charset="0"/>
                <a:ea typeface="Calibri" pitchFamily="34" charset="-122"/>
                <a:cs typeface="Calibri" pitchFamily="34" charset="-120"/>
              </a:rPr>
              <a:t>Silica gel dries the air entering as oil volume changes: moisture is insulation's enemy.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2800" b="1" dirty="0">
                <a:solidFill>
                  <a:srgbClr val="8C4A2F"/>
                </a:solidFill>
                <a:latin typeface="Cambria" pitchFamily="34" charset="0"/>
                <a:ea typeface="Cambria" pitchFamily="34" charset="-122"/>
                <a:cs typeface="Cambria" pitchFamily="34" charset="-120"/>
              </a:rPr>
              <a:t>Working principle: the six-step flux story</a:t>
            </a:r>
            <a:endParaRPr lang="en-US" sz="2800" dirty="0"/>
          </a:p>
        </p:txBody>
      </p:sp>
      <p:sp>
        <p:nvSpPr>
          <p:cNvPr id="3" name="Shape 1"/>
          <p:cNvSpPr/>
          <p:nvPr/>
        </p:nvSpPr>
        <p:spPr>
          <a:xfrm>
            <a:off x="457200" y="914400"/>
            <a:ext cx="2834640" cy="292608"/>
          </a:xfrm>
          <a:prstGeom prst="roundRect">
            <a:avLst>
              <a:gd name="adj" fmla="val 50000"/>
            </a:avLst>
          </a:prstGeom>
          <a:solidFill>
            <a:srgbClr val="8C4A2F"/>
          </a:solidFill>
          <a:ln/>
        </p:spPr>
      </p:sp>
      <p:sp>
        <p:nvSpPr>
          <p:cNvPr id="4" name="Text 2"/>
          <p:cNvSpPr/>
          <p:nvPr/>
        </p:nvSpPr>
        <p:spPr>
          <a:xfrm>
            <a:off x="457200" y="914400"/>
            <a:ext cx="283464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mbria" pitchFamily="34" charset="0"/>
                <a:ea typeface="Cambria" pitchFamily="34" charset="-122"/>
                <a:cs typeface="Cambria" pitchFamily="34" charset="-120"/>
              </a:rPr>
              <a:t>ROTE 2  |  WORKING</a:t>
            </a:r>
            <a:endParaRPr lang="en-US" sz="1100" dirty="0"/>
          </a:p>
        </p:txBody>
      </p:sp>
      <p:sp>
        <p:nvSpPr>
          <p:cNvPr id="5" name="Shape 3"/>
          <p:cNvSpPr/>
          <p:nvPr/>
        </p:nvSpPr>
        <p:spPr>
          <a:xfrm>
            <a:off x="457200" y="1417320"/>
            <a:ext cx="6766560" cy="4023360"/>
          </a:xfrm>
          <a:prstGeom prst="roundRect">
            <a:avLst>
              <a:gd name="adj" fmla="val 1818"/>
            </a:avLst>
          </a:prstGeom>
          <a:solidFill>
            <a:srgbClr val="FFFFFF"/>
          </a:solidFill>
          <a:ln/>
          <a:effectLst>
            <a:outerShdw sx="100000" sy="100000" kx="0" ky="0" algn="bl" rotWithShape="0" blurRad="38100" dist="12700" dir="5400000">
              <a:srgbClr val="BBBBBB">
                <a:alpha val="35000"/>
              </a:srgbClr>
            </a:outerShdw>
          </a:effectLst>
        </p:spPr>
      </p:sp>
      <p:sp>
        <p:nvSpPr>
          <p:cNvPr id="6" name="Shape 4"/>
          <p:cNvSpPr/>
          <p:nvPr/>
        </p:nvSpPr>
        <p:spPr>
          <a:xfrm>
            <a:off x="3017520" y="1737360"/>
            <a:ext cx="2194560" cy="365760"/>
          </a:xfrm>
          <a:prstGeom prst="rect">
            <a:avLst/>
          </a:prstGeom>
          <a:solidFill>
            <a:srgbClr val="7D868F"/>
          </a:solidFill>
          <a:ln w="12700">
            <a:solidFill>
              <a:srgbClr val="262B33"/>
            </a:solidFill>
            <a:prstDash val="solid"/>
          </a:ln>
        </p:spPr>
      </p:sp>
      <p:sp>
        <p:nvSpPr>
          <p:cNvPr id="7" name="Shape 5"/>
          <p:cNvSpPr/>
          <p:nvPr/>
        </p:nvSpPr>
        <p:spPr>
          <a:xfrm>
            <a:off x="3017520" y="4754880"/>
            <a:ext cx="2194560" cy="365760"/>
          </a:xfrm>
          <a:prstGeom prst="rect">
            <a:avLst/>
          </a:prstGeom>
          <a:solidFill>
            <a:srgbClr val="7D868F"/>
          </a:solidFill>
          <a:ln w="12700">
            <a:solidFill>
              <a:srgbClr val="262B33"/>
            </a:solidFill>
            <a:prstDash val="solid"/>
          </a:ln>
        </p:spPr>
      </p:sp>
      <p:sp>
        <p:nvSpPr>
          <p:cNvPr id="8" name="Shape 6"/>
          <p:cNvSpPr/>
          <p:nvPr/>
        </p:nvSpPr>
        <p:spPr>
          <a:xfrm>
            <a:off x="3017520" y="2103120"/>
            <a:ext cx="457200" cy="2651760"/>
          </a:xfrm>
          <a:prstGeom prst="rect">
            <a:avLst/>
          </a:prstGeom>
          <a:solidFill>
            <a:srgbClr val="7D868F"/>
          </a:solidFill>
          <a:ln w="12700">
            <a:solidFill>
              <a:srgbClr val="262B33"/>
            </a:solidFill>
            <a:prstDash val="solid"/>
          </a:ln>
        </p:spPr>
      </p:sp>
      <p:sp>
        <p:nvSpPr>
          <p:cNvPr id="9" name="Shape 7"/>
          <p:cNvSpPr/>
          <p:nvPr/>
        </p:nvSpPr>
        <p:spPr>
          <a:xfrm>
            <a:off x="4754880" y="2103120"/>
            <a:ext cx="457200" cy="2651760"/>
          </a:xfrm>
          <a:prstGeom prst="rect">
            <a:avLst/>
          </a:prstGeom>
          <a:solidFill>
            <a:srgbClr val="7D868F"/>
          </a:solidFill>
          <a:ln w="12700">
            <a:solidFill>
              <a:srgbClr val="262B33"/>
            </a:solidFill>
            <a:prstDash val="solid"/>
          </a:ln>
        </p:spPr>
      </p:sp>
      <p:sp>
        <p:nvSpPr>
          <p:cNvPr id="10" name="Shape 8"/>
          <p:cNvSpPr/>
          <p:nvPr/>
        </p:nvSpPr>
        <p:spPr>
          <a:xfrm>
            <a:off x="2377440" y="2468880"/>
            <a:ext cx="502920" cy="1920240"/>
          </a:xfrm>
          <a:prstGeom prst="roundRect">
            <a:avLst>
              <a:gd name="adj" fmla="val 10909"/>
            </a:avLst>
          </a:prstGeom>
          <a:solidFill>
            <a:srgbClr val="D9822B"/>
          </a:solidFill>
          <a:ln w="12700">
            <a:solidFill>
              <a:srgbClr val="8C4A2F"/>
            </a:solidFill>
            <a:prstDash val="solid"/>
          </a:ln>
        </p:spPr>
      </p:sp>
      <p:sp>
        <p:nvSpPr>
          <p:cNvPr id="11" name="Text 9"/>
          <p:cNvSpPr/>
          <p:nvPr/>
        </p:nvSpPr>
        <p:spPr>
          <a:xfrm>
            <a:off x="2377440" y="2468880"/>
            <a:ext cx="502920" cy="192024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N1</a:t>
            </a:r>
            <a:endParaRPr lang="en-US" sz="1100" dirty="0"/>
          </a:p>
        </p:txBody>
      </p:sp>
      <p:sp>
        <p:nvSpPr>
          <p:cNvPr id="12" name="Shape 10"/>
          <p:cNvSpPr/>
          <p:nvPr/>
        </p:nvSpPr>
        <p:spPr>
          <a:xfrm>
            <a:off x="5349240" y="2468880"/>
            <a:ext cx="502920" cy="1920240"/>
          </a:xfrm>
          <a:prstGeom prst="roundRect">
            <a:avLst>
              <a:gd name="adj" fmla="val 10909"/>
            </a:avLst>
          </a:prstGeom>
          <a:solidFill>
            <a:srgbClr val="8C4A2F"/>
          </a:solidFill>
          <a:ln w="12700">
            <a:solidFill>
              <a:srgbClr val="8C4A2F"/>
            </a:solidFill>
            <a:prstDash val="solid"/>
          </a:ln>
        </p:spPr>
      </p:sp>
      <p:sp>
        <p:nvSpPr>
          <p:cNvPr id="13" name="Text 11"/>
          <p:cNvSpPr/>
          <p:nvPr/>
        </p:nvSpPr>
        <p:spPr>
          <a:xfrm>
            <a:off x="5349240" y="2468880"/>
            <a:ext cx="502920" cy="192024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N2</a:t>
            </a:r>
            <a:endParaRPr lang="en-US" sz="1100" dirty="0"/>
          </a:p>
        </p:txBody>
      </p:sp>
      <p:sp>
        <p:nvSpPr>
          <p:cNvPr id="14" name="Shape 12"/>
          <p:cNvSpPr/>
          <p:nvPr/>
        </p:nvSpPr>
        <p:spPr>
          <a:xfrm>
            <a:off x="640080" y="2834640"/>
            <a:ext cx="1280160" cy="1188720"/>
          </a:xfrm>
          <a:prstGeom prst="roundRect">
            <a:avLst>
              <a:gd name="adj" fmla="val 7692"/>
            </a:avLst>
          </a:prstGeom>
          <a:solidFill>
            <a:srgbClr val="262B33"/>
          </a:solidFill>
          <a:ln/>
        </p:spPr>
      </p:sp>
      <p:sp>
        <p:nvSpPr>
          <p:cNvPr id="15" name="Text 13"/>
          <p:cNvSpPr/>
          <p:nvPr/>
        </p:nvSpPr>
        <p:spPr>
          <a:xfrm>
            <a:off x="640080" y="2834640"/>
            <a:ext cx="1280160" cy="11887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AC</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V1</a:t>
            </a:r>
            <a:endParaRPr lang="en-US" sz="1100" dirty="0"/>
          </a:p>
        </p:txBody>
      </p:sp>
      <p:sp>
        <p:nvSpPr>
          <p:cNvPr id="16" name="Shape 14"/>
          <p:cNvSpPr/>
          <p:nvPr/>
        </p:nvSpPr>
        <p:spPr>
          <a:xfrm>
            <a:off x="6309360" y="2834640"/>
            <a:ext cx="731520" cy="1188720"/>
          </a:xfrm>
          <a:prstGeom prst="roundRect">
            <a:avLst>
              <a:gd name="adj" fmla="val 12500"/>
            </a:avLst>
          </a:prstGeom>
          <a:solidFill>
            <a:srgbClr val="EDE7E0"/>
          </a:solidFill>
          <a:ln w="19050">
            <a:solidFill>
              <a:srgbClr val="262B33"/>
            </a:solidFill>
            <a:prstDash val="solid"/>
          </a:ln>
        </p:spPr>
      </p:sp>
      <p:sp>
        <p:nvSpPr>
          <p:cNvPr id="17" name="Text 15"/>
          <p:cNvSpPr/>
          <p:nvPr/>
        </p:nvSpPr>
        <p:spPr>
          <a:xfrm>
            <a:off x="6309360" y="2834640"/>
            <a:ext cx="731520" cy="1188720"/>
          </a:xfrm>
          <a:prstGeom prst="rect">
            <a:avLst/>
          </a:prstGeom>
          <a:noFill/>
          <a:ln/>
        </p:spPr>
        <p:txBody>
          <a:bodyPr wrap="square" lIns="0" tIns="0" rIns="0" bIns="0" rtlCol="0" anchor="ctr"/>
          <a:lstStyle/>
          <a:p>
            <a:pPr algn="ctr" indent="0" marL="0">
              <a:buNone/>
            </a:pPr>
            <a:r>
              <a:rPr lang="en-US" sz="1050" b="1" dirty="0">
                <a:solidFill>
                  <a:srgbClr val="2B2B2B"/>
                </a:solidFill>
                <a:latin typeface="Calibri" pitchFamily="34" charset="0"/>
                <a:ea typeface="Calibri" pitchFamily="34" charset="-122"/>
                <a:cs typeface="Calibri" pitchFamily="34" charset="-120"/>
              </a:rPr>
              <a:t>LOAD</a:t>
            </a:r>
            <a:endParaRPr lang="en-US" sz="1050" dirty="0"/>
          </a:p>
          <a:p>
            <a:pPr algn="ctr" indent="0" marL="0">
              <a:buNone/>
            </a:pPr>
            <a:r>
              <a:rPr lang="en-US" sz="1050" b="1" dirty="0">
                <a:solidFill>
                  <a:srgbClr val="2B2B2B"/>
                </a:solidFill>
                <a:latin typeface="Calibri" pitchFamily="34" charset="0"/>
                <a:ea typeface="Calibri" pitchFamily="34" charset="-122"/>
                <a:cs typeface="Calibri" pitchFamily="34" charset="-120"/>
              </a:rPr>
              <a:t>Z</a:t>
            </a:r>
            <a:endParaRPr lang="en-US" sz="1050" dirty="0"/>
          </a:p>
        </p:txBody>
      </p:sp>
      <p:sp>
        <p:nvSpPr>
          <p:cNvPr id="18" name="Shape 16"/>
          <p:cNvSpPr/>
          <p:nvPr/>
        </p:nvSpPr>
        <p:spPr>
          <a:xfrm>
            <a:off x="1920240" y="3063240"/>
            <a:ext cx="411480" cy="0"/>
          </a:xfrm>
          <a:prstGeom prst="line">
            <a:avLst/>
          </a:prstGeom>
          <a:noFill/>
          <a:ln w="25400">
            <a:solidFill>
              <a:srgbClr val="262B33"/>
            </a:solidFill>
            <a:prstDash val="solid"/>
            <a:tailEnd type="triangle"/>
          </a:ln>
        </p:spPr>
      </p:sp>
      <p:sp>
        <p:nvSpPr>
          <p:cNvPr id="19" name="Shape 17"/>
          <p:cNvSpPr/>
          <p:nvPr/>
        </p:nvSpPr>
        <p:spPr>
          <a:xfrm>
            <a:off x="1920240" y="3794760"/>
            <a:ext cx="411480" cy="0"/>
          </a:xfrm>
          <a:prstGeom prst="line">
            <a:avLst/>
          </a:prstGeom>
          <a:noFill/>
          <a:ln w="25400">
            <a:solidFill>
              <a:srgbClr val="262B33"/>
            </a:solidFill>
            <a:prstDash val="solid"/>
            <a:tailEnd type="triangle"/>
          </a:ln>
        </p:spPr>
      </p:sp>
      <p:sp>
        <p:nvSpPr>
          <p:cNvPr id="20" name="Shape 18"/>
          <p:cNvSpPr/>
          <p:nvPr/>
        </p:nvSpPr>
        <p:spPr>
          <a:xfrm>
            <a:off x="5852160" y="3063240"/>
            <a:ext cx="411480" cy="0"/>
          </a:xfrm>
          <a:prstGeom prst="line">
            <a:avLst/>
          </a:prstGeom>
          <a:noFill/>
          <a:ln w="25400">
            <a:solidFill>
              <a:srgbClr val="262B33"/>
            </a:solidFill>
            <a:prstDash val="solid"/>
            <a:tailEnd type="triangle"/>
          </a:ln>
        </p:spPr>
      </p:sp>
      <p:sp>
        <p:nvSpPr>
          <p:cNvPr id="21" name="Shape 19"/>
          <p:cNvSpPr/>
          <p:nvPr/>
        </p:nvSpPr>
        <p:spPr>
          <a:xfrm>
            <a:off x="5852160" y="3794760"/>
            <a:ext cx="411480" cy="0"/>
          </a:xfrm>
          <a:prstGeom prst="line">
            <a:avLst/>
          </a:prstGeom>
          <a:noFill/>
          <a:ln w="25400">
            <a:solidFill>
              <a:srgbClr val="262B33"/>
            </a:solidFill>
            <a:prstDash val="solid"/>
            <a:tailEnd type="triangle"/>
          </a:ln>
        </p:spPr>
      </p:sp>
      <p:sp>
        <p:nvSpPr>
          <p:cNvPr id="22" name="Shape 20"/>
          <p:cNvSpPr/>
          <p:nvPr/>
        </p:nvSpPr>
        <p:spPr>
          <a:xfrm>
            <a:off x="3566160" y="1874520"/>
            <a:ext cx="1097280" cy="0"/>
          </a:xfrm>
          <a:prstGeom prst="line">
            <a:avLst/>
          </a:prstGeom>
          <a:noFill/>
          <a:ln w="25400">
            <a:solidFill>
              <a:srgbClr val="B3382C"/>
            </a:solidFill>
            <a:prstDash val="dash"/>
            <a:tailEnd type="triangle"/>
          </a:ln>
        </p:spPr>
      </p:sp>
      <p:sp>
        <p:nvSpPr>
          <p:cNvPr id="23" name="Shape 21"/>
          <p:cNvSpPr/>
          <p:nvPr/>
        </p:nvSpPr>
        <p:spPr>
          <a:xfrm>
            <a:off x="4983480" y="2926080"/>
            <a:ext cx="0" cy="1554480"/>
          </a:xfrm>
          <a:prstGeom prst="line">
            <a:avLst/>
          </a:prstGeom>
          <a:noFill/>
          <a:ln w="25400">
            <a:solidFill>
              <a:srgbClr val="B3382C"/>
            </a:solidFill>
            <a:prstDash val="dash"/>
            <a:tailEnd type="triangle"/>
          </a:ln>
        </p:spPr>
      </p:sp>
      <p:sp>
        <p:nvSpPr>
          <p:cNvPr id="24" name="Shape 22"/>
          <p:cNvSpPr/>
          <p:nvPr/>
        </p:nvSpPr>
        <p:spPr>
          <a:xfrm>
            <a:off x="4572000" y="4892040"/>
            <a:ext cx="-1097280" cy="0"/>
          </a:xfrm>
          <a:prstGeom prst="line">
            <a:avLst/>
          </a:prstGeom>
          <a:noFill/>
          <a:ln w="25400">
            <a:solidFill>
              <a:srgbClr val="B3382C"/>
            </a:solidFill>
            <a:prstDash val="dash"/>
            <a:tailEnd type="triangle"/>
          </a:ln>
        </p:spPr>
      </p:sp>
      <p:sp>
        <p:nvSpPr>
          <p:cNvPr id="25" name="Shape 23"/>
          <p:cNvSpPr/>
          <p:nvPr/>
        </p:nvSpPr>
        <p:spPr>
          <a:xfrm>
            <a:off x="3246120" y="4480560"/>
            <a:ext cx="0" cy="-1554480"/>
          </a:xfrm>
          <a:prstGeom prst="line">
            <a:avLst/>
          </a:prstGeom>
          <a:noFill/>
          <a:ln w="25400">
            <a:solidFill>
              <a:srgbClr val="B3382C"/>
            </a:solidFill>
            <a:prstDash val="dash"/>
            <a:tailEnd type="triangle"/>
          </a:ln>
        </p:spPr>
      </p:sp>
      <p:sp>
        <p:nvSpPr>
          <p:cNvPr id="26" name="Text 24"/>
          <p:cNvSpPr/>
          <p:nvPr/>
        </p:nvSpPr>
        <p:spPr>
          <a:xfrm>
            <a:off x="3474720" y="1463040"/>
            <a:ext cx="1828800" cy="274320"/>
          </a:xfrm>
          <a:prstGeom prst="rect">
            <a:avLst/>
          </a:prstGeom>
          <a:noFill/>
          <a:ln/>
        </p:spPr>
        <p:txBody>
          <a:bodyPr wrap="square" lIns="0" tIns="0" rIns="0" bIns="0" rtlCol="0" anchor="ctr"/>
          <a:lstStyle/>
          <a:p>
            <a:pPr algn="ctr" indent="0" marL="0">
              <a:buNone/>
            </a:pPr>
            <a:r>
              <a:rPr lang="en-US" sz="950" b="1" dirty="0">
                <a:solidFill>
                  <a:srgbClr val="B3382C"/>
                </a:solidFill>
                <a:latin typeface="Calibri" pitchFamily="34" charset="0"/>
                <a:ea typeface="Calibri" pitchFamily="34" charset="-122"/>
                <a:cs typeface="Calibri" pitchFamily="34" charset="-120"/>
              </a:rPr>
              <a:t>mutual flux</a:t>
            </a:r>
            <a:endParaRPr lang="en-US" sz="950" dirty="0"/>
          </a:p>
        </p:txBody>
      </p:sp>
      <p:sp>
        <p:nvSpPr>
          <p:cNvPr id="27" name="Text 25"/>
          <p:cNvSpPr/>
          <p:nvPr/>
        </p:nvSpPr>
        <p:spPr>
          <a:xfrm>
            <a:off x="2011680" y="2148840"/>
            <a:ext cx="1463040" cy="274320"/>
          </a:xfrm>
          <a:prstGeom prst="rect">
            <a:avLst/>
          </a:prstGeom>
          <a:noFill/>
          <a:ln/>
        </p:spPr>
        <p:txBody>
          <a:bodyPr wrap="square" lIns="0" tIns="0" rIns="0" bIns="0" rtlCol="0" anchor="ctr"/>
          <a:lstStyle/>
          <a:p>
            <a:pPr algn="ctr" indent="0" marL="0">
              <a:buNone/>
            </a:pPr>
            <a:r>
              <a:rPr lang="en-US" sz="850" b="1" dirty="0">
                <a:solidFill>
                  <a:srgbClr val="D9822B"/>
                </a:solidFill>
                <a:latin typeface="Calibri" pitchFamily="34" charset="0"/>
                <a:ea typeface="Calibri" pitchFamily="34" charset="-122"/>
                <a:cs typeface="Calibri" pitchFamily="34" charset="-120"/>
              </a:rPr>
              <a:t>primary</a:t>
            </a:r>
            <a:endParaRPr lang="en-US" sz="850" dirty="0"/>
          </a:p>
          <a:p>
            <a:pPr algn="ctr" indent="0" marL="0">
              <a:buNone/>
            </a:pPr>
            <a:r>
              <a:rPr lang="en-US" sz="850" b="1" dirty="0">
                <a:solidFill>
                  <a:srgbClr val="D9822B"/>
                </a:solidFill>
                <a:latin typeface="Calibri" pitchFamily="34" charset="0"/>
                <a:ea typeface="Calibri" pitchFamily="34" charset="-122"/>
                <a:cs typeface="Calibri" pitchFamily="34" charset="-120"/>
              </a:rPr>
              <a:t>E1 = 4.44 f N1 Bm A</a:t>
            </a:r>
            <a:endParaRPr lang="en-US" sz="850" dirty="0"/>
          </a:p>
        </p:txBody>
      </p:sp>
      <p:sp>
        <p:nvSpPr>
          <p:cNvPr id="28" name="Text 26"/>
          <p:cNvSpPr/>
          <p:nvPr/>
        </p:nvSpPr>
        <p:spPr>
          <a:xfrm>
            <a:off x="5212080" y="5120640"/>
            <a:ext cx="1645920" cy="274320"/>
          </a:xfrm>
          <a:prstGeom prst="rect">
            <a:avLst/>
          </a:prstGeom>
          <a:noFill/>
          <a:ln/>
        </p:spPr>
        <p:txBody>
          <a:bodyPr wrap="square" lIns="0" tIns="0" rIns="0" bIns="0" rtlCol="0" anchor="ctr"/>
          <a:lstStyle/>
          <a:p>
            <a:pPr algn="ctr" indent="0" marL="0">
              <a:buNone/>
            </a:pPr>
            <a:r>
              <a:rPr lang="en-US" sz="850" b="1" dirty="0">
                <a:solidFill>
                  <a:srgbClr val="8C4A2F"/>
                </a:solidFill>
                <a:latin typeface="Calibri" pitchFamily="34" charset="0"/>
                <a:ea typeface="Calibri" pitchFamily="34" charset="-122"/>
                <a:cs typeface="Calibri" pitchFamily="34" charset="-120"/>
              </a:rPr>
              <a:t>secondary</a:t>
            </a:r>
            <a:endParaRPr lang="en-US" sz="850" dirty="0"/>
          </a:p>
          <a:p>
            <a:pPr algn="ctr" indent="0" marL="0">
              <a:buNone/>
            </a:pPr>
            <a:r>
              <a:rPr lang="en-US" sz="850" b="1" dirty="0">
                <a:solidFill>
                  <a:srgbClr val="8C4A2F"/>
                </a:solidFill>
                <a:latin typeface="Calibri" pitchFamily="34" charset="0"/>
                <a:ea typeface="Calibri" pitchFamily="34" charset="-122"/>
                <a:cs typeface="Calibri" pitchFamily="34" charset="-120"/>
              </a:rPr>
              <a:t>E2 = 4.44 f N2 Bm A</a:t>
            </a:r>
            <a:endParaRPr lang="en-US" sz="850" dirty="0"/>
          </a:p>
        </p:txBody>
      </p:sp>
      <p:sp>
        <p:nvSpPr>
          <p:cNvPr id="29" name="Text 27"/>
          <p:cNvSpPr/>
          <p:nvPr/>
        </p:nvSpPr>
        <p:spPr>
          <a:xfrm>
            <a:off x="548640" y="5440680"/>
            <a:ext cx="6583680" cy="320040"/>
          </a:xfrm>
          <a:prstGeom prst="rect">
            <a:avLst/>
          </a:prstGeom>
          <a:noFill/>
          <a:ln/>
        </p:spPr>
        <p:txBody>
          <a:bodyPr wrap="square" lIns="0" tIns="0" rIns="0" bIns="0" rtlCol="0" anchor="ctr"/>
          <a:lstStyle/>
          <a:p>
            <a:pPr algn="ctr" indent="0" marL="0">
              <a:buNone/>
            </a:pPr>
            <a:r>
              <a:rPr lang="en-US" sz="1000" i="1" dirty="0">
                <a:solidFill>
                  <a:srgbClr val="6B6B6B"/>
                </a:solidFill>
                <a:latin typeface="Calibri" pitchFamily="34" charset="0"/>
                <a:ea typeface="Calibri" pitchFamily="34" charset="-122"/>
                <a:cs typeface="Calibri" pitchFamily="34" charset="-120"/>
              </a:rPr>
              <a:t>Working diagram: AC in N1 -&gt; alternating flux in the core -&gt; flux links N2 -&gt; emf induced in N2 by Faraday -&gt; load current.</a:t>
            </a:r>
            <a:endParaRPr lang="en-US" sz="1000" dirty="0"/>
          </a:p>
        </p:txBody>
      </p:sp>
      <p:sp>
        <p:nvSpPr>
          <p:cNvPr id="30" name="Shape 28"/>
          <p:cNvSpPr/>
          <p:nvPr/>
        </p:nvSpPr>
        <p:spPr>
          <a:xfrm>
            <a:off x="7406640" y="1417320"/>
            <a:ext cx="4297680" cy="3200400"/>
          </a:xfrm>
          <a:prstGeom prst="roundRect">
            <a:avLst>
              <a:gd name="adj" fmla="val 2286"/>
            </a:avLst>
          </a:prstGeom>
          <a:solidFill>
            <a:srgbClr val="EDE7E0"/>
          </a:solidFill>
          <a:ln/>
          <a:effectLst>
            <a:outerShdw sx="100000" sy="100000" kx="0" ky="0" algn="bl" rotWithShape="0" blurRad="38100" dist="12700" dir="5400000">
              <a:srgbClr val="BBBBBB">
                <a:alpha val="35000"/>
              </a:srgbClr>
            </a:outerShdw>
          </a:effectLst>
        </p:spPr>
      </p:sp>
      <p:sp>
        <p:nvSpPr>
          <p:cNvPr id="31" name="Text 29"/>
          <p:cNvSpPr/>
          <p:nvPr/>
        </p:nvSpPr>
        <p:spPr>
          <a:xfrm>
            <a:off x="7589520" y="1536192"/>
            <a:ext cx="3977640" cy="2971800"/>
          </a:xfrm>
          <a:prstGeom prst="rect">
            <a:avLst/>
          </a:prstGeom>
          <a:noFill/>
          <a:ln/>
        </p:spPr>
        <p:txBody>
          <a:bodyPr wrap="square" lIns="0" tIns="0" rIns="0" bIns="0" rtlCol="0" anchor="t"/>
          <a:lstStyle/>
          <a:p>
            <a:pPr indent="0" marL="0">
              <a:buNone/>
            </a:pPr>
            <a:r>
              <a:rPr lang="en-US" sz="1300" b="1" dirty="0">
                <a:solidFill>
                  <a:srgbClr val="8C4A2F"/>
                </a:solidFill>
                <a:latin typeface="Calibri" pitchFamily="34" charset="0"/>
                <a:ea typeface="Calibri" pitchFamily="34" charset="-122"/>
                <a:cs typeface="Calibri" pitchFamily="34" charset="-120"/>
              </a:rPr>
              <a:t>THE SEQUENCE TO WRITE
</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1. AC supply to primary N1 -&gt; alternating current i1.</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2. Alternating MMF = N1 x i1 in the core.</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3. Alternating mutual flux Bm set up, confined to the low-reluctance iron path.</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4. The SAME flux links the secondary N2 (mutual induction).</a:t>
            </a:r>
            <a:endParaRPr lang="en-US" sz="1150" dirty="0"/>
          </a:p>
          <a:p>
            <a:pPr indent="0" marL="0">
              <a:spcAft>
                <a:spcPts val="300"/>
              </a:spcAft>
              <a:buNone/>
            </a:pPr>
            <a:r>
              <a:rPr lang="en-US" sz="1150" dirty="0">
                <a:solidFill>
                  <a:srgbClr val="2B2B2B"/>
                </a:solidFill>
                <a:latin typeface="Calibri" pitchFamily="34" charset="0"/>
                <a:ea typeface="Calibri" pitchFamily="34" charset="-122"/>
                <a:cs typeface="Calibri" pitchFamily="34" charset="-120"/>
              </a:rPr>
              <a:t>5. Faraday: emf is induced in N2 because d(flux)/dt is non-zero: E2 = 4.44 f N2 Bm A.</a:t>
            </a: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6. Close the secondary on a load -&gt; current flows -&gt; power delivered at transformed voltage.</a:t>
            </a:r>
            <a:endParaRPr lang="en-US" sz="1150" dirty="0"/>
          </a:p>
        </p:txBody>
      </p:sp>
      <p:sp>
        <p:nvSpPr>
          <p:cNvPr id="32" name="Shape 30"/>
          <p:cNvSpPr/>
          <p:nvPr/>
        </p:nvSpPr>
        <p:spPr>
          <a:xfrm>
            <a:off x="7406640" y="4800600"/>
            <a:ext cx="4297680" cy="1234440"/>
          </a:xfrm>
          <a:prstGeom prst="roundRect">
            <a:avLst>
              <a:gd name="adj" fmla="val 5926"/>
            </a:avLst>
          </a:prstGeom>
          <a:solidFill>
            <a:srgbClr val="F6F4F1"/>
          </a:solidFill>
          <a:ln/>
          <a:effectLst>
            <a:outerShdw sx="100000" sy="100000" kx="0" ky="0" algn="bl" rotWithShape="0" blurRad="38100" dist="12700" dir="5400000">
              <a:srgbClr val="BBBBBB">
                <a:alpha val="35000"/>
              </a:srgbClr>
            </a:outerShdw>
          </a:effectLst>
        </p:spPr>
      </p:sp>
      <p:sp>
        <p:nvSpPr>
          <p:cNvPr id="33" name="Text 31"/>
          <p:cNvSpPr/>
          <p:nvPr/>
        </p:nvSpPr>
        <p:spPr>
          <a:xfrm>
            <a:off x="7589520" y="4910328"/>
            <a:ext cx="3977640" cy="1005840"/>
          </a:xfrm>
          <a:prstGeom prst="rect">
            <a:avLst/>
          </a:prstGeom>
          <a:noFill/>
          <a:ln/>
        </p:spPr>
        <p:txBody>
          <a:bodyPr wrap="square" lIns="0" tIns="0" rIns="0" bIns="0" rtlCol="0" anchor="t"/>
          <a:lstStyle/>
          <a:p>
            <a:pPr indent="0" marL="0">
              <a:buNone/>
            </a:pPr>
            <a:r>
              <a:rPr lang="en-US" sz="1200" b="1" dirty="0">
                <a:solidFill>
                  <a:srgbClr val="B3382C"/>
                </a:solidFill>
                <a:latin typeface="Calibri" pitchFamily="34" charset="0"/>
                <a:ea typeface="Calibri" pitchFamily="34" charset="-122"/>
                <a:cs typeface="Calibri" pitchFamily="34" charset="-120"/>
              </a:rPr>
              <a:t>STEP-UP / STEP-DOWN
</a:t>
            </a:r>
            <a:endParaRPr lang="en-US" sz="1200" dirty="0"/>
          </a:p>
          <a:p>
            <a:pPr indent="0" marL="0">
              <a:buNone/>
            </a:pPr>
            <a:r>
              <a:rPr lang="en-US" sz="1150" dirty="0">
                <a:solidFill>
                  <a:srgbClr val="2B2B2B"/>
                </a:solidFill>
                <a:latin typeface="Calibri" pitchFamily="34" charset="0"/>
                <a:ea typeface="Calibri" pitchFamily="34" charset="-122"/>
                <a:cs typeface="Calibri" pitchFamily="34" charset="-120"/>
              </a:rPr>
              <a:t>N2 &gt; N1 -&gt; V2 &gt; V1 (step-up). N2 &lt; N1 -&gt; V2 &lt; V1 (step-down). The transformation ratio k = N2/N1 = E2/E1 = I1/I2.</a:t>
            </a:r>
            <a:endParaRPr lang="en-US" sz="1200" dirty="0"/>
          </a:p>
        </p:txBody>
      </p:sp>
      <p:sp>
        <p:nvSpPr>
          <p:cNvPr id="34" name="Text 32"/>
          <p:cNvSpPr/>
          <p:nvPr/>
        </p:nvSpPr>
        <p:spPr>
          <a:xfrm>
            <a:off x="457200" y="5852160"/>
            <a:ext cx="6766560" cy="548640"/>
          </a:xfrm>
          <a:prstGeom prst="rect">
            <a:avLst/>
          </a:prstGeom>
          <a:noFill/>
          <a:ln/>
        </p:spPr>
        <p:txBody>
          <a:bodyPr wrap="square" lIns="0" tIns="0" rIns="0" bIns="0" rtlCol="0" anchor="ctr"/>
          <a:lstStyle/>
          <a:p>
            <a:pPr indent="0" marL="0">
              <a:buNone/>
            </a:pPr>
            <a:r>
              <a:rPr lang="en-US" sz="1200" b="1" i="1" dirty="0">
                <a:solidFill>
                  <a:srgbClr val="8C4A2F"/>
                </a:solidFill>
                <a:latin typeface="Cambria" pitchFamily="34" charset="0"/>
                <a:ea typeface="Cambria" pitchFamily="34" charset="-122"/>
                <a:cs typeface="Cambria" pitchFamily="34" charset="-120"/>
              </a:rPr>
              <a:t>One-line conclusion: one alternating flux, two circuits. Power crosses by mutual induction at UNCHANGED frequency.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2800" b="1" dirty="0">
                <a:solidFill>
                  <a:srgbClr val="8C4A2F"/>
                </a:solidFill>
                <a:latin typeface="Cambria" pitchFamily="34" charset="0"/>
                <a:ea typeface="Cambria" pitchFamily="34" charset="-122"/>
                <a:cs typeface="Cambria" pitchFamily="34" charset="-120"/>
              </a:rPr>
              <a:t>Why a transformer needs AC (A1-16 answer)</a:t>
            </a:r>
            <a:endParaRPr lang="en-US" sz="2800" dirty="0"/>
          </a:p>
        </p:txBody>
      </p:sp>
      <p:sp>
        <p:nvSpPr>
          <p:cNvPr id="3" name="Shape 1"/>
          <p:cNvSpPr/>
          <p:nvPr/>
        </p:nvSpPr>
        <p:spPr>
          <a:xfrm>
            <a:off x="457200" y="914400"/>
            <a:ext cx="2926080" cy="292608"/>
          </a:xfrm>
          <a:prstGeom prst="roundRect">
            <a:avLst>
              <a:gd name="adj" fmla="val 50000"/>
            </a:avLst>
          </a:prstGeom>
          <a:solidFill>
            <a:srgbClr val="8C4A2F"/>
          </a:solidFill>
          <a:ln/>
        </p:spPr>
      </p:sp>
      <p:sp>
        <p:nvSpPr>
          <p:cNvPr id="4" name="Text 2"/>
          <p:cNvSpPr/>
          <p:nvPr/>
        </p:nvSpPr>
        <p:spPr>
          <a:xfrm>
            <a:off x="457200" y="914400"/>
            <a:ext cx="29260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mbria" pitchFamily="34" charset="0"/>
                <a:ea typeface="Cambria" pitchFamily="34" charset="-122"/>
                <a:cs typeface="Cambria" pitchFamily="34" charset="-120"/>
              </a:rPr>
              <a:t>ROTE 2  |  THE WHY</a:t>
            </a:r>
            <a:endParaRPr lang="en-US" sz="1100" dirty="0"/>
          </a:p>
        </p:txBody>
      </p:sp>
      <p:sp>
        <p:nvSpPr>
          <p:cNvPr id="5" name="Shape 3"/>
          <p:cNvSpPr/>
          <p:nvPr/>
        </p:nvSpPr>
        <p:spPr>
          <a:xfrm>
            <a:off x="457200" y="1417320"/>
            <a:ext cx="5577840" cy="3291840"/>
          </a:xfrm>
          <a:prstGeom prst="roundRect">
            <a:avLst>
              <a:gd name="adj" fmla="val 2222"/>
            </a:avLst>
          </a:prstGeom>
          <a:solidFill>
            <a:srgbClr val="FFFFFF"/>
          </a:solidFill>
          <a:ln/>
          <a:effectLst>
            <a:outerShdw sx="100000" sy="100000" kx="0" ky="0" algn="bl" rotWithShape="0" blurRad="38100" dist="12700" dir="5400000">
              <a:srgbClr val="BBBBBB">
                <a:alpha val="35000"/>
              </a:srgbClr>
            </a:outerShdw>
          </a:effectLst>
        </p:spPr>
      </p:sp>
      <p:sp>
        <p:nvSpPr>
          <p:cNvPr id="6" name="Shape 4"/>
          <p:cNvSpPr/>
          <p:nvPr/>
        </p:nvSpPr>
        <p:spPr>
          <a:xfrm>
            <a:off x="1005840" y="3017520"/>
            <a:ext cx="4572000" cy="0"/>
          </a:xfrm>
          <a:prstGeom prst="line">
            <a:avLst/>
          </a:prstGeom>
          <a:noFill/>
          <a:ln w="19050">
            <a:solidFill>
              <a:srgbClr val="262B33"/>
            </a:solidFill>
            <a:prstDash val="solid"/>
          </a:ln>
        </p:spPr>
      </p:sp>
      <p:sp>
        <p:nvSpPr>
          <p:cNvPr id="7" name="Shape 5"/>
          <p:cNvSpPr/>
          <p:nvPr/>
        </p:nvSpPr>
        <p:spPr>
          <a:xfrm>
            <a:off x="1280160" y="1645920"/>
            <a:ext cx="0" cy="2743200"/>
          </a:xfrm>
          <a:prstGeom prst="line">
            <a:avLst/>
          </a:prstGeom>
          <a:noFill/>
          <a:ln w="19050">
            <a:solidFill>
              <a:srgbClr val="262B33"/>
            </a:solidFill>
            <a:prstDash val="solid"/>
          </a:ln>
        </p:spPr>
      </p:sp>
      <p:sp>
        <p:nvSpPr>
          <p:cNvPr id="8" name="Shape 6"/>
          <p:cNvSpPr/>
          <p:nvPr/>
        </p:nvSpPr>
        <p:spPr>
          <a:xfrm>
            <a:off x="5577840" y="3017520"/>
            <a:ext cx="137160" cy="0"/>
          </a:xfrm>
          <a:prstGeom prst="line">
            <a:avLst/>
          </a:prstGeom>
          <a:noFill/>
          <a:ln w="25400">
            <a:solidFill>
              <a:srgbClr val="262B33"/>
            </a:solidFill>
            <a:prstDash val="solid"/>
            <a:tailEnd type="triangle"/>
          </a:ln>
        </p:spPr>
      </p:sp>
      <p:sp>
        <p:nvSpPr>
          <p:cNvPr id="9" name="Shape 7"/>
          <p:cNvSpPr/>
          <p:nvPr/>
        </p:nvSpPr>
        <p:spPr>
          <a:xfrm>
            <a:off x="1280160" y="1508760"/>
            <a:ext cx="0" cy="137160"/>
          </a:xfrm>
          <a:prstGeom prst="line">
            <a:avLst/>
          </a:prstGeom>
          <a:noFill/>
          <a:ln w="25400">
            <a:solidFill>
              <a:srgbClr val="262B33"/>
            </a:solidFill>
            <a:prstDash val="solid"/>
            <a:tailEnd type="triangle"/>
          </a:ln>
        </p:spPr>
      </p:sp>
      <p:sp>
        <p:nvSpPr>
          <p:cNvPr id="10" name="Text 8"/>
          <p:cNvSpPr/>
          <p:nvPr/>
        </p:nvSpPr>
        <p:spPr>
          <a:xfrm>
            <a:off x="4846320" y="3090672"/>
            <a:ext cx="1097280" cy="274320"/>
          </a:xfrm>
          <a:prstGeom prst="rect">
            <a:avLst/>
          </a:prstGeom>
          <a:noFill/>
          <a:ln/>
        </p:spPr>
        <p:txBody>
          <a:bodyPr wrap="square" lIns="0" tIns="0" rIns="0" bIns="0" rtlCol="0" anchor="ctr"/>
          <a:lstStyle/>
          <a:p>
            <a:pPr algn="ctr" indent="0" marL="0">
              <a:buNone/>
            </a:pPr>
            <a:r>
              <a:rPr lang="en-US" sz="900" dirty="0">
                <a:solidFill>
                  <a:srgbClr val="6B6B6B"/>
                </a:solidFill>
                <a:latin typeface="Calibri" pitchFamily="34" charset="0"/>
                <a:ea typeface="Calibri" pitchFamily="34" charset="-122"/>
                <a:cs typeface="Calibri" pitchFamily="34" charset="-120"/>
              </a:rPr>
              <a:t>time</a:t>
            </a:r>
            <a:endParaRPr lang="en-US" sz="900" dirty="0"/>
          </a:p>
        </p:txBody>
      </p:sp>
      <p:sp>
        <p:nvSpPr>
          <p:cNvPr id="11" name="Text 9"/>
          <p:cNvSpPr/>
          <p:nvPr/>
        </p:nvSpPr>
        <p:spPr>
          <a:xfrm>
            <a:off x="960120" y="1325880"/>
            <a:ext cx="1463040" cy="274320"/>
          </a:xfrm>
          <a:prstGeom prst="rect">
            <a:avLst/>
          </a:prstGeom>
          <a:noFill/>
          <a:ln/>
        </p:spPr>
        <p:txBody>
          <a:bodyPr wrap="square" lIns="0" tIns="0" rIns="0" bIns="0" rtlCol="0" anchor="ctr"/>
          <a:lstStyle/>
          <a:p>
            <a:pPr algn="ctr" indent="0" marL="0">
              <a:buNone/>
            </a:pPr>
            <a:r>
              <a:rPr lang="en-US" sz="900" dirty="0">
                <a:solidFill>
                  <a:srgbClr val="6B6B6B"/>
                </a:solidFill>
                <a:latin typeface="Calibri" pitchFamily="34" charset="0"/>
                <a:ea typeface="Calibri" pitchFamily="34" charset="-122"/>
                <a:cs typeface="Calibri" pitchFamily="34" charset="-120"/>
              </a:rPr>
              <a:t>flux / emf</a:t>
            </a:r>
            <a:endParaRPr lang="en-US" sz="900" dirty="0"/>
          </a:p>
        </p:txBody>
      </p:sp>
      <p:sp>
        <p:nvSpPr>
          <p:cNvPr id="12" name="Shape 10"/>
          <p:cNvSpPr/>
          <p:nvPr/>
        </p:nvSpPr>
        <p:spPr>
          <a:xfrm flipH="1">
            <a:off x="1280160" y="2780856"/>
            <a:ext cx="175260" cy="236664"/>
          </a:xfrm>
          <a:prstGeom prst="line">
            <a:avLst/>
          </a:prstGeom>
          <a:noFill/>
          <a:ln w="28575">
            <a:solidFill>
              <a:srgbClr val="B3382C"/>
            </a:solidFill>
            <a:prstDash val="solid"/>
          </a:ln>
        </p:spPr>
      </p:sp>
      <p:sp>
        <p:nvSpPr>
          <p:cNvPr id="13" name="Shape 11"/>
          <p:cNvSpPr/>
          <p:nvPr/>
        </p:nvSpPr>
        <p:spPr>
          <a:xfrm flipH="1">
            <a:off x="1455420" y="2560320"/>
            <a:ext cx="175260" cy="220536"/>
          </a:xfrm>
          <a:prstGeom prst="line">
            <a:avLst/>
          </a:prstGeom>
          <a:noFill/>
          <a:ln w="28575">
            <a:solidFill>
              <a:srgbClr val="B3382C"/>
            </a:solidFill>
            <a:prstDash val="solid"/>
          </a:ln>
        </p:spPr>
      </p:sp>
      <p:sp>
        <p:nvSpPr>
          <p:cNvPr id="14" name="Shape 12"/>
          <p:cNvSpPr/>
          <p:nvPr/>
        </p:nvSpPr>
        <p:spPr>
          <a:xfrm flipH="1">
            <a:off x="1630680" y="2370942"/>
            <a:ext cx="175260" cy="189378"/>
          </a:xfrm>
          <a:prstGeom prst="line">
            <a:avLst/>
          </a:prstGeom>
          <a:noFill/>
          <a:ln w="28575">
            <a:solidFill>
              <a:srgbClr val="B3382C"/>
            </a:solidFill>
            <a:prstDash val="solid"/>
          </a:ln>
        </p:spPr>
      </p:sp>
      <p:sp>
        <p:nvSpPr>
          <p:cNvPr id="15" name="Shape 13"/>
          <p:cNvSpPr/>
          <p:nvPr/>
        </p:nvSpPr>
        <p:spPr>
          <a:xfrm flipH="1">
            <a:off x="1805940" y="2225626"/>
            <a:ext cx="175260" cy="145315"/>
          </a:xfrm>
          <a:prstGeom prst="line">
            <a:avLst/>
          </a:prstGeom>
          <a:noFill/>
          <a:ln w="28575">
            <a:solidFill>
              <a:srgbClr val="B3382C"/>
            </a:solidFill>
            <a:prstDash val="solid"/>
          </a:ln>
        </p:spPr>
      </p:sp>
      <p:sp>
        <p:nvSpPr>
          <p:cNvPr id="16" name="Shape 14"/>
          <p:cNvSpPr/>
          <p:nvPr/>
        </p:nvSpPr>
        <p:spPr>
          <a:xfrm flipH="1">
            <a:off x="1981200" y="2134277"/>
            <a:ext cx="175260" cy="91349"/>
          </a:xfrm>
          <a:prstGeom prst="line">
            <a:avLst/>
          </a:prstGeom>
          <a:noFill/>
          <a:ln w="28575">
            <a:solidFill>
              <a:srgbClr val="B3382C"/>
            </a:solidFill>
            <a:prstDash val="solid"/>
          </a:ln>
        </p:spPr>
      </p:sp>
      <p:sp>
        <p:nvSpPr>
          <p:cNvPr id="17" name="Shape 15"/>
          <p:cNvSpPr/>
          <p:nvPr/>
        </p:nvSpPr>
        <p:spPr>
          <a:xfrm flipH="1">
            <a:off x="2156460" y="2103120"/>
            <a:ext cx="175260" cy="31157"/>
          </a:xfrm>
          <a:prstGeom prst="line">
            <a:avLst/>
          </a:prstGeom>
          <a:noFill/>
          <a:ln w="28575">
            <a:solidFill>
              <a:srgbClr val="B3382C"/>
            </a:solidFill>
            <a:prstDash val="solid"/>
          </a:ln>
        </p:spPr>
      </p:sp>
      <p:sp>
        <p:nvSpPr>
          <p:cNvPr id="18" name="Shape 16"/>
          <p:cNvSpPr/>
          <p:nvPr/>
        </p:nvSpPr>
        <p:spPr>
          <a:xfrm>
            <a:off x="2331720" y="2103120"/>
            <a:ext cx="175260" cy="31157"/>
          </a:xfrm>
          <a:prstGeom prst="line">
            <a:avLst/>
          </a:prstGeom>
          <a:noFill/>
          <a:ln w="28575">
            <a:solidFill>
              <a:srgbClr val="B3382C"/>
            </a:solidFill>
            <a:prstDash val="solid"/>
          </a:ln>
        </p:spPr>
      </p:sp>
      <p:sp>
        <p:nvSpPr>
          <p:cNvPr id="19" name="Shape 17"/>
          <p:cNvSpPr/>
          <p:nvPr/>
        </p:nvSpPr>
        <p:spPr>
          <a:xfrm>
            <a:off x="2506980" y="2134277"/>
            <a:ext cx="175260" cy="91349"/>
          </a:xfrm>
          <a:prstGeom prst="line">
            <a:avLst/>
          </a:prstGeom>
          <a:noFill/>
          <a:ln w="28575">
            <a:solidFill>
              <a:srgbClr val="B3382C"/>
            </a:solidFill>
            <a:prstDash val="solid"/>
          </a:ln>
        </p:spPr>
      </p:sp>
      <p:sp>
        <p:nvSpPr>
          <p:cNvPr id="20" name="Shape 18"/>
          <p:cNvSpPr/>
          <p:nvPr/>
        </p:nvSpPr>
        <p:spPr>
          <a:xfrm>
            <a:off x="2682240" y="2225626"/>
            <a:ext cx="175260" cy="145315"/>
          </a:xfrm>
          <a:prstGeom prst="line">
            <a:avLst/>
          </a:prstGeom>
          <a:noFill/>
          <a:ln w="28575">
            <a:solidFill>
              <a:srgbClr val="B3382C"/>
            </a:solidFill>
            <a:prstDash val="solid"/>
          </a:ln>
        </p:spPr>
      </p:sp>
      <p:sp>
        <p:nvSpPr>
          <p:cNvPr id="21" name="Shape 19"/>
          <p:cNvSpPr/>
          <p:nvPr/>
        </p:nvSpPr>
        <p:spPr>
          <a:xfrm>
            <a:off x="2857500" y="2370942"/>
            <a:ext cx="175260" cy="189378"/>
          </a:xfrm>
          <a:prstGeom prst="line">
            <a:avLst/>
          </a:prstGeom>
          <a:noFill/>
          <a:ln w="28575">
            <a:solidFill>
              <a:srgbClr val="B3382C"/>
            </a:solidFill>
            <a:prstDash val="solid"/>
          </a:ln>
        </p:spPr>
      </p:sp>
      <p:sp>
        <p:nvSpPr>
          <p:cNvPr id="22" name="Shape 20"/>
          <p:cNvSpPr/>
          <p:nvPr/>
        </p:nvSpPr>
        <p:spPr>
          <a:xfrm>
            <a:off x="3032760" y="2560320"/>
            <a:ext cx="175260" cy="220536"/>
          </a:xfrm>
          <a:prstGeom prst="line">
            <a:avLst/>
          </a:prstGeom>
          <a:noFill/>
          <a:ln w="28575">
            <a:solidFill>
              <a:srgbClr val="B3382C"/>
            </a:solidFill>
            <a:prstDash val="solid"/>
          </a:ln>
        </p:spPr>
      </p:sp>
      <p:sp>
        <p:nvSpPr>
          <p:cNvPr id="23" name="Shape 21"/>
          <p:cNvSpPr/>
          <p:nvPr/>
        </p:nvSpPr>
        <p:spPr>
          <a:xfrm>
            <a:off x="3208020" y="2780856"/>
            <a:ext cx="175260" cy="236664"/>
          </a:xfrm>
          <a:prstGeom prst="line">
            <a:avLst/>
          </a:prstGeom>
          <a:noFill/>
          <a:ln w="28575">
            <a:solidFill>
              <a:srgbClr val="B3382C"/>
            </a:solidFill>
            <a:prstDash val="solid"/>
          </a:ln>
        </p:spPr>
      </p:sp>
      <p:sp>
        <p:nvSpPr>
          <p:cNvPr id="24" name="Shape 22"/>
          <p:cNvSpPr/>
          <p:nvPr/>
        </p:nvSpPr>
        <p:spPr>
          <a:xfrm>
            <a:off x="3383280" y="3017520"/>
            <a:ext cx="175260" cy="236664"/>
          </a:xfrm>
          <a:prstGeom prst="line">
            <a:avLst/>
          </a:prstGeom>
          <a:noFill/>
          <a:ln w="28575">
            <a:solidFill>
              <a:srgbClr val="B3382C"/>
            </a:solidFill>
            <a:prstDash val="solid"/>
          </a:ln>
        </p:spPr>
      </p:sp>
      <p:sp>
        <p:nvSpPr>
          <p:cNvPr id="25" name="Shape 23"/>
          <p:cNvSpPr/>
          <p:nvPr/>
        </p:nvSpPr>
        <p:spPr>
          <a:xfrm>
            <a:off x="3558540" y="3254184"/>
            <a:ext cx="175260" cy="220536"/>
          </a:xfrm>
          <a:prstGeom prst="line">
            <a:avLst/>
          </a:prstGeom>
          <a:noFill/>
          <a:ln w="28575">
            <a:solidFill>
              <a:srgbClr val="B3382C"/>
            </a:solidFill>
            <a:prstDash val="solid"/>
          </a:ln>
        </p:spPr>
      </p:sp>
      <p:sp>
        <p:nvSpPr>
          <p:cNvPr id="26" name="Shape 24"/>
          <p:cNvSpPr/>
          <p:nvPr/>
        </p:nvSpPr>
        <p:spPr>
          <a:xfrm>
            <a:off x="3733800" y="3474720"/>
            <a:ext cx="175260" cy="189378"/>
          </a:xfrm>
          <a:prstGeom prst="line">
            <a:avLst/>
          </a:prstGeom>
          <a:noFill/>
          <a:ln w="28575">
            <a:solidFill>
              <a:srgbClr val="B3382C"/>
            </a:solidFill>
            <a:prstDash val="solid"/>
          </a:ln>
        </p:spPr>
      </p:sp>
      <p:sp>
        <p:nvSpPr>
          <p:cNvPr id="27" name="Shape 25"/>
          <p:cNvSpPr/>
          <p:nvPr/>
        </p:nvSpPr>
        <p:spPr>
          <a:xfrm>
            <a:off x="3909060" y="3664098"/>
            <a:ext cx="175260" cy="145315"/>
          </a:xfrm>
          <a:prstGeom prst="line">
            <a:avLst/>
          </a:prstGeom>
          <a:noFill/>
          <a:ln w="28575">
            <a:solidFill>
              <a:srgbClr val="B3382C"/>
            </a:solidFill>
            <a:prstDash val="solid"/>
          </a:ln>
        </p:spPr>
      </p:sp>
      <p:sp>
        <p:nvSpPr>
          <p:cNvPr id="28" name="Shape 26"/>
          <p:cNvSpPr/>
          <p:nvPr/>
        </p:nvSpPr>
        <p:spPr>
          <a:xfrm>
            <a:off x="4084320" y="3809414"/>
            <a:ext cx="175260" cy="91349"/>
          </a:xfrm>
          <a:prstGeom prst="line">
            <a:avLst/>
          </a:prstGeom>
          <a:noFill/>
          <a:ln w="28575">
            <a:solidFill>
              <a:srgbClr val="B3382C"/>
            </a:solidFill>
            <a:prstDash val="solid"/>
          </a:ln>
        </p:spPr>
      </p:sp>
      <p:sp>
        <p:nvSpPr>
          <p:cNvPr id="29" name="Shape 27"/>
          <p:cNvSpPr/>
          <p:nvPr/>
        </p:nvSpPr>
        <p:spPr>
          <a:xfrm>
            <a:off x="4259580" y="3900763"/>
            <a:ext cx="175260" cy="31157"/>
          </a:xfrm>
          <a:prstGeom prst="line">
            <a:avLst/>
          </a:prstGeom>
          <a:noFill/>
          <a:ln w="28575">
            <a:solidFill>
              <a:srgbClr val="B3382C"/>
            </a:solidFill>
            <a:prstDash val="solid"/>
          </a:ln>
        </p:spPr>
      </p:sp>
      <p:sp>
        <p:nvSpPr>
          <p:cNvPr id="30" name="Shape 28"/>
          <p:cNvSpPr/>
          <p:nvPr/>
        </p:nvSpPr>
        <p:spPr>
          <a:xfrm flipH="1">
            <a:off x="4434840" y="3900763"/>
            <a:ext cx="175260" cy="31157"/>
          </a:xfrm>
          <a:prstGeom prst="line">
            <a:avLst/>
          </a:prstGeom>
          <a:noFill/>
          <a:ln w="28575">
            <a:solidFill>
              <a:srgbClr val="B3382C"/>
            </a:solidFill>
            <a:prstDash val="solid"/>
          </a:ln>
        </p:spPr>
      </p:sp>
      <p:sp>
        <p:nvSpPr>
          <p:cNvPr id="31" name="Shape 29"/>
          <p:cNvSpPr/>
          <p:nvPr/>
        </p:nvSpPr>
        <p:spPr>
          <a:xfrm flipH="1">
            <a:off x="4610100" y="3809414"/>
            <a:ext cx="175260" cy="91349"/>
          </a:xfrm>
          <a:prstGeom prst="line">
            <a:avLst/>
          </a:prstGeom>
          <a:noFill/>
          <a:ln w="28575">
            <a:solidFill>
              <a:srgbClr val="B3382C"/>
            </a:solidFill>
            <a:prstDash val="solid"/>
          </a:ln>
        </p:spPr>
      </p:sp>
      <p:sp>
        <p:nvSpPr>
          <p:cNvPr id="32" name="Shape 30"/>
          <p:cNvSpPr/>
          <p:nvPr/>
        </p:nvSpPr>
        <p:spPr>
          <a:xfrm flipH="1">
            <a:off x="4785360" y="3664098"/>
            <a:ext cx="175260" cy="145315"/>
          </a:xfrm>
          <a:prstGeom prst="line">
            <a:avLst/>
          </a:prstGeom>
          <a:noFill/>
          <a:ln w="28575">
            <a:solidFill>
              <a:srgbClr val="B3382C"/>
            </a:solidFill>
            <a:prstDash val="solid"/>
          </a:ln>
        </p:spPr>
      </p:sp>
      <p:sp>
        <p:nvSpPr>
          <p:cNvPr id="33" name="Shape 31"/>
          <p:cNvSpPr/>
          <p:nvPr/>
        </p:nvSpPr>
        <p:spPr>
          <a:xfrm flipH="1">
            <a:off x="4960620" y="3474720"/>
            <a:ext cx="175260" cy="189378"/>
          </a:xfrm>
          <a:prstGeom prst="line">
            <a:avLst/>
          </a:prstGeom>
          <a:noFill/>
          <a:ln w="28575">
            <a:solidFill>
              <a:srgbClr val="B3382C"/>
            </a:solidFill>
            <a:prstDash val="solid"/>
          </a:ln>
        </p:spPr>
      </p:sp>
      <p:sp>
        <p:nvSpPr>
          <p:cNvPr id="34" name="Shape 32"/>
          <p:cNvSpPr/>
          <p:nvPr/>
        </p:nvSpPr>
        <p:spPr>
          <a:xfrm flipH="1">
            <a:off x="5135880" y="3254184"/>
            <a:ext cx="175260" cy="220536"/>
          </a:xfrm>
          <a:prstGeom prst="line">
            <a:avLst/>
          </a:prstGeom>
          <a:noFill/>
          <a:ln w="28575">
            <a:solidFill>
              <a:srgbClr val="B3382C"/>
            </a:solidFill>
            <a:prstDash val="solid"/>
          </a:ln>
        </p:spPr>
      </p:sp>
      <p:sp>
        <p:nvSpPr>
          <p:cNvPr id="35" name="Shape 33"/>
          <p:cNvSpPr/>
          <p:nvPr/>
        </p:nvSpPr>
        <p:spPr>
          <a:xfrm flipH="1">
            <a:off x="5311140" y="3017520"/>
            <a:ext cx="175260" cy="236664"/>
          </a:xfrm>
          <a:prstGeom prst="line">
            <a:avLst/>
          </a:prstGeom>
          <a:noFill/>
          <a:ln w="28575">
            <a:solidFill>
              <a:srgbClr val="B3382C"/>
            </a:solidFill>
            <a:prstDash val="solid"/>
          </a:ln>
        </p:spPr>
      </p:sp>
      <p:sp>
        <p:nvSpPr>
          <p:cNvPr id="36" name="Shape 34"/>
          <p:cNvSpPr/>
          <p:nvPr/>
        </p:nvSpPr>
        <p:spPr>
          <a:xfrm>
            <a:off x="1280160" y="2103120"/>
            <a:ext cx="175260" cy="31157"/>
          </a:xfrm>
          <a:prstGeom prst="line">
            <a:avLst/>
          </a:prstGeom>
          <a:noFill/>
          <a:ln w="28575">
            <a:solidFill>
              <a:srgbClr val="8C4A2F"/>
            </a:solidFill>
            <a:prstDash val="solid"/>
          </a:ln>
        </p:spPr>
      </p:sp>
      <p:sp>
        <p:nvSpPr>
          <p:cNvPr id="37" name="Shape 35"/>
          <p:cNvSpPr/>
          <p:nvPr/>
        </p:nvSpPr>
        <p:spPr>
          <a:xfrm>
            <a:off x="1455420" y="2134277"/>
            <a:ext cx="175260" cy="91349"/>
          </a:xfrm>
          <a:prstGeom prst="line">
            <a:avLst/>
          </a:prstGeom>
          <a:noFill/>
          <a:ln w="28575">
            <a:solidFill>
              <a:srgbClr val="8C4A2F"/>
            </a:solidFill>
            <a:prstDash val="solid"/>
          </a:ln>
        </p:spPr>
      </p:sp>
      <p:sp>
        <p:nvSpPr>
          <p:cNvPr id="38" name="Shape 36"/>
          <p:cNvSpPr/>
          <p:nvPr/>
        </p:nvSpPr>
        <p:spPr>
          <a:xfrm>
            <a:off x="1630680" y="2225626"/>
            <a:ext cx="175260" cy="145315"/>
          </a:xfrm>
          <a:prstGeom prst="line">
            <a:avLst/>
          </a:prstGeom>
          <a:noFill/>
          <a:ln w="28575">
            <a:solidFill>
              <a:srgbClr val="8C4A2F"/>
            </a:solidFill>
            <a:prstDash val="solid"/>
          </a:ln>
        </p:spPr>
      </p:sp>
      <p:sp>
        <p:nvSpPr>
          <p:cNvPr id="39" name="Shape 37"/>
          <p:cNvSpPr/>
          <p:nvPr/>
        </p:nvSpPr>
        <p:spPr>
          <a:xfrm>
            <a:off x="1805940" y="2370942"/>
            <a:ext cx="175260" cy="189378"/>
          </a:xfrm>
          <a:prstGeom prst="line">
            <a:avLst/>
          </a:prstGeom>
          <a:noFill/>
          <a:ln w="28575">
            <a:solidFill>
              <a:srgbClr val="8C4A2F"/>
            </a:solidFill>
            <a:prstDash val="solid"/>
          </a:ln>
        </p:spPr>
      </p:sp>
      <p:sp>
        <p:nvSpPr>
          <p:cNvPr id="40" name="Shape 38"/>
          <p:cNvSpPr/>
          <p:nvPr/>
        </p:nvSpPr>
        <p:spPr>
          <a:xfrm>
            <a:off x="1981200" y="2560320"/>
            <a:ext cx="175260" cy="220536"/>
          </a:xfrm>
          <a:prstGeom prst="line">
            <a:avLst/>
          </a:prstGeom>
          <a:noFill/>
          <a:ln w="28575">
            <a:solidFill>
              <a:srgbClr val="8C4A2F"/>
            </a:solidFill>
            <a:prstDash val="solid"/>
          </a:ln>
        </p:spPr>
      </p:sp>
      <p:sp>
        <p:nvSpPr>
          <p:cNvPr id="41" name="Shape 39"/>
          <p:cNvSpPr/>
          <p:nvPr/>
        </p:nvSpPr>
        <p:spPr>
          <a:xfrm>
            <a:off x="2156460" y="2780856"/>
            <a:ext cx="175260" cy="236664"/>
          </a:xfrm>
          <a:prstGeom prst="line">
            <a:avLst/>
          </a:prstGeom>
          <a:noFill/>
          <a:ln w="28575">
            <a:solidFill>
              <a:srgbClr val="8C4A2F"/>
            </a:solidFill>
            <a:prstDash val="solid"/>
          </a:ln>
        </p:spPr>
      </p:sp>
      <p:sp>
        <p:nvSpPr>
          <p:cNvPr id="42" name="Shape 40"/>
          <p:cNvSpPr/>
          <p:nvPr/>
        </p:nvSpPr>
        <p:spPr>
          <a:xfrm>
            <a:off x="2331720" y="3017520"/>
            <a:ext cx="175260" cy="236664"/>
          </a:xfrm>
          <a:prstGeom prst="line">
            <a:avLst/>
          </a:prstGeom>
          <a:noFill/>
          <a:ln w="28575">
            <a:solidFill>
              <a:srgbClr val="8C4A2F"/>
            </a:solidFill>
            <a:prstDash val="solid"/>
          </a:ln>
        </p:spPr>
      </p:sp>
      <p:sp>
        <p:nvSpPr>
          <p:cNvPr id="43" name="Shape 41"/>
          <p:cNvSpPr/>
          <p:nvPr/>
        </p:nvSpPr>
        <p:spPr>
          <a:xfrm>
            <a:off x="2506980" y="3254184"/>
            <a:ext cx="175260" cy="220536"/>
          </a:xfrm>
          <a:prstGeom prst="line">
            <a:avLst/>
          </a:prstGeom>
          <a:noFill/>
          <a:ln w="28575">
            <a:solidFill>
              <a:srgbClr val="8C4A2F"/>
            </a:solidFill>
            <a:prstDash val="solid"/>
          </a:ln>
        </p:spPr>
      </p:sp>
      <p:sp>
        <p:nvSpPr>
          <p:cNvPr id="44" name="Shape 42"/>
          <p:cNvSpPr/>
          <p:nvPr/>
        </p:nvSpPr>
        <p:spPr>
          <a:xfrm>
            <a:off x="2682240" y="3474720"/>
            <a:ext cx="175260" cy="189378"/>
          </a:xfrm>
          <a:prstGeom prst="line">
            <a:avLst/>
          </a:prstGeom>
          <a:noFill/>
          <a:ln w="28575">
            <a:solidFill>
              <a:srgbClr val="8C4A2F"/>
            </a:solidFill>
            <a:prstDash val="solid"/>
          </a:ln>
        </p:spPr>
      </p:sp>
      <p:sp>
        <p:nvSpPr>
          <p:cNvPr id="45" name="Shape 43"/>
          <p:cNvSpPr/>
          <p:nvPr/>
        </p:nvSpPr>
        <p:spPr>
          <a:xfrm>
            <a:off x="2857500" y="3664098"/>
            <a:ext cx="175260" cy="145315"/>
          </a:xfrm>
          <a:prstGeom prst="line">
            <a:avLst/>
          </a:prstGeom>
          <a:noFill/>
          <a:ln w="28575">
            <a:solidFill>
              <a:srgbClr val="8C4A2F"/>
            </a:solidFill>
            <a:prstDash val="solid"/>
          </a:ln>
        </p:spPr>
      </p:sp>
      <p:sp>
        <p:nvSpPr>
          <p:cNvPr id="46" name="Shape 44"/>
          <p:cNvSpPr/>
          <p:nvPr/>
        </p:nvSpPr>
        <p:spPr>
          <a:xfrm>
            <a:off x="3032760" y="3809414"/>
            <a:ext cx="175260" cy="91349"/>
          </a:xfrm>
          <a:prstGeom prst="line">
            <a:avLst/>
          </a:prstGeom>
          <a:noFill/>
          <a:ln w="28575">
            <a:solidFill>
              <a:srgbClr val="8C4A2F"/>
            </a:solidFill>
            <a:prstDash val="solid"/>
          </a:ln>
        </p:spPr>
      </p:sp>
      <p:sp>
        <p:nvSpPr>
          <p:cNvPr id="47" name="Shape 45"/>
          <p:cNvSpPr/>
          <p:nvPr/>
        </p:nvSpPr>
        <p:spPr>
          <a:xfrm>
            <a:off x="3208020" y="3900763"/>
            <a:ext cx="175260" cy="31157"/>
          </a:xfrm>
          <a:prstGeom prst="line">
            <a:avLst/>
          </a:prstGeom>
          <a:noFill/>
          <a:ln w="28575">
            <a:solidFill>
              <a:srgbClr val="8C4A2F"/>
            </a:solidFill>
            <a:prstDash val="solid"/>
          </a:ln>
        </p:spPr>
      </p:sp>
      <p:sp>
        <p:nvSpPr>
          <p:cNvPr id="48" name="Shape 46"/>
          <p:cNvSpPr/>
          <p:nvPr/>
        </p:nvSpPr>
        <p:spPr>
          <a:xfrm flipH="1">
            <a:off x="3383280" y="3900763"/>
            <a:ext cx="175260" cy="31157"/>
          </a:xfrm>
          <a:prstGeom prst="line">
            <a:avLst/>
          </a:prstGeom>
          <a:noFill/>
          <a:ln w="28575">
            <a:solidFill>
              <a:srgbClr val="8C4A2F"/>
            </a:solidFill>
            <a:prstDash val="solid"/>
          </a:ln>
        </p:spPr>
      </p:sp>
      <p:sp>
        <p:nvSpPr>
          <p:cNvPr id="49" name="Shape 47"/>
          <p:cNvSpPr/>
          <p:nvPr/>
        </p:nvSpPr>
        <p:spPr>
          <a:xfrm flipH="1">
            <a:off x="3558540" y="3809414"/>
            <a:ext cx="175260" cy="91349"/>
          </a:xfrm>
          <a:prstGeom prst="line">
            <a:avLst/>
          </a:prstGeom>
          <a:noFill/>
          <a:ln w="28575">
            <a:solidFill>
              <a:srgbClr val="8C4A2F"/>
            </a:solidFill>
            <a:prstDash val="solid"/>
          </a:ln>
        </p:spPr>
      </p:sp>
      <p:sp>
        <p:nvSpPr>
          <p:cNvPr id="50" name="Shape 48"/>
          <p:cNvSpPr/>
          <p:nvPr/>
        </p:nvSpPr>
        <p:spPr>
          <a:xfrm flipH="1">
            <a:off x="3733800" y="3664098"/>
            <a:ext cx="175260" cy="145315"/>
          </a:xfrm>
          <a:prstGeom prst="line">
            <a:avLst/>
          </a:prstGeom>
          <a:noFill/>
          <a:ln w="28575">
            <a:solidFill>
              <a:srgbClr val="8C4A2F"/>
            </a:solidFill>
            <a:prstDash val="solid"/>
          </a:ln>
        </p:spPr>
      </p:sp>
      <p:sp>
        <p:nvSpPr>
          <p:cNvPr id="51" name="Shape 49"/>
          <p:cNvSpPr/>
          <p:nvPr/>
        </p:nvSpPr>
        <p:spPr>
          <a:xfrm flipH="1">
            <a:off x="3909060" y="3474720"/>
            <a:ext cx="175260" cy="189378"/>
          </a:xfrm>
          <a:prstGeom prst="line">
            <a:avLst/>
          </a:prstGeom>
          <a:noFill/>
          <a:ln w="28575">
            <a:solidFill>
              <a:srgbClr val="8C4A2F"/>
            </a:solidFill>
            <a:prstDash val="solid"/>
          </a:ln>
        </p:spPr>
      </p:sp>
      <p:sp>
        <p:nvSpPr>
          <p:cNvPr id="52" name="Shape 50"/>
          <p:cNvSpPr/>
          <p:nvPr/>
        </p:nvSpPr>
        <p:spPr>
          <a:xfrm flipH="1">
            <a:off x="4084320" y="3254184"/>
            <a:ext cx="175260" cy="220536"/>
          </a:xfrm>
          <a:prstGeom prst="line">
            <a:avLst/>
          </a:prstGeom>
          <a:noFill/>
          <a:ln w="28575">
            <a:solidFill>
              <a:srgbClr val="8C4A2F"/>
            </a:solidFill>
            <a:prstDash val="solid"/>
          </a:ln>
        </p:spPr>
      </p:sp>
      <p:sp>
        <p:nvSpPr>
          <p:cNvPr id="53" name="Shape 51"/>
          <p:cNvSpPr/>
          <p:nvPr/>
        </p:nvSpPr>
        <p:spPr>
          <a:xfrm flipH="1">
            <a:off x="4259580" y="3017520"/>
            <a:ext cx="175260" cy="236664"/>
          </a:xfrm>
          <a:prstGeom prst="line">
            <a:avLst/>
          </a:prstGeom>
          <a:noFill/>
          <a:ln w="28575">
            <a:solidFill>
              <a:srgbClr val="8C4A2F"/>
            </a:solidFill>
            <a:prstDash val="solid"/>
          </a:ln>
        </p:spPr>
      </p:sp>
      <p:sp>
        <p:nvSpPr>
          <p:cNvPr id="54" name="Shape 52"/>
          <p:cNvSpPr/>
          <p:nvPr/>
        </p:nvSpPr>
        <p:spPr>
          <a:xfrm flipH="1">
            <a:off x="4434840" y="2780856"/>
            <a:ext cx="175260" cy="236664"/>
          </a:xfrm>
          <a:prstGeom prst="line">
            <a:avLst/>
          </a:prstGeom>
          <a:noFill/>
          <a:ln w="28575">
            <a:solidFill>
              <a:srgbClr val="8C4A2F"/>
            </a:solidFill>
            <a:prstDash val="solid"/>
          </a:ln>
        </p:spPr>
      </p:sp>
      <p:sp>
        <p:nvSpPr>
          <p:cNvPr id="55" name="Shape 53"/>
          <p:cNvSpPr/>
          <p:nvPr/>
        </p:nvSpPr>
        <p:spPr>
          <a:xfrm flipH="1">
            <a:off x="4610100" y="2560320"/>
            <a:ext cx="175260" cy="220536"/>
          </a:xfrm>
          <a:prstGeom prst="line">
            <a:avLst/>
          </a:prstGeom>
          <a:noFill/>
          <a:ln w="28575">
            <a:solidFill>
              <a:srgbClr val="8C4A2F"/>
            </a:solidFill>
            <a:prstDash val="solid"/>
          </a:ln>
        </p:spPr>
      </p:sp>
      <p:sp>
        <p:nvSpPr>
          <p:cNvPr id="56" name="Shape 54"/>
          <p:cNvSpPr/>
          <p:nvPr/>
        </p:nvSpPr>
        <p:spPr>
          <a:xfrm flipH="1">
            <a:off x="4785360" y="2370942"/>
            <a:ext cx="175260" cy="189378"/>
          </a:xfrm>
          <a:prstGeom prst="line">
            <a:avLst/>
          </a:prstGeom>
          <a:noFill/>
          <a:ln w="28575">
            <a:solidFill>
              <a:srgbClr val="8C4A2F"/>
            </a:solidFill>
            <a:prstDash val="solid"/>
          </a:ln>
        </p:spPr>
      </p:sp>
      <p:sp>
        <p:nvSpPr>
          <p:cNvPr id="57" name="Shape 55"/>
          <p:cNvSpPr/>
          <p:nvPr/>
        </p:nvSpPr>
        <p:spPr>
          <a:xfrm flipH="1">
            <a:off x="4960620" y="2225626"/>
            <a:ext cx="175260" cy="145315"/>
          </a:xfrm>
          <a:prstGeom prst="line">
            <a:avLst/>
          </a:prstGeom>
          <a:noFill/>
          <a:ln w="28575">
            <a:solidFill>
              <a:srgbClr val="8C4A2F"/>
            </a:solidFill>
            <a:prstDash val="solid"/>
          </a:ln>
        </p:spPr>
      </p:sp>
      <p:sp>
        <p:nvSpPr>
          <p:cNvPr id="58" name="Shape 56"/>
          <p:cNvSpPr/>
          <p:nvPr/>
        </p:nvSpPr>
        <p:spPr>
          <a:xfrm flipH="1">
            <a:off x="5135880" y="2134277"/>
            <a:ext cx="175260" cy="91349"/>
          </a:xfrm>
          <a:prstGeom prst="line">
            <a:avLst/>
          </a:prstGeom>
          <a:noFill/>
          <a:ln w="28575">
            <a:solidFill>
              <a:srgbClr val="8C4A2F"/>
            </a:solidFill>
            <a:prstDash val="solid"/>
          </a:ln>
        </p:spPr>
      </p:sp>
      <p:sp>
        <p:nvSpPr>
          <p:cNvPr id="59" name="Shape 57"/>
          <p:cNvSpPr/>
          <p:nvPr/>
        </p:nvSpPr>
        <p:spPr>
          <a:xfrm flipH="1">
            <a:off x="5311140" y="2103120"/>
            <a:ext cx="175260" cy="31157"/>
          </a:xfrm>
          <a:prstGeom prst="line">
            <a:avLst/>
          </a:prstGeom>
          <a:noFill/>
          <a:ln w="28575">
            <a:solidFill>
              <a:srgbClr val="8C4A2F"/>
            </a:solidFill>
            <a:prstDash val="solid"/>
          </a:ln>
        </p:spPr>
      </p:sp>
      <p:sp>
        <p:nvSpPr>
          <p:cNvPr id="60" name="Text 58"/>
          <p:cNvSpPr/>
          <p:nvPr/>
        </p:nvSpPr>
        <p:spPr>
          <a:xfrm>
            <a:off x="4114800" y="1874520"/>
            <a:ext cx="1371600" cy="274320"/>
          </a:xfrm>
          <a:prstGeom prst="rect">
            <a:avLst/>
          </a:prstGeom>
          <a:noFill/>
          <a:ln/>
        </p:spPr>
        <p:txBody>
          <a:bodyPr wrap="square" lIns="0" tIns="0" rIns="0" bIns="0" rtlCol="0" anchor="ctr"/>
          <a:lstStyle/>
          <a:p>
            <a:pPr algn="ctr" indent="0" marL="0">
              <a:buNone/>
            </a:pPr>
            <a:r>
              <a:rPr lang="en-US" sz="950" b="1" dirty="0">
                <a:solidFill>
                  <a:srgbClr val="B3382C"/>
                </a:solidFill>
                <a:latin typeface="Calibri" pitchFamily="34" charset="0"/>
                <a:ea typeface="Calibri" pitchFamily="34" charset="-122"/>
                <a:cs typeface="Calibri" pitchFamily="34" charset="-120"/>
              </a:rPr>
              <a:t>flux (Bm sin wt)</a:t>
            </a:r>
            <a:endParaRPr lang="en-US" sz="950" dirty="0"/>
          </a:p>
        </p:txBody>
      </p:sp>
      <p:sp>
        <p:nvSpPr>
          <p:cNvPr id="61" name="Text 59"/>
          <p:cNvSpPr/>
          <p:nvPr/>
        </p:nvSpPr>
        <p:spPr>
          <a:xfrm>
            <a:off x="1554480" y="3657600"/>
            <a:ext cx="1645920" cy="274320"/>
          </a:xfrm>
          <a:prstGeom prst="rect">
            <a:avLst/>
          </a:prstGeom>
          <a:noFill/>
          <a:ln/>
        </p:spPr>
        <p:txBody>
          <a:bodyPr wrap="square" lIns="0" tIns="0" rIns="0" bIns="0" rtlCol="0" anchor="ctr"/>
          <a:lstStyle/>
          <a:p>
            <a:pPr algn="ctr" indent="0" marL="0">
              <a:buNone/>
            </a:pPr>
            <a:r>
              <a:rPr lang="en-US" sz="950" b="1" dirty="0">
                <a:solidFill>
                  <a:srgbClr val="8C4A2F"/>
                </a:solidFill>
                <a:latin typeface="Calibri" pitchFamily="34" charset="0"/>
                <a:ea typeface="Calibri" pitchFamily="34" charset="-122"/>
                <a:cs typeface="Calibri" pitchFamily="34" charset="-120"/>
              </a:rPr>
              <a:t>induced emf lags 90 deg</a:t>
            </a:r>
            <a:endParaRPr lang="en-US" sz="950" dirty="0"/>
          </a:p>
        </p:txBody>
      </p:sp>
      <p:sp>
        <p:nvSpPr>
          <p:cNvPr id="62" name="Text 60"/>
          <p:cNvSpPr/>
          <p:nvPr/>
        </p:nvSpPr>
        <p:spPr>
          <a:xfrm>
            <a:off x="548640" y="4297680"/>
            <a:ext cx="5394960" cy="365760"/>
          </a:xfrm>
          <a:prstGeom prst="rect">
            <a:avLst/>
          </a:prstGeom>
          <a:noFill/>
          <a:ln/>
        </p:spPr>
        <p:txBody>
          <a:bodyPr wrap="square" lIns="0" tIns="0" rIns="0" bIns="0" rtlCol="0" anchor="ctr"/>
          <a:lstStyle/>
          <a:p>
            <a:pPr algn="ctr" indent="0" marL="0">
              <a:buNone/>
            </a:pPr>
            <a:r>
              <a:rPr lang="en-US" sz="1000" i="1" dirty="0">
                <a:solidFill>
                  <a:srgbClr val="6B6B6B"/>
                </a:solidFill>
                <a:latin typeface="Calibri" pitchFamily="34" charset="0"/>
                <a:ea typeface="Calibri" pitchFamily="34" charset="-122"/>
                <a:cs typeface="Calibri" pitchFamily="34" charset="-120"/>
              </a:rPr>
              <a:t>AC SUPPLY: flux alternates, d(flux)/dt is never zero for long -&gt; emf is induced in BOTH windings (e = -N d(flux)/dt).</a:t>
            </a:r>
            <a:endParaRPr lang="en-US" sz="1000" dirty="0"/>
          </a:p>
        </p:txBody>
      </p:sp>
      <p:sp>
        <p:nvSpPr>
          <p:cNvPr id="63" name="Shape 61"/>
          <p:cNvSpPr/>
          <p:nvPr/>
        </p:nvSpPr>
        <p:spPr>
          <a:xfrm>
            <a:off x="6217920" y="1417320"/>
            <a:ext cx="5486400" cy="3291840"/>
          </a:xfrm>
          <a:prstGeom prst="roundRect">
            <a:avLst>
              <a:gd name="adj" fmla="val 2222"/>
            </a:avLst>
          </a:prstGeom>
          <a:solidFill>
            <a:srgbClr val="FFFFFF"/>
          </a:solidFill>
          <a:ln/>
          <a:effectLst>
            <a:outerShdw sx="100000" sy="100000" kx="0" ky="0" algn="bl" rotWithShape="0" blurRad="38100" dist="12700" dir="5400000">
              <a:srgbClr val="BBBBBB">
                <a:alpha val="35000"/>
              </a:srgbClr>
            </a:outerShdw>
          </a:effectLst>
        </p:spPr>
      </p:sp>
      <p:sp>
        <p:nvSpPr>
          <p:cNvPr id="64" name="Shape 62"/>
          <p:cNvSpPr/>
          <p:nvPr/>
        </p:nvSpPr>
        <p:spPr>
          <a:xfrm>
            <a:off x="6766560" y="3017520"/>
            <a:ext cx="4389120" cy="0"/>
          </a:xfrm>
          <a:prstGeom prst="line">
            <a:avLst/>
          </a:prstGeom>
          <a:noFill/>
          <a:ln w="19050">
            <a:solidFill>
              <a:srgbClr val="262B33"/>
            </a:solidFill>
            <a:prstDash val="solid"/>
          </a:ln>
        </p:spPr>
      </p:sp>
      <p:sp>
        <p:nvSpPr>
          <p:cNvPr id="65" name="Shape 63"/>
          <p:cNvSpPr/>
          <p:nvPr/>
        </p:nvSpPr>
        <p:spPr>
          <a:xfrm>
            <a:off x="7040880" y="1645920"/>
            <a:ext cx="0" cy="2743200"/>
          </a:xfrm>
          <a:prstGeom prst="line">
            <a:avLst/>
          </a:prstGeom>
          <a:noFill/>
          <a:ln w="19050">
            <a:solidFill>
              <a:srgbClr val="262B33"/>
            </a:solidFill>
            <a:prstDash val="solid"/>
          </a:ln>
        </p:spPr>
      </p:sp>
      <p:sp>
        <p:nvSpPr>
          <p:cNvPr id="66" name="Shape 64"/>
          <p:cNvSpPr/>
          <p:nvPr/>
        </p:nvSpPr>
        <p:spPr>
          <a:xfrm>
            <a:off x="11155680" y="3017520"/>
            <a:ext cx="137160" cy="0"/>
          </a:xfrm>
          <a:prstGeom prst="line">
            <a:avLst/>
          </a:prstGeom>
          <a:noFill/>
          <a:ln w="25400">
            <a:solidFill>
              <a:srgbClr val="262B33"/>
            </a:solidFill>
            <a:prstDash val="solid"/>
            <a:tailEnd type="triangle"/>
          </a:ln>
        </p:spPr>
      </p:sp>
      <p:sp>
        <p:nvSpPr>
          <p:cNvPr id="67" name="Shape 65"/>
          <p:cNvSpPr/>
          <p:nvPr/>
        </p:nvSpPr>
        <p:spPr>
          <a:xfrm>
            <a:off x="7040880" y="1554480"/>
            <a:ext cx="0" cy="137160"/>
          </a:xfrm>
          <a:prstGeom prst="line">
            <a:avLst/>
          </a:prstGeom>
          <a:noFill/>
          <a:ln w="25400">
            <a:solidFill>
              <a:srgbClr val="262B33"/>
            </a:solidFill>
            <a:prstDash val="solid"/>
            <a:tailEnd type="triangle"/>
          </a:ln>
        </p:spPr>
      </p:sp>
      <p:sp>
        <p:nvSpPr>
          <p:cNvPr id="68" name="Text 66"/>
          <p:cNvSpPr/>
          <p:nvPr/>
        </p:nvSpPr>
        <p:spPr>
          <a:xfrm>
            <a:off x="10515600" y="3090672"/>
            <a:ext cx="1097280" cy="274320"/>
          </a:xfrm>
          <a:prstGeom prst="rect">
            <a:avLst/>
          </a:prstGeom>
          <a:noFill/>
          <a:ln/>
        </p:spPr>
        <p:txBody>
          <a:bodyPr wrap="square" lIns="0" tIns="0" rIns="0" bIns="0" rtlCol="0" anchor="ctr"/>
          <a:lstStyle/>
          <a:p>
            <a:pPr algn="ctr" indent="0" marL="0">
              <a:buNone/>
            </a:pPr>
            <a:r>
              <a:rPr lang="en-US" sz="900" dirty="0">
                <a:solidFill>
                  <a:srgbClr val="6B6B6B"/>
                </a:solidFill>
                <a:latin typeface="Calibri" pitchFamily="34" charset="0"/>
                <a:ea typeface="Calibri" pitchFamily="34" charset="-122"/>
                <a:cs typeface="Calibri" pitchFamily="34" charset="-120"/>
              </a:rPr>
              <a:t>time</a:t>
            </a:r>
            <a:endParaRPr lang="en-US" sz="900" dirty="0"/>
          </a:p>
        </p:txBody>
      </p:sp>
      <p:sp>
        <p:nvSpPr>
          <p:cNvPr id="69" name="Shape 67"/>
          <p:cNvSpPr/>
          <p:nvPr/>
        </p:nvSpPr>
        <p:spPr>
          <a:xfrm>
            <a:off x="7040880" y="2103120"/>
            <a:ext cx="4023360" cy="0"/>
          </a:xfrm>
          <a:prstGeom prst="line">
            <a:avLst/>
          </a:prstGeom>
          <a:noFill/>
          <a:ln w="28575">
            <a:solidFill>
              <a:srgbClr val="B3382C"/>
            </a:solidFill>
            <a:prstDash val="solid"/>
          </a:ln>
        </p:spPr>
      </p:sp>
      <p:sp>
        <p:nvSpPr>
          <p:cNvPr id="70" name="Text 68"/>
          <p:cNvSpPr/>
          <p:nvPr/>
        </p:nvSpPr>
        <p:spPr>
          <a:xfrm>
            <a:off x="9509760" y="1874520"/>
            <a:ext cx="1645920" cy="274320"/>
          </a:xfrm>
          <a:prstGeom prst="rect">
            <a:avLst/>
          </a:prstGeom>
          <a:noFill/>
          <a:ln/>
        </p:spPr>
        <p:txBody>
          <a:bodyPr wrap="square" lIns="0" tIns="0" rIns="0" bIns="0" rtlCol="0" anchor="ctr"/>
          <a:lstStyle/>
          <a:p>
            <a:pPr algn="ctr" indent="0" marL="0">
              <a:buNone/>
            </a:pPr>
            <a:r>
              <a:rPr lang="en-US" sz="950" b="1" dirty="0">
                <a:solidFill>
                  <a:srgbClr val="B3382C"/>
                </a:solidFill>
                <a:latin typeface="Calibri" pitchFamily="34" charset="0"/>
                <a:ea typeface="Calibri" pitchFamily="34" charset="-122"/>
                <a:cs typeface="Calibri" pitchFamily="34" charset="-120"/>
              </a:rPr>
              <a:t>flux = constant</a:t>
            </a:r>
            <a:endParaRPr lang="en-US" sz="950" dirty="0"/>
          </a:p>
        </p:txBody>
      </p:sp>
      <p:sp>
        <p:nvSpPr>
          <p:cNvPr id="71" name="Shape 69"/>
          <p:cNvSpPr/>
          <p:nvPr/>
        </p:nvSpPr>
        <p:spPr>
          <a:xfrm>
            <a:off x="7040880" y="3017520"/>
            <a:ext cx="4023360" cy="0"/>
          </a:xfrm>
          <a:prstGeom prst="line">
            <a:avLst/>
          </a:prstGeom>
          <a:noFill/>
          <a:ln w="38100">
            <a:solidFill>
              <a:srgbClr val="8C4A2F"/>
            </a:solidFill>
            <a:prstDash val="solid"/>
          </a:ln>
        </p:spPr>
      </p:sp>
      <p:sp>
        <p:nvSpPr>
          <p:cNvPr id="72" name="Text 70"/>
          <p:cNvSpPr/>
          <p:nvPr/>
        </p:nvSpPr>
        <p:spPr>
          <a:xfrm>
            <a:off x="7315200" y="3154680"/>
            <a:ext cx="1645920" cy="274320"/>
          </a:xfrm>
          <a:prstGeom prst="rect">
            <a:avLst/>
          </a:prstGeom>
          <a:noFill/>
          <a:ln/>
        </p:spPr>
        <p:txBody>
          <a:bodyPr wrap="square" lIns="0" tIns="0" rIns="0" bIns="0" rtlCol="0" anchor="ctr"/>
          <a:lstStyle/>
          <a:p>
            <a:pPr algn="ctr" indent="0" marL="0">
              <a:buNone/>
            </a:pPr>
            <a:r>
              <a:rPr lang="en-US" sz="950" b="1" dirty="0">
                <a:solidFill>
                  <a:srgbClr val="8C4A2F"/>
                </a:solidFill>
                <a:latin typeface="Calibri" pitchFamily="34" charset="0"/>
                <a:ea typeface="Calibri" pitchFamily="34" charset="-122"/>
                <a:cs typeface="Calibri" pitchFamily="34" charset="-120"/>
              </a:rPr>
              <a:t>induced emf = 0</a:t>
            </a:r>
            <a:endParaRPr lang="en-US" sz="950" dirty="0"/>
          </a:p>
        </p:txBody>
      </p:sp>
      <p:sp>
        <p:nvSpPr>
          <p:cNvPr id="73" name="Shape 71"/>
          <p:cNvSpPr/>
          <p:nvPr/>
        </p:nvSpPr>
        <p:spPr>
          <a:xfrm flipH="1">
            <a:off x="7132320" y="3977640"/>
            <a:ext cx="914400" cy="137160"/>
          </a:xfrm>
          <a:prstGeom prst="line">
            <a:avLst/>
          </a:prstGeom>
          <a:noFill/>
          <a:ln w="28575">
            <a:solidFill>
              <a:srgbClr val="444444"/>
            </a:solidFill>
            <a:prstDash val="solid"/>
          </a:ln>
        </p:spPr>
      </p:sp>
      <p:sp>
        <p:nvSpPr>
          <p:cNvPr id="74" name="Shape 72"/>
          <p:cNvSpPr/>
          <p:nvPr/>
        </p:nvSpPr>
        <p:spPr>
          <a:xfrm flipH="1">
            <a:off x="8046720" y="3200400"/>
            <a:ext cx="731520" cy="777240"/>
          </a:xfrm>
          <a:prstGeom prst="line">
            <a:avLst/>
          </a:prstGeom>
          <a:noFill/>
          <a:ln w="28575">
            <a:solidFill>
              <a:srgbClr val="444444"/>
            </a:solidFill>
            <a:prstDash val="solid"/>
          </a:ln>
        </p:spPr>
      </p:sp>
      <p:sp>
        <p:nvSpPr>
          <p:cNvPr id="75" name="Shape 73"/>
          <p:cNvSpPr/>
          <p:nvPr/>
        </p:nvSpPr>
        <p:spPr>
          <a:xfrm flipH="1">
            <a:off x="8778240" y="1828800"/>
            <a:ext cx="365760" cy="1371600"/>
          </a:xfrm>
          <a:prstGeom prst="line">
            <a:avLst/>
          </a:prstGeom>
          <a:noFill/>
          <a:ln w="28575">
            <a:solidFill>
              <a:srgbClr val="444444"/>
            </a:solidFill>
            <a:prstDash val="solid"/>
          </a:ln>
        </p:spPr>
      </p:sp>
      <p:sp>
        <p:nvSpPr>
          <p:cNvPr id="76" name="Text 74"/>
          <p:cNvSpPr/>
          <p:nvPr/>
        </p:nvSpPr>
        <p:spPr>
          <a:xfrm>
            <a:off x="8778240" y="4023360"/>
            <a:ext cx="2194560" cy="274320"/>
          </a:xfrm>
          <a:prstGeom prst="rect">
            <a:avLst/>
          </a:prstGeom>
          <a:noFill/>
          <a:ln/>
        </p:spPr>
        <p:txBody>
          <a:bodyPr wrap="square" lIns="0" tIns="0" rIns="0" bIns="0" rtlCol="0" anchor="ctr"/>
          <a:lstStyle/>
          <a:p>
            <a:pPr algn="ctr" indent="0" marL="0">
              <a:buNone/>
            </a:pPr>
            <a:r>
              <a:rPr lang="en-US" sz="900" b="1" dirty="0">
                <a:solidFill>
                  <a:srgbClr val="444444"/>
                </a:solidFill>
                <a:latin typeface="Calibri" pitchFamily="34" charset="0"/>
                <a:ea typeface="Calibri" pitchFamily="34" charset="-122"/>
                <a:cs typeface="Calibri" pitchFamily="34" charset="-120"/>
              </a:rPr>
              <a:t>primary current = V/R only -&gt; huge -&gt; winding overheats</a:t>
            </a:r>
            <a:endParaRPr lang="en-US" sz="900" dirty="0"/>
          </a:p>
        </p:txBody>
      </p:sp>
      <p:sp>
        <p:nvSpPr>
          <p:cNvPr id="77" name="Text 75"/>
          <p:cNvSpPr/>
          <p:nvPr/>
        </p:nvSpPr>
        <p:spPr>
          <a:xfrm>
            <a:off x="6309360" y="4297680"/>
            <a:ext cx="5303520" cy="365760"/>
          </a:xfrm>
          <a:prstGeom prst="rect">
            <a:avLst/>
          </a:prstGeom>
          <a:noFill/>
          <a:ln/>
        </p:spPr>
        <p:txBody>
          <a:bodyPr wrap="square" lIns="0" tIns="0" rIns="0" bIns="0" rtlCol="0" anchor="ctr"/>
          <a:lstStyle/>
          <a:p>
            <a:pPr algn="ctr" indent="0" marL="0">
              <a:buNone/>
            </a:pPr>
            <a:r>
              <a:rPr lang="en-US" sz="1000" i="1" dirty="0">
                <a:solidFill>
                  <a:srgbClr val="B3382C"/>
                </a:solidFill>
                <a:latin typeface="Calibri" pitchFamily="34" charset="0"/>
                <a:ea typeface="Calibri" pitchFamily="34" charset="-122"/>
                <a:cs typeface="Calibri" pitchFamily="34" charset="-120"/>
              </a:rPr>
              <a:t>DC SUPPLY: constant flux -&gt; d(flux)/dt = 0 -&gt; NO induced back-emf -&gt; the primary is just its winding resistance. DANGER: it burns.</a:t>
            </a:r>
            <a:endParaRPr lang="en-US" sz="1000" dirty="0"/>
          </a:p>
        </p:txBody>
      </p:sp>
      <p:sp>
        <p:nvSpPr>
          <p:cNvPr id="78" name="Shape 76"/>
          <p:cNvSpPr/>
          <p:nvPr/>
        </p:nvSpPr>
        <p:spPr>
          <a:xfrm>
            <a:off x="457200" y="4846320"/>
            <a:ext cx="11247120" cy="1234440"/>
          </a:xfrm>
          <a:prstGeom prst="roundRect">
            <a:avLst>
              <a:gd name="adj" fmla="val 5926"/>
            </a:avLst>
          </a:prstGeom>
          <a:solidFill>
            <a:srgbClr val="EDE7E0"/>
          </a:solidFill>
          <a:ln/>
          <a:effectLst>
            <a:outerShdw sx="100000" sy="100000" kx="0" ky="0" algn="bl" rotWithShape="0" blurRad="38100" dist="12700" dir="5400000">
              <a:srgbClr val="BBBBBB">
                <a:alpha val="35000"/>
              </a:srgbClr>
            </a:outerShdw>
          </a:effectLst>
        </p:spPr>
      </p:sp>
      <p:sp>
        <p:nvSpPr>
          <p:cNvPr id="79" name="Text 77"/>
          <p:cNvSpPr/>
          <p:nvPr/>
        </p:nvSpPr>
        <p:spPr>
          <a:xfrm>
            <a:off x="640080" y="4983480"/>
            <a:ext cx="10881360" cy="960120"/>
          </a:xfrm>
          <a:prstGeom prst="rect">
            <a:avLst/>
          </a:prstGeom>
          <a:noFill/>
          <a:ln/>
        </p:spPr>
        <p:txBody>
          <a:bodyPr wrap="square" lIns="0" tIns="0" rIns="0" bIns="0" rtlCol="0" anchor="t"/>
          <a:lstStyle/>
          <a:p>
            <a:pPr indent="0" marL="0">
              <a:buNone/>
            </a:pPr>
            <a:r>
              <a:rPr lang="en-US" sz="1250" b="1" dirty="0">
                <a:solidFill>
                  <a:srgbClr val="B3382C"/>
                </a:solidFill>
                <a:latin typeface="Calibri" pitchFamily="34" charset="0"/>
                <a:ea typeface="Calibri" pitchFamily="34" charset="-122"/>
                <a:cs typeface="Calibri" pitchFamily="34" charset="-120"/>
              </a:rPr>
              <a:t>A1-16 MODEL ANSWER  </a:t>
            </a:r>
            <a:pPr indent="0" marL="0">
              <a:buNone/>
            </a:pPr>
            <a:r>
              <a:rPr lang="en-US" sz="1200" dirty="0">
                <a:solidFill>
                  <a:srgbClr val="2B2B2B"/>
                </a:solidFill>
                <a:latin typeface="Calibri" pitchFamily="34" charset="0"/>
                <a:ea typeface="Calibri" pitchFamily="34" charset="-122"/>
                <a:cs typeface="Calibri" pitchFamily="34" charset="-120"/>
              </a:rPr>
              <a:t>A transformer works on mutual induction, which demands a changing flux. With DC, flux is constant, so the induced emf e = -N d(flux)/dt is zero, there is no back-emf to oppose the supply, and the primary winding draws a current limited only by its own resistance (V/R). That current is very large and overheats/destroys the winding. Also the core saturates. Conclusion: transformers are rated and used with AC only.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2800" b="1" dirty="0">
                <a:solidFill>
                  <a:srgbClr val="8C4A2F"/>
                </a:solidFill>
                <a:latin typeface="Cambria" pitchFamily="34" charset="0"/>
                <a:ea typeface="Cambria" pitchFamily="34" charset="-122"/>
                <a:cs typeface="Cambria" pitchFamily="34" charset="-120"/>
              </a:rPr>
              <a:t>Losses in a transformer</a:t>
            </a:r>
            <a:endParaRPr lang="en-US" sz="2800" dirty="0"/>
          </a:p>
        </p:txBody>
      </p:sp>
      <p:sp>
        <p:nvSpPr>
          <p:cNvPr id="3" name="Shape 1"/>
          <p:cNvSpPr/>
          <p:nvPr/>
        </p:nvSpPr>
        <p:spPr>
          <a:xfrm>
            <a:off x="457200" y="914400"/>
            <a:ext cx="2651760" cy="292608"/>
          </a:xfrm>
          <a:prstGeom prst="roundRect">
            <a:avLst>
              <a:gd name="adj" fmla="val 50000"/>
            </a:avLst>
          </a:prstGeom>
          <a:solidFill>
            <a:srgbClr val="8C4A2F"/>
          </a:solidFill>
          <a:ln/>
        </p:spPr>
      </p:sp>
      <p:sp>
        <p:nvSpPr>
          <p:cNvPr id="4" name="Text 2"/>
          <p:cNvSpPr/>
          <p:nvPr/>
        </p:nvSpPr>
        <p:spPr>
          <a:xfrm>
            <a:off x="457200" y="914400"/>
            <a:ext cx="265176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mbria" pitchFamily="34" charset="0"/>
                <a:ea typeface="Cambria" pitchFamily="34" charset="-122"/>
                <a:cs typeface="Cambria" pitchFamily="34" charset="-120"/>
              </a:rPr>
              <a:t>ROTE 3  |  LOSSES</a:t>
            </a:r>
            <a:endParaRPr lang="en-US" sz="1100" dirty="0"/>
          </a:p>
        </p:txBody>
      </p:sp>
      <p:sp>
        <p:nvSpPr>
          <p:cNvPr id="5" name="Shape 3"/>
          <p:cNvSpPr/>
          <p:nvPr/>
        </p:nvSpPr>
        <p:spPr>
          <a:xfrm>
            <a:off x="457200" y="1417320"/>
            <a:ext cx="5120640" cy="4434840"/>
          </a:xfrm>
          <a:prstGeom prst="roundRect">
            <a:avLst>
              <a:gd name="adj" fmla="val 1649"/>
            </a:avLst>
          </a:prstGeom>
          <a:solidFill>
            <a:srgbClr val="F6F4F1"/>
          </a:solidFill>
          <a:ln/>
          <a:effectLst>
            <a:outerShdw sx="100000" sy="100000" kx="0" ky="0" algn="bl" rotWithShape="0" blurRad="38100" dist="12700" dir="5400000">
              <a:srgbClr val="BBBBBB">
                <a:alpha val="35000"/>
              </a:srgbClr>
            </a:outerShdw>
          </a:effectLst>
        </p:spPr>
      </p:sp>
      <p:sp>
        <p:nvSpPr>
          <p:cNvPr id="6" name="Text 4"/>
          <p:cNvSpPr/>
          <p:nvPr/>
        </p:nvSpPr>
        <p:spPr>
          <a:xfrm>
            <a:off x="640080" y="1536192"/>
            <a:ext cx="4754880" cy="3749040"/>
          </a:xfrm>
          <a:prstGeom prst="rect">
            <a:avLst/>
          </a:prstGeom>
          <a:noFill/>
          <a:ln/>
        </p:spPr>
        <p:txBody>
          <a:bodyPr wrap="square" lIns="0" tIns="0" rIns="0" bIns="0" rtlCol="0" anchor="t"/>
          <a:lstStyle/>
          <a:p>
            <a:pPr indent="0" marL="0">
              <a:spcAft>
                <a:spcPts val="600"/>
              </a:spcAft>
              <a:buNone/>
            </a:pPr>
            <a:r>
              <a:rPr lang="en-US" sz="1300" b="1" dirty="0">
                <a:solidFill>
                  <a:srgbClr val="8C4A2F"/>
                </a:solidFill>
                <a:latin typeface="Calibri" pitchFamily="34" charset="0"/>
                <a:ea typeface="Calibri" pitchFamily="34" charset="-122"/>
                <a:cs typeface="Calibri" pitchFamily="34" charset="-120"/>
              </a:rPr>
              <a:t>TOTAL LOSS = copper + iron (+ stray)</a:t>
            </a:r>
            <a:endParaRPr lang="en-US" sz="1300" dirty="0"/>
          </a:p>
          <a:p>
            <a:pPr indent="0" marL="0">
              <a:spcAft>
                <a:spcPts val="600"/>
              </a:spcAft>
              <a:buNone/>
            </a:pPr>
            <a:r>
              <a:rPr lang="en-US" sz="1150" b="1" dirty="0">
                <a:solidFill>
                  <a:srgbClr val="2B2B2B"/>
                </a:solidFill>
                <a:latin typeface="Calibri" pitchFamily="34" charset="0"/>
                <a:ea typeface="Calibri" pitchFamily="34" charset="-122"/>
                <a:cs typeface="Calibri" pitchFamily="34" charset="-120"/>
              </a:rPr>
              <a:t>COPPER LOSS (winding, load-dependent)</a:t>
            </a:r>
            <a:endParaRPr lang="en-US" sz="1300" dirty="0"/>
          </a:p>
          <a:p>
            <a:pPr indent="0" marL="0">
              <a:spcAft>
                <a:spcPts val="600"/>
              </a:spcAft>
              <a:buNone/>
            </a:pPr>
            <a:r>
              <a:rPr lang="en-US" sz="1100" dirty="0">
                <a:solidFill>
                  <a:srgbClr val="2B2B2B"/>
                </a:solidFill>
                <a:latin typeface="Courier New" pitchFamily="34" charset="0"/>
                <a:ea typeface="Courier New" pitchFamily="34" charset="-122"/>
                <a:cs typeface="Courier New" pitchFamily="34" charset="-120"/>
              </a:rPr>
              <a:t>Pcu = I1^2 R1 + I2^2 R2 = I^2 R (varies with the square of load current)</a:t>
            </a:r>
            <a:endParaRPr lang="en-US" sz="1300" dirty="0"/>
          </a:p>
          <a:p>
            <a:pPr indent="0" marL="0">
              <a:spcAft>
                <a:spcPts val="600"/>
              </a:spcAft>
              <a:buNone/>
            </a:pPr>
            <a:r>
              <a:rPr lang="en-US" sz="1150" b="1" dirty="0">
                <a:solidFill>
                  <a:srgbClr val="2B2B2B"/>
                </a:solidFill>
                <a:latin typeface="Calibri" pitchFamily="34" charset="0"/>
                <a:ea typeface="Calibri" pitchFamily="34" charset="-122"/>
                <a:cs typeface="Calibri" pitchFamily="34" charset="-120"/>
              </a:rPr>
              <a:t>IRON / CORE LOSS (constant at fixed V and f)</a:t>
            </a:r>
            <a:endParaRPr lang="en-US" sz="1300" dirty="0"/>
          </a:p>
          <a:p>
            <a:pPr indent="0" marL="0">
              <a:spcAft>
                <a:spcPts val="600"/>
              </a:spcAft>
              <a:buNone/>
            </a:pPr>
            <a:r>
              <a:rPr lang="en-US" sz="1050" dirty="0">
                <a:solidFill>
                  <a:srgbClr val="2B2B2B"/>
                </a:solidFill>
                <a:latin typeface="Calibri" pitchFamily="34" charset="0"/>
                <a:ea typeface="Calibri" pitchFamily="34" charset="-122"/>
                <a:cs typeface="Calibri" pitchFamily="34" charset="-120"/>
              </a:rPr>
              <a:t>(a) Hysteresis loss: energy spent re-orienting domains every cycle.</a:t>
            </a:r>
            <a:endParaRPr lang="en-US" sz="1300" dirty="0"/>
          </a:p>
          <a:p>
            <a:pPr indent="0" marL="0">
              <a:spcAft>
                <a:spcPts val="600"/>
              </a:spcAft>
              <a:buNone/>
            </a:pPr>
            <a:r>
              <a:rPr lang="en-US" sz="1100" dirty="0">
                <a:solidFill>
                  <a:srgbClr val="2B2B2B"/>
                </a:solidFill>
                <a:latin typeface="Courier New" pitchFamily="34" charset="0"/>
                <a:ea typeface="Courier New" pitchFamily="34" charset="-122"/>
                <a:cs typeface="Courier New" pitchFamily="34" charset="-120"/>
              </a:rPr>
              <a:t>    P_h = kh x f x Bm^1.6</a:t>
            </a:r>
            <a:endParaRPr lang="en-US" sz="1300" dirty="0"/>
          </a:p>
          <a:p>
            <a:pPr indent="0" marL="0">
              <a:spcAft>
                <a:spcPts val="600"/>
              </a:spcAft>
              <a:buNone/>
            </a:pPr>
            <a:r>
              <a:rPr lang="en-US" sz="1050" dirty="0">
                <a:solidFill>
                  <a:srgbClr val="2B2B2B"/>
                </a:solidFill>
                <a:latin typeface="Calibri" pitchFamily="34" charset="0"/>
                <a:ea typeface="Calibri" pitchFamily="34" charset="-122"/>
                <a:cs typeface="Calibri" pitchFamily="34" charset="-120"/>
              </a:rPr>
              <a:t>(b) Eddy-current loss: circulating currents induced IN the core itself.</a:t>
            </a:r>
            <a:endParaRPr lang="en-US" sz="1300" dirty="0"/>
          </a:p>
          <a:p>
            <a:pPr indent="0" marL="0">
              <a:spcAft>
                <a:spcPts val="600"/>
              </a:spcAft>
              <a:buNone/>
            </a:pPr>
            <a:r>
              <a:rPr lang="en-US" sz="1100" dirty="0">
                <a:solidFill>
                  <a:srgbClr val="2B2B2B"/>
                </a:solidFill>
                <a:latin typeface="Courier New" pitchFamily="34" charset="0"/>
                <a:ea typeface="Courier New" pitchFamily="34" charset="-122"/>
                <a:cs typeface="Courier New" pitchFamily="34" charset="-120"/>
              </a:rPr>
              <a:t>    P_e = ke x f^2 x Bm^2 x t^2</a:t>
            </a:r>
            <a:endParaRPr lang="en-US" sz="1300" dirty="0"/>
          </a:p>
          <a:p>
            <a:pPr indent="0" marL="0">
              <a:spcAft>
                <a:spcPts val="600"/>
              </a:spcAft>
              <a:buNone/>
            </a:pPr>
            <a:r>
              <a:rPr lang="en-US" sz="1050" dirty="0">
                <a:solidFill>
                  <a:srgbClr val="2B2B2B"/>
                </a:solidFill>
                <a:latin typeface="Calibri" pitchFamily="34" charset="0"/>
                <a:ea typeface="Calibri" pitchFamily="34" charset="-122"/>
                <a:cs typeface="Calibri" pitchFamily="34" charset="-120"/>
              </a:rPr>
              <a:t>STRAY LOSSES: small leakage-flux losses in tank/frame; conventionally a small % of output.</a:t>
            </a:r>
            <a:endParaRPr lang="en-US" sz="1300" dirty="0"/>
          </a:p>
        </p:txBody>
      </p:sp>
      <p:sp>
        <p:nvSpPr>
          <p:cNvPr id="7" name="Text 5"/>
          <p:cNvSpPr/>
          <p:nvPr/>
        </p:nvSpPr>
        <p:spPr>
          <a:xfrm>
            <a:off x="640080" y="5440680"/>
            <a:ext cx="4754880" cy="365760"/>
          </a:xfrm>
          <a:prstGeom prst="rect">
            <a:avLst/>
          </a:prstGeom>
          <a:noFill/>
          <a:ln/>
        </p:spPr>
        <p:txBody>
          <a:bodyPr wrap="square" lIns="0" tIns="0" rIns="0" bIns="0" rtlCol="0" anchor="t"/>
          <a:lstStyle/>
          <a:p>
            <a:pPr indent="0" marL="0">
              <a:buNone/>
            </a:pPr>
            <a:r>
              <a:rPr lang="en-US" sz="1050" b="1" dirty="0">
                <a:solidFill>
                  <a:srgbClr val="B3382C"/>
                </a:solidFill>
                <a:latin typeface="Calibri" pitchFamily="34" charset="0"/>
                <a:ea typeface="Calibri" pitchFamily="34" charset="-122"/>
                <a:cs typeface="Calibri" pitchFamily="34" charset="-120"/>
              </a:rPr>
              <a:t>NO mechanical losses: the transformer is a STATIC machine (no rotor, no bearings).</a:t>
            </a:r>
            <a:endParaRPr lang="en-US" sz="1050" dirty="0"/>
          </a:p>
        </p:txBody>
      </p:sp>
      <p:sp>
        <p:nvSpPr>
          <p:cNvPr id="8" name="Shape 6"/>
          <p:cNvSpPr/>
          <p:nvPr/>
        </p:nvSpPr>
        <p:spPr>
          <a:xfrm>
            <a:off x="5760720" y="1417320"/>
            <a:ext cx="5943600" cy="3931920"/>
          </a:xfrm>
          <a:prstGeom prst="roundRect">
            <a:avLst>
              <a:gd name="adj" fmla="val 1860"/>
            </a:avLst>
          </a:prstGeom>
          <a:solidFill>
            <a:srgbClr val="FFFFFF"/>
          </a:solidFill>
          <a:ln/>
          <a:effectLst>
            <a:outerShdw sx="100000" sy="100000" kx="0" ky="0" algn="bl" rotWithShape="0" blurRad="38100" dist="12700" dir="5400000">
              <a:srgbClr val="BBBBBB">
                <a:alpha val="35000"/>
              </a:srgbClr>
            </a:outerShdw>
          </a:effectLst>
        </p:spPr>
      </p:sp>
      <p:sp>
        <p:nvSpPr>
          <p:cNvPr id="9" name="Shape 7"/>
          <p:cNvSpPr/>
          <p:nvPr/>
        </p:nvSpPr>
        <p:spPr>
          <a:xfrm>
            <a:off x="6126480" y="3383280"/>
            <a:ext cx="4206240" cy="0"/>
          </a:xfrm>
          <a:prstGeom prst="line">
            <a:avLst/>
          </a:prstGeom>
          <a:noFill/>
          <a:ln w="19050">
            <a:solidFill>
              <a:srgbClr val="262B33"/>
            </a:solidFill>
            <a:prstDash val="solid"/>
          </a:ln>
        </p:spPr>
      </p:sp>
      <p:sp>
        <p:nvSpPr>
          <p:cNvPr id="10" name="Shape 8"/>
          <p:cNvSpPr/>
          <p:nvPr/>
        </p:nvSpPr>
        <p:spPr>
          <a:xfrm>
            <a:off x="7680960" y="1920240"/>
            <a:ext cx="0" cy="2926080"/>
          </a:xfrm>
          <a:prstGeom prst="line">
            <a:avLst/>
          </a:prstGeom>
          <a:noFill/>
          <a:ln w="19050">
            <a:solidFill>
              <a:srgbClr val="262B33"/>
            </a:solidFill>
            <a:prstDash val="solid"/>
          </a:ln>
        </p:spPr>
      </p:sp>
      <p:sp>
        <p:nvSpPr>
          <p:cNvPr id="11" name="Shape 9"/>
          <p:cNvSpPr/>
          <p:nvPr/>
        </p:nvSpPr>
        <p:spPr>
          <a:xfrm>
            <a:off x="10332720" y="3383280"/>
            <a:ext cx="137160" cy="0"/>
          </a:xfrm>
          <a:prstGeom prst="line">
            <a:avLst/>
          </a:prstGeom>
          <a:noFill/>
          <a:ln w="25400">
            <a:solidFill>
              <a:srgbClr val="262B33"/>
            </a:solidFill>
            <a:prstDash val="solid"/>
            <a:tailEnd type="triangle"/>
          </a:ln>
        </p:spPr>
      </p:sp>
      <p:sp>
        <p:nvSpPr>
          <p:cNvPr id="12" name="Shape 10"/>
          <p:cNvSpPr/>
          <p:nvPr/>
        </p:nvSpPr>
        <p:spPr>
          <a:xfrm>
            <a:off x="7680960" y="1828800"/>
            <a:ext cx="0" cy="137160"/>
          </a:xfrm>
          <a:prstGeom prst="line">
            <a:avLst/>
          </a:prstGeom>
          <a:noFill/>
          <a:ln w="25400">
            <a:solidFill>
              <a:srgbClr val="262B33"/>
            </a:solidFill>
            <a:prstDash val="solid"/>
            <a:tailEnd type="triangle"/>
          </a:ln>
        </p:spPr>
      </p:sp>
      <p:sp>
        <p:nvSpPr>
          <p:cNvPr id="13" name="Text 11"/>
          <p:cNvSpPr/>
          <p:nvPr/>
        </p:nvSpPr>
        <p:spPr>
          <a:xfrm>
            <a:off x="10058400" y="3474720"/>
            <a:ext cx="731520" cy="274320"/>
          </a:xfrm>
          <a:prstGeom prst="rect">
            <a:avLst/>
          </a:prstGeom>
          <a:noFill/>
          <a:ln/>
        </p:spPr>
        <p:txBody>
          <a:bodyPr wrap="square" lIns="0" tIns="0" rIns="0" bIns="0" rtlCol="0" anchor="ctr"/>
          <a:lstStyle/>
          <a:p>
            <a:pPr algn="ctr" indent="0" marL="0">
              <a:buNone/>
            </a:pPr>
            <a:r>
              <a:rPr lang="en-US" sz="1100" b="1" dirty="0">
                <a:solidFill>
                  <a:srgbClr val="262B33"/>
                </a:solidFill>
                <a:latin typeface="Calibri" pitchFamily="34" charset="0"/>
                <a:ea typeface="Calibri" pitchFamily="34" charset="-122"/>
                <a:cs typeface="Calibri" pitchFamily="34" charset="-120"/>
              </a:rPr>
              <a:t>H</a:t>
            </a:r>
            <a:endParaRPr lang="en-US" sz="1100" dirty="0"/>
          </a:p>
        </p:txBody>
      </p:sp>
      <p:sp>
        <p:nvSpPr>
          <p:cNvPr id="14" name="Text 12"/>
          <p:cNvSpPr/>
          <p:nvPr/>
        </p:nvSpPr>
        <p:spPr>
          <a:xfrm>
            <a:off x="7772400" y="1737360"/>
            <a:ext cx="731520" cy="274320"/>
          </a:xfrm>
          <a:prstGeom prst="rect">
            <a:avLst/>
          </a:prstGeom>
          <a:noFill/>
          <a:ln/>
        </p:spPr>
        <p:txBody>
          <a:bodyPr wrap="square" lIns="0" tIns="0" rIns="0" bIns="0" rtlCol="0" anchor="ctr"/>
          <a:lstStyle/>
          <a:p>
            <a:pPr algn="ctr" indent="0" marL="0">
              <a:buNone/>
            </a:pPr>
            <a:r>
              <a:rPr lang="en-US" sz="1100" b="1" dirty="0">
                <a:solidFill>
                  <a:srgbClr val="262B33"/>
                </a:solidFill>
                <a:latin typeface="Calibri" pitchFamily="34" charset="0"/>
                <a:ea typeface="Calibri" pitchFamily="34" charset="-122"/>
                <a:cs typeface="Calibri" pitchFamily="34" charset="-120"/>
              </a:rPr>
              <a:t>B</a:t>
            </a:r>
            <a:endParaRPr lang="en-US" sz="1100" dirty="0"/>
          </a:p>
        </p:txBody>
      </p:sp>
      <p:sp>
        <p:nvSpPr>
          <p:cNvPr id="15" name="Shape 13"/>
          <p:cNvSpPr/>
          <p:nvPr/>
        </p:nvSpPr>
        <p:spPr>
          <a:xfrm rot="1200000">
            <a:off x="6675120" y="2148840"/>
            <a:ext cx="2011680" cy="2468880"/>
          </a:xfrm>
          <a:prstGeom prst="ellipse">
            <a:avLst/>
          </a:prstGeom>
          <a:ln w="31750">
            <a:solidFill>
              <a:srgbClr val="B3382C"/>
            </a:solidFill>
            <a:prstDash val="solid"/>
          </a:ln>
        </p:spPr>
      </p:sp>
      <p:sp>
        <p:nvSpPr>
          <p:cNvPr id="16" name="Text 14"/>
          <p:cNvSpPr/>
          <p:nvPr/>
        </p:nvSpPr>
        <p:spPr>
          <a:xfrm>
            <a:off x="7132320" y="2011680"/>
            <a:ext cx="1645920" cy="274320"/>
          </a:xfrm>
          <a:prstGeom prst="rect">
            <a:avLst/>
          </a:prstGeom>
          <a:noFill/>
          <a:ln/>
        </p:spPr>
        <p:txBody>
          <a:bodyPr wrap="square" lIns="0" tIns="0" rIns="0" bIns="0" rtlCol="0" anchor="ctr"/>
          <a:lstStyle/>
          <a:p>
            <a:pPr algn="ctr" indent="0" marL="0">
              <a:buNone/>
            </a:pPr>
            <a:r>
              <a:rPr lang="en-US" sz="850" b="1" dirty="0">
                <a:solidFill>
                  <a:srgbClr val="B3382C"/>
                </a:solidFill>
                <a:latin typeface="Calibri" pitchFamily="34" charset="0"/>
                <a:ea typeface="Calibri" pitchFamily="34" charset="-122"/>
                <a:cs typeface="Calibri" pitchFamily="34" charset="-120"/>
              </a:rPr>
              <a:t>Bm (saturation knee)</a:t>
            </a:r>
            <a:endParaRPr lang="en-US" sz="850" dirty="0"/>
          </a:p>
        </p:txBody>
      </p:sp>
      <p:sp>
        <p:nvSpPr>
          <p:cNvPr id="17" name="Text 15"/>
          <p:cNvSpPr/>
          <p:nvPr/>
        </p:nvSpPr>
        <p:spPr>
          <a:xfrm>
            <a:off x="6309360" y="3474720"/>
            <a:ext cx="640080" cy="274320"/>
          </a:xfrm>
          <a:prstGeom prst="rect">
            <a:avLst/>
          </a:prstGeom>
          <a:noFill/>
          <a:ln/>
        </p:spPr>
        <p:txBody>
          <a:bodyPr wrap="square" lIns="0" tIns="0" rIns="0" bIns="0" rtlCol="0" anchor="ctr"/>
          <a:lstStyle/>
          <a:p>
            <a:pPr algn="ctr" indent="0" marL="0">
              <a:buNone/>
            </a:pPr>
            <a:r>
              <a:rPr lang="en-US" sz="900" b="1" dirty="0">
                <a:solidFill>
                  <a:srgbClr val="6B6B6B"/>
                </a:solidFill>
                <a:latin typeface="Calibri" pitchFamily="34" charset="0"/>
                <a:ea typeface="Calibri" pitchFamily="34" charset="-122"/>
                <a:cs typeface="Calibri" pitchFamily="34" charset="-120"/>
              </a:rPr>
              <a:t>Hc</a:t>
            </a:r>
            <a:endParaRPr lang="en-US" sz="900" dirty="0"/>
          </a:p>
        </p:txBody>
      </p:sp>
      <p:sp>
        <p:nvSpPr>
          <p:cNvPr id="18" name="Text 16"/>
          <p:cNvSpPr/>
          <p:nvPr/>
        </p:nvSpPr>
        <p:spPr>
          <a:xfrm>
            <a:off x="7818120" y="3063240"/>
            <a:ext cx="731520" cy="274320"/>
          </a:xfrm>
          <a:prstGeom prst="rect">
            <a:avLst/>
          </a:prstGeom>
          <a:noFill/>
          <a:ln/>
        </p:spPr>
        <p:txBody>
          <a:bodyPr wrap="square" lIns="0" tIns="0" rIns="0" bIns="0" rtlCol="0" anchor="ctr"/>
          <a:lstStyle/>
          <a:p>
            <a:pPr algn="ctr" indent="0" marL="0">
              <a:buNone/>
            </a:pPr>
            <a:r>
              <a:rPr lang="en-US" sz="900" b="1" dirty="0">
                <a:solidFill>
                  <a:srgbClr val="6B6B6B"/>
                </a:solidFill>
                <a:latin typeface="Calibri" pitchFamily="34" charset="0"/>
                <a:ea typeface="Calibri" pitchFamily="34" charset="-122"/>
                <a:cs typeface="Calibri" pitchFamily="34" charset="-120"/>
              </a:rPr>
              <a:t>Br</a:t>
            </a:r>
            <a:endParaRPr lang="en-US" sz="900" dirty="0"/>
          </a:p>
        </p:txBody>
      </p:sp>
      <p:sp>
        <p:nvSpPr>
          <p:cNvPr id="19" name="Text 17"/>
          <p:cNvSpPr/>
          <p:nvPr/>
        </p:nvSpPr>
        <p:spPr>
          <a:xfrm>
            <a:off x="8366760" y="3886200"/>
            <a:ext cx="2377440" cy="274320"/>
          </a:xfrm>
          <a:prstGeom prst="rect">
            <a:avLst/>
          </a:prstGeom>
          <a:noFill/>
          <a:ln/>
        </p:spPr>
        <p:txBody>
          <a:bodyPr wrap="square" lIns="0" tIns="0" rIns="0" bIns="0" rtlCol="0" anchor="ctr"/>
          <a:lstStyle/>
          <a:p>
            <a:pPr algn="ctr" indent="0" marL="0">
              <a:buNone/>
            </a:pPr>
            <a:r>
              <a:rPr lang="en-US" sz="950" b="1" dirty="0">
                <a:solidFill>
                  <a:srgbClr val="B3382C"/>
                </a:solidFill>
                <a:latin typeface="Calibri" pitchFamily="34" charset="0"/>
                <a:ea typeface="Calibri" pitchFamily="34" charset="-122"/>
                <a:cs typeface="Calibri" pitchFamily="34" charset="-120"/>
              </a:rPr>
              <a:t>LOOP AREA = energy lost per cycle</a:t>
            </a:r>
            <a:endParaRPr lang="en-US" sz="950" dirty="0"/>
          </a:p>
          <a:p>
            <a:pPr algn="ctr" indent="0" marL="0">
              <a:buNone/>
            </a:pPr>
            <a:r>
              <a:rPr lang="en-US" sz="950" b="1" dirty="0">
                <a:solidFill>
                  <a:srgbClr val="B3382C"/>
                </a:solidFill>
                <a:latin typeface="Calibri" pitchFamily="34" charset="0"/>
                <a:ea typeface="Calibri" pitchFamily="34" charset="-122"/>
                <a:cs typeface="Calibri" pitchFamily="34" charset="-120"/>
              </a:rPr>
              <a:t>(as heat) = the hysteresis loss</a:t>
            </a:r>
            <a:endParaRPr lang="en-US" sz="950" dirty="0"/>
          </a:p>
        </p:txBody>
      </p:sp>
      <p:sp>
        <p:nvSpPr>
          <p:cNvPr id="20" name="Text 18"/>
          <p:cNvSpPr/>
          <p:nvPr/>
        </p:nvSpPr>
        <p:spPr>
          <a:xfrm>
            <a:off x="5852160" y="4572000"/>
            <a:ext cx="5760720" cy="365760"/>
          </a:xfrm>
          <a:prstGeom prst="rect">
            <a:avLst/>
          </a:prstGeom>
          <a:noFill/>
          <a:ln/>
        </p:spPr>
        <p:txBody>
          <a:bodyPr wrap="square" lIns="0" tIns="0" rIns="0" bIns="0" rtlCol="0" anchor="ctr"/>
          <a:lstStyle/>
          <a:p>
            <a:pPr algn="ctr" indent="0" marL="0">
              <a:buNone/>
            </a:pPr>
            <a:r>
              <a:rPr lang="en-US" sz="1000" i="1" dirty="0">
                <a:solidFill>
                  <a:srgbClr val="6B6B6B"/>
                </a:solidFill>
                <a:latin typeface="Calibri" pitchFamily="34" charset="0"/>
                <a:ea typeface="Calibri" pitchFamily="34" charset="-122"/>
                <a:cs typeface="Calibri" pitchFamily="34" charset="-120"/>
              </a:rPr>
              <a:t>B-H hysteresis loop. Narrower loop (CRGO/silicon steel) = smaller area = smaller P_h.</a:t>
            </a:r>
            <a:endParaRPr lang="en-US" sz="1000" dirty="0"/>
          </a:p>
        </p:txBody>
      </p:sp>
      <p:sp>
        <p:nvSpPr>
          <p:cNvPr id="21" name="Text 19"/>
          <p:cNvSpPr/>
          <p:nvPr/>
        </p:nvSpPr>
        <p:spPr>
          <a:xfrm>
            <a:off x="457200" y="6263640"/>
            <a:ext cx="11247120" cy="411480"/>
          </a:xfrm>
          <a:prstGeom prst="rect">
            <a:avLst/>
          </a:prstGeom>
          <a:noFill/>
          <a:ln/>
        </p:spPr>
        <p:txBody>
          <a:bodyPr wrap="square" lIns="0" tIns="0" rIns="0" bIns="0" rtlCol="0" anchor="ctr"/>
          <a:lstStyle/>
          <a:p>
            <a:pPr indent="0" marL="0">
              <a:buNone/>
            </a:pPr>
            <a:r>
              <a:rPr lang="en-US" sz="1200" b="1" i="1" dirty="0">
                <a:solidFill>
                  <a:srgbClr val="5C2E1A"/>
                </a:solidFill>
                <a:latin typeface="Cambria" pitchFamily="34" charset="0"/>
                <a:ea typeface="Cambria" pitchFamily="34" charset="-122"/>
                <a:cs typeface="Cambria" pitchFamily="34" charset="-120"/>
              </a:rPr>
              <a:t>One-line conclusion: copper follows the load current squared; iron follows voltage and frequency and stays flat. Static machine: no mechanical loss.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2800" b="1" dirty="0">
                <a:solidFill>
                  <a:srgbClr val="8C4A2F"/>
                </a:solidFill>
                <a:latin typeface="Cambria" pitchFamily="34" charset="0"/>
                <a:ea typeface="Cambria" pitchFamily="34" charset="-122"/>
                <a:cs typeface="Cambria" pitchFamily="34" charset="-120"/>
              </a:rPr>
              <a:t>Reducing the losses, and why transformers are rated in kVA</a:t>
            </a:r>
            <a:endParaRPr lang="en-US" sz="2800" dirty="0"/>
          </a:p>
        </p:txBody>
      </p:sp>
      <p:sp>
        <p:nvSpPr>
          <p:cNvPr id="3" name="Shape 1"/>
          <p:cNvSpPr/>
          <p:nvPr/>
        </p:nvSpPr>
        <p:spPr>
          <a:xfrm>
            <a:off x="457200" y="914400"/>
            <a:ext cx="3291840" cy="292608"/>
          </a:xfrm>
          <a:prstGeom prst="roundRect">
            <a:avLst>
              <a:gd name="adj" fmla="val 50000"/>
            </a:avLst>
          </a:prstGeom>
          <a:solidFill>
            <a:srgbClr val="8C4A2F"/>
          </a:solidFill>
          <a:ln/>
        </p:spPr>
      </p:sp>
      <p:sp>
        <p:nvSpPr>
          <p:cNvPr id="4" name="Text 2"/>
          <p:cNvSpPr/>
          <p:nvPr/>
        </p:nvSpPr>
        <p:spPr>
          <a:xfrm>
            <a:off x="457200" y="914400"/>
            <a:ext cx="329184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mbria" pitchFamily="34" charset="0"/>
                <a:ea typeface="Cambria" pitchFamily="34" charset="-122"/>
                <a:cs typeface="Cambria" pitchFamily="34" charset="-120"/>
              </a:rPr>
              <a:t>ROTE 3  |  REDUCE + RATING</a:t>
            </a:r>
            <a:endParaRPr lang="en-US" sz="1100" dirty="0"/>
          </a:p>
        </p:txBody>
      </p:sp>
      <p:sp>
        <p:nvSpPr>
          <p:cNvPr id="5" name="Shape 3"/>
          <p:cNvSpPr/>
          <p:nvPr/>
        </p:nvSpPr>
        <p:spPr>
          <a:xfrm>
            <a:off x="457200" y="1417320"/>
            <a:ext cx="4937760" cy="3383280"/>
          </a:xfrm>
          <a:prstGeom prst="roundRect">
            <a:avLst>
              <a:gd name="adj" fmla="val 2162"/>
            </a:avLst>
          </a:prstGeom>
          <a:solidFill>
            <a:srgbClr val="FFFFFF"/>
          </a:solidFill>
          <a:ln/>
          <a:effectLst>
            <a:outerShdw sx="100000" sy="100000" kx="0" ky="0" algn="bl" rotWithShape="0" blurRad="38100" dist="12700" dir="5400000">
              <a:srgbClr val="BBBBBB">
                <a:alpha val="35000"/>
              </a:srgbClr>
            </a:outerShdw>
          </a:effectLst>
        </p:spPr>
      </p:sp>
      <p:sp>
        <p:nvSpPr>
          <p:cNvPr id="6" name="Shape 4"/>
          <p:cNvSpPr/>
          <p:nvPr/>
        </p:nvSpPr>
        <p:spPr>
          <a:xfrm>
            <a:off x="1097280" y="4297680"/>
            <a:ext cx="3840480" cy="0"/>
          </a:xfrm>
          <a:prstGeom prst="line">
            <a:avLst/>
          </a:prstGeom>
          <a:noFill/>
          <a:ln w="19050">
            <a:solidFill>
              <a:srgbClr val="262B33"/>
            </a:solidFill>
            <a:prstDash val="solid"/>
          </a:ln>
        </p:spPr>
      </p:sp>
      <p:sp>
        <p:nvSpPr>
          <p:cNvPr id="7" name="Shape 5"/>
          <p:cNvSpPr/>
          <p:nvPr/>
        </p:nvSpPr>
        <p:spPr>
          <a:xfrm>
            <a:off x="1097280" y="1920240"/>
            <a:ext cx="0" cy="2377440"/>
          </a:xfrm>
          <a:prstGeom prst="line">
            <a:avLst/>
          </a:prstGeom>
          <a:noFill/>
          <a:ln w="19050">
            <a:solidFill>
              <a:srgbClr val="262B33"/>
            </a:solidFill>
            <a:prstDash val="solid"/>
          </a:ln>
        </p:spPr>
      </p:sp>
      <p:sp>
        <p:nvSpPr>
          <p:cNvPr id="8" name="Shape 6"/>
          <p:cNvSpPr/>
          <p:nvPr/>
        </p:nvSpPr>
        <p:spPr>
          <a:xfrm>
            <a:off x="4937760" y="4297680"/>
            <a:ext cx="137160" cy="0"/>
          </a:xfrm>
          <a:prstGeom prst="line">
            <a:avLst/>
          </a:prstGeom>
          <a:noFill/>
          <a:ln w="25400">
            <a:solidFill>
              <a:srgbClr val="262B33"/>
            </a:solidFill>
            <a:prstDash val="solid"/>
            <a:tailEnd type="triangle"/>
          </a:ln>
        </p:spPr>
      </p:sp>
      <p:sp>
        <p:nvSpPr>
          <p:cNvPr id="9" name="Shape 7"/>
          <p:cNvSpPr/>
          <p:nvPr/>
        </p:nvSpPr>
        <p:spPr>
          <a:xfrm>
            <a:off x="1097280" y="1783080"/>
            <a:ext cx="0" cy="137160"/>
          </a:xfrm>
          <a:prstGeom prst="line">
            <a:avLst/>
          </a:prstGeom>
          <a:noFill/>
          <a:ln w="25400">
            <a:solidFill>
              <a:srgbClr val="262B33"/>
            </a:solidFill>
            <a:prstDash val="solid"/>
            <a:tailEnd type="triangle"/>
          </a:ln>
        </p:spPr>
      </p:sp>
      <p:sp>
        <p:nvSpPr>
          <p:cNvPr id="10" name="Text 8"/>
          <p:cNvSpPr/>
          <p:nvPr/>
        </p:nvSpPr>
        <p:spPr>
          <a:xfrm>
            <a:off x="4206240" y="4370832"/>
            <a:ext cx="1280160" cy="274320"/>
          </a:xfrm>
          <a:prstGeom prst="rect">
            <a:avLst/>
          </a:prstGeom>
          <a:noFill/>
          <a:ln/>
        </p:spPr>
        <p:txBody>
          <a:bodyPr wrap="square" lIns="0" tIns="0" rIns="0" bIns="0" rtlCol="0" anchor="ctr"/>
          <a:lstStyle/>
          <a:p>
            <a:pPr algn="ctr" indent="0" marL="0">
              <a:buNone/>
            </a:pPr>
            <a:r>
              <a:rPr lang="en-US" sz="900" dirty="0">
                <a:solidFill>
                  <a:srgbClr val="6B6B6B"/>
                </a:solidFill>
                <a:latin typeface="Calibri" pitchFamily="34" charset="0"/>
                <a:ea typeface="Calibri" pitchFamily="34" charset="-122"/>
                <a:cs typeface="Calibri" pitchFamily="34" charset="-120"/>
              </a:rPr>
              <a:t>load current I</a:t>
            </a:r>
            <a:endParaRPr lang="en-US" sz="900" dirty="0"/>
          </a:p>
        </p:txBody>
      </p:sp>
      <p:sp>
        <p:nvSpPr>
          <p:cNvPr id="11" name="Text 9"/>
          <p:cNvSpPr/>
          <p:nvPr/>
        </p:nvSpPr>
        <p:spPr>
          <a:xfrm>
            <a:off x="960120" y="1600200"/>
            <a:ext cx="1280160" cy="274320"/>
          </a:xfrm>
          <a:prstGeom prst="rect">
            <a:avLst/>
          </a:prstGeom>
          <a:noFill/>
          <a:ln/>
        </p:spPr>
        <p:txBody>
          <a:bodyPr wrap="square" lIns="0" tIns="0" rIns="0" bIns="0" rtlCol="0" anchor="ctr"/>
          <a:lstStyle/>
          <a:p>
            <a:pPr algn="ctr" indent="0" marL="0">
              <a:buNone/>
            </a:pPr>
            <a:r>
              <a:rPr lang="en-US" sz="900" dirty="0">
                <a:solidFill>
                  <a:srgbClr val="6B6B6B"/>
                </a:solidFill>
                <a:latin typeface="Calibri" pitchFamily="34" charset="0"/>
                <a:ea typeface="Calibri" pitchFamily="34" charset="-122"/>
                <a:cs typeface="Calibri" pitchFamily="34" charset="-120"/>
              </a:rPr>
              <a:t>loss (W)</a:t>
            </a:r>
            <a:endParaRPr lang="en-US" sz="900" dirty="0"/>
          </a:p>
        </p:txBody>
      </p:sp>
      <p:sp>
        <p:nvSpPr>
          <p:cNvPr id="12" name="Shape 10"/>
          <p:cNvSpPr/>
          <p:nvPr/>
        </p:nvSpPr>
        <p:spPr>
          <a:xfrm>
            <a:off x="1097280" y="3383280"/>
            <a:ext cx="3566160" cy="0"/>
          </a:xfrm>
          <a:prstGeom prst="line">
            <a:avLst/>
          </a:prstGeom>
          <a:noFill/>
          <a:ln w="25400">
            <a:solidFill>
              <a:srgbClr val="8C4A2F"/>
            </a:solidFill>
            <a:prstDash val="solid"/>
          </a:ln>
        </p:spPr>
      </p:sp>
      <p:sp>
        <p:nvSpPr>
          <p:cNvPr id="13" name="Shape 11"/>
          <p:cNvSpPr/>
          <p:nvPr/>
        </p:nvSpPr>
        <p:spPr>
          <a:xfrm flipH="1">
            <a:off x="1097280" y="4224528"/>
            <a:ext cx="914400" cy="73152"/>
          </a:xfrm>
          <a:prstGeom prst="line">
            <a:avLst/>
          </a:prstGeom>
          <a:noFill/>
          <a:ln w="25400">
            <a:solidFill>
              <a:srgbClr val="444444"/>
            </a:solidFill>
            <a:prstDash val="solid"/>
          </a:ln>
        </p:spPr>
      </p:sp>
      <p:sp>
        <p:nvSpPr>
          <p:cNvPr id="14" name="Shape 12"/>
          <p:cNvSpPr/>
          <p:nvPr/>
        </p:nvSpPr>
        <p:spPr>
          <a:xfrm flipH="1">
            <a:off x="2011680" y="3977640"/>
            <a:ext cx="914400" cy="246888"/>
          </a:xfrm>
          <a:prstGeom prst="line">
            <a:avLst/>
          </a:prstGeom>
          <a:noFill/>
          <a:ln w="25400">
            <a:solidFill>
              <a:srgbClr val="444444"/>
            </a:solidFill>
            <a:prstDash val="solid"/>
          </a:ln>
        </p:spPr>
      </p:sp>
      <p:sp>
        <p:nvSpPr>
          <p:cNvPr id="15" name="Shape 13"/>
          <p:cNvSpPr/>
          <p:nvPr/>
        </p:nvSpPr>
        <p:spPr>
          <a:xfrm flipH="1">
            <a:off x="2926080" y="3566160"/>
            <a:ext cx="914400" cy="411480"/>
          </a:xfrm>
          <a:prstGeom prst="line">
            <a:avLst/>
          </a:prstGeom>
          <a:noFill/>
          <a:ln w="25400">
            <a:solidFill>
              <a:srgbClr val="444444"/>
            </a:solidFill>
            <a:prstDash val="solid"/>
          </a:ln>
        </p:spPr>
      </p:sp>
      <p:sp>
        <p:nvSpPr>
          <p:cNvPr id="16" name="Shape 14"/>
          <p:cNvSpPr/>
          <p:nvPr/>
        </p:nvSpPr>
        <p:spPr>
          <a:xfrm flipH="1">
            <a:off x="3840480" y="2971800"/>
            <a:ext cx="822960" cy="594360"/>
          </a:xfrm>
          <a:prstGeom prst="line">
            <a:avLst/>
          </a:prstGeom>
          <a:noFill/>
          <a:ln w="25400">
            <a:solidFill>
              <a:srgbClr val="444444"/>
            </a:solidFill>
            <a:prstDash val="solid"/>
          </a:ln>
        </p:spPr>
      </p:sp>
      <p:sp>
        <p:nvSpPr>
          <p:cNvPr id="17" name="Shape 15"/>
          <p:cNvSpPr/>
          <p:nvPr/>
        </p:nvSpPr>
        <p:spPr>
          <a:xfrm flipH="1">
            <a:off x="1097280" y="3310128"/>
            <a:ext cx="914400" cy="73152"/>
          </a:xfrm>
          <a:prstGeom prst="line">
            <a:avLst/>
          </a:prstGeom>
          <a:noFill/>
          <a:ln w="28575">
            <a:solidFill>
              <a:srgbClr val="B3382C"/>
            </a:solidFill>
            <a:prstDash val="solid"/>
          </a:ln>
        </p:spPr>
      </p:sp>
      <p:sp>
        <p:nvSpPr>
          <p:cNvPr id="18" name="Shape 16"/>
          <p:cNvSpPr/>
          <p:nvPr/>
        </p:nvSpPr>
        <p:spPr>
          <a:xfrm flipH="1">
            <a:off x="2011680" y="3063240"/>
            <a:ext cx="914400" cy="246888"/>
          </a:xfrm>
          <a:prstGeom prst="line">
            <a:avLst/>
          </a:prstGeom>
          <a:noFill/>
          <a:ln w="28575">
            <a:solidFill>
              <a:srgbClr val="B3382C"/>
            </a:solidFill>
            <a:prstDash val="solid"/>
          </a:ln>
        </p:spPr>
      </p:sp>
      <p:sp>
        <p:nvSpPr>
          <p:cNvPr id="19" name="Shape 17"/>
          <p:cNvSpPr/>
          <p:nvPr/>
        </p:nvSpPr>
        <p:spPr>
          <a:xfrm flipH="1">
            <a:off x="2926080" y="2651760"/>
            <a:ext cx="914400" cy="411480"/>
          </a:xfrm>
          <a:prstGeom prst="line">
            <a:avLst/>
          </a:prstGeom>
          <a:noFill/>
          <a:ln w="28575">
            <a:solidFill>
              <a:srgbClr val="B3382C"/>
            </a:solidFill>
            <a:prstDash val="solid"/>
          </a:ln>
        </p:spPr>
      </p:sp>
      <p:sp>
        <p:nvSpPr>
          <p:cNvPr id="20" name="Shape 18"/>
          <p:cNvSpPr/>
          <p:nvPr/>
        </p:nvSpPr>
        <p:spPr>
          <a:xfrm flipH="1">
            <a:off x="3840480" y="2057400"/>
            <a:ext cx="822960" cy="594360"/>
          </a:xfrm>
          <a:prstGeom prst="line">
            <a:avLst/>
          </a:prstGeom>
          <a:noFill/>
          <a:ln w="28575">
            <a:solidFill>
              <a:srgbClr val="B3382C"/>
            </a:solidFill>
            <a:prstDash val="solid"/>
          </a:ln>
        </p:spPr>
      </p:sp>
      <p:sp>
        <p:nvSpPr>
          <p:cNvPr id="21" name="Text 19"/>
          <p:cNvSpPr/>
          <p:nvPr/>
        </p:nvSpPr>
        <p:spPr>
          <a:xfrm>
            <a:off x="3383280" y="3127248"/>
            <a:ext cx="1737360" cy="274320"/>
          </a:xfrm>
          <a:prstGeom prst="rect">
            <a:avLst/>
          </a:prstGeom>
          <a:noFill/>
          <a:ln/>
        </p:spPr>
        <p:txBody>
          <a:bodyPr wrap="square" lIns="0" tIns="0" rIns="0" bIns="0" rtlCol="0" anchor="ctr"/>
          <a:lstStyle/>
          <a:p>
            <a:pPr algn="ctr" indent="0" marL="0">
              <a:buNone/>
            </a:pPr>
            <a:r>
              <a:rPr lang="en-US" sz="900" b="1" dirty="0">
                <a:solidFill>
                  <a:srgbClr val="8C4A2F"/>
                </a:solidFill>
                <a:latin typeface="Calibri" pitchFamily="34" charset="0"/>
                <a:ea typeface="Calibri" pitchFamily="34" charset="-122"/>
                <a:cs typeface="Calibri" pitchFamily="34" charset="-120"/>
              </a:rPr>
              <a:t>Pi = constant (iron)</a:t>
            </a:r>
            <a:endParaRPr lang="en-US" sz="900" dirty="0"/>
          </a:p>
        </p:txBody>
      </p:sp>
      <p:sp>
        <p:nvSpPr>
          <p:cNvPr id="22" name="Text 20"/>
          <p:cNvSpPr/>
          <p:nvPr/>
        </p:nvSpPr>
        <p:spPr>
          <a:xfrm>
            <a:off x="3200400" y="3840480"/>
            <a:ext cx="1737360" cy="274320"/>
          </a:xfrm>
          <a:prstGeom prst="rect">
            <a:avLst/>
          </a:prstGeom>
          <a:noFill/>
          <a:ln/>
        </p:spPr>
        <p:txBody>
          <a:bodyPr wrap="square" lIns="0" tIns="0" rIns="0" bIns="0" rtlCol="0" anchor="ctr"/>
          <a:lstStyle/>
          <a:p>
            <a:pPr algn="ctr" indent="0" marL="0">
              <a:buNone/>
            </a:pPr>
            <a:r>
              <a:rPr lang="en-US" sz="900" b="1" dirty="0">
                <a:solidFill>
                  <a:srgbClr val="444444"/>
                </a:solidFill>
                <a:latin typeface="Calibri" pitchFamily="34" charset="0"/>
                <a:ea typeface="Calibri" pitchFamily="34" charset="-122"/>
                <a:cs typeface="Calibri" pitchFamily="34" charset="-120"/>
              </a:rPr>
              <a:t>Pcu = I^2 R (parabola)</a:t>
            </a:r>
            <a:endParaRPr lang="en-US" sz="900" dirty="0"/>
          </a:p>
        </p:txBody>
      </p:sp>
      <p:sp>
        <p:nvSpPr>
          <p:cNvPr id="23" name="Text 21"/>
          <p:cNvSpPr/>
          <p:nvPr/>
        </p:nvSpPr>
        <p:spPr>
          <a:xfrm>
            <a:off x="2834640" y="1783080"/>
            <a:ext cx="1463040" cy="274320"/>
          </a:xfrm>
          <a:prstGeom prst="rect">
            <a:avLst/>
          </a:prstGeom>
          <a:noFill/>
          <a:ln/>
        </p:spPr>
        <p:txBody>
          <a:bodyPr wrap="square" lIns="0" tIns="0" rIns="0" bIns="0" rtlCol="0" anchor="ctr"/>
          <a:lstStyle/>
          <a:p>
            <a:pPr algn="ctr" indent="0" marL="0">
              <a:buNone/>
            </a:pPr>
            <a:r>
              <a:rPr lang="en-US" sz="900" b="1" dirty="0">
                <a:solidFill>
                  <a:srgbClr val="B3382C"/>
                </a:solidFill>
                <a:latin typeface="Calibri" pitchFamily="34" charset="0"/>
                <a:ea typeface="Calibri" pitchFamily="34" charset="-122"/>
                <a:cs typeface="Calibri" pitchFamily="34" charset="-120"/>
              </a:rPr>
              <a:t>total loss</a:t>
            </a:r>
            <a:endParaRPr lang="en-US" sz="900" dirty="0"/>
          </a:p>
        </p:txBody>
      </p:sp>
      <p:sp>
        <p:nvSpPr>
          <p:cNvPr id="24" name="Text 22"/>
          <p:cNvSpPr/>
          <p:nvPr/>
        </p:nvSpPr>
        <p:spPr>
          <a:xfrm>
            <a:off x="548640" y="4846320"/>
            <a:ext cx="4754880" cy="365760"/>
          </a:xfrm>
          <a:prstGeom prst="rect">
            <a:avLst/>
          </a:prstGeom>
          <a:noFill/>
          <a:ln/>
        </p:spPr>
        <p:txBody>
          <a:bodyPr wrap="square" lIns="0" tIns="0" rIns="0" bIns="0" rtlCol="0" anchor="ctr"/>
          <a:lstStyle/>
          <a:p>
            <a:pPr algn="ctr" indent="0" marL="0">
              <a:buNone/>
            </a:pPr>
            <a:r>
              <a:rPr lang="en-US" sz="1000" i="1" dirty="0">
                <a:solidFill>
                  <a:srgbClr val="6B6B6B"/>
                </a:solidFill>
                <a:latin typeface="Calibri" pitchFamily="34" charset="0"/>
                <a:ea typeface="Calibri" pitchFamily="34" charset="-122"/>
                <a:cs typeface="Calibri" pitchFamily="34" charset="-120"/>
              </a:rPr>
              <a:t>Losses vs load: iron flat, copper quadratic. Efficiency peaks where Pcu = Pi (that is N07).</a:t>
            </a:r>
            <a:endParaRPr lang="en-US" sz="1000" dirty="0"/>
          </a:p>
        </p:txBody>
      </p:sp>
      <p:sp>
        <p:nvSpPr>
          <p:cNvPr id="25" name="Shape 23"/>
          <p:cNvSpPr/>
          <p:nvPr/>
        </p:nvSpPr>
        <p:spPr>
          <a:xfrm>
            <a:off x="5577840" y="1417320"/>
            <a:ext cx="6126480" cy="2103120"/>
          </a:xfrm>
          <a:prstGeom prst="roundRect">
            <a:avLst>
              <a:gd name="adj" fmla="val 3478"/>
            </a:avLst>
          </a:prstGeom>
          <a:solidFill>
            <a:srgbClr val="EDE7E0"/>
          </a:solidFill>
          <a:ln/>
          <a:effectLst>
            <a:outerShdw sx="100000" sy="100000" kx="0" ky="0" algn="bl" rotWithShape="0" blurRad="38100" dist="12700" dir="5400000">
              <a:srgbClr val="BBBBBB">
                <a:alpha val="35000"/>
              </a:srgbClr>
            </a:outerShdw>
          </a:effectLst>
        </p:spPr>
      </p:sp>
      <p:sp>
        <p:nvSpPr>
          <p:cNvPr id="26" name="Text 24"/>
          <p:cNvSpPr/>
          <p:nvPr/>
        </p:nvSpPr>
        <p:spPr>
          <a:xfrm>
            <a:off x="5760720" y="1536192"/>
            <a:ext cx="5760720" cy="1874520"/>
          </a:xfrm>
          <a:prstGeom prst="rect">
            <a:avLst/>
          </a:prstGeom>
          <a:noFill/>
          <a:ln/>
        </p:spPr>
        <p:txBody>
          <a:bodyPr wrap="square" lIns="0" tIns="0" rIns="0" bIns="0" rtlCol="0" anchor="t"/>
          <a:lstStyle/>
          <a:p>
            <a:pPr indent="0" marL="0">
              <a:buNone/>
            </a:pPr>
            <a:r>
              <a:rPr lang="en-US" sz="1300" b="1" dirty="0">
                <a:solidFill>
                  <a:srgbClr val="8C4A2F"/>
                </a:solidFill>
                <a:latin typeface="Calibri" pitchFamily="34" charset="0"/>
                <a:ea typeface="Calibri" pitchFamily="34" charset="-122"/>
                <a:cs typeface="Calibri" pitchFamily="34" charset="-120"/>
              </a:rPr>
              <a:t>HOW TO REDUCE (A1-20 marks live here)
</a:t>
            </a:r>
            <a:endParaRPr lang="en-US" sz="1150" dirty="0"/>
          </a:p>
          <a:p>
            <a:pPr marL="342900" indent="-3429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Hysteresis loss: use CRGO / silicon steel (narrow B-H loop, less energy per cycle).</a:t>
            </a:r>
            <a:endParaRPr lang="en-US" sz="1150" dirty="0"/>
          </a:p>
          <a:p>
            <a:pPr marL="342900" indent="-3429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Eddy-current loss: laminated core (insulated sheets 0.27-0.35 mm). Loss falls with t^2.</a:t>
            </a:r>
            <a:endParaRPr lang="en-US" sz="1150" dirty="0"/>
          </a:p>
          <a:p>
            <a:pPr marL="342900" indent="-342900">
              <a:spcAft>
                <a:spcPts val="300"/>
              </a:spcAft>
              <a:buSzPct val="100000"/>
              <a:buChar char="•"/>
            </a:pPr>
            <a:r>
              <a:rPr lang="en-US" sz="1150" dirty="0">
                <a:solidFill>
                  <a:srgbClr val="2B2B2B"/>
                </a:solidFill>
                <a:latin typeface="Calibri" pitchFamily="34" charset="0"/>
                <a:ea typeface="Calibri" pitchFamily="34" charset="-122"/>
                <a:cs typeface="Calibri" pitchFamily="34" charset="-120"/>
              </a:rPr>
              <a:t>Copper loss: use thicker conductors (lower R); keep windings short (lower mean turn length).</a:t>
            </a:r>
            <a:endParaRPr lang="en-US" sz="1150" dirty="0"/>
          </a:p>
          <a:p>
            <a:pPr marL="342900" indent="-342900">
              <a:buSzPct val="100000"/>
              <a:buChar char="•"/>
            </a:pPr>
            <a:r>
              <a:rPr lang="en-US" sz="1150" dirty="0">
                <a:solidFill>
                  <a:srgbClr val="2B2B2B"/>
                </a:solidFill>
                <a:latin typeface="Calibri" pitchFamily="34" charset="0"/>
                <a:ea typeface="Calibri" pitchFamily="34" charset="-122"/>
                <a:cs typeface="Calibri" pitchFamily="34" charset="-120"/>
              </a:rPr>
              <a:t>Stray: careful winding/flux-path design + magnetic shielding.</a:t>
            </a:r>
            <a:endParaRPr lang="en-US" sz="1150" dirty="0"/>
          </a:p>
        </p:txBody>
      </p:sp>
      <p:sp>
        <p:nvSpPr>
          <p:cNvPr id="27" name="Shape 25"/>
          <p:cNvSpPr/>
          <p:nvPr/>
        </p:nvSpPr>
        <p:spPr>
          <a:xfrm>
            <a:off x="5577840" y="3703320"/>
            <a:ext cx="6126480" cy="1920240"/>
          </a:xfrm>
          <a:prstGeom prst="roundRect">
            <a:avLst>
              <a:gd name="adj" fmla="val 3810"/>
            </a:avLst>
          </a:prstGeom>
          <a:solidFill>
            <a:srgbClr val="F6F4F1"/>
          </a:solidFill>
          <a:ln/>
          <a:effectLst>
            <a:outerShdw sx="100000" sy="100000" kx="0" ky="0" algn="bl" rotWithShape="0" blurRad="38100" dist="12700" dir="5400000">
              <a:srgbClr val="BBBBBB">
                <a:alpha val="35000"/>
              </a:srgbClr>
            </a:outerShdw>
          </a:effectLst>
        </p:spPr>
      </p:sp>
      <p:sp>
        <p:nvSpPr>
          <p:cNvPr id="28" name="Text 26"/>
          <p:cNvSpPr/>
          <p:nvPr/>
        </p:nvSpPr>
        <p:spPr>
          <a:xfrm>
            <a:off x="5760720" y="3822192"/>
            <a:ext cx="5760720" cy="1691640"/>
          </a:xfrm>
          <a:prstGeom prst="rect">
            <a:avLst/>
          </a:prstGeom>
          <a:noFill/>
          <a:ln/>
        </p:spPr>
        <p:txBody>
          <a:bodyPr wrap="square" lIns="0" tIns="0" rIns="0" bIns="0" rtlCol="0" anchor="t"/>
          <a:lstStyle/>
          <a:p>
            <a:pPr indent="0" marL="0">
              <a:buNone/>
            </a:pPr>
            <a:r>
              <a:rPr lang="en-US" sz="1300" b="1" dirty="0">
                <a:solidFill>
                  <a:srgbClr val="B3382C"/>
                </a:solidFill>
                <a:latin typeface="Calibri" pitchFamily="34" charset="0"/>
                <a:ea typeface="Calibri" pitchFamily="34" charset="-122"/>
                <a:cs typeface="Calibri" pitchFamily="34" charset="-120"/>
              </a:rPr>
              <a:t>WHY kVA AND NOT kW (A1-19)
</a:t>
            </a:r>
            <a:endParaRPr lang="en-US" sz="1300" dirty="0"/>
          </a:p>
          <a:p>
            <a:pPr indent="0" marL="0">
              <a:buNone/>
            </a:pPr>
            <a:r>
              <a:rPr lang="en-US" sz="1200" dirty="0">
                <a:solidFill>
                  <a:srgbClr val="2B2B2B"/>
                </a:solidFill>
                <a:latin typeface="Calibri" pitchFamily="34" charset="0"/>
                <a:ea typeface="Calibri" pitchFamily="34" charset="-122"/>
                <a:cs typeface="Calibri" pitchFamily="34" charset="-120"/>
              </a:rPr>
              <a:t>Core loss depends mainly on VOLTAGE. Copper loss depends mainly on CURRENT. Neither loss knows the load power factor. But kW = kVA x pf, so if the manufacturer rated in kW, the safe kVA would depend on the customer's pf. Rating in kVA keeps the temperature rise safe for ANY pf the user connects.</a:t>
            </a:r>
            <a:endParaRPr lang="en-US" sz="1300" dirty="0"/>
          </a:p>
        </p:txBody>
      </p:sp>
      <p:sp>
        <p:nvSpPr>
          <p:cNvPr id="29" name="Text 27"/>
          <p:cNvSpPr/>
          <p:nvPr/>
        </p:nvSpPr>
        <p:spPr>
          <a:xfrm>
            <a:off x="457200" y="5897880"/>
            <a:ext cx="11247120" cy="457200"/>
          </a:xfrm>
          <a:prstGeom prst="rect">
            <a:avLst/>
          </a:prstGeom>
          <a:noFill/>
          <a:ln/>
        </p:spPr>
        <p:txBody>
          <a:bodyPr wrap="square" lIns="0" tIns="0" rIns="0" bIns="0" rtlCol="0" anchor="ctr"/>
          <a:lstStyle/>
          <a:p>
            <a:pPr indent="0" marL="0">
              <a:buNone/>
            </a:pPr>
            <a:r>
              <a:rPr lang="en-US" sz="1250" b="1" i="1" dirty="0">
                <a:solidFill>
                  <a:srgbClr val="8C4A2F"/>
                </a:solidFill>
                <a:latin typeface="Cambria" pitchFamily="34" charset="0"/>
                <a:ea typeface="Cambria" pitchFamily="34" charset="-122"/>
                <a:cs typeface="Cambria" pitchFamily="34" charset="-120"/>
              </a:rPr>
              <a:t>One-line conclusion: iron fixed by V and f, copper by I squared, so the honest rating is kVA.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indent="0" marL="0">
              <a:buNone/>
            </a:pPr>
            <a:r>
              <a:rPr lang="en-US" sz="2800" b="1" dirty="0">
                <a:solidFill>
                  <a:srgbClr val="8C4A2F"/>
                </a:solidFill>
                <a:latin typeface="Cambria" pitchFamily="34" charset="0"/>
                <a:ea typeface="Cambria" pitchFamily="34" charset="-122"/>
                <a:cs typeface="Cambria" pitchFamily="34" charset="-120"/>
              </a:rPr>
              <a:t>A1-01: the model answer you reproduce</a:t>
            </a:r>
            <a:endParaRPr lang="en-US" sz="2800" dirty="0"/>
          </a:p>
        </p:txBody>
      </p:sp>
      <p:sp>
        <p:nvSpPr>
          <p:cNvPr id="3" name="Shape 1"/>
          <p:cNvSpPr/>
          <p:nvPr/>
        </p:nvSpPr>
        <p:spPr>
          <a:xfrm>
            <a:off x="457200" y="914400"/>
            <a:ext cx="3017520" cy="292608"/>
          </a:xfrm>
          <a:prstGeom prst="roundRect">
            <a:avLst>
              <a:gd name="adj" fmla="val 50000"/>
            </a:avLst>
          </a:prstGeom>
          <a:solidFill>
            <a:srgbClr val="8C4A2F"/>
          </a:solidFill>
          <a:ln/>
        </p:spPr>
      </p:sp>
      <p:sp>
        <p:nvSpPr>
          <p:cNvPr id="4" name="Text 2"/>
          <p:cNvSpPr/>
          <p:nvPr/>
        </p:nvSpPr>
        <p:spPr>
          <a:xfrm>
            <a:off x="457200" y="914400"/>
            <a:ext cx="301752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mbria" pitchFamily="34" charset="0"/>
                <a:ea typeface="Cambria" pitchFamily="34" charset="-122"/>
                <a:cs typeface="Cambria" pitchFamily="34" charset="-120"/>
              </a:rPr>
              <a:t>WORKED  |  FULL ANSWER</a:t>
            </a:r>
            <a:endParaRPr lang="en-US" sz="1100" dirty="0"/>
          </a:p>
        </p:txBody>
      </p:sp>
      <p:sp>
        <p:nvSpPr>
          <p:cNvPr id="5" name="Shape 3"/>
          <p:cNvSpPr/>
          <p:nvPr/>
        </p:nvSpPr>
        <p:spPr>
          <a:xfrm>
            <a:off x="457200" y="1371600"/>
            <a:ext cx="11247120" cy="4572000"/>
          </a:xfrm>
          <a:prstGeom prst="roundRect">
            <a:avLst>
              <a:gd name="adj" fmla="val 1600"/>
            </a:avLst>
          </a:prstGeom>
          <a:solidFill>
            <a:srgbClr val="FFFFFF"/>
          </a:solidFill>
          <a:ln/>
          <a:effectLst>
            <a:outerShdw sx="100000" sy="100000" kx="0" ky="0" algn="bl" rotWithShape="0" blurRad="38100" dist="12700" dir="5400000">
              <a:srgbClr val="BBBBBB">
                <a:alpha val="35000"/>
              </a:srgbClr>
            </a:outerShdw>
          </a:effectLst>
        </p:spPr>
      </p:sp>
      <p:sp>
        <p:nvSpPr>
          <p:cNvPr id="6" name="Text 4"/>
          <p:cNvSpPr/>
          <p:nvPr/>
        </p:nvSpPr>
        <p:spPr>
          <a:xfrm>
            <a:off x="640080" y="1463040"/>
            <a:ext cx="10881360" cy="4389120"/>
          </a:xfrm>
          <a:prstGeom prst="rect">
            <a:avLst/>
          </a:prstGeom>
          <a:noFill/>
          <a:ln/>
        </p:spPr>
        <p:txBody>
          <a:bodyPr wrap="square" lIns="0" tIns="0" rIns="0" bIns="0" rtlCol="0" anchor="t"/>
          <a:lstStyle/>
          <a:p>
            <a:pPr indent="0" marL="0">
              <a:buNone/>
            </a:pPr>
            <a:r>
              <a:rPr lang="en-US" sz="1400" b="1" dirty="0">
                <a:solidFill>
                  <a:srgbClr val="262B33"/>
                </a:solidFill>
                <a:latin typeface="Calibri" pitchFamily="34" charset="0"/>
                <a:ea typeface="Calibri" pitchFamily="34" charset="-122"/>
                <a:cs typeface="Calibri" pitchFamily="34" charset="-120"/>
              </a:rPr>
              <a:t>Q: Explain the construction and working of a single phase transformer.
</a:t>
            </a:r>
            <a:endParaRPr lang="en-US" sz="1400" dirty="0"/>
          </a:p>
          <a:p>
            <a:pPr indent="0" marL="0">
              <a:buNone/>
            </a:pPr>
            <a:r>
              <a:rPr lang="en-US" sz="1250" b="1" dirty="0">
                <a:solidFill>
                  <a:srgbClr val="8C4A2F"/>
                </a:solidFill>
                <a:latin typeface="Calibri" pitchFamily="34" charset="0"/>
                <a:ea typeface="Calibri" pitchFamily="34" charset="-122"/>
                <a:cs typeface="Calibri" pitchFamily="34" charset="-120"/>
              </a:rPr>
              <a:t>Construction. </a:t>
            </a:r>
            <a:pPr indent="0" marL="0">
              <a:buNone/>
            </a:pPr>
            <a:r>
              <a:rPr lang="en-US" sz="1150" dirty="0">
                <a:solidFill>
                  <a:srgbClr val="2B2B2B"/>
                </a:solidFill>
                <a:latin typeface="Calibri" pitchFamily="34" charset="0"/>
                <a:ea typeface="Calibri" pitchFamily="34" charset="-122"/>
                <a:cs typeface="Calibri" pitchFamily="34" charset="-120"/>
              </a:rPr>
              <a:t>A single phase transformer is a static (non-rotating) electrical machine that transfers AC power from one circuit to another at the same frequency but a different voltage, by mutual induction. Its magnetic circuit is a core built of laminated CRGO (cold-rolled grain-oriented) steel sheets, typically 0.27-0.35 mm thick and insulated from each other; the laminations suppress eddy currents and the grain-oriented steel reduces hysteresis loss. The core has two limbs (core type: winding surrounds the core) or three limbs with the winding on the centre limb (shell type: core surrounds the winding). A yoke joins the limbs so the flux has a closed, low-reluctance path and the assembly is mechanically rigid. Two windings sit concentrically on the limbs: the primary and secondary. The LV winding (few turns of thick wire) is placed next to the core and the HV winding (many turns of thin wire) over it, so the insulation volume is minimum. Windings, core and leads live in a sheet-steel tank filled with transformer oil (insulation + cooling), with a conservator for oil expansion, bushings to bring the terminals out, and a silica-gel breather to keep the air dry.
</a:t>
            </a:r>
            <a:endParaRPr lang="en-US" sz="1400" dirty="0"/>
          </a:p>
          <a:p>
            <a:pPr indent="0" marL="0">
              <a:buNone/>
            </a:pPr>
            <a:r>
              <a:rPr lang="en-US" sz="1250" b="1" dirty="0">
                <a:solidFill>
                  <a:srgbClr val="8C4A2F"/>
                </a:solidFill>
                <a:latin typeface="Calibri" pitchFamily="34" charset="0"/>
                <a:ea typeface="Calibri" pitchFamily="34" charset="-122"/>
                <a:cs typeface="Calibri" pitchFamily="34" charset="-120"/>
              </a:rPr>
              <a:t>Working. </a:t>
            </a:r>
            <a:pPr indent="0" marL="0">
              <a:buNone/>
            </a:pPr>
            <a:r>
              <a:rPr lang="en-US" sz="1150" dirty="0">
                <a:solidFill>
                  <a:srgbClr val="2B2B2B"/>
                </a:solidFill>
                <a:latin typeface="Calibri" pitchFamily="34" charset="0"/>
                <a:ea typeface="Calibri" pitchFamily="34" charset="-122"/>
                <a:cs typeface="Calibri" pitchFamily="34" charset="-120"/>
              </a:rPr>
              <a:t>When an AC supply is given to the primary (N1 turns), an alternating current flows and produces an alternating magnetomotive force N1 x i1. This sets up an alternating mutual flux in the core, which is confined to the low-reluctance iron path and therefore links the secondary (N2 turns) also. Because the flux is alternating, by Faraday's law an emf is induced in each winding, e = -N d(flux)/dt; in rms terms E1 = 4.44 f N1 Bm A and E2 = 4.44 f N2 Bm A (the 4.44 f N Bm A law is derived in N02). With the secondary circuit closed on a load, the induced E2 drives a current and power is delivered to the load. The voltage is transformed in the ratio E1/E2 = N1/N2 = 1/k, while the frequency is unchanged.
</a:t>
            </a:r>
            <a:endParaRPr lang="en-US" sz="1400" dirty="0"/>
          </a:p>
          <a:p>
            <a:pPr indent="0" marL="0">
              <a:buNone/>
            </a:pPr>
            <a:r>
              <a:rPr lang="en-US" sz="1250" b="1" dirty="0">
                <a:solidFill>
                  <a:srgbClr val="8C4A2F"/>
                </a:solidFill>
                <a:latin typeface="Calibri" pitchFamily="34" charset="0"/>
                <a:ea typeface="Calibri" pitchFamily="34" charset="-122"/>
                <a:cs typeface="Calibri" pitchFamily="34" charset="-120"/>
              </a:rPr>
              <a:t>Conclusion. </a:t>
            </a:r>
            <a:pPr indent="0" marL="0">
              <a:buNone/>
            </a:pPr>
            <a:r>
              <a:rPr lang="en-US" sz="1150" dirty="0">
                <a:solidFill>
                  <a:srgbClr val="2B2B2B"/>
                </a:solidFill>
                <a:latin typeface="Calibri" pitchFamily="34" charset="0"/>
                <a:ea typeface="Calibri" pitchFamily="34" charset="-122"/>
                <a:cs typeface="Calibri" pitchFamily="34" charset="-120"/>
              </a:rPr>
              <a:t>One alternating flux, two electrically separate circuits: voltage and current transform by the turns ratio, power (minus losses) crosses unchanged, frequency stays the same.</a:t>
            </a:r>
            <a:endParaRPr lang="en-US" sz="1400" dirty="0"/>
          </a:p>
        </p:txBody>
      </p:sp>
      <p:sp>
        <p:nvSpPr>
          <p:cNvPr id="7" name="Text 5"/>
          <p:cNvSpPr/>
          <p:nvPr/>
        </p:nvSpPr>
        <p:spPr>
          <a:xfrm>
            <a:off x="457200" y="6035040"/>
            <a:ext cx="11247120" cy="365760"/>
          </a:xfrm>
          <a:prstGeom prst="rect">
            <a:avLst/>
          </a:prstGeom>
          <a:noFill/>
          <a:ln/>
        </p:spPr>
        <p:txBody>
          <a:bodyPr wrap="square" lIns="0" tIns="0" rIns="0" bIns="0" rtlCol="0" anchor="ctr"/>
          <a:lstStyle/>
          <a:p>
            <a:pPr indent="0" marL="0">
              <a:buNone/>
            </a:pPr>
            <a:r>
              <a:rPr lang="en-US" sz="1100" i="1" dirty="0">
                <a:solidFill>
                  <a:srgbClr val="6B6B6B"/>
                </a:solidFill>
                <a:latin typeface="Calibri" pitchFamily="34" charset="0"/>
                <a:ea typeface="Calibri" pitchFamily="34" charset="-122"/>
                <a:cs typeface="Calibri" pitchFamily="34" charset="-120"/>
              </a:rPr>
              <a:t>Label checklist if you redraw the figure: yoke, limbs, LV winding, HV winding, insulation, tank + oil, conservator, bushings, flux path arrows.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62B33"/>
        </a:solidFill>
      </p:bgPr>
    </p:bg>
    <p:spTree>
      <p:nvGrpSpPr>
        <p:cNvPr id="1" name=""/>
        <p:cNvGrpSpPr/>
        <p:nvPr/>
      </p:nvGrpSpPr>
      <p:grpSpPr>
        <a:xfrm>
          <a:off x="0" y="0"/>
          <a:ext cx="0" cy="0"/>
          <a:chOff x="0" y="0"/>
          <a:chExt cx="0" cy="0"/>
        </a:xfrm>
      </p:grpSpPr>
      <p:sp>
        <p:nvSpPr>
          <p:cNvPr id="2" name="Text 0"/>
          <p:cNvSpPr/>
          <p:nvPr/>
        </p:nvSpPr>
        <p:spPr>
          <a:xfrm>
            <a:off x="457200" y="320040"/>
            <a:ext cx="11247120" cy="4572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A1-20 model answer + closed-book check</a:t>
            </a:r>
            <a:endParaRPr lang="en-US" sz="2600" dirty="0"/>
          </a:p>
        </p:txBody>
      </p:sp>
      <p:sp>
        <p:nvSpPr>
          <p:cNvPr id="3" name="Shape 1"/>
          <p:cNvSpPr/>
          <p:nvPr/>
        </p:nvSpPr>
        <p:spPr>
          <a:xfrm>
            <a:off x="457200" y="914400"/>
            <a:ext cx="5669280" cy="2926080"/>
          </a:xfrm>
          <a:prstGeom prst="roundRect">
            <a:avLst>
              <a:gd name="adj" fmla="val 2500"/>
            </a:avLst>
          </a:prstGeom>
          <a:solidFill>
            <a:srgbClr val="323945"/>
          </a:solidFill>
          <a:ln/>
          <a:effectLst>
            <a:outerShdw sx="100000" sy="100000" kx="0" ky="0" algn="bl" rotWithShape="0" blurRad="38100" dist="12700" dir="5400000">
              <a:srgbClr val="BBBBBB">
                <a:alpha val="35000"/>
              </a:srgbClr>
            </a:outerShdw>
          </a:effectLst>
        </p:spPr>
      </p:sp>
      <p:sp>
        <p:nvSpPr>
          <p:cNvPr id="4" name="Text 2"/>
          <p:cNvSpPr/>
          <p:nvPr/>
        </p:nvSpPr>
        <p:spPr>
          <a:xfrm>
            <a:off x="640080" y="1024128"/>
            <a:ext cx="5303520" cy="2697480"/>
          </a:xfrm>
          <a:prstGeom prst="rect">
            <a:avLst/>
          </a:prstGeom>
          <a:noFill/>
          <a:ln/>
        </p:spPr>
        <p:txBody>
          <a:bodyPr wrap="square" lIns="0" tIns="0" rIns="0" bIns="0" rtlCol="0" anchor="t"/>
          <a:lstStyle/>
          <a:p>
            <a:pPr indent="0" marL="0">
              <a:buNone/>
            </a:pPr>
            <a:r>
              <a:rPr lang="en-US" sz="1250" b="1" dirty="0">
                <a:solidFill>
                  <a:srgbClr val="D9822B"/>
                </a:solidFill>
                <a:latin typeface="Calibri" pitchFamily="34" charset="0"/>
                <a:ea typeface="Calibri" pitchFamily="34" charset="-122"/>
                <a:cs typeface="Calibri" pitchFamily="34" charset="-120"/>
              </a:rPr>
              <a:t>A1-20: List the losses and how to reduce them.
</a:t>
            </a:r>
            <a:endParaRPr lang="en-US" sz="1250" dirty="0"/>
          </a:p>
          <a:p>
            <a:pPr indent="0" marL="0">
              <a:buNone/>
            </a:pPr>
            <a:r>
              <a:rPr lang="en-US" sz="1100" dirty="0">
                <a:solidFill>
                  <a:srgbClr val="E3DCD4"/>
                </a:solidFill>
                <a:latin typeface="Calibri" pitchFamily="34" charset="0"/>
                <a:ea typeface="Calibri" pitchFamily="34" charset="-122"/>
                <a:cs typeface="Calibri" pitchFamily="34" charset="-120"/>
              </a:rPr>
              <a:t>A transformer has two main losses. (1) Copper loss, the I^2R heating of both windings, which varies with the square of load current. (2) Iron (core) loss, constant at fixed voltage and frequency, in two parts: hysteresis loss (energy spent reversing domains every cycle, P_h = kh f Bm^1.6) and eddy-current loss (circulating currents induced in the core metal, P_e = ke f^2 Bm^2 t^2). Small stray losses also appear in tank/frame from leakage flux. Reduction: hysteresis by CRGO/silicon steel (narrow B-H loop), eddy by laminating the core (loss falls with t^2), copper by thicker conductors and shorter mean turn, stray by careful design and shielding. Because core loss depends on voltage and copper loss on current, neither follows the power factor, so the transformer is rated in kVA, not kW.</a:t>
            </a:r>
            <a:endParaRPr lang="en-US" sz="1250" dirty="0"/>
          </a:p>
        </p:txBody>
      </p:sp>
      <p:sp>
        <p:nvSpPr>
          <p:cNvPr id="5" name="Shape 3"/>
          <p:cNvSpPr/>
          <p:nvPr/>
        </p:nvSpPr>
        <p:spPr>
          <a:xfrm>
            <a:off x="6355080" y="914400"/>
            <a:ext cx="5349240" cy="2926080"/>
          </a:xfrm>
          <a:prstGeom prst="roundRect">
            <a:avLst>
              <a:gd name="adj" fmla="val 2500"/>
            </a:avLst>
          </a:prstGeom>
          <a:solidFill>
            <a:srgbClr val="323945"/>
          </a:solidFill>
          <a:ln/>
          <a:effectLst>
            <a:outerShdw sx="100000" sy="100000" kx="0" ky="0" algn="bl" rotWithShape="0" blurRad="38100" dist="12700" dir="5400000">
              <a:srgbClr val="BBBBBB">
                <a:alpha val="35000"/>
              </a:srgbClr>
            </a:outerShdw>
          </a:effectLst>
        </p:spPr>
      </p:sp>
      <p:sp>
        <p:nvSpPr>
          <p:cNvPr id="6" name="Text 4"/>
          <p:cNvSpPr/>
          <p:nvPr/>
        </p:nvSpPr>
        <p:spPr>
          <a:xfrm>
            <a:off x="6537960" y="1024128"/>
            <a:ext cx="5029200" cy="2697480"/>
          </a:xfrm>
          <a:prstGeom prst="rect">
            <a:avLst/>
          </a:prstGeom>
          <a:noFill/>
          <a:ln/>
        </p:spPr>
        <p:txBody>
          <a:bodyPr wrap="square" lIns="0" tIns="0" rIns="0" bIns="0" rtlCol="0" anchor="t"/>
          <a:lstStyle/>
          <a:p>
            <a:pPr indent="0" marL="0">
              <a:spcAft>
                <a:spcPts val="400"/>
              </a:spcAft>
              <a:buNone/>
            </a:pPr>
            <a:r>
              <a:rPr lang="en-US" sz="1250" b="1" dirty="0">
                <a:solidFill>
                  <a:srgbClr val="D9822B"/>
                </a:solidFill>
                <a:latin typeface="Calibri" pitchFamily="34" charset="0"/>
                <a:ea typeface="Calibri" pitchFamily="34" charset="-122"/>
                <a:cs typeface="Calibri" pitchFamily="34" charset="-120"/>
              </a:rPr>
              <a:t>ONE-PAGE MEMORY DUMP (write cold)</a:t>
            </a:r>
            <a:endParaRPr lang="en-US" sz="1250" dirty="0"/>
          </a:p>
          <a:p>
            <a:pPr indent="0" marL="0">
              <a:spcAft>
                <a:spcPts val="400"/>
              </a:spcAft>
              <a:buNone/>
            </a:pPr>
            <a:r>
              <a:rPr lang="en-US" sz="1050" dirty="0">
                <a:solidFill>
                  <a:srgbClr val="E3DCD4"/>
                </a:solidFill>
                <a:latin typeface="Courier New" pitchFamily="34" charset="0"/>
                <a:ea typeface="Courier New" pitchFamily="34" charset="-122"/>
                <a:cs typeface="Courier New" pitchFamily="34" charset="-120"/>
              </a:rPr>
              <a:t>core: laminated CRGO, gives the flux path</a:t>
            </a:r>
            <a:endParaRPr lang="en-US" sz="1250" dirty="0"/>
          </a:p>
          <a:p>
            <a:pPr indent="0" marL="0">
              <a:spcAft>
                <a:spcPts val="400"/>
              </a:spcAft>
              <a:buNone/>
            </a:pPr>
            <a:r>
              <a:rPr lang="en-US" sz="1050" dirty="0">
                <a:solidFill>
                  <a:srgbClr val="E3DCD4"/>
                </a:solidFill>
                <a:latin typeface="Courier New" pitchFamily="34" charset="0"/>
                <a:ea typeface="Courier New" pitchFamily="34" charset="-122"/>
                <a:cs typeface="Courier New" pitchFamily="34" charset="-120"/>
              </a:rPr>
              <a:t>yoke: closes flux path + supports</a:t>
            </a:r>
            <a:endParaRPr lang="en-US" sz="1250" dirty="0"/>
          </a:p>
          <a:p>
            <a:pPr indent="0" marL="0">
              <a:spcAft>
                <a:spcPts val="400"/>
              </a:spcAft>
              <a:buNone/>
            </a:pPr>
            <a:r>
              <a:rPr lang="en-US" sz="1050" dirty="0">
                <a:solidFill>
                  <a:srgbClr val="E3DCD4"/>
                </a:solidFill>
                <a:latin typeface="Courier New" pitchFamily="34" charset="0"/>
                <a:ea typeface="Courier New" pitchFamily="34" charset="-122"/>
                <a:cs typeface="Courier New" pitchFamily="34" charset="-120"/>
              </a:rPr>
              <a:t>LV: thick, few turns, next to limb</a:t>
            </a:r>
            <a:endParaRPr lang="en-US" sz="1250" dirty="0"/>
          </a:p>
          <a:p>
            <a:pPr indent="0" marL="0">
              <a:spcAft>
                <a:spcPts val="400"/>
              </a:spcAft>
              <a:buNone/>
            </a:pPr>
            <a:r>
              <a:rPr lang="en-US" sz="1050" dirty="0">
                <a:solidFill>
                  <a:srgbClr val="E3DCD4"/>
                </a:solidFill>
                <a:latin typeface="Courier New" pitchFamily="34" charset="0"/>
                <a:ea typeface="Courier New" pitchFamily="34" charset="-122"/>
                <a:cs typeface="Courier New" pitchFamily="34" charset="-120"/>
              </a:rPr>
              <a:t>HV: thin, many turns, outermost</a:t>
            </a:r>
            <a:endParaRPr lang="en-US" sz="1250" dirty="0"/>
          </a:p>
          <a:p>
            <a:pPr indent="0" marL="0">
              <a:spcAft>
                <a:spcPts val="400"/>
              </a:spcAft>
              <a:buNone/>
            </a:pPr>
            <a:r>
              <a:rPr lang="en-US" sz="1050" dirty="0">
                <a:solidFill>
                  <a:srgbClr val="E3DCD4"/>
                </a:solidFill>
                <a:latin typeface="Courier New" pitchFamily="34" charset="0"/>
                <a:ea typeface="Courier New" pitchFamily="34" charset="-122"/>
                <a:cs typeface="Courier New" pitchFamily="34" charset="-120"/>
              </a:rPr>
              <a:t>core type: winding around core (HV)</a:t>
            </a:r>
            <a:endParaRPr lang="en-US" sz="1250" dirty="0"/>
          </a:p>
          <a:p>
            <a:pPr indent="0" marL="0">
              <a:spcAft>
                <a:spcPts val="400"/>
              </a:spcAft>
              <a:buNone/>
            </a:pPr>
            <a:r>
              <a:rPr lang="en-US" sz="1050" dirty="0">
                <a:solidFill>
                  <a:srgbClr val="E3DCD4"/>
                </a:solidFill>
                <a:latin typeface="Courier New" pitchFamily="34" charset="0"/>
                <a:ea typeface="Courier New" pitchFamily="34" charset="-122"/>
                <a:cs typeface="Courier New" pitchFamily="34" charset="-120"/>
              </a:rPr>
              <a:t>shell type: core around winding (LV)</a:t>
            </a:r>
            <a:endParaRPr lang="en-US" sz="1250" dirty="0"/>
          </a:p>
          <a:p>
            <a:pPr indent="0" marL="0">
              <a:spcAft>
                <a:spcPts val="400"/>
              </a:spcAft>
              <a:buNone/>
            </a:pPr>
            <a:r>
              <a:rPr lang="en-US" sz="1050" dirty="0">
                <a:solidFill>
                  <a:srgbClr val="E3DCD4"/>
                </a:solidFill>
                <a:latin typeface="Courier New" pitchFamily="34" charset="0"/>
                <a:ea typeface="Courier New" pitchFamily="34" charset="-122"/>
                <a:cs typeface="Courier New" pitchFamily="34" charset="-120"/>
              </a:rPr>
              <a:t>working: AC -&gt; MMF -&gt; flux -&gt; Faraday -&gt; E2</a:t>
            </a:r>
            <a:endParaRPr lang="en-US" sz="1250" dirty="0"/>
          </a:p>
          <a:p>
            <a:pPr indent="0" marL="0">
              <a:spcAft>
                <a:spcPts val="400"/>
              </a:spcAft>
              <a:buNone/>
            </a:pPr>
            <a:r>
              <a:rPr lang="en-US" sz="1050" dirty="0">
                <a:solidFill>
                  <a:srgbClr val="E3DCD4"/>
                </a:solidFill>
                <a:latin typeface="Courier New" pitchFamily="34" charset="0"/>
                <a:ea typeface="Courier New" pitchFamily="34" charset="-122"/>
                <a:cs typeface="Courier New" pitchFamily="34" charset="-120"/>
              </a:rPr>
              <a:t>E = 4.44 f N Bm A ; k = N2/N1 = E2/E1 = I1/I2</a:t>
            </a:r>
            <a:endParaRPr lang="en-US" sz="1250" dirty="0"/>
          </a:p>
          <a:p>
            <a:pPr indent="0" marL="0">
              <a:spcAft>
                <a:spcPts val="400"/>
              </a:spcAft>
              <a:buNone/>
            </a:pPr>
            <a:r>
              <a:rPr lang="en-US" sz="1050" dirty="0">
                <a:solidFill>
                  <a:srgbClr val="E3DCD4"/>
                </a:solidFill>
                <a:latin typeface="Courier New" pitchFamily="34" charset="0"/>
                <a:ea typeface="Courier New" pitchFamily="34" charset="-122"/>
                <a:cs typeface="Courier New" pitchFamily="34" charset="-120"/>
              </a:rPr>
              <a:t>losses: Pcu = I^2R ; Ph = kh f Bm^1.6 ; Pe = ke f^2 Bm^2 t^2</a:t>
            </a:r>
            <a:endParaRPr lang="en-US" sz="1250" dirty="0"/>
          </a:p>
          <a:p>
            <a:pPr indent="0" marL="0">
              <a:spcAft>
                <a:spcPts val="400"/>
              </a:spcAft>
              <a:buNone/>
            </a:pPr>
            <a:r>
              <a:rPr lang="en-US" sz="1050" dirty="0">
                <a:solidFill>
                  <a:srgbClr val="E3DCD4"/>
                </a:solidFill>
                <a:latin typeface="Courier New" pitchFamily="34" charset="0"/>
                <a:ea typeface="Courier New" pitchFamily="34" charset="-122"/>
                <a:cs typeface="Courier New" pitchFamily="34" charset="-120"/>
              </a:rPr>
              <a:t>static machine -&gt; NO mechanical loss</a:t>
            </a:r>
            <a:endParaRPr lang="en-US" sz="1250" dirty="0"/>
          </a:p>
          <a:p>
            <a:pPr indent="0" marL="0">
              <a:spcAft>
                <a:spcPts val="400"/>
              </a:spcAft>
              <a:buNone/>
            </a:pPr>
            <a:r>
              <a:rPr lang="en-US" sz="1050" dirty="0">
                <a:solidFill>
                  <a:srgbClr val="E3DCD4"/>
                </a:solidFill>
                <a:latin typeface="Courier New" pitchFamily="34" charset="0"/>
                <a:ea typeface="Courier New" pitchFamily="34" charset="-122"/>
                <a:cs typeface="Courier New" pitchFamily="34" charset="-120"/>
              </a:rPr>
              <a:t>rating: kVA (losses track V and I, not pf)</a:t>
            </a:r>
            <a:endParaRPr lang="en-US" sz="1250" dirty="0"/>
          </a:p>
        </p:txBody>
      </p:sp>
      <p:sp>
        <p:nvSpPr>
          <p:cNvPr id="7" name="Shape 5"/>
          <p:cNvSpPr/>
          <p:nvPr/>
        </p:nvSpPr>
        <p:spPr>
          <a:xfrm>
            <a:off x="457200" y="4023360"/>
            <a:ext cx="11247120" cy="1417320"/>
          </a:xfrm>
          <a:prstGeom prst="roundRect">
            <a:avLst>
              <a:gd name="adj" fmla="val 5161"/>
            </a:avLst>
          </a:prstGeom>
          <a:solidFill>
            <a:srgbClr val="323945"/>
          </a:solidFill>
          <a:ln/>
          <a:effectLst>
            <a:outerShdw sx="100000" sy="100000" kx="0" ky="0" algn="bl" rotWithShape="0" blurRad="38100" dist="12700" dir="5400000">
              <a:srgbClr val="BBBBBB">
                <a:alpha val="35000"/>
              </a:srgbClr>
            </a:outerShdw>
          </a:effectLst>
        </p:spPr>
      </p:sp>
      <p:sp>
        <p:nvSpPr>
          <p:cNvPr id="8" name="Text 6"/>
          <p:cNvSpPr/>
          <p:nvPr/>
        </p:nvSpPr>
        <p:spPr>
          <a:xfrm>
            <a:off x="640080" y="4160520"/>
            <a:ext cx="10881360" cy="1188720"/>
          </a:xfrm>
          <a:prstGeom prst="rect">
            <a:avLst/>
          </a:prstGeom>
          <a:noFill/>
          <a:ln/>
        </p:spPr>
        <p:txBody>
          <a:bodyPr wrap="square" lIns="0" tIns="0" rIns="0" bIns="0" rtlCol="0" anchor="t"/>
          <a:lstStyle/>
          <a:p>
            <a:pPr indent="0" marL="0">
              <a:spcAft>
                <a:spcPts val="500"/>
              </a:spcAft>
              <a:buNone/>
            </a:pPr>
            <a:r>
              <a:rPr lang="en-US" sz="1250" b="1" dirty="0">
                <a:solidFill>
                  <a:srgbClr val="D9822B"/>
                </a:solidFill>
                <a:latin typeface="Calibri" pitchFamily="34" charset="0"/>
                <a:ea typeface="Calibri" pitchFamily="34" charset="-122"/>
                <a:cs typeface="Calibri" pitchFamily="34" charset="-120"/>
              </a:rPr>
              <a:t>CLOSED-BOOK CHECK (cover this slide, answer out loud)</a:t>
            </a:r>
            <a:endParaRPr lang="en-US" sz="1250" dirty="0"/>
          </a:p>
          <a:p>
            <a:pPr indent="0" marL="0">
              <a:spcAft>
                <a:spcPts val="500"/>
              </a:spcAft>
              <a:buNone/>
            </a:pPr>
            <a:r>
              <a:rPr lang="en-US" sz="1150" dirty="0">
                <a:solidFill>
                  <a:srgbClr val="E3DCD4"/>
                </a:solidFill>
                <a:latin typeface="Calibri" pitchFamily="34" charset="0"/>
                <a:ea typeface="Calibri" pitchFamily="34" charset="-122"/>
                <a:cs typeface="Calibri" pitchFamily="34" charset="-120"/>
              </a:rPr>
              <a:t>1. Name every part of a single phase transformer and its function in one line each.    2. Draw and label core type and shell type, and say which suits HV and why.</a:t>
            </a:r>
            <a:endParaRPr lang="en-US" sz="1250" dirty="0"/>
          </a:p>
          <a:p>
            <a:pPr indent="0" marL="0">
              <a:spcAft>
                <a:spcPts val="500"/>
              </a:spcAft>
              <a:buNone/>
            </a:pPr>
            <a:r>
              <a:rPr lang="en-US" sz="1150" dirty="0">
                <a:solidFill>
                  <a:srgbClr val="E3DCD4"/>
                </a:solidFill>
                <a:latin typeface="Calibri" pitchFamily="34" charset="0"/>
                <a:ea typeface="Calibri" pitchFamily="34" charset="-122"/>
                <a:cs typeface="Calibri" pitchFamily="34" charset="-120"/>
              </a:rPr>
              <a:t>3. Give the 6-step working sequence ending at the load current.    4. Why does a transformer fail on DC? Give the full argument.</a:t>
            </a:r>
            <a:endParaRPr lang="en-US" sz="1250" dirty="0"/>
          </a:p>
          <a:p>
            <a:pPr indent="0" marL="0">
              <a:spcAft>
                <a:spcPts val="500"/>
              </a:spcAft>
              <a:buNone/>
            </a:pPr>
            <a:r>
              <a:rPr lang="en-US" sz="1150" dirty="0">
                <a:solidFill>
                  <a:srgbClr val="E3DCD4"/>
                </a:solidFill>
                <a:latin typeface="Calibri" pitchFamily="34" charset="0"/>
                <a:ea typeface="Calibri" pitchFamily="34" charset="-122"/>
                <a:cs typeface="Calibri" pitchFamily="34" charset="-120"/>
              </a:rPr>
              <a:t>5. List all losses, two reduction methods per iron loss, and one sentence on why the rating is kVA.</a:t>
            </a:r>
            <a:endParaRPr lang="en-US" sz="1250" dirty="0"/>
          </a:p>
        </p:txBody>
      </p:sp>
      <p:sp>
        <p:nvSpPr>
          <p:cNvPr id="9" name="Text 7"/>
          <p:cNvSpPr/>
          <p:nvPr/>
        </p:nvSpPr>
        <p:spPr>
          <a:xfrm>
            <a:off x="457200" y="5669280"/>
            <a:ext cx="11247120" cy="640080"/>
          </a:xfrm>
          <a:prstGeom prst="rect">
            <a:avLst/>
          </a:prstGeom>
          <a:noFill/>
          <a:ln/>
        </p:spPr>
        <p:txBody>
          <a:bodyPr wrap="square" lIns="0" tIns="0" rIns="0" bIns="0" rtlCol="0" anchor="t"/>
          <a:lstStyle/>
          <a:p>
            <a:pPr indent="0" marL="0">
              <a:buNone/>
            </a:pPr>
            <a:r>
              <a:rPr lang="en-US" sz="1200" b="1" dirty="0">
                <a:solidFill>
                  <a:srgbClr val="D9822B"/>
                </a:solidFill>
                <a:latin typeface="Calibri" pitchFamily="34" charset="0"/>
                <a:ea typeface="Calibri" pitchFamily="34" charset="-122"/>
                <a:cs typeface="Calibri" pitchFamily="34" charset="-120"/>
              </a:rPr>
              <a:t>ANSWER STRUCTURE WHEN PANIC HITS  </a:t>
            </a:r>
            <a:pPr indent="0" marL="0">
              <a:buNone/>
            </a:pPr>
            <a:r>
              <a:rPr lang="en-US" sz="1200" dirty="0">
                <a:solidFill>
                  <a:srgbClr val="E3DCD4"/>
                </a:solidFill>
                <a:latin typeface="Calibri" pitchFamily="34" charset="0"/>
                <a:ea typeface="Calibri" pitchFamily="34" charset="-122"/>
                <a:cs typeface="Calibri" pitchFamily="34" charset="-120"/>
              </a:rPr>
              <a:t>define -&gt; draw and label the diagram -&gt; state the governing formula or sequence -&gt; substitute/speak through the steps -&gt; finish with a one-line conclusion. Never leave it blank.</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2026-09-22T18:29:56Z</dcterms:created>
  <dcterms:modified xsi:type="dcterms:W3CDTF">2026-09-22T18:29:56Z</dcterms:modified>
</cp:coreProperties>
</file>