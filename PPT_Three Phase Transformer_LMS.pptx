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handoutMasterIdLst>
    <p:handoutMasterId r:id="rId13"/>
  </p:handoutMasterIdLst>
  <p:sldIdLst>
    <p:sldId id="256" r:id="rId2"/>
    <p:sldId id="261" r:id="rId3"/>
    <p:sldId id="264" r:id="rId4"/>
    <p:sldId id="265" r:id="rId5"/>
    <p:sldId id="263" r:id="rId6"/>
    <p:sldId id="262" r:id="rId7"/>
    <p:sldId id="273" r:id="rId8"/>
    <p:sldId id="274" r:id="rId9"/>
    <p:sldId id="275" r:id="rId10"/>
    <p:sldId id="25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88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115EE0-4A1D-5A96-B077-F22C8871A71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1613F4D-5C6E-2B68-6339-643679A18C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594462-75B1-44C8-A601-DF603758CB8A}" type="datetimeFigureOut">
              <a:rPr lang="en-US" smtClean="0"/>
              <a:t>8/13/2026</a:t>
            </a:fld>
            <a:endParaRPr lang="en-US"/>
          </a:p>
        </p:txBody>
      </p:sp>
      <p:sp>
        <p:nvSpPr>
          <p:cNvPr id="4" name="Footer Placeholder 3">
            <a:extLst>
              <a:ext uri="{FF2B5EF4-FFF2-40B4-BE49-F238E27FC236}">
                <a16:creationId xmlns:a16="http://schemas.microsoft.com/office/drawing/2014/main" id="{66C67C39-55F4-B5B9-391F-98FD2A71FBE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BCBEAC3-B027-8CF8-DE4F-6C4361F0960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A82EF6-3896-4524-A506-FAC6A669967C}" type="slidenum">
              <a:rPr lang="en-US" smtClean="0"/>
              <a:t>‹#›</a:t>
            </a:fld>
            <a:endParaRPr lang="en-US"/>
          </a:p>
        </p:txBody>
      </p:sp>
    </p:spTree>
    <p:extLst>
      <p:ext uri="{BB962C8B-B14F-4D97-AF65-F5344CB8AC3E}">
        <p14:creationId xmlns:p14="http://schemas.microsoft.com/office/powerpoint/2010/main" val="323221386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31A3DE-9003-4A22-9DD6-37AD7365FE9E}"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EE6586-99FC-472A-99D6-89BE5F94D309}" type="slidenum">
              <a:rPr lang="en-US" smtClean="0"/>
              <a:t>‹#›</a:t>
            </a:fld>
            <a:endParaRPr lang="en-US"/>
          </a:p>
        </p:txBody>
      </p:sp>
    </p:spTree>
    <p:extLst>
      <p:ext uri="{BB962C8B-B14F-4D97-AF65-F5344CB8AC3E}">
        <p14:creationId xmlns:p14="http://schemas.microsoft.com/office/powerpoint/2010/main" val="81061431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7FFC9-793B-3F13-0589-31890013BC80}"/>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810201-7E1C-0763-328F-291E5BFA33C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DAF629-04B6-BE85-B720-46BC5DB8558E}"/>
              </a:ext>
            </a:extLst>
          </p:cNvPr>
          <p:cNvSpPr>
            <a:spLocks noGrp="1"/>
          </p:cNvSpPr>
          <p:nvPr>
            <p:ph type="dt" sz="half" idx="10"/>
          </p:nvPr>
        </p:nvSpPr>
        <p:spPr/>
        <p:txBody>
          <a:bodyPr/>
          <a:lstStyle/>
          <a:p>
            <a:fld id="{325B6676-6B8D-41AE-9731-411042636E71}" type="datetime1">
              <a:rPr lang="en-US" smtClean="0"/>
              <a:t>8/13/2026</a:t>
            </a:fld>
            <a:endParaRPr lang="en-US"/>
          </a:p>
        </p:txBody>
      </p:sp>
      <p:sp>
        <p:nvSpPr>
          <p:cNvPr id="5" name="Footer Placeholder 4">
            <a:extLst>
              <a:ext uri="{FF2B5EF4-FFF2-40B4-BE49-F238E27FC236}">
                <a16:creationId xmlns:a16="http://schemas.microsoft.com/office/drawing/2014/main" id="{EBC0CF84-DFC5-688A-73CB-7EAADAA773B6}"/>
              </a:ext>
            </a:extLst>
          </p:cNvPr>
          <p:cNvSpPr>
            <a:spLocks noGrp="1"/>
          </p:cNvSpPr>
          <p:nvPr>
            <p:ph type="ftr" sz="quarter" idx="11"/>
          </p:nvPr>
        </p:nvSpPr>
        <p:spPr/>
        <p:txBody>
          <a:bodyPr/>
          <a:lstStyle/>
          <a:p>
            <a:r>
              <a:rPr lang="en-US"/>
              <a:t>Course Code</a:t>
            </a:r>
          </a:p>
        </p:txBody>
      </p:sp>
      <p:sp>
        <p:nvSpPr>
          <p:cNvPr id="6" name="Slide Number Placeholder 5">
            <a:extLst>
              <a:ext uri="{FF2B5EF4-FFF2-40B4-BE49-F238E27FC236}">
                <a16:creationId xmlns:a16="http://schemas.microsoft.com/office/drawing/2014/main" id="{F274EA29-C8CB-7E59-52B6-7BB1C1EB1445}"/>
              </a:ext>
            </a:extLst>
          </p:cNvPr>
          <p:cNvSpPr>
            <a:spLocks noGrp="1"/>
          </p:cNvSpPr>
          <p:nvPr>
            <p:ph type="sldNum" sz="quarter" idx="12"/>
          </p:nvPr>
        </p:nvSpPr>
        <p:spPr/>
        <p:txBody>
          <a:bodyPr/>
          <a:lstStyle/>
          <a:p>
            <a:fld id="{2DFB1CBB-BAB9-4807-BFB8-A8A25F8F198A}" type="slidenum">
              <a:rPr lang="en-US" smtClean="0"/>
              <a:t>‹#›</a:t>
            </a:fld>
            <a:endParaRPr lang="en-US"/>
          </a:p>
        </p:txBody>
      </p:sp>
      <p:pic>
        <p:nvPicPr>
          <p:cNvPr id="7" name="Picture 6">
            <a:extLst>
              <a:ext uri="{FF2B5EF4-FFF2-40B4-BE49-F238E27FC236}">
                <a16:creationId xmlns:a16="http://schemas.microsoft.com/office/drawing/2014/main" id="{1DC15F42-153B-BFEF-2901-D3DE189C858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8901" y="48903"/>
            <a:ext cx="2570197" cy="607782"/>
          </a:xfrm>
          <a:prstGeom prst="rect">
            <a:avLst/>
          </a:prstGeom>
        </p:spPr>
      </p:pic>
      <p:sp>
        <p:nvSpPr>
          <p:cNvPr id="8" name="Rectangle 7">
            <a:extLst>
              <a:ext uri="{FF2B5EF4-FFF2-40B4-BE49-F238E27FC236}">
                <a16:creationId xmlns:a16="http://schemas.microsoft.com/office/drawing/2014/main" id="{32F20779-1BC0-EA17-B06D-1A5BD036E955}"/>
              </a:ext>
            </a:extLst>
          </p:cNvPr>
          <p:cNvSpPr/>
          <p:nvPr userDrawn="1"/>
        </p:nvSpPr>
        <p:spPr>
          <a:xfrm>
            <a:off x="0" y="694350"/>
            <a:ext cx="12192000" cy="92075"/>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descr="Logo&#10;&#10;Description automatically generated">
            <a:extLst>
              <a:ext uri="{FF2B5EF4-FFF2-40B4-BE49-F238E27FC236}">
                <a16:creationId xmlns:a16="http://schemas.microsoft.com/office/drawing/2014/main" id="{D1136D55-3842-562F-06E3-29751D88BCF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0340" b="20162"/>
          <a:stretch/>
        </p:blipFill>
        <p:spPr>
          <a:xfrm>
            <a:off x="10460904" y="11237"/>
            <a:ext cx="1167013" cy="694350"/>
          </a:xfrm>
          <a:prstGeom prst="rect">
            <a:avLst/>
          </a:prstGeom>
        </p:spPr>
      </p:pic>
    </p:spTree>
    <p:extLst>
      <p:ext uri="{BB962C8B-B14F-4D97-AF65-F5344CB8AC3E}">
        <p14:creationId xmlns:p14="http://schemas.microsoft.com/office/powerpoint/2010/main" val="15709309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3B402E9-9286-41DF-C6BA-03C18A4020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F08574-D638-4A51-8811-3E76E4CBC5C7}" type="datetime1">
              <a:rPr lang="en-US" smtClean="0"/>
              <a:t>8/13/2026</a:t>
            </a:fld>
            <a:endParaRPr lang="en-US"/>
          </a:p>
        </p:txBody>
      </p:sp>
      <p:sp>
        <p:nvSpPr>
          <p:cNvPr id="5" name="Footer Placeholder 4">
            <a:extLst>
              <a:ext uri="{FF2B5EF4-FFF2-40B4-BE49-F238E27FC236}">
                <a16:creationId xmlns:a16="http://schemas.microsoft.com/office/drawing/2014/main" id="{CFFC99A3-E133-AAFF-8948-D877DD35C6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Course Code</a:t>
            </a:r>
          </a:p>
        </p:txBody>
      </p:sp>
      <p:sp>
        <p:nvSpPr>
          <p:cNvPr id="6" name="Slide Number Placeholder 5">
            <a:extLst>
              <a:ext uri="{FF2B5EF4-FFF2-40B4-BE49-F238E27FC236}">
                <a16:creationId xmlns:a16="http://schemas.microsoft.com/office/drawing/2014/main" id="{344333E6-C173-5370-E96C-1CD8700022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FB1CBB-BAB9-4807-BFB8-A8A25F8F198A}" type="slidenum">
              <a:rPr lang="en-US" smtClean="0"/>
              <a:t>‹#›</a:t>
            </a:fld>
            <a:endParaRPr lang="en-US"/>
          </a:p>
        </p:txBody>
      </p:sp>
      <p:sp>
        <p:nvSpPr>
          <p:cNvPr id="7" name="Rectangle 6">
            <a:extLst>
              <a:ext uri="{FF2B5EF4-FFF2-40B4-BE49-F238E27FC236}">
                <a16:creationId xmlns:a16="http://schemas.microsoft.com/office/drawing/2014/main" id="{44C26D48-8915-A9C4-BB4B-172B453DEA09}"/>
              </a:ext>
            </a:extLst>
          </p:cNvPr>
          <p:cNvSpPr/>
          <p:nvPr userDrawn="1"/>
        </p:nvSpPr>
        <p:spPr>
          <a:xfrm>
            <a:off x="0" y="694350"/>
            <a:ext cx="12192000" cy="92075"/>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5DFA9CA5-0602-AD5E-8743-4CDC059C75B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8901" y="48903"/>
            <a:ext cx="2570197" cy="607782"/>
          </a:xfrm>
          <a:prstGeom prst="rect">
            <a:avLst/>
          </a:prstGeom>
        </p:spPr>
      </p:pic>
      <p:pic>
        <p:nvPicPr>
          <p:cNvPr id="9" name="Picture 8" descr="Logo&#10;&#10;Description automatically generated">
            <a:extLst>
              <a:ext uri="{FF2B5EF4-FFF2-40B4-BE49-F238E27FC236}">
                <a16:creationId xmlns:a16="http://schemas.microsoft.com/office/drawing/2014/main" id="{0B7FAD6B-7286-3118-AB2F-BDAF899BB357}"/>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20340" b="20162"/>
          <a:stretch/>
        </p:blipFill>
        <p:spPr>
          <a:xfrm>
            <a:off x="10460904" y="11237"/>
            <a:ext cx="1167013" cy="694350"/>
          </a:xfrm>
          <a:prstGeom prst="rect">
            <a:avLst/>
          </a:prstGeom>
        </p:spPr>
      </p:pic>
    </p:spTree>
    <p:extLst>
      <p:ext uri="{BB962C8B-B14F-4D97-AF65-F5344CB8AC3E}">
        <p14:creationId xmlns:p14="http://schemas.microsoft.com/office/powerpoint/2010/main" val="2519291796"/>
      </p:ext>
    </p:extLst>
  </p:cSld>
  <p:clrMap bg1="lt1" tx1="dk1" bg2="lt2" tx2="dk2" accent1="accent1" accent2="accent2" accent3="accent3" accent4="accent4" accent5="accent5" accent6="accent6" hlink="hlink" folHlink="folHlink"/>
  <p:sldLayoutIdLst>
    <p:sldLayoutId id="2147483649"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watch?v=KAI4yJBASbc&amp;list=PLp6ek2hDcoNCANsWM2mw3qi0387BhfLyV&amp;index=7" TargetMode="External"/><Relationship Id="rId2" Type="http://schemas.openxmlformats.org/officeDocument/2006/relationships/hyperlink" Target="https://www.youtube.com/watch?v=xvL4rYUM4kA&amp;list=PLp6ek2hDcoNCANsWM2mw3qi0387BhfLyV&amp;index=6" TargetMode="External"/><Relationship Id="rId1" Type="http://schemas.openxmlformats.org/officeDocument/2006/relationships/slideLayout" Target="../slideLayouts/slideLayout1.xml"/><Relationship Id="rId6" Type="http://schemas.openxmlformats.org/officeDocument/2006/relationships/hyperlink" Target="https://www.youtube.com/watch?v=K_S1e06FAKc&amp;list=PLp6ek2hDcoNCANsWM2mw3qi0387BhfLyV&amp;index=10" TargetMode="External"/><Relationship Id="rId5" Type="http://schemas.openxmlformats.org/officeDocument/2006/relationships/hyperlink" Target="https://www.youtube.com/watch?v=xT89C6CvqX8&amp;list=PLp6ek2hDcoNCANsWM2mw3qi0387BhfLyV&amp;index=9" TargetMode="External"/><Relationship Id="rId4" Type="http://schemas.openxmlformats.org/officeDocument/2006/relationships/hyperlink" Target="https://www.youtube.com/watch?v=VdiocL2RAMc&amp;list=PLp6ek2hDcoNCANsWM2mw3qi0387BhfLyV&amp;index=8"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C5179-AFAE-55D7-9C5D-3D067DE17D22}"/>
              </a:ext>
            </a:extLst>
          </p:cNvPr>
          <p:cNvSpPr>
            <a:spLocks noGrp="1"/>
          </p:cNvSpPr>
          <p:nvPr>
            <p:ph type="ctrTitle"/>
          </p:nvPr>
        </p:nvSpPr>
        <p:spPr/>
        <p:txBody>
          <a:bodyPr/>
          <a:lstStyle/>
          <a:p>
            <a:r>
              <a:rPr lang="en-US" dirty="0"/>
              <a:t>Three Phase Transformer</a:t>
            </a:r>
          </a:p>
        </p:txBody>
      </p:sp>
      <p:sp>
        <p:nvSpPr>
          <p:cNvPr id="3" name="Subtitle 2">
            <a:extLst>
              <a:ext uri="{FF2B5EF4-FFF2-40B4-BE49-F238E27FC236}">
                <a16:creationId xmlns:a16="http://schemas.microsoft.com/office/drawing/2014/main" id="{3B6C72A2-0F97-A244-EE58-6754ED64DFD3}"/>
              </a:ext>
            </a:extLst>
          </p:cNvPr>
          <p:cNvSpPr>
            <a:spLocks noGrp="1"/>
          </p:cNvSpPr>
          <p:nvPr>
            <p:ph type="subTitle" idx="1"/>
          </p:nvPr>
        </p:nvSpPr>
        <p:spPr/>
        <p:txBody>
          <a:bodyPr/>
          <a:lstStyle/>
          <a:p>
            <a:r>
              <a:rPr lang="en-US" dirty="0"/>
              <a:t>Electrical machines– ELC2104</a:t>
            </a:r>
          </a:p>
        </p:txBody>
      </p:sp>
    </p:spTree>
    <p:extLst>
      <p:ext uri="{BB962C8B-B14F-4D97-AF65-F5344CB8AC3E}">
        <p14:creationId xmlns:p14="http://schemas.microsoft.com/office/powerpoint/2010/main" val="1040673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032867C-BC96-4F3D-83A6-614B77D119A3}"/>
              </a:ext>
            </a:extLst>
          </p:cNvPr>
          <p:cNvSpPr/>
          <p:nvPr/>
        </p:nvSpPr>
        <p:spPr>
          <a:xfrm>
            <a:off x="661737" y="1188613"/>
            <a:ext cx="8082289" cy="1325619"/>
          </a:xfrm>
          <a:prstGeom prst="rect">
            <a:avLst/>
          </a:prstGeom>
        </p:spPr>
        <p:txBody>
          <a:bodyPr wrap="square">
            <a:spAutoFit/>
          </a:bodyPr>
          <a:lstStyle/>
          <a:p>
            <a:pPr lvl="0">
              <a:lnSpc>
                <a:spcPct val="107000"/>
              </a:lnSpc>
              <a:spcAft>
                <a:spcPts val="0"/>
              </a:spcAft>
              <a:tabLst>
                <a:tab pos="647700" algn="l"/>
              </a:tabLst>
            </a:pPr>
            <a:r>
              <a:rPr lang="en-IN" b="1" dirty="0">
                <a:latin typeface="Calibri" panose="020F0502020204030204" pitchFamily="34" charset="0"/>
                <a:ea typeface="Calibri" panose="020F0502020204030204" pitchFamily="34" charset="0"/>
                <a:cs typeface="Calibri" panose="020F0502020204030204" pitchFamily="34" charset="0"/>
              </a:rPr>
              <a:t>   </a:t>
            </a:r>
            <a:r>
              <a:rPr lang="en-IN" b="1" dirty="0">
                <a:latin typeface="Times New Roman" panose="02020603050405020304" pitchFamily="18" charset="0"/>
                <a:ea typeface="Calibri" panose="020F0502020204030204" pitchFamily="34" charset="0"/>
                <a:cs typeface="Times New Roman" panose="02020603050405020304" pitchFamily="18" charset="0"/>
              </a:rPr>
              <a:t>REFERENCE BOOK</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990600" indent="-342900" algn="just">
              <a:lnSpc>
                <a:spcPct val="115000"/>
              </a:lnSpc>
              <a:spcAft>
                <a:spcPts val="0"/>
              </a:spcAft>
              <a:buAutoNum type="arabicPeriod"/>
            </a:pPr>
            <a:r>
              <a:rPr lang="en-IN" dirty="0">
                <a:latin typeface="Times New Roman" panose="02020603050405020304" pitchFamily="18" charset="0"/>
                <a:ea typeface="Calibri" panose="020F0502020204030204" pitchFamily="34" charset="0"/>
                <a:cs typeface="Times New Roman" panose="02020603050405020304" pitchFamily="18" charset="0"/>
              </a:rPr>
              <a:t>M. G. Say, </a:t>
            </a:r>
            <a:r>
              <a:rPr lang="en-IN" i="1" dirty="0">
                <a:latin typeface="Times New Roman" panose="02020603050405020304" pitchFamily="18" charset="0"/>
                <a:ea typeface="Calibri" panose="020F0502020204030204" pitchFamily="34" charset="0"/>
                <a:cs typeface="Times New Roman" panose="02020603050405020304" pitchFamily="18" charset="0"/>
              </a:rPr>
              <a:t>Alternating Current Machines </a:t>
            </a:r>
            <a:r>
              <a:rPr lang="en-IN" dirty="0">
                <a:latin typeface="Times New Roman" panose="02020603050405020304" pitchFamily="18" charset="0"/>
                <a:ea typeface="Calibri" panose="020F0502020204030204" pitchFamily="34" charset="0"/>
                <a:cs typeface="Times New Roman" panose="02020603050405020304" pitchFamily="18" charset="0"/>
              </a:rPr>
              <a:t>(5e)</a:t>
            </a:r>
            <a:r>
              <a:rPr lang="en-IN" i="1" dirty="0">
                <a:latin typeface="Times New Roman" panose="02020603050405020304" pitchFamily="18" charset="0"/>
                <a:ea typeface="Calibri" panose="020F0502020204030204" pitchFamily="34" charset="0"/>
                <a:cs typeface="Times New Roman" panose="02020603050405020304" pitchFamily="18" charset="0"/>
              </a:rPr>
              <a:t>,</a:t>
            </a:r>
            <a:r>
              <a:rPr lang="en-IN" dirty="0">
                <a:latin typeface="Times New Roman" panose="02020603050405020304" pitchFamily="18" charset="0"/>
                <a:ea typeface="Calibri" panose="020F0502020204030204" pitchFamily="34" charset="0"/>
                <a:cs typeface="Times New Roman" panose="02020603050405020304" pitchFamily="18" charset="0"/>
              </a:rPr>
              <a:t> ELBS.</a:t>
            </a:r>
          </a:p>
          <a:p>
            <a:pPr marL="990600" indent="-342900" algn="just">
              <a:lnSpc>
                <a:spcPct val="115000"/>
              </a:lnSpc>
              <a:spcAft>
                <a:spcPts val="0"/>
              </a:spcAft>
              <a:buAutoNum type="arabicPeriod"/>
            </a:pPr>
            <a:r>
              <a:rPr lang="en-IN" dirty="0">
                <a:latin typeface="Times New Roman" panose="02020603050405020304" pitchFamily="18" charset="0"/>
                <a:ea typeface="Calibri" panose="020F0502020204030204" pitchFamily="34" charset="0"/>
                <a:cs typeface="Times New Roman" panose="02020603050405020304" pitchFamily="18" charset="0"/>
              </a:rPr>
              <a:t>2. E. H. </a:t>
            </a:r>
            <a:r>
              <a:rPr lang="en-IN" dirty="0" err="1">
                <a:latin typeface="Times New Roman" panose="02020603050405020304" pitchFamily="18" charset="0"/>
                <a:ea typeface="Calibri" panose="020F0502020204030204" pitchFamily="34" charset="0"/>
                <a:cs typeface="Times New Roman" panose="02020603050405020304" pitchFamily="18" charset="0"/>
              </a:rPr>
              <a:t>Langsdorf</a:t>
            </a:r>
            <a:r>
              <a:rPr lang="en-IN" dirty="0">
                <a:latin typeface="Times New Roman" panose="02020603050405020304" pitchFamily="18" charset="0"/>
                <a:ea typeface="Calibri" panose="020F0502020204030204" pitchFamily="34" charset="0"/>
                <a:cs typeface="Times New Roman" panose="02020603050405020304" pitchFamily="18" charset="0"/>
              </a:rPr>
              <a:t>, </a:t>
            </a:r>
            <a:r>
              <a:rPr lang="en-IN" i="1" dirty="0">
                <a:latin typeface="Times New Roman" panose="02020603050405020304" pitchFamily="18" charset="0"/>
                <a:ea typeface="Calibri" panose="020F0502020204030204" pitchFamily="34" charset="0"/>
                <a:cs typeface="Times New Roman" panose="02020603050405020304" pitchFamily="18" charset="0"/>
              </a:rPr>
              <a:t>Theory of Alternating Current Machine </a:t>
            </a:r>
            <a:r>
              <a:rPr lang="en-IN" dirty="0">
                <a:latin typeface="Times New Roman" panose="02020603050405020304" pitchFamily="18" charset="0"/>
                <a:ea typeface="Calibri" panose="020F0502020204030204" pitchFamily="34" charset="0"/>
                <a:cs typeface="Times New Roman" panose="02020603050405020304" pitchFamily="18" charset="0"/>
              </a:rPr>
              <a:t>(2e), TMH. </a:t>
            </a:r>
          </a:p>
          <a:p>
            <a:pPr marL="647700" algn="just">
              <a:lnSpc>
                <a:spcPct val="115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3. A. E. Clayton</a:t>
            </a:r>
            <a:r>
              <a:rPr lang="en-IN" i="1" dirty="0">
                <a:latin typeface="Times New Roman" panose="02020603050405020304" pitchFamily="18" charset="0"/>
                <a:ea typeface="Calibri" panose="020F0502020204030204" pitchFamily="34" charset="0"/>
                <a:cs typeface="Times New Roman" panose="02020603050405020304" pitchFamily="18" charset="0"/>
              </a:rPr>
              <a:t>, Performance and Design of DC Machines </a:t>
            </a:r>
            <a:r>
              <a:rPr lang="en-IN" dirty="0">
                <a:latin typeface="Times New Roman" panose="02020603050405020304" pitchFamily="18" charset="0"/>
                <a:ea typeface="Calibri" panose="020F0502020204030204" pitchFamily="34" charset="0"/>
                <a:cs typeface="Times New Roman" panose="02020603050405020304" pitchFamily="18" charset="0"/>
              </a:rPr>
              <a:t>(3e), O&amp; IBH,</a:t>
            </a:r>
          </a:p>
        </p:txBody>
      </p:sp>
      <p:sp>
        <p:nvSpPr>
          <p:cNvPr id="9" name="Rectangle 8">
            <a:extLst>
              <a:ext uri="{FF2B5EF4-FFF2-40B4-BE49-F238E27FC236}">
                <a16:creationId xmlns:a16="http://schemas.microsoft.com/office/drawing/2014/main" id="{91CC5333-3D76-410A-90DA-C29F9556A102}"/>
              </a:ext>
            </a:extLst>
          </p:cNvPr>
          <p:cNvSpPr/>
          <p:nvPr/>
        </p:nvSpPr>
        <p:spPr>
          <a:xfrm>
            <a:off x="670836" y="2389109"/>
            <a:ext cx="11530263" cy="1656800"/>
          </a:xfrm>
          <a:prstGeom prst="rect">
            <a:avLst/>
          </a:prstGeom>
        </p:spPr>
        <p:txBody>
          <a:bodyPr wrap="square">
            <a:spAutoFit/>
          </a:bodyPr>
          <a:lstStyle/>
          <a:p>
            <a:pPr lvl="0">
              <a:lnSpc>
                <a:spcPct val="107000"/>
              </a:lnSpc>
              <a:spcAft>
                <a:spcPts val="800"/>
              </a:spcAft>
              <a:tabLst>
                <a:tab pos="647700" algn="l"/>
              </a:tabLst>
            </a:pPr>
            <a:r>
              <a:rPr lang="en-IN" b="1" dirty="0">
                <a:latin typeface="Calibri" panose="020F0502020204030204" pitchFamily="34" charset="0"/>
                <a:ea typeface="Calibri" panose="020F0502020204030204" pitchFamily="34" charset="0"/>
                <a:cs typeface="Calibri" panose="020F0502020204030204" pitchFamily="34" charset="0"/>
              </a:rPr>
              <a:t>  </a:t>
            </a:r>
            <a:r>
              <a:rPr lang="en-IN" b="1" dirty="0">
                <a:latin typeface="Times New Roman" panose="02020603050405020304" pitchFamily="18" charset="0"/>
                <a:ea typeface="Calibri" panose="020F0502020204030204" pitchFamily="34" charset="0"/>
                <a:cs typeface="Times New Roman" panose="02020603050405020304" pitchFamily="18" charset="0"/>
              </a:rPr>
              <a:t>TEXT BOOKS</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190500">
              <a:lnSpc>
                <a:spcPct val="107000"/>
              </a:lnSpc>
              <a:spcAft>
                <a:spcPts val="0"/>
              </a:spcAft>
              <a:tabLst>
                <a:tab pos="647700" algn="l"/>
              </a:tabLst>
            </a:pPr>
            <a:r>
              <a:rPr lang="en-IN" dirty="0">
                <a:latin typeface="Calibri" panose="020F0502020204030204" pitchFamily="34" charset="0"/>
                <a:ea typeface="Calibri" panose="020F0502020204030204" pitchFamily="34" charset="0"/>
                <a:cs typeface="Calibri" panose="020F0502020204030204" pitchFamily="34" charset="0"/>
              </a:rPr>
              <a:t>	 1. </a:t>
            </a:r>
            <a:r>
              <a:rPr lang="en-IN" dirty="0">
                <a:latin typeface="Times New Roman" panose="02020603050405020304" pitchFamily="18" charset="0"/>
                <a:ea typeface="Calibri" panose="020F0502020204030204" pitchFamily="34" charset="0"/>
                <a:cs typeface="Times New Roman" panose="02020603050405020304" pitchFamily="18" charset="0"/>
              </a:rPr>
              <a:t>P. S. </a:t>
            </a:r>
            <a:r>
              <a:rPr lang="en-IN" dirty="0" err="1">
                <a:latin typeface="Times New Roman" panose="02020603050405020304" pitchFamily="18" charset="0"/>
                <a:ea typeface="Calibri" panose="020F0502020204030204" pitchFamily="34" charset="0"/>
                <a:cs typeface="Times New Roman" panose="02020603050405020304" pitchFamily="18" charset="0"/>
              </a:rPr>
              <a:t>Bhimbra</a:t>
            </a:r>
            <a:r>
              <a:rPr lang="en-IN" dirty="0">
                <a:latin typeface="Times New Roman" panose="02020603050405020304" pitchFamily="18" charset="0"/>
                <a:ea typeface="Calibri" panose="020F0502020204030204" pitchFamily="34" charset="0"/>
                <a:cs typeface="Times New Roman" panose="02020603050405020304" pitchFamily="18" charset="0"/>
              </a:rPr>
              <a:t>, “Electrical Machinery”, Seventh Edition, 1995,Khanna Publishers.</a:t>
            </a:r>
          </a:p>
          <a:p>
            <a:pPr marL="190500">
              <a:lnSpc>
                <a:spcPct val="107000"/>
              </a:lnSpc>
              <a:spcAft>
                <a:spcPts val="0"/>
              </a:spcAft>
              <a:tabLst>
                <a:tab pos="64770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	 2. I. J. </a:t>
            </a:r>
            <a:r>
              <a:rPr lang="en-IN" dirty="0" err="1">
                <a:latin typeface="Times New Roman" panose="02020603050405020304" pitchFamily="18" charset="0"/>
                <a:ea typeface="Calibri" panose="020F0502020204030204" pitchFamily="34" charset="0"/>
                <a:cs typeface="Times New Roman" panose="02020603050405020304" pitchFamily="18" charset="0"/>
              </a:rPr>
              <a:t>Nagrath</a:t>
            </a:r>
            <a:r>
              <a:rPr lang="en-IN" dirty="0">
                <a:latin typeface="Times New Roman" panose="02020603050405020304" pitchFamily="18" charset="0"/>
                <a:ea typeface="Calibri" panose="020F0502020204030204" pitchFamily="34" charset="0"/>
                <a:cs typeface="Times New Roman" panose="02020603050405020304" pitchFamily="18" charset="0"/>
              </a:rPr>
              <a:t>, , D. </a:t>
            </a:r>
            <a:r>
              <a:rPr lang="en-IN" dirty="0" err="1">
                <a:latin typeface="Times New Roman" panose="02020603050405020304" pitchFamily="18" charset="0"/>
                <a:ea typeface="Calibri" panose="020F0502020204030204" pitchFamily="34" charset="0"/>
                <a:cs typeface="Times New Roman" panose="02020603050405020304" pitchFamily="18" charset="0"/>
              </a:rPr>
              <a:t>P.Kothari</a:t>
            </a:r>
            <a:r>
              <a:rPr lang="en-IN" dirty="0">
                <a:latin typeface="Times New Roman" panose="02020603050405020304" pitchFamily="18" charset="0"/>
                <a:ea typeface="Calibri" panose="020F0502020204030204" pitchFamily="34" charset="0"/>
                <a:cs typeface="Times New Roman" panose="02020603050405020304" pitchFamily="18" charset="0"/>
              </a:rPr>
              <a:t>, “Electric Machines”, Third Edition, Tata McGraw-Hill Publishing Company Ltd. </a:t>
            </a:r>
          </a:p>
          <a:p>
            <a:pPr marL="190500">
              <a:lnSpc>
                <a:spcPct val="107000"/>
              </a:lnSpc>
              <a:spcAft>
                <a:spcPts val="0"/>
              </a:spcAft>
              <a:tabLst>
                <a:tab pos="64770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	 3. A. </a:t>
            </a:r>
            <a:r>
              <a:rPr lang="en-IN" dirty="0" err="1">
                <a:latin typeface="Times New Roman" panose="02020603050405020304" pitchFamily="18" charset="0"/>
                <a:ea typeface="Calibri" panose="020F0502020204030204" pitchFamily="34" charset="0"/>
                <a:cs typeface="Times New Roman" panose="02020603050405020304" pitchFamily="18" charset="0"/>
              </a:rPr>
              <a:t>E.Fitzgerald</a:t>
            </a:r>
            <a:r>
              <a:rPr lang="en-IN" dirty="0">
                <a:latin typeface="Times New Roman" panose="02020603050405020304" pitchFamily="18" charset="0"/>
                <a:ea typeface="Calibri" panose="020F0502020204030204" pitchFamily="34" charset="0"/>
                <a:cs typeface="Times New Roman" panose="02020603050405020304" pitchFamily="18" charset="0"/>
              </a:rPr>
              <a:t>, Charles Kingsley, Jr. Stephen D. </a:t>
            </a:r>
            <a:r>
              <a:rPr lang="en-IN" dirty="0" err="1">
                <a:latin typeface="Times New Roman" panose="02020603050405020304" pitchFamily="18" charset="0"/>
                <a:ea typeface="Calibri" panose="020F0502020204030204" pitchFamily="34" charset="0"/>
                <a:cs typeface="Times New Roman" panose="02020603050405020304" pitchFamily="18" charset="0"/>
              </a:rPr>
              <a:t>Umans</a:t>
            </a:r>
            <a:r>
              <a:rPr lang="en-IN" dirty="0">
                <a:latin typeface="Times New Roman" panose="02020603050405020304" pitchFamily="18" charset="0"/>
                <a:ea typeface="Calibri" panose="020F0502020204030204" pitchFamily="34" charset="0"/>
                <a:cs typeface="Times New Roman" panose="02020603050405020304" pitchFamily="18" charset="0"/>
              </a:rPr>
              <a:t>, “Electric Machinery”, Fifth Edition, Tata McGraw-Hill.</a:t>
            </a:r>
          </a:p>
          <a:p>
            <a:pPr marL="190500">
              <a:lnSpc>
                <a:spcPct val="107000"/>
              </a:lnSpc>
              <a:spcAft>
                <a:spcPts val="0"/>
              </a:spcAft>
              <a:tabLst>
                <a:tab pos="647700" algn="l"/>
              </a:tabLst>
            </a:pP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193FF3CD-6FCA-449C-9BDC-78223A0F7E5E}"/>
              </a:ext>
            </a:extLst>
          </p:cNvPr>
          <p:cNvSpPr txBox="1"/>
          <p:nvPr/>
        </p:nvSpPr>
        <p:spPr>
          <a:xfrm>
            <a:off x="781711" y="3804586"/>
            <a:ext cx="11293913" cy="1754326"/>
          </a:xfrm>
          <a:prstGeom prst="rect">
            <a:avLst/>
          </a:prstGeom>
          <a:noFill/>
        </p:spPr>
        <p:txBody>
          <a:bodyPr wrap="square" rtlCol="0">
            <a:spAutoFit/>
          </a:bodyPr>
          <a:lstStyle/>
          <a:p>
            <a:r>
              <a:rPr lang="en-IN" b="1" dirty="0"/>
              <a:t>Video Links: </a:t>
            </a:r>
            <a:r>
              <a:rPr lang="en-IN" dirty="0">
                <a:hlinkClick r:id="rId2"/>
              </a:rPr>
              <a:t>https://www.youtube.com/watch?v=xvL4rYUM4kA&amp;list=PLp6ek2hDcoNCANsWM2mw3qi0387BhfLyV&amp;index=6</a:t>
            </a:r>
            <a:endParaRPr lang="en-IN" dirty="0"/>
          </a:p>
          <a:p>
            <a:r>
              <a:rPr lang="en-IN" dirty="0">
                <a:hlinkClick r:id="rId3"/>
              </a:rPr>
              <a:t>https://www.youtube.com/watch?v=KAI4yJBASbc&amp;list=PLp6ek2hDcoNCANsWM2mw3qi0387BhfLyV&amp;index=7</a:t>
            </a:r>
            <a:endParaRPr lang="en-IN" dirty="0"/>
          </a:p>
          <a:p>
            <a:r>
              <a:rPr lang="en-IN" dirty="0">
                <a:hlinkClick r:id="rId4"/>
              </a:rPr>
              <a:t>https://www.youtube.com/watch?v=VdiocL2RAMc&amp;list=PLp6ek2hDcoNCANsWM2mw3qi0387BhfLyV&amp;index=8</a:t>
            </a:r>
            <a:endParaRPr lang="en-IN" dirty="0"/>
          </a:p>
          <a:p>
            <a:r>
              <a:rPr lang="en-IN" dirty="0">
                <a:hlinkClick r:id="rId5"/>
              </a:rPr>
              <a:t>https://www.youtube.com/watch?v=xT89C6CvqX8&amp;list=PLp6ek2hDcoNCANsWM2mw3qi0387BhfLyV&amp;index=9</a:t>
            </a:r>
            <a:endParaRPr lang="en-IN" dirty="0"/>
          </a:p>
          <a:p>
            <a:r>
              <a:rPr lang="en-IN" dirty="0">
                <a:hlinkClick r:id="rId6"/>
              </a:rPr>
              <a:t>https://www.youtube.com/watch?v=K_S1e06FAKc&amp;list=PLp6ek2hDcoNCANsWM2mw3qi0387BhfLyV&amp;index=10</a:t>
            </a:r>
            <a:endParaRPr lang="en-IN" dirty="0"/>
          </a:p>
        </p:txBody>
      </p:sp>
    </p:spTree>
    <p:extLst>
      <p:ext uri="{BB962C8B-B14F-4D97-AF65-F5344CB8AC3E}">
        <p14:creationId xmlns:p14="http://schemas.microsoft.com/office/powerpoint/2010/main" val="76195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CB2B8C0-6C26-446B-A45F-3A6D1AE7DFED}"/>
              </a:ext>
            </a:extLst>
          </p:cNvPr>
          <p:cNvSpPr/>
          <p:nvPr/>
        </p:nvSpPr>
        <p:spPr>
          <a:xfrm>
            <a:off x="1503432" y="1253599"/>
            <a:ext cx="242374" cy="368755"/>
          </a:xfrm>
          <a:prstGeom prst="rect">
            <a:avLst/>
          </a:prstGeom>
        </p:spPr>
        <p:txBody>
          <a:bodyPr wrap="none">
            <a:spAutoFit/>
          </a:bodyPr>
          <a:lstStyle/>
          <a:p>
            <a:pPr lvl="0" algn="just">
              <a:lnSpc>
                <a:spcPct val="107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 </a:t>
            </a: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9CACA609-2C42-44CF-B96D-05B56043E1A7}"/>
              </a:ext>
            </a:extLst>
          </p:cNvPr>
          <p:cNvSpPr txBox="1"/>
          <p:nvPr/>
        </p:nvSpPr>
        <p:spPr>
          <a:xfrm>
            <a:off x="3545222" y="1121865"/>
            <a:ext cx="4418564"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Three-Phase Transformer</a:t>
            </a:r>
          </a:p>
        </p:txBody>
      </p:sp>
      <p:sp>
        <p:nvSpPr>
          <p:cNvPr id="6" name="Rectangle 5">
            <a:extLst>
              <a:ext uri="{FF2B5EF4-FFF2-40B4-BE49-F238E27FC236}">
                <a16:creationId xmlns:a16="http://schemas.microsoft.com/office/drawing/2014/main" id="{E33C49B0-FB1B-3C86-01E9-364515A090ED}"/>
              </a:ext>
            </a:extLst>
          </p:cNvPr>
          <p:cNvSpPr/>
          <p:nvPr/>
        </p:nvSpPr>
        <p:spPr>
          <a:xfrm>
            <a:off x="1283032" y="2081288"/>
            <a:ext cx="9625935" cy="3416320"/>
          </a:xfrm>
          <a:prstGeom prst="rect">
            <a:avLst/>
          </a:prstGeom>
        </p:spPr>
        <p:txBody>
          <a:bodyPr wrap="square">
            <a:spAutoFit/>
          </a:bodyPr>
          <a:lstStyle/>
          <a:p>
            <a:pPr lvl="0"/>
            <a:r>
              <a:rPr lang="en-US" b="1" dirty="0"/>
              <a:t>In the operation of power systems, transformers are required to change the voltage levels throughout the network </a:t>
            </a:r>
          </a:p>
          <a:p>
            <a:pPr lvl="0"/>
            <a:r>
              <a:rPr lang="en-US" b="1" dirty="0"/>
              <a:t>- three-phase circuits use three-phase transformers</a:t>
            </a:r>
            <a:endParaRPr lang="en-IN" sz="3600" b="1" dirty="0"/>
          </a:p>
          <a:p>
            <a:pPr marL="1200150" lvl="2" indent="-285750">
              <a:buFont typeface="Arial" panose="020B0604020202020204" pitchFamily="34" charset="0"/>
              <a:buChar char="•"/>
            </a:pPr>
            <a:r>
              <a:rPr lang="en-US" dirty="0"/>
              <a:t>can be achieved by using a bank of three single-phase transformers</a:t>
            </a:r>
            <a:endParaRPr lang="en-IN" sz="1600" dirty="0"/>
          </a:p>
          <a:p>
            <a:pPr marL="1200150" lvl="2" indent="-285750">
              <a:buFont typeface="Arial" panose="020B0604020202020204" pitchFamily="34" charset="0"/>
              <a:buChar char="•"/>
            </a:pPr>
            <a:r>
              <a:rPr lang="en-US" dirty="0"/>
              <a:t>may be a 3-phase unit having three primary windings and three secondary windings on a 3-legged core</a:t>
            </a:r>
            <a:endParaRPr lang="en-IN" sz="1600" dirty="0"/>
          </a:p>
          <a:p>
            <a:pPr marL="1200150" lvl="2" indent="-285750">
              <a:buFont typeface="Arial" panose="020B0604020202020204" pitchFamily="34" charset="0"/>
              <a:buChar char="•"/>
            </a:pPr>
            <a:r>
              <a:rPr lang="en-US" dirty="0"/>
              <a:t>using a bank of three single phase transformers, the windings may be connected in a variety of ways</a:t>
            </a:r>
            <a:endParaRPr lang="en-IN" sz="1600" dirty="0"/>
          </a:p>
          <a:p>
            <a:pPr marL="1200150" lvl="2" indent="-285750">
              <a:buFont typeface="Arial" panose="020B0604020202020204" pitchFamily="34" charset="0"/>
              <a:buChar char="•"/>
            </a:pPr>
            <a:r>
              <a:rPr lang="en-US" dirty="0"/>
              <a:t>the primary side may be connected in a wye or delta configuration independent of the secondary connection</a:t>
            </a:r>
            <a:endParaRPr lang="en-IN" sz="1600" dirty="0"/>
          </a:p>
          <a:p>
            <a:pPr marL="1200150" lvl="2" indent="-285750">
              <a:buFont typeface="Arial" panose="020B0604020202020204" pitchFamily="34" charset="0"/>
              <a:buChar char="•"/>
            </a:pPr>
            <a:r>
              <a:rPr lang="en-US" dirty="0"/>
              <a:t>the secondary side may be connected in a wye or delta configuration independent of the primary connection</a:t>
            </a:r>
            <a:endParaRPr lang="en-IN" sz="1600" dirty="0"/>
          </a:p>
        </p:txBody>
      </p:sp>
    </p:spTree>
    <p:extLst>
      <p:ext uri="{BB962C8B-B14F-4D97-AF65-F5344CB8AC3E}">
        <p14:creationId xmlns:p14="http://schemas.microsoft.com/office/powerpoint/2010/main" val="1252639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580FB64-7287-23FD-7415-B68C3C84D83A}"/>
              </a:ext>
            </a:extLst>
          </p:cNvPr>
          <p:cNvSpPr/>
          <p:nvPr/>
        </p:nvSpPr>
        <p:spPr>
          <a:xfrm>
            <a:off x="1280521" y="1687883"/>
            <a:ext cx="9625935" cy="3416320"/>
          </a:xfrm>
          <a:prstGeom prst="rect">
            <a:avLst/>
          </a:prstGeom>
        </p:spPr>
        <p:txBody>
          <a:bodyPr wrap="square">
            <a:spAutoFit/>
          </a:bodyPr>
          <a:lstStyle/>
          <a:p>
            <a:pPr lvl="0"/>
            <a:r>
              <a:rPr lang="en-US" b="1" dirty="0"/>
              <a:t>In the operation of power systems, transformers are required to change the voltage levels throughout the network </a:t>
            </a:r>
          </a:p>
          <a:p>
            <a:pPr lvl="0"/>
            <a:r>
              <a:rPr lang="en-US" b="1" dirty="0"/>
              <a:t>- three-phase circuits use three-phase transformers</a:t>
            </a:r>
            <a:endParaRPr lang="en-IN" sz="3600" b="1" dirty="0"/>
          </a:p>
          <a:p>
            <a:pPr marL="1200150" lvl="2" indent="-285750">
              <a:buFont typeface="Arial" panose="020B0604020202020204" pitchFamily="34" charset="0"/>
              <a:buChar char="•"/>
            </a:pPr>
            <a:r>
              <a:rPr lang="en-US" dirty="0"/>
              <a:t>can be achieved by using a bank of three single-phase transformers</a:t>
            </a:r>
            <a:endParaRPr lang="en-IN" sz="1600" dirty="0"/>
          </a:p>
          <a:p>
            <a:pPr marL="1200150" lvl="2" indent="-285750">
              <a:buFont typeface="Arial" panose="020B0604020202020204" pitchFamily="34" charset="0"/>
              <a:buChar char="•"/>
            </a:pPr>
            <a:r>
              <a:rPr lang="en-US" dirty="0"/>
              <a:t>may be a 3-phase unit having three primary windings and three secondary windings on a 3-legged core</a:t>
            </a:r>
            <a:endParaRPr lang="en-IN" sz="1600" dirty="0"/>
          </a:p>
          <a:p>
            <a:pPr marL="1200150" lvl="2" indent="-285750">
              <a:buFont typeface="Arial" panose="020B0604020202020204" pitchFamily="34" charset="0"/>
              <a:buChar char="•"/>
            </a:pPr>
            <a:r>
              <a:rPr lang="en-US" dirty="0"/>
              <a:t>using a bank of three single phase transformers, the windings may be connected in a variety of ways</a:t>
            </a:r>
            <a:endParaRPr lang="en-IN" sz="1600" dirty="0"/>
          </a:p>
          <a:p>
            <a:pPr marL="1200150" lvl="2" indent="-285750">
              <a:buFont typeface="Arial" panose="020B0604020202020204" pitchFamily="34" charset="0"/>
              <a:buChar char="•"/>
            </a:pPr>
            <a:r>
              <a:rPr lang="en-US" dirty="0"/>
              <a:t>the primary side may be connected in a wye or delta configuration independent of the secondary connection</a:t>
            </a:r>
            <a:endParaRPr lang="en-IN" sz="1600" dirty="0"/>
          </a:p>
          <a:p>
            <a:pPr marL="1200150" lvl="2" indent="-285750">
              <a:buFont typeface="Arial" panose="020B0604020202020204" pitchFamily="34" charset="0"/>
              <a:buChar char="•"/>
            </a:pPr>
            <a:r>
              <a:rPr lang="en-US" dirty="0"/>
              <a:t>the secondary side may be connected in a wye or delta configuration independent of the primary connection</a:t>
            </a:r>
            <a:endParaRPr lang="en-IN" sz="1600" dirty="0"/>
          </a:p>
        </p:txBody>
      </p:sp>
      <p:sp>
        <p:nvSpPr>
          <p:cNvPr id="7" name="TextBox 6">
            <a:extLst>
              <a:ext uri="{FF2B5EF4-FFF2-40B4-BE49-F238E27FC236}">
                <a16:creationId xmlns:a16="http://schemas.microsoft.com/office/drawing/2014/main" id="{686A92C3-307E-E0BD-B5CB-C437E41359E1}"/>
              </a:ext>
            </a:extLst>
          </p:cNvPr>
          <p:cNvSpPr txBox="1"/>
          <p:nvPr/>
        </p:nvSpPr>
        <p:spPr>
          <a:xfrm>
            <a:off x="4869554" y="974659"/>
            <a:ext cx="2813784" cy="523220"/>
          </a:xfrm>
          <a:prstGeom prst="rect">
            <a:avLst/>
          </a:prstGeom>
          <a:noFill/>
        </p:spPr>
        <p:txBody>
          <a:bodyPr wrap="none" rtlCol="0">
            <a:spAutoFit/>
          </a:bodyPr>
          <a:lstStyle/>
          <a:p>
            <a:r>
              <a:rPr lang="en-IN" sz="2800" dirty="0">
                <a:latin typeface="Times New Roman" panose="02020603050405020304" pitchFamily="18" charset="0"/>
                <a:cs typeface="Times New Roman" panose="02020603050405020304" pitchFamily="18" charset="0"/>
              </a:rPr>
              <a:t>Transformer Bank</a:t>
            </a:r>
          </a:p>
        </p:txBody>
      </p:sp>
    </p:spTree>
    <p:extLst>
      <p:ext uri="{BB962C8B-B14F-4D97-AF65-F5344CB8AC3E}">
        <p14:creationId xmlns:p14="http://schemas.microsoft.com/office/powerpoint/2010/main" val="1969217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CF402815-8740-4C3B-B43D-F92862A2B185}"/>
              </a:ext>
            </a:extLst>
          </p:cNvPr>
          <p:cNvSpPr>
            <a:spLocks noChangeArrowheads="1"/>
          </p:cNvSpPr>
          <p:nvPr/>
        </p:nvSpPr>
        <p:spPr bwMode="auto">
          <a:xfrm>
            <a:off x="3861245" y="1055463"/>
            <a:ext cx="709666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Delta- Delta Connection</a:t>
            </a:r>
          </a:p>
        </p:txBody>
      </p:sp>
      <p:pic>
        <p:nvPicPr>
          <p:cNvPr id="16" name="image1.jpeg">
            <a:extLst>
              <a:ext uri="{FF2B5EF4-FFF2-40B4-BE49-F238E27FC236}">
                <a16:creationId xmlns:a16="http://schemas.microsoft.com/office/drawing/2014/main" id="{F3B67755-27B0-4D01-B6DB-5FB2E777BB85}"/>
              </a:ext>
            </a:extLst>
          </p:cNvPr>
          <p:cNvPicPr/>
          <p:nvPr/>
        </p:nvPicPr>
        <p:blipFill>
          <a:blip r:embed="rId2" cstate="print"/>
          <a:stretch>
            <a:fillRect/>
          </a:stretch>
        </p:blipFill>
        <p:spPr>
          <a:xfrm>
            <a:off x="8523864" y="1098755"/>
            <a:ext cx="3061970" cy="1947545"/>
          </a:xfrm>
          <a:prstGeom prst="rect">
            <a:avLst/>
          </a:prstGeom>
        </p:spPr>
      </p:pic>
      <p:pic>
        <p:nvPicPr>
          <p:cNvPr id="17" name="image2.jpeg">
            <a:extLst>
              <a:ext uri="{FF2B5EF4-FFF2-40B4-BE49-F238E27FC236}">
                <a16:creationId xmlns:a16="http://schemas.microsoft.com/office/drawing/2014/main" id="{BF7603FA-4731-479A-A244-FF0782F9F452}"/>
              </a:ext>
            </a:extLst>
          </p:cNvPr>
          <p:cNvPicPr/>
          <p:nvPr/>
        </p:nvPicPr>
        <p:blipFill>
          <a:blip r:embed="rId3" cstate="print"/>
          <a:stretch>
            <a:fillRect/>
          </a:stretch>
        </p:blipFill>
        <p:spPr>
          <a:xfrm>
            <a:off x="8003223" y="3187248"/>
            <a:ext cx="3582611" cy="2226742"/>
          </a:xfrm>
          <a:prstGeom prst="rect">
            <a:avLst/>
          </a:prstGeom>
        </p:spPr>
      </p:pic>
      <p:sp>
        <p:nvSpPr>
          <p:cNvPr id="2" name="Rectangle 1">
            <a:extLst>
              <a:ext uri="{FF2B5EF4-FFF2-40B4-BE49-F238E27FC236}">
                <a16:creationId xmlns:a16="http://schemas.microsoft.com/office/drawing/2014/main" id="{21A59E54-5F3B-4464-9503-5342154178E6}"/>
              </a:ext>
            </a:extLst>
          </p:cNvPr>
          <p:cNvSpPr/>
          <p:nvPr/>
        </p:nvSpPr>
        <p:spPr>
          <a:xfrm>
            <a:off x="808613" y="1796291"/>
            <a:ext cx="9164061" cy="3258200"/>
          </a:xfrm>
          <a:prstGeom prst="rect">
            <a:avLst/>
          </a:prstGeom>
        </p:spPr>
        <p:txBody>
          <a:bodyPr wrap="square">
            <a:spAutoFit/>
          </a:bodyPr>
          <a:lstStyle/>
          <a:p>
            <a:pPr marL="342900" marR="3413125" lvl="0" indent="-342900" algn="just">
              <a:lnSpc>
                <a:spcPct val="110000"/>
              </a:lnSpc>
              <a:spcBef>
                <a:spcPts val="400"/>
              </a:spcBef>
              <a:spcAft>
                <a:spcPts val="0"/>
              </a:spcAft>
              <a:buFont typeface="Arial" panose="020B0604020202020204" pitchFamily="34" charset="0"/>
              <a:buChar char="•"/>
              <a:tabLst>
                <a:tab pos="572770" algn="l"/>
                <a:tab pos="573405" algn="l"/>
              </a:tabLst>
            </a:pPr>
            <a:r>
              <a:rPr lang="en-US" dirty="0">
                <a:latin typeface="Times New Roman" panose="02020603050405020304" pitchFamily="18" charset="0"/>
                <a:ea typeface="Times New Roman" panose="02020603050405020304" pitchFamily="18" charset="0"/>
              </a:rPr>
              <a:t>Three single-phase transformers</a:t>
            </a:r>
            <a:r>
              <a:rPr lang="en-US" spc="-8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connected in delta-delta</a:t>
            </a:r>
            <a:endParaRPr lang="en-IN" dirty="0">
              <a:latin typeface="Times New Roman" panose="02020603050405020304" pitchFamily="18" charset="0"/>
              <a:ea typeface="Times New Roman" panose="02020603050405020304" pitchFamily="18" charset="0"/>
            </a:endParaRPr>
          </a:p>
          <a:p>
            <a:pPr marL="742950" marR="3764915" lvl="1" indent="-285750" algn="just">
              <a:lnSpc>
                <a:spcPct val="90000"/>
              </a:lnSpc>
              <a:spcBef>
                <a:spcPts val="470"/>
              </a:spcBef>
              <a:spcAft>
                <a:spcPts val="0"/>
              </a:spcAft>
              <a:buFont typeface="Arial" panose="020B0604020202020204" pitchFamily="34" charset="0"/>
              <a:buChar char="–"/>
              <a:tabLst>
                <a:tab pos="973455" algn="l"/>
                <a:tab pos="974090" algn="l"/>
              </a:tabLst>
            </a:pPr>
            <a:r>
              <a:rPr lang="en-IN" dirty="0">
                <a:latin typeface="Times New Roman" panose="02020603050405020304" pitchFamily="18" charset="0"/>
                <a:ea typeface="Times New Roman" panose="02020603050405020304" pitchFamily="18" charset="0"/>
              </a:rPr>
              <a:t>This arrangement is generally used in systems which carry large currents on low voltage and especially when continually of service must be maintained even though one of the phase develops faults.</a:t>
            </a:r>
          </a:p>
          <a:p>
            <a:pPr marL="742950" marR="4892040" lvl="1" indent="-285750" algn="just">
              <a:lnSpc>
                <a:spcPct val="103000"/>
              </a:lnSpc>
              <a:spcBef>
                <a:spcPts val="555"/>
              </a:spcBef>
              <a:spcAft>
                <a:spcPts val="0"/>
              </a:spcAft>
              <a:buFont typeface="Arial" panose="020B0604020202020204" pitchFamily="34" charset="0"/>
              <a:buChar char="–"/>
              <a:tabLst>
                <a:tab pos="973455" algn="l"/>
                <a:tab pos="974090" algn="l"/>
              </a:tabLst>
            </a:pPr>
            <a:r>
              <a:rPr lang="en-US" dirty="0">
                <a:latin typeface="Times New Roman" panose="02020603050405020304" pitchFamily="18" charset="0"/>
                <a:ea typeface="Times New Roman" panose="02020603050405020304" pitchFamily="18" charset="0"/>
              </a:rPr>
              <a:t>the primary-side line</a:t>
            </a:r>
            <a:r>
              <a:rPr lang="en-US" spc="-12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voltage is transformed to the secondary-side line</a:t>
            </a:r>
            <a:r>
              <a:rPr lang="en-US" spc="-5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voltage</a:t>
            </a:r>
            <a:endParaRPr lang="en-IN" dirty="0">
              <a:latin typeface="Times New Roman" panose="02020603050405020304" pitchFamily="18" charset="0"/>
              <a:ea typeface="Times New Roman" panose="02020603050405020304" pitchFamily="18" charset="0"/>
            </a:endParaRPr>
          </a:p>
          <a:p>
            <a:pPr marL="742950" marR="4361180" lvl="1" indent="-285750" algn="just">
              <a:lnSpc>
                <a:spcPct val="103000"/>
              </a:lnSpc>
              <a:spcBef>
                <a:spcPts val="505"/>
              </a:spcBef>
              <a:spcAft>
                <a:spcPts val="0"/>
              </a:spcAft>
              <a:buFont typeface="Arial" panose="020B0604020202020204" pitchFamily="34" charset="0"/>
              <a:buChar char="–"/>
              <a:tabLst>
                <a:tab pos="973455" algn="l"/>
                <a:tab pos="974090" algn="l"/>
              </a:tabLst>
            </a:pPr>
            <a:r>
              <a:rPr lang="en-US" dirty="0">
                <a:latin typeface="Times New Roman" panose="02020603050405020304" pitchFamily="18" charset="0"/>
                <a:ea typeface="Times New Roman" panose="02020603050405020304" pitchFamily="18" charset="0"/>
              </a:rPr>
              <a:t>There is no phase displacement between the primary and secondary voltages.</a:t>
            </a:r>
            <a:endParaRPr lang="en-IN"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953574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CB2B8C0-6C26-446B-A45F-3A6D1AE7DFED}"/>
              </a:ext>
            </a:extLst>
          </p:cNvPr>
          <p:cNvSpPr/>
          <p:nvPr/>
        </p:nvSpPr>
        <p:spPr>
          <a:xfrm>
            <a:off x="1503432" y="1253599"/>
            <a:ext cx="242374" cy="368755"/>
          </a:xfrm>
          <a:prstGeom prst="rect">
            <a:avLst/>
          </a:prstGeom>
        </p:spPr>
        <p:txBody>
          <a:bodyPr wrap="none">
            <a:spAutoFit/>
          </a:bodyPr>
          <a:lstStyle/>
          <a:p>
            <a:pPr lvl="0" algn="just">
              <a:lnSpc>
                <a:spcPct val="107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 </a:t>
            </a: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9CACA609-2C42-44CF-B96D-05B56043E1A7}"/>
              </a:ext>
            </a:extLst>
          </p:cNvPr>
          <p:cNvSpPr txBox="1"/>
          <p:nvPr/>
        </p:nvSpPr>
        <p:spPr>
          <a:xfrm>
            <a:off x="4895557" y="1098755"/>
            <a:ext cx="4026286"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Delta-Star Connection</a:t>
            </a:r>
          </a:p>
        </p:txBody>
      </p:sp>
      <p:pic>
        <p:nvPicPr>
          <p:cNvPr id="2049" name="image4.jpeg">
            <a:extLst>
              <a:ext uri="{FF2B5EF4-FFF2-40B4-BE49-F238E27FC236}">
                <a16:creationId xmlns:a16="http://schemas.microsoft.com/office/drawing/2014/main" id="{B7D5E4CE-994C-48C3-B6C6-FC65D8CD4C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9871" y="3126864"/>
            <a:ext cx="3699118" cy="2465182"/>
          </a:xfrm>
          <a:prstGeom prst="rect">
            <a:avLst/>
          </a:prstGeom>
          <a:noFill/>
          <a:extLst>
            <a:ext uri="{909E8E84-426E-40DD-AFC4-6F175D3DCCD1}">
              <a14:hiddenFill xmlns:a14="http://schemas.microsoft.com/office/drawing/2010/main">
                <a:solidFill>
                  <a:srgbClr val="FFFFFF"/>
                </a:solidFill>
              </a14:hiddenFill>
            </a:ext>
          </a:extLst>
        </p:spPr>
      </p:pic>
      <p:pic>
        <p:nvPicPr>
          <p:cNvPr id="2050" name="image3.jpeg">
            <a:extLst>
              <a:ext uri="{FF2B5EF4-FFF2-40B4-BE49-F238E27FC236}">
                <a16:creationId xmlns:a16="http://schemas.microsoft.com/office/drawing/2014/main" id="{CA24C211-CA9D-44E1-A820-3D3AF5FBD0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25607" y="1060245"/>
            <a:ext cx="2889250" cy="1951038"/>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9E50E6C9-194B-41A6-96E7-39FB9C76844C}"/>
              </a:ext>
            </a:extLst>
          </p:cNvPr>
          <p:cNvSpPr/>
          <p:nvPr/>
        </p:nvSpPr>
        <p:spPr>
          <a:xfrm>
            <a:off x="789433" y="1622354"/>
            <a:ext cx="10169080" cy="3103157"/>
          </a:xfrm>
          <a:prstGeom prst="rect">
            <a:avLst/>
          </a:prstGeom>
        </p:spPr>
        <p:txBody>
          <a:bodyPr wrap="square">
            <a:spAutoFit/>
          </a:bodyPr>
          <a:lstStyle/>
          <a:p>
            <a:pPr marL="342900" marR="3413125" lvl="0" indent="-342900">
              <a:lnSpc>
                <a:spcPct val="110000"/>
              </a:lnSpc>
              <a:spcBef>
                <a:spcPts val="400"/>
              </a:spcBef>
              <a:spcAft>
                <a:spcPts val="0"/>
              </a:spcAft>
              <a:buFont typeface="Arial" panose="020B0604020202020204" pitchFamily="34" charset="0"/>
              <a:buChar char="•"/>
              <a:tabLst>
                <a:tab pos="572770" algn="l"/>
                <a:tab pos="573405" algn="l"/>
              </a:tabLst>
            </a:pPr>
            <a:r>
              <a:rPr lang="en-US" dirty="0">
                <a:latin typeface="Times New Roman" panose="02020603050405020304" pitchFamily="18" charset="0"/>
                <a:ea typeface="Times New Roman" panose="02020603050405020304" pitchFamily="18" charset="0"/>
              </a:rPr>
              <a:t>Three single-phase transformers</a:t>
            </a:r>
            <a:r>
              <a:rPr lang="en-US" spc="-8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connected in delta-wye</a:t>
            </a:r>
            <a:endParaRPr lang="en-IN" dirty="0">
              <a:latin typeface="Times New Roman" panose="02020603050405020304" pitchFamily="18" charset="0"/>
              <a:ea typeface="Times New Roman" panose="02020603050405020304" pitchFamily="18" charset="0"/>
            </a:endParaRPr>
          </a:p>
          <a:p>
            <a:pPr marL="742950" marR="3764915" lvl="1" indent="-285750">
              <a:lnSpc>
                <a:spcPct val="90000"/>
              </a:lnSpc>
              <a:spcBef>
                <a:spcPts val="470"/>
              </a:spcBef>
              <a:spcAft>
                <a:spcPts val="0"/>
              </a:spcAft>
              <a:buFont typeface="Arial" panose="020B0604020202020204" pitchFamily="34" charset="0"/>
              <a:buChar char="–"/>
              <a:tabLst>
                <a:tab pos="973455" algn="l"/>
                <a:tab pos="974090" algn="l"/>
              </a:tabLst>
            </a:pPr>
            <a:r>
              <a:rPr lang="en-IN" dirty="0">
                <a:latin typeface="Times New Roman" panose="02020603050405020304" pitchFamily="18" charset="0"/>
                <a:ea typeface="Times New Roman" panose="02020603050405020304" pitchFamily="18" charset="0"/>
              </a:rPr>
              <a:t>This type of connection is generally used where it is necessary to step up the voltage ( generating Points).</a:t>
            </a:r>
          </a:p>
          <a:p>
            <a:pPr marL="742950" marR="3860165" lvl="1" indent="-285750">
              <a:lnSpc>
                <a:spcPct val="90000"/>
              </a:lnSpc>
              <a:spcBef>
                <a:spcPts val="705"/>
              </a:spcBef>
              <a:spcAft>
                <a:spcPts val="0"/>
              </a:spcAft>
              <a:buFont typeface="Arial" panose="020B0604020202020204" pitchFamily="34" charset="0"/>
              <a:buChar char="–"/>
              <a:tabLst>
                <a:tab pos="973455" algn="l"/>
                <a:tab pos="974090" algn="l"/>
              </a:tabLst>
            </a:pPr>
            <a:r>
              <a:rPr lang="en-IN" dirty="0">
                <a:latin typeface="Times New Roman" panose="02020603050405020304" pitchFamily="18" charset="0"/>
                <a:ea typeface="Times New Roman" panose="02020603050405020304" pitchFamily="18" charset="0"/>
              </a:rPr>
              <a:t>In this system the line voltage ratio is </a:t>
            </a:r>
            <a:r>
              <a:rPr lang="en-IN" dirty="0">
                <a:latin typeface="Times New Roman" panose="02020603050405020304" pitchFamily="18" charset="0"/>
                <a:ea typeface="Times New Roman" panose="02020603050405020304" pitchFamily="18" charset="0"/>
                <a:cs typeface="Times New Roman" panose="02020603050405020304" pitchFamily="18" charset="0"/>
              </a:rPr>
              <a:t>√3 times of transformer turn-ratio.</a:t>
            </a:r>
            <a:endParaRPr lang="en-IN" dirty="0">
              <a:latin typeface="Times New Roman" panose="02020603050405020304" pitchFamily="18" charset="0"/>
              <a:ea typeface="Times New Roman" panose="02020603050405020304" pitchFamily="18" charset="0"/>
            </a:endParaRPr>
          </a:p>
          <a:p>
            <a:pPr marL="742950" marR="4839970" lvl="1" indent="-285750">
              <a:lnSpc>
                <a:spcPct val="103000"/>
              </a:lnSpc>
              <a:spcBef>
                <a:spcPts val="570"/>
              </a:spcBef>
              <a:spcAft>
                <a:spcPts val="0"/>
              </a:spcAft>
              <a:buFont typeface="Arial" panose="020B0604020202020204" pitchFamily="34" charset="0"/>
              <a:buChar char="–"/>
              <a:tabLst>
                <a:tab pos="973455" algn="l"/>
                <a:tab pos="974090" algn="l"/>
              </a:tabLst>
            </a:pPr>
            <a:r>
              <a:rPr lang="en-US" dirty="0">
                <a:latin typeface="Times New Roman" panose="02020603050405020304" pitchFamily="18" charset="0"/>
                <a:ea typeface="Times New Roman" panose="02020603050405020304" pitchFamily="18" charset="0"/>
              </a:rPr>
              <a:t>the primary-side line voltage is transformed to the secondary-side phase</a:t>
            </a:r>
            <a:r>
              <a:rPr lang="en-US" spc="-8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voltage</a:t>
            </a:r>
            <a:endParaRPr lang="en-IN" dirty="0">
              <a:latin typeface="Times New Roman" panose="02020603050405020304" pitchFamily="18" charset="0"/>
              <a:ea typeface="Times New Roman" panose="02020603050405020304" pitchFamily="18" charset="0"/>
            </a:endParaRPr>
          </a:p>
          <a:p>
            <a:pPr marL="742950" lvl="1" indent="-285750">
              <a:spcBef>
                <a:spcPts val="505"/>
              </a:spcBef>
              <a:spcAft>
                <a:spcPts val="0"/>
              </a:spcAft>
              <a:buFont typeface="Arial" panose="020B0604020202020204" pitchFamily="34" charset="0"/>
              <a:buChar char="–"/>
              <a:tabLst>
                <a:tab pos="973455" algn="l"/>
                <a:tab pos="974090" algn="l"/>
              </a:tabLst>
            </a:pPr>
            <a:r>
              <a:rPr lang="en-US" dirty="0">
                <a:latin typeface="Times New Roman" panose="02020603050405020304" pitchFamily="18" charset="0"/>
                <a:ea typeface="Times New Roman" panose="02020603050405020304" pitchFamily="18" charset="0"/>
              </a:rPr>
              <a:t>the delta-wye connection</a:t>
            </a:r>
            <a:r>
              <a:rPr lang="en-US" spc="-2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produces</a:t>
            </a:r>
            <a:endParaRPr lang="en-IN" dirty="0">
              <a:latin typeface="Times New Roman" panose="02020603050405020304" pitchFamily="18" charset="0"/>
              <a:ea typeface="Times New Roman" panose="02020603050405020304" pitchFamily="18" charset="0"/>
            </a:endParaRPr>
          </a:p>
          <a:p>
            <a:pPr marL="973455" marR="3620770">
              <a:lnSpc>
                <a:spcPct val="103000"/>
              </a:lnSpc>
              <a:spcBef>
                <a:spcPts val="100"/>
              </a:spcBef>
              <a:spcAft>
                <a:spcPts val="0"/>
              </a:spcAft>
            </a:pPr>
            <a:r>
              <a:rPr lang="en-US" dirty="0">
                <a:latin typeface="Times New Roman" panose="02020603050405020304" pitchFamily="18" charset="0"/>
                <a:ea typeface="Times New Roman" panose="02020603050405020304" pitchFamily="18" charset="0"/>
              </a:rPr>
              <a:t>a 30° phase shift between the primary and secondary voltages and currents</a:t>
            </a:r>
            <a:endParaRPr lang="en-IN"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21049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ACA609-2C42-44CF-B96D-05B56043E1A7}"/>
              </a:ext>
            </a:extLst>
          </p:cNvPr>
          <p:cNvSpPr txBox="1"/>
          <p:nvPr/>
        </p:nvSpPr>
        <p:spPr>
          <a:xfrm>
            <a:off x="4698781" y="1051800"/>
            <a:ext cx="3431090"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Star- Delta Connection</a:t>
            </a:r>
          </a:p>
        </p:txBody>
      </p:sp>
      <p:sp>
        <p:nvSpPr>
          <p:cNvPr id="3" name="Rectangle 2">
            <a:extLst>
              <a:ext uri="{FF2B5EF4-FFF2-40B4-BE49-F238E27FC236}">
                <a16:creationId xmlns:a16="http://schemas.microsoft.com/office/drawing/2014/main" id="{62282A81-9324-4075-8B11-F8E4FF31358E}"/>
              </a:ext>
            </a:extLst>
          </p:cNvPr>
          <p:cNvSpPr/>
          <p:nvPr/>
        </p:nvSpPr>
        <p:spPr>
          <a:xfrm>
            <a:off x="890588" y="1558014"/>
            <a:ext cx="6096000" cy="3388492"/>
          </a:xfrm>
          <a:prstGeom prst="rect">
            <a:avLst/>
          </a:prstGeom>
        </p:spPr>
        <p:txBody>
          <a:bodyPr>
            <a:spAutoFit/>
          </a:bodyPr>
          <a:lstStyle/>
          <a:p>
            <a:pPr marL="342900" lvl="0" indent="-342900">
              <a:lnSpc>
                <a:spcPct val="110000"/>
              </a:lnSpc>
              <a:spcBef>
                <a:spcPts val="400"/>
              </a:spcBef>
              <a:spcAft>
                <a:spcPts val="0"/>
              </a:spcAft>
              <a:buFont typeface="Arial" panose="020B0604020202020204" pitchFamily="34" charset="0"/>
              <a:buChar char="•"/>
              <a:tabLst>
                <a:tab pos="572770" algn="l"/>
                <a:tab pos="573405" algn="l"/>
              </a:tabLst>
            </a:pPr>
            <a:r>
              <a:rPr lang="en-US" dirty="0">
                <a:latin typeface="Times New Roman" panose="02020603050405020304" pitchFamily="18" charset="0"/>
                <a:ea typeface="Times New Roman" panose="02020603050405020304" pitchFamily="18" charset="0"/>
              </a:rPr>
              <a:t>The currents in a star (wye)-delta connection are identical to those in the delta-wye</a:t>
            </a:r>
            <a:r>
              <a:rPr lang="en-US" spc="-2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connection</a:t>
            </a:r>
            <a:endParaRPr lang="en-IN" dirty="0">
              <a:latin typeface="Times New Roman" panose="02020603050405020304" pitchFamily="18" charset="0"/>
              <a:ea typeface="Times New Roman" panose="02020603050405020304" pitchFamily="18" charset="0"/>
            </a:endParaRPr>
          </a:p>
          <a:p>
            <a:pPr marL="742950" marR="514350" lvl="1" indent="-285750">
              <a:lnSpc>
                <a:spcPct val="103000"/>
              </a:lnSpc>
              <a:spcBef>
                <a:spcPts val="335"/>
              </a:spcBef>
              <a:spcAft>
                <a:spcPts val="0"/>
              </a:spcAft>
              <a:buFont typeface="Arial" panose="020B0604020202020204" pitchFamily="34" charset="0"/>
              <a:buChar char="–"/>
              <a:tabLst>
                <a:tab pos="973455" algn="l"/>
                <a:tab pos="974090" algn="l"/>
              </a:tabLst>
            </a:pPr>
            <a:r>
              <a:rPr lang="en-IN" dirty="0">
                <a:latin typeface="Times New Roman" panose="02020603050405020304" pitchFamily="18" charset="0"/>
                <a:ea typeface="Times New Roman" panose="02020603050405020304" pitchFamily="18" charset="0"/>
              </a:rPr>
              <a:t>This type of transformer connection is used where the voltage is to be stepped down.</a:t>
            </a:r>
          </a:p>
          <a:p>
            <a:pPr marL="742950" marR="468630" lvl="1" indent="-285750">
              <a:lnSpc>
                <a:spcPct val="98000"/>
              </a:lnSpc>
              <a:spcBef>
                <a:spcPts val="510"/>
              </a:spcBef>
              <a:spcAft>
                <a:spcPts val="0"/>
              </a:spcAft>
              <a:buFont typeface="Arial" panose="020B0604020202020204" pitchFamily="34" charset="0"/>
              <a:buChar char="–"/>
              <a:tabLst>
                <a:tab pos="973455" algn="l"/>
                <a:tab pos="974090" algn="l"/>
              </a:tabLst>
            </a:pPr>
            <a:r>
              <a:rPr lang="en-IN" dirty="0">
                <a:latin typeface="Times New Roman" panose="02020603050405020304" pitchFamily="18" charset="0"/>
                <a:ea typeface="Times New Roman" panose="02020603050405020304" pitchFamily="18" charset="0"/>
              </a:rPr>
              <a:t>In this system line voltage ratio is 1/</a:t>
            </a:r>
            <a:r>
              <a:rPr lang="en-IN" dirty="0">
                <a:latin typeface="Times New Roman" panose="02020603050405020304" pitchFamily="18" charset="0"/>
                <a:ea typeface="Times New Roman" panose="02020603050405020304" pitchFamily="18" charset="0"/>
                <a:cs typeface="Times New Roman" panose="02020603050405020304" pitchFamily="18" charset="0"/>
              </a:rPr>
              <a:t>√3 times the transformer turn ratio. </a:t>
            </a:r>
          </a:p>
          <a:p>
            <a:pPr marL="742950" marR="468630" lvl="1" indent="-285750">
              <a:lnSpc>
                <a:spcPct val="98000"/>
              </a:lnSpc>
              <a:spcBef>
                <a:spcPts val="510"/>
              </a:spcBef>
              <a:spcAft>
                <a:spcPts val="0"/>
              </a:spcAft>
              <a:buFont typeface="Arial" panose="020B0604020202020204" pitchFamily="34" charset="0"/>
              <a:buChar char="–"/>
              <a:tabLst>
                <a:tab pos="973455" algn="l"/>
                <a:tab pos="974090" algn="l"/>
              </a:tabLst>
            </a:pPr>
            <a:r>
              <a:rPr lang="en-US" dirty="0">
                <a:latin typeface="Times New Roman" panose="02020603050405020304" pitchFamily="18" charset="0"/>
                <a:ea typeface="Times New Roman" panose="02020603050405020304" pitchFamily="18" charset="0"/>
              </a:rPr>
              <a:t>Again, the connection results in</a:t>
            </a:r>
            <a:r>
              <a:rPr lang="en-US" spc="-7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a 30° phase shift between the primary and secondary voltages and currents</a:t>
            </a:r>
            <a:endParaRPr lang="en-IN" dirty="0">
              <a:latin typeface="Times New Roman" panose="02020603050405020304" pitchFamily="18" charset="0"/>
              <a:ea typeface="Times New Roman" panose="02020603050405020304" pitchFamily="18" charset="0"/>
            </a:endParaRPr>
          </a:p>
          <a:p>
            <a:pPr marL="742950" marR="370840" lvl="1" indent="-285750">
              <a:lnSpc>
                <a:spcPct val="103000"/>
              </a:lnSpc>
              <a:spcBef>
                <a:spcPts val="325"/>
              </a:spcBef>
              <a:spcAft>
                <a:spcPts val="0"/>
              </a:spcAft>
              <a:buFont typeface="Arial" panose="020B0604020202020204" pitchFamily="34" charset="0"/>
              <a:buChar char="–"/>
              <a:tabLst>
                <a:tab pos="935990" algn="l"/>
                <a:tab pos="936625" algn="l"/>
              </a:tabLst>
            </a:pPr>
            <a:r>
              <a:rPr lang="en-US" dirty="0">
                <a:latin typeface="Times New Roman" panose="02020603050405020304" pitchFamily="18" charset="0"/>
                <a:ea typeface="Times New Roman" panose="02020603050405020304" pitchFamily="18" charset="0"/>
              </a:rPr>
              <a:t>the primary-side phase voltage is transformed to the</a:t>
            </a:r>
            <a:r>
              <a:rPr lang="en-US" spc="-13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secondary- side line</a:t>
            </a:r>
            <a:r>
              <a:rPr lang="en-US" spc="-2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voltage</a:t>
            </a:r>
            <a:endParaRPr lang="en-IN"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02583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ACA609-2C42-44CF-B96D-05B56043E1A7}"/>
              </a:ext>
            </a:extLst>
          </p:cNvPr>
          <p:cNvSpPr txBox="1"/>
          <p:nvPr/>
        </p:nvSpPr>
        <p:spPr>
          <a:xfrm>
            <a:off x="4346917" y="1098755"/>
            <a:ext cx="4026286"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Star- Star Connection</a:t>
            </a:r>
          </a:p>
        </p:txBody>
      </p:sp>
      <p:sp>
        <p:nvSpPr>
          <p:cNvPr id="3" name="Rectangle 2">
            <a:extLst>
              <a:ext uri="{FF2B5EF4-FFF2-40B4-BE49-F238E27FC236}">
                <a16:creationId xmlns:a16="http://schemas.microsoft.com/office/drawing/2014/main" id="{8C4B7FFB-12BE-4E4A-942B-AABF81D5C4EB}"/>
              </a:ext>
            </a:extLst>
          </p:cNvPr>
          <p:cNvSpPr/>
          <p:nvPr/>
        </p:nvSpPr>
        <p:spPr>
          <a:xfrm>
            <a:off x="873789" y="1485143"/>
            <a:ext cx="10299036" cy="2615716"/>
          </a:xfrm>
          <a:prstGeom prst="rect">
            <a:avLst/>
          </a:prstGeom>
        </p:spPr>
        <p:txBody>
          <a:bodyPr wrap="square">
            <a:spAutoFit/>
          </a:bodyPr>
          <a:lstStyle/>
          <a:p>
            <a:pPr marL="342900" lvl="0" indent="-342900" algn="just">
              <a:spcBef>
                <a:spcPts val="400"/>
              </a:spcBef>
              <a:spcAft>
                <a:spcPts val="0"/>
              </a:spcAft>
              <a:buSzPts val="2200"/>
              <a:buFont typeface="Times New Roman" panose="02020603050405020304" pitchFamily="18" charset="0"/>
              <a:buChar char="•"/>
              <a:tabLst>
                <a:tab pos="406400" algn="l"/>
                <a:tab pos="407035" algn="l"/>
              </a:tabLst>
            </a:pPr>
            <a:r>
              <a:rPr lang="en-US" dirty="0">
                <a:latin typeface="Times New Roman" panose="02020603050405020304" pitchFamily="18" charset="0"/>
                <a:ea typeface="Times New Roman" panose="02020603050405020304" pitchFamily="18" charset="0"/>
              </a:rPr>
              <a:t>Three single-phase transformers connected</a:t>
            </a:r>
            <a:r>
              <a:rPr lang="en-US" spc="-2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wye-wye</a:t>
            </a:r>
            <a:endParaRPr lang="en-IN" dirty="0">
              <a:latin typeface="Times New Roman" panose="02020603050405020304" pitchFamily="18" charset="0"/>
              <a:ea typeface="Times New Roman" panose="02020603050405020304" pitchFamily="18" charset="0"/>
            </a:endParaRPr>
          </a:p>
          <a:p>
            <a:pPr marL="742950" marR="282575" lvl="1" indent="-285750" algn="just">
              <a:lnSpc>
                <a:spcPct val="90000"/>
              </a:lnSpc>
              <a:spcBef>
                <a:spcPts val="735"/>
              </a:spcBef>
              <a:spcAft>
                <a:spcPts val="0"/>
              </a:spcAft>
              <a:buSzPts val="2000"/>
              <a:buFont typeface="Times New Roman" panose="02020603050405020304" pitchFamily="18" charset="0"/>
              <a:buChar char="–"/>
              <a:tabLst>
                <a:tab pos="807085" algn="l"/>
                <a:tab pos="807720" algn="l"/>
              </a:tabLst>
            </a:pPr>
            <a:r>
              <a:rPr lang="en-IN" dirty="0">
                <a:latin typeface="Times New Roman" panose="02020603050405020304" pitchFamily="18" charset="0"/>
                <a:ea typeface="Times New Roman" panose="02020603050405020304" pitchFamily="18" charset="0"/>
              </a:rPr>
              <a:t>This type of transformer is most economical for small current and high voltage transformer. </a:t>
            </a:r>
          </a:p>
          <a:p>
            <a:pPr marL="742950" marR="1049655" lvl="1" indent="-285750" algn="just">
              <a:lnSpc>
                <a:spcPct val="90000"/>
              </a:lnSpc>
              <a:spcBef>
                <a:spcPts val="745"/>
              </a:spcBef>
              <a:spcAft>
                <a:spcPts val="0"/>
              </a:spcAft>
              <a:buSzPts val="2000"/>
              <a:buFont typeface="Times New Roman" panose="02020603050405020304" pitchFamily="18" charset="0"/>
              <a:buChar char="–"/>
              <a:tabLst>
                <a:tab pos="807085" algn="l"/>
                <a:tab pos="807720" algn="l"/>
              </a:tabLst>
            </a:pPr>
            <a:r>
              <a:rPr lang="en-IN" dirty="0">
                <a:latin typeface="Times New Roman" panose="02020603050405020304" pitchFamily="18" charset="0"/>
                <a:ea typeface="Times New Roman" panose="02020603050405020304" pitchFamily="18" charset="0"/>
              </a:rPr>
              <a:t>The number of turns per phase and the amount of insulation is minimum because phase voltage 1/</a:t>
            </a:r>
            <a:r>
              <a:rPr lang="en-IN" dirty="0">
                <a:latin typeface="Times New Roman" panose="02020603050405020304" pitchFamily="18" charset="0"/>
                <a:ea typeface="Times New Roman" panose="02020603050405020304" pitchFamily="18" charset="0"/>
                <a:cs typeface="Times New Roman" panose="02020603050405020304" pitchFamily="18" charset="0"/>
              </a:rPr>
              <a:t>√3 of line voltage.</a:t>
            </a:r>
          </a:p>
          <a:p>
            <a:pPr marL="742950" marR="1049655" lvl="1" indent="-285750" algn="just">
              <a:lnSpc>
                <a:spcPct val="90000"/>
              </a:lnSpc>
              <a:spcBef>
                <a:spcPts val="745"/>
              </a:spcBef>
              <a:spcAft>
                <a:spcPts val="0"/>
              </a:spcAft>
              <a:buSzPts val="2000"/>
              <a:buFont typeface="Times New Roman" panose="02020603050405020304" pitchFamily="18" charset="0"/>
              <a:buChar char="–"/>
              <a:tabLst>
                <a:tab pos="807085" algn="l"/>
                <a:tab pos="80772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There is no phase displacement between the primary and secondary voltages.</a:t>
            </a:r>
            <a:endParaRPr lang="en-IN" dirty="0">
              <a:latin typeface="Times New Roman" panose="02020603050405020304" pitchFamily="18" charset="0"/>
              <a:ea typeface="Times New Roman" panose="02020603050405020304" pitchFamily="18" charset="0"/>
            </a:endParaRPr>
          </a:p>
          <a:p>
            <a:pPr marL="742950" marR="482600" lvl="1" indent="-285750" algn="just">
              <a:lnSpc>
                <a:spcPct val="103000"/>
              </a:lnSpc>
              <a:spcBef>
                <a:spcPts val="600"/>
              </a:spcBef>
              <a:spcAft>
                <a:spcPts val="0"/>
              </a:spcAft>
              <a:buSzPts val="2000"/>
              <a:buFont typeface="Times New Roman" panose="02020603050405020304" pitchFamily="18" charset="0"/>
              <a:buChar char="–"/>
              <a:tabLst>
                <a:tab pos="807085" algn="l"/>
                <a:tab pos="807720" algn="l"/>
              </a:tabLst>
            </a:pPr>
            <a:r>
              <a:rPr lang="en-US" dirty="0">
                <a:latin typeface="Times New Roman" panose="02020603050405020304" pitchFamily="18" charset="0"/>
                <a:ea typeface="Times New Roman" panose="02020603050405020304" pitchFamily="18" charset="0"/>
              </a:rPr>
              <a:t>the primary-side phase voltage is transformed to the secondary-side</a:t>
            </a:r>
            <a:r>
              <a:rPr lang="en-US" spc="-28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phase voltage</a:t>
            </a:r>
            <a:endParaRPr lang="en-IN" dirty="0">
              <a:latin typeface="Times New Roman" panose="02020603050405020304" pitchFamily="18" charset="0"/>
              <a:ea typeface="Times New Roman" panose="02020603050405020304" pitchFamily="18" charset="0"/>
            </a:endParaRPr>
          </a:p>
          <a:p>
            <a:pPr marL="742950" marR="168275" lvl="1" indent="-285750" algn="just">
              <a:lnSpc>
                <a:spcPct val="103000"/>
              </a:lnSpc>
              <a:spcBef>
                <a:spcPts val="495"/>
              </a:spcBef>
              <a:spcAft>
                <a:spcPts val="0"/>
              </a:spcAft>
              <a:buSzPts val="2000"/>
              <a:buFont typeface="Times New Roman" panose="02020603050405020304" pitchFamily="18" charset="0"/>
              <a:buChar char="–"/>
              <a:tabLst>
                <a:tab pos="807085" algn="l"/>
                <a:tab pos="807720" algn="l"/>
              </a:tabLst>
            </a:pPr>
            <a:r>
              <a:rPr lang="en-US" dirty="0">
                <a:latin typeface="Times New Roman" panose="02020603050405020304" pitchFamily="18" charset="0"/>
                <a:ea typeface="Times New Roman" panose="02020603050405020304" pitchFamily="18" charset="0"/>
              </a:rPr>
              <a:t>the neutral terminal of the primary side of the transformer must be</a:t>
            </a:r>
            <a:r>
              <a:rPr lang="en-US" spc="-30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connected back to the source with a low impedance path to avoid secondary voltage magnitude distortion with unbalanced</a:t>
            </a:r>
            <a:r>
              <a:rPr lang="en-US" spc="-3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loads</a:t>
            </a:r>
            <a:endParaRPr lang="en-IN" dirty="0">
              <a:latin typeface="Times New Roman" panose="02020603050405020304" pitchFamily="18" charset="0"/>
              <a:ea typeface="Times New Roman" panose="02020603050405020304" pitchFamily="18" charset="0"/>
            </a:endParaRPr>
          </a:p>
        </p:txBody>
      </p:sp>
      <p:pic>
        <p:nvPicPr>
          <p:cNvPr id="11" name="image6.jpeg">
            <a:extLst>
              <a:ext uri="{FF2B5EF4-FFF2-40B4-BE49-F238E27FC236}">
                <a16:creationId xmlns:a16="http://schemas.microsoft.com/office/drawing/2014/main" id="{63838BFE-75BA-4110-9A0D-27403187641B}"/>
              </a:ext>
            </a:extLst>
          </p:cNvPr>
          <p:cNvPicPr/>
          <p:nvPr/>
        </p:nvPicPr>
        <p:blipFill>
          <a:blip r:embed="rId2" cstate="print"/>
          <a:stretch>
            <a:fillRect/>
          </a:stretch>
        </p:blipFill>
        <p:spPr>
          <a:xfrm>
            <a:off x="3233320" y="4385182"/>
            <a:ext cx="6253480" cy="1758950"/>
          </a:xfrm>
          <a:prstGeom prst="rect">
            <a:avLst/>
          </a:prstGeom>
        </p:spPr>
      </p:pic>
    </p:spTree>
    <p:extLst>
      <p:ext uri="{BB962C8B-B14F-4D97-AF65-F5344CB8AC3E}">
        <p14:creationId xmlns:p14="http://schemas.microsoft.com/office/powerpoint/2010/main" val="2873350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ACA609-2C42-44CF-B96D-05B56043E1A7}"/>
              </a:ext>
            </a:extLst>
          </p:cNvPr>
          <p:cNvSpPr txBox="1"/>
          <p:nvPr/>
        </p:nvSpPr>
        <p:spPr>
          <a:xfrm>
            <a:off x="4514275" y="1098755"/>
            <a:ext cx="3615596"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Open Delta Connection</a:t>
            </a:r>
          </a:p>
        </p:txBody>
      </p:sp>
      <p:pic>
        <p:nvPicPr>
          <p:cNvPr id="19" name="image7.jpeg">
            <a:extLst>
              <a:ext uri="{FF2B5EF4-FFF2-40B4-BE49-F238E27FC236}">
                <a16:creationId xmlns:a16="http://schemas.microsoft.com/office/drawing/2014/main" id="{B084CF2B-F734-4F59-AFBC-363E1CA33E8A}"/>
              </a:ext>
            </a:extLst>
          </p:cNvPr>
          <p:cNvPicPr/>
          <p:nvPr/>
        </p:nvPicPr>
        <p:blipFill>
          <a:blip r:embed="rId2" cstate="print"/>
          <a:stretch>
            <a:fillRect/>
          </a:stretch>
        </p:blipFill>
        <p:spPr>
          <a:xfrm>
            <a:off x="9531685" y="1340788"/>
            <a:ext cx="2000885" cy="1840865"/>
          </a:xfrm>
          <a:prstGeom prst="rect">
            <a:avLst/>
          </a:prstGeom>
        </p:spPr>
      </p:pic>
      <p:pic>
        <p:nvPicPr>
          <p:cNvPr id="20" name="image8.jpeg">
            <a:extLst>
              <a:ext uri="{FF2B5EF4-FFF2-40B4-BE49-F238E27FC236}">
                <a16:creationId xmlns:a16="http://schemas.microsoft.com/office/drawing/2014/main" id="{543355C6-5B30-4A2F-9AE2-E4591AB82E1A}"/>
              </a:ext>
            </a:extLst>
          </p:cNvPr>
          <p:cNvPicPr/>
          <p:nvPr/>
        </p:nvPicPr>
        <p:blipFill>
          <a:blip r:embed="rId3" cstate="print"/>
          <a:stretch>
            <a:fillRect/>
          </a:stretch>
        </p:blipFill>
        <p:spPr>
          <a:xfrm>
            <a:off x="5943600" y="3057945"/>
            <a:ext cx="3795961" cy="2374961"/>
          </a:xfrm>
          <a:prstGeom prst="rect">
            <a:avLst/>
          </a:prstGeom>
        </p:spPr>
      </p:pic>
      <p:sp>
        <p:nvSpPr>
          <p:cNvPr id="15" name="Rectangle 14">
            <a:extLst>
              <a:ext uri="{FF2B5EF4-FFF2-40B4-BE49-F238E27FC236}">
                <a16:creationId xmlns:a16="http://schemas.microsoft.com/office/drawing/2014/main" id="{890E8959-DE61-4279-97C7-14C680F86EB4}"/>
              </a:ext>
            </a:extLst>
          </p:cNvPr>
          <p:cNvSpPr/>
          <p:nvPr/>
        </p:nvSpPr>
        <p:spPr>
          <a:xfrm>
            <a:off x="654362" y="1592968"/>
            <a:ext cx="7846701" cy="3117264"/>
          </a:xfrm>
          <a:prstGeom prst="rect">
            <a:avLst/>
          </a:prstGeom>
        </p:spPr>
        <p:txBody>
          <a:bodyPr wrap="square">
            <a:spAutoFit/>
          </a:bodyPr>
          <a:lstStyle/>
          <a:p>
            <a:pPr marL="342900" marR="3557905" lvl="0" indent="-342900" algn="just">
              <a:lnSpc>
                <a:spcPct val="110000"/>
              </a:lnSpc>
              <a:spcBef>
                <a:spcPts val="400"/>
              </a:spcBef>
              <a:spcAft>
                <a:spcPts val="0"/>
              </a:spcAft>
              <a:buFont typeface="Arial" panose="020B0604020202020204" pitchFamily="34" charset="0"/>
              <a:buChar char="•"/>
              <a:tabLst>
                <a:tab pos="572770" algn="l"/>
                <a:tab pos="573405" algn="l"/>
              </a:tabLst>
            </a:pPr>
            <a:r>
              <a:rPr lang="en-US" dirty="0">
                <a:latin typeface="Times New Roman" panose="02020603050405020304" pitchFamily="18" charset="0"/>
                <a:ea typeface="Times New Roman" panose="02020603050405020304" pitchFamily="18" charset="0"/>
              </a:rPr>
              <a:t>If one transformer of a delta-delta system is damaged, the system will continue to supply 3-phase power. If this defective transformer is disconnected and removed, the remaining two transformer continue to function as a 3-phase bank with rating reduced to about 57.7 % of that of the original delta-delta bank. This is known as open delta system </a:t>
            </a:r>
          </a:p>
        </p:txBody>
      </p:sp>
    </p:spTree>
    <p:extLst>
      <p:ext uri="{BB962C8B-B14F-4D97-AF65-F5344CB8AC3E}">
        <p14:creationId xmlns:p14="http://schemas.microsoft.com/office/powerpoint/2010/main" val="2755223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CA3CD-620A-4E5E-A1C7-BBB18570C299}"/>
              </a:ext>
            </a:extLst>
          </p:cNvPr>
          <p:cNvSpPr>
            <a:spLocks noGrp="1"/>
          </p:cNvSpPr>
          <p:nvPr>
            <p:ph type="ctrTitle"/>
          </p:nvPr>
        </p:nvSpPr>
        <p:spPr>
          <a:xfrm>
            <a:off x="446533" y="1552397"/>
            <a:ext cx="7231784" cy="3654081"/>
          </a:xfrm>
        </p:spPr>
        <p:txBody>
          <a:bodyPr anchor="ctr">
            <a:normAutofit/>
          </a:bodyPr>
          <a:lstStyle/>
          <a:p>
            <a:r>
              <a:rPr lang="en-US" sz="5400" dirty="0">
                <a:solidFill>
                  <a:schemeClr val="tx2"/>
                </a:solidFill>
              </a:rPr>
              <a:t>Lecture series outcome</a:t>
            </a:r>
          </a:p>
        </p:txBody>
      </p:sp>
      <p:sp>
        <p:nvSpPr>
          <p:cNvPr id="3" name="Subtitle 2">
            <a:extLst>
              <a:ext uri="{FF2B5EF4-FFF2-40B4-BE49-F238E27FC236}">
                <a16:creationId xmlns:a16="http://schemas.microsoft.com/office/drawing/2014/main" id="{380BEE3A-B36C-4174-A295-3E5F260225DE}"/>
              </a:ext>
            </a:extLst>
          </p:cNvPr>
          <p:cNvSpPr>
            <a:spLocks noGrp="1"/>
          </p:cNvSpPr>
          <p:nvPr>
            <p:ph type="subTitle" idx="1"/>
          </p:nvPr>
        </p:nvSpPr>
        <p:spPr>
          <a:xfrm>
            <a:off x="6949441" y="1552397"/>
            <a:ext cx="4791005" cy="3654082"/>
          </a:xfrm>
        </p:spPr>
        <p:txBody>
          <a:bodyPr anchor="ctr">
            <a:normAutofit/>
          </a:bodyPr>
          <a:lstStyle/>
          <a:p>
            <a:r>
              <a:rPr lang="en-US" sz="2800" dirty="0">
                <a:solidFill>
                  <a:srgbClr val="0070C0"/>
                </a:solidFill>
                <a:latin typeface="Agency FB" panose="020B0503020202020204" pitchFamily="34" charset="0"/>
              </a:rPr>
              <a:t>“UNDERSTAND the principle</a:t>
            </a:r>
            <a:r>
              <a:rPr lang="en-US" sz="2800">
                <a:solidFill>
                  <a:srgbClr val="0070C0"/>
                </a:solidFill>
                <a:latin typeface="Agency FB" panose="020B0503020202020204" pitchFamily="34" charset="0"/>
              </a:rPr>
              <a:t>,  construction of  </a:t>
            </a:r>
            <a:r>
              <a:rPr lang="en-US" sz="2800" dirty="0">
                <a:solidFill>
                  <a:srgbClr val="0070C0"/>
                </a:solidFill>
                <a:latin typeface="Agency FB" panose="020B0503020202020204" pitchFamily="34" charset="0"/>
              </a:rPr>
              <a:t>Three phase Transformer”</a:t>
            </a:r>
          </a:p>
        </p:txBody>
      </p:sp>
    </p:spTree>
    <p:extLst>
      <p:ext uri="{BB962C8B-B14F-4D97-AF65-F5344CB8AC3E}">
        <p14:creationId xmlns:p14="http://schemas.microsoft.com/office/powerpoint/2010/main" val="2862555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5499</TotalTime>
  <Words>873</Words>
  <Application>Microsoft Office PowerPoint</Application>
  <PresentationFormat>Widescreen</PresentationFormat>
  <Paragraphs>62</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Agency FB</vt:lpstr>
      <vt:lpstr>Aptos</vt:lpstr>
      <vt:lpstr>Arial</vt:lpstr>
      <vt:lpstr>Calibri</vt:lpstr>
      <vt:lpstr>Times New Roman</vt:lpstr>
      <vt:lpstr>Office Theme</vt:lpstr>
      <vt:lpstr>Three Phase Transformer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Lecture series outcome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Ashish Kumar [MU - Jaipur]</dc:creator>
  <cp:lastModifiedBy>Dr. Vinay Gupta [MU - Jaipur]</cp:lastModifiedBy>
  <cp:revision>8</cp:revision>
  <dcterms:created xsi:type="dcterms:W3CDTF">2025-10-01T15:47:58Z</dcterms:created>
  <dcterms:modified xsi:type="dcterms:W3CDTF">2026-08-17T04:36:57Z</dcterms:modified>
</cp:coreProperties>
</file>